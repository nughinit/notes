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4"/>
  </p:notesMasterIdLst>
  <p:sldIdLst>
    <p:sldId id="452" r:id="rId101"/>
    <p:sldId id="381" r:id="rId2"/>
    <p:sldId id="329" r:id="rId3"/>
    <p:sldId id="385" r:id="rId4"/>
    <p:sldId id="382" r:id="rId5"/>
    <p:sldId id="393" r:id="rId6"/>
    <p:sldId id="395" r:id="rId7"/>
    <p:sldId id="451" r:id="rId100"/>
    <p:sldId id="394" r:id="rId8"/>
    <p:sldId id="397" r:id="rId9"/>
    <p:sldId id="443" r:id="rId10"/>
    <p:sldId id="390" r:id="rId11"/>
    <p:sldId id="351" r:id="rId12"/>
    <p:sldId id="447" r:id="rId13"/>
    <p:sldId id="458" r:id="rId107"/>
    <p:sldId id="459" r:id="rId108"/>
    <p:sldId id="396" r:id="rId14"/>
    <p:sldId id="389" r:id="rId15"/>
    <p:sldId id="264" r:id="rId16"/>
    <p:sldId id="398" r:id="rId17"/>
    <p:sldId id="361" r:id="rId18"/>
    <p:sldId id="444" r:id="rId19"/>
    <p:sldId id="383" r:id="rId20"/>
    <p:sldId id="384" r:id="rId21"/>
    <p:sldId id="399" r:id="rId22"/>
    <p:sldId id="445" r:id="rId23"/>
    <p:sldId id="387" r:id="rId24"/>
    <p:sldId id="265" r:id="rId25"/>
    <p:sldId id="400" r:id="rId26"/>
    <p:sldId id="420" r:id="rId27"/>
    <p:sldId id="364" r:id="rId28"/>
    <p:sldId id="257" r:id="rId29"/>
    <p:sldId id="478" r:id="rId127"/>
    <p:sldId id="479" r:id="rId128"/>
    <p:sldId id="480" r:id="rId129"/>
    <p:sldId id="419" r:id="rId30"/>
    <p:sldId id="481" r:id="rId130"/>
    <p:sldId id="482" r:id="rId131"/>
    <p:sldId id="483" r:id="rId132"/>
    <p:sldId id="421" r:id="rId31"/>
    <p:sldId id="278" r:id="rId32"/>
    <p:sldId id="487" r:id="rId136"/>
    <p:sldId id="446" r:id="rId33"/>
    <p:sldId id="437" r:id="rId34"/>
    <p:sldId id="392" r:id="rId35"/>
    <p:sldId id="422" r:id="rId36"/>
    <p:sldId id="436" r:id="rId37"/>
    <p:sldId id="450" r:id="rId99"/>
    <p:sldId id="438" r:id="rId38"/>
    <p:sldId id="435" r:id="rId39"/>
    <p:sldId id="449" r:id="rId40"/>
    <p:sldId id="430" r:id="rId41"/>
    <p:sldId id="489" r:id="rId138"/>
    <p:sldId id="431" r:id="rId42"/>
    <p:sldId id="490" r:id="rId139"/>
    <p:sldId id="439" r:id="rId43"/>
    <p:sldId id="484" r:id="rId133"/>
    <p:sldId id="485" r:id="rId134"/>
    <p:sldId id="486" r:id="rId135"/>
    <p:sldId id="281" r:id="rId44"/>
    <p:sldId id="457" r:id="rId106"/>
    <p:sldId id="366" r:id="rId45"/>
    <p:sldId id="283" r:id="rId46"/>
    <p:sldId id="286" r:id="rId47"/>
    <p:sldId id="491" r:id="rId140"/>
    <p:sldId id="492" r:id="rId141"/>
    <p:sldId id="287" r:id="rId48"/>
    <p:sldId id="460" r:id="rId109"/>
    <p:sldId id="288" r:id="rId49"/>
    <p:sldId id="461" r:id="rId110"/>
    <p:sldId id="289" r:id="rId50"/>
    <p:sldId id="466" r:id="rId115"/>
    <p:sldId id="467" r:id="rId116"/>
    <p:sldId id="468" r:id="rId117"/>
    <p:sldId id="290" r:id="rId51"/>
    <p:sldId id="462" r:id="rId111"/>
    <p:sldId id="292" r:id="rId52"/>
    <p:sldId id="493" r:id="rId142"/>
    <p:sldId id="494" r:id="rId143"/>
    <p:sldId id="441" r:id="rId53"/>
    <p:sldId id="442" r:id="rId54"/>
    <p:sldId id="440" r:id="rId55"/>
    <p:sldId id="300" r:id="rId56"/>
    <p:sldId id="474" r:id="rId123"/>
    <p:sldId id="456" r:id="rId105"/>
    <p:sldId id="301" r:id="rId57"/>
    <p:sldId id="475" r:id="rId124"/>
    <p:sldId id="455" r:id="rId104"/>
    <p:sldId id="303" r:id="rId58"/>
    <p:sldId id="476" r:id="rId125"/>
    <p:sldId id="304" r:id="rId59"/>
    <p:sldId id="306" r:id="rId60"/>
    <p:sldId id="463" r:id="rId112"/>
    <p:sldId id="307" r:id="rId61"/>
    <p:sldId id="464" r:id="rId113"/>
    <p:sldId id="305" r:id="rId62"/>
    <p:sldId id="308" r:id="rId63"/>
    <p:sldId id="309" r:id="rId64"/>
    <p:sldId id="310" r:id="rId65"/>
    <p:sldId id="312" r:id="rId66"/>
    <p:sldId id="465" r:id="rId114"/>
    <p:sldId id="334" r:id="rId67"/>
    <p:sldId id="488" r:id="rId137"/>
    <p:sldId id="335" r:id="rId68"/>
    <p:sldId id="337" r:id="rId69"/>
    <p:sldId id="469" r:id="rId118"/>
    <p:sldId id="338" r:id="rId70"/>
    <p:sldId id="470" r:id="rId119"/>
    <p:sldId id="471" r:id="rId120"/>
    <p:sldId id="472" r:id="rId121"/>
    <p:sldId id="473" r:id="rId122"/>
    <p:sldId id="339" r:id="rId71"/>
    <p:sldId id="347" r:id="rId72"/>
    <p:sldId id="477" r:id="rId126"/>
    <p:sldId id="454" r:id="rId103"/>
    <p:sldId id="348" r:id="rId73"/>
    <p:sldId id="349" r:id="rId74"/>
    <p:sldId id="350" r:id="rId75"/>
    <p:sldId id="401" r:id="rId76"/>
    <p:sldId id="402" r:id="rId77"/>
    <p:sldId id="403" r:id="rId78"/>
    <p:sldId id="404" r:id="rId79"/>
    <p:sldId id="405" r:id="rId80"/>
    <p:sldId id="406" r:id="rId81"/>
    <p:sldId id="407" r:id="rId82"/>
    <p:sldId id="408" r:id="rId83"/>
    <p:sldId id="409" r:id="rId84"/>
    <p:sldId id="410" r:id="rId85"/>
    <p:sldId id="411" r:id="rId86"/>
    <p:sldId id="412" r:id="rId87"/>
    <p:sldId id="413" r:id="rId88"/>
    <p:sldId id="414" r:id="rId89"/>
    <p:sldId id="415" r:id="rId90"/>
    <p:sldId id="416" r:id="rId91"/>
    <p:sldId id="417" r:id="rId92"/>
    <p:sldId id="418" r:id="rId93"/>
    <p:sldId id="453" r:id="rId102"/>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534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5" d="100"/>
          <a:sy n="65" d="100"/>
        </p:scale>
        <p:origin x="696" y="32"/>
      </p:cViewPr>
      <p:guideLst/>
    </p:cSldViewPr>
  </p:slideViewPr>
  <p:notesTextViewPr>
    <p:cViewPr>
      <p:scale>
        <a:sx n="1" d="1"/>
        <a:sy n="1" d="1"/>
      </p:scale>
      <p:origin x="0" y="0"/>
    </p:cViewPr>
  </p:notesTextViewPr>
  <p:sorterViewPr>
    <p:cViewPr>
      <p:scale>
        <a:sx n="100" d="100"/>
        <a:sy n="100" d="100"/>
      </p:scale>
      <p:origin x="0" y="-1516"/>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slide" Target="slides/slide20.xml"/><Relationship Id="rId20" Type="http://schemas.openxmlformats.org/officeDocument/2006/relationships/slide" Target="slides/slide21.xml"/><Relationship Id="rId21" Type="http://schemas.openxmlformats.org/officeDocument/2006/relationships/slide" Target="slides/slide22.xml"/><Relationship Id="rId22" Type="http://schemas.openxmlformats.org/officeDocument/2006/relationships/slide" Target="slides/slide23.xml"/><Relationship Id="rId23" Type="http://schemas.openxmlformats.org/officeDocument/2006/relationships/slide" Target="slides/slide24.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27.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30.xml"/><Relationship Id="rId30" Type="http://schemas.openxmlformats.org/officeDocument/2006/relationships/slide" Target="slides/slide31.xml"/><Relationship Id="rId31" Type="http://schemas.openxmlformats.org/officeDocument/2006/relationships/slide" Target="slides/slide32.xml"/><Relationship Id="rId32" Type="http://schemas.openxmlformats.org/officeDocument/2006/relationships/slide" Target="slides/slide33.xml"/><Relationship Id="rId33" Type="http://schemas.openxmlformats.org/officeDocument/2006/relationships/slide" Target="slides/slide34.xml"/><Relationship Id="rId34" Type="http://schemas.openxmlformats.org/officeDocument/2006/relationships/slide" Target="slides/slide35.xml"/><Relationship Id="rId35" Type="http://schemas.openxmlformats.org/officeDocument/2006/relationships/slide" Target="slides/slide36.xml"/><Relationship Id="rId36" Type="http://schemas.openxmlformats.org/officeDocument/2006/relationships/slide" Target="slides/slide37.xml"/><Relationship Id="rId37" Type="http://schemas.openxmlformats.org/officeDocument/2006/relationships/slide" Target="slides/slide38.xml"/><Relationship Id="rId38" Type="http://schemas.openxmlformats.org/officeDocument/2006/relationships/slide" Target="slides/slide40.xml"/><Relationship Id="rId39" Type="http://schemas.openxmlformats.org/officeDocument/2006/relationships/slide" Target="slides/slide41.xml"/><Relationship Id="rId40" Type="http://schemas.openxmlformats.org/officeDocument/2006/relationships/slide" Target="slides/slide42.xml"/><Relationship Id="rId41" Type="http://schemas.openxmlformats.org/officeDocument/2006/relationships/slide" Target="slides/slide43.xml"/><Relationship Id="rId42" Type="http://schemas.openxmlformats.org/officeDocument/2006/relationships/slide" Target="slides/slide44.xml"/><Relationship Id="rId43" Type="http://schemas.openxmlformats.org/officeDocument/2006/relationships/slide" Target="slides/slide45.xml"/><Relationship Id="rId44" Type="http://schemas.openxmlformats.org/officeDocument/2006/relationships/slide" Target="slides/slide46.xml"/><Relationship Id="rId45" Type="http://schemas.openxmlformats.org/officeDocument/2006/relationships/slide" Target="slides/slide48.xml"/><Relationship Id="rId46" Type="http://schemas.openxmlformats.org/officeDocument/2006/relationships/slide" Target="slides/slide49.xml"/><Relationship Id="rId47" Type="http://schemas.openxmlformats.org/officeDocument/2006/relationships/slide" Target="slides/slide50.xml"/><Relationship Id="rId48" Type="http://schemas.openxmlformats.org/officeDocument/2006/relationships/slide" Target="slides/slide51.xml"/><Relationship Id="rId49" Type="http://schemas.openxmlformats.org/officeDocument/2006/relationships/slide" Target="slides/slide52.xml"/><Relationship Id="rId50" Type="http://schemas.openxmlformats.org/officeDocument/2006/relationships/slide" Target="slides/slide53.xml"/><Relationship Id="rId51" Type="http://schemas.openxmlformats.org/officeDocument/2006/relationships/slide" Target="slides/slide54.xml"/><Relationship Id="rId52" Type="http://schemas.openxmlformats.org/officeDocument/2006/relationships/slide" Target="slides/slide55.xml"/><Relationship Id="rId53" Type="http://schemas.openxmlformats.org/officeDocument/2006/relationships/slide" Target="slides/slide56.xml"/><Relationship Id="rId54" Type="http://schemas.openxmlformats.org/officeDocument/2006/relationships/slide" Target="slides/slide57.xml"/><Relationship Id="rId55" Type="http://schemas.openxmlformats.org/officeDocument/2006/relationships/slide" Target="slides/slide58.xml"/><Relationship Id="rId56" Type="http://schemas.openxmlformats.org/officeDocument/2006/relationships/slide" Target="slides/slide59.xml"/><Relationship Id="rId57" Type="http://schemas.openxmlformats.org/officeDocument/2006/relationships/slide" Target="slides/slide61.xml"/><Relationship Id="rId58" Type="http://schemas.openxmlformats.org/officeDocument/2006/relationships/slide" Target="slides/slide63.xml"/><Relationship Id="rId59" Type="http://schemas.openxmlformats.org/officeDocument/2006/relationships/slide" Target="slides/slide64.xml"/><Relationship Id="rId60" Type="http://schemas.openxmlformats.org/officeDocument/2006/relationships/slide" Target="slides/slide65.xml"/><Relationship Id="rId61" Type="http://schemas.openxmlformats.org/officeDocument/2006/relationships/slide" Target="slides/slide66.xml"/><Relationship Id="rId62" Type="http://schemas.openxmlformats.org/officeDocument/2006/relationships/slide" Target="slides/slide67.xml"/><Relationship Id="rId63" Type="http://schemas.openxmlformats.org/officeDocument/2006/relationships/slide" Target="slides/slide68.xml"/><Relationship Id="rId64" Type="http://schemas.openxmlformats.org/officeDocument/2006/relationships/slide" Target="slides/slide69.xml"/><Relationship Id="rId65" Type="http://schemas.openxmlformats.org/officeDocument/2006/relationships/slide" Target="slides/slide70.xml"/><Relationship Id="rId66" Type="http://schemas.openxmlformats.org/officeDocument/2006/relationships/slide" Target="slides/slide71.xml"/><Relationship Id="rId67" Type="http://schemas.openxmlformats.org/officeDocument/2006/relationships/slide" Target="slides/slide72.xml"/><Relationship Id="rId68" Type="http://schemas.openxmlformats.org/officeDocument/2006/relationships/slide" Target="slides/slide73.xml"/><Relationship Id="rId69" Type="http://schemas.openxmlformats.org/officeDocument/2006/relationships/slide" Target="slides/slide74.xml"/><Relationship Id="rId70" Type="http://schemas.openxmlformats.org/officeDocument/2006/relationships/slide" Target="slides/slide75.xml"/><Relationship Id="rId71" Type="http://schemas.openxmlformats.org/officeDocument/2006/relationships/slide" Target="slides/slide76.xml"/><Relationship Id="rId72" Type="http://schemas.openxmlformats.org/officeDocument/2006/relationships/slide" Target="slides/slide77.xml"/><Relationship Id="rId73" Type="http://schemas.openxmlformats.org/officeDocument/2006/relationships/slide" Target="slides/slide79.xml"/><Relationship Id="rId74" Type="http://schemas.openxmlformats.org/officeDocument/2006/relationships/slide" Target="slides/slide80.xml"/><Relationship Id="rId75" Type="http://schemas.openxmlformats.org/officeDocument/2006/relationships/slide" Target="slides/slide81.xml"/><Relationship Id="rId76" Type="http://schemas.openxmlformats.org/officeDocument/2006/relationships/slide" Target="slides/slide82.xml"/><Relationship Id="rId77" Type="http://schemas.openxmlformats.org/officeDocument/2006/relationships/slide" Target="slides/slide83.xml"/><Relationship Id="rId78" Type="http://schemas.openxmlformats.org/officeDocument/2006/relationships/slide" Target="slides/slide84.xml"/><Relationship Id="rId79" Type="http://schemas.openxmlformats.org/officeDocument/2006/relationships/slide" Target="slides/slide85.xml"/><Relationship Id="rId80" Type="http://schemas.openxmlformats.org/officeDocument/2006/relationships/slide" Target="slides/slide86.xml"/><Relationship Id="rId81" Type="http://schemas.openxmlformats.org/officeDocument/2006/relationships/slide" Target="slides/slide87.xml"/><Relationship Id="rId82" Type="http://schemas.openxmlformats.org/officeDocument/2006/relationships/slide" Target="slides/slide88.xml"/><Relationship Id="rId83" Type="http://schemas.openxmlformats.org/officeDocument/2006/relationships/slide" Target="slides/slide89.xml"/><Relationship Id="rId84" Type="http://schemas.openxmlformats.org/officeDocument/2006/relationships/slide" Target="slides/slide90.xml"/><Relationship Id="rId85" Type="http://schemas.openxmlformats.org/officeDocument/2006/relationships/slide" Target="slides/slide91.xml"/><Relationship Id="rId86" Type="http://schemas.openxmlformats.org/officeDocument/2006/relationships/slide" Target="slides/slide92.xml"/><Relationship Id="rId87" Type="http://schemas.openxmlformats.org/officeDocument/2006/relationships/slide" Target="slides/slide93.xml"/><Relationship Id="rId88" Type="http://schemas.openxmlformats.org/officeDocument/2006/relationships/slide" Target="slides/slide94.xml"/><Relationship Id="rId89" Type="http://schemas.openxmlformats.org/officeDocument/2006/relationships/slide" Target="slides/slide95.xml"/><Relationship Id="rId90" Type="http://schemas.openxmlformats.org/officeDocument/2006/relationships/slide" Target="slides/slide96.xml"/><Relationship Id="rId91" Type="http://schemas.openxmlformats.org/officeDocument/2006/relationships/slide" Target="slides/slide97.xml"/><Relationship Id="rId92" Type="http://schemas.openxmlformats.org/officeDocument/2006/relationships/slide" Target="slides/slide98.xml"/><Relationship Id="rId93" Type="http://schemas.openxmlformats.org/officeDocument/2006/relationships/slide" Target="slides/slide99.xml"/><Relationship Id="rId94" Type="http://schemas.openxmlformats.org/officeDocument/2006/relationships/notesMaster" Target="notesMasters/notesMaster1.xml"/><Relationship Id="rId95" Type="http://schemas.openxmlformats.org/officeDocument/2006/relationships/presProps" Target="presProps.xml"/><Relationship Id="rId96" Type="http://schemas.openxmlformats.org/officeDocument/2006/relationships/viewProps" Target="viewProps.xml"/><Relationship Id="rId97" Type="http://schemas.openxmlformats.org/officeDocument/2006/relationships/theme" Target="theme/theme1.xml"/><Relationship Id="rId98" Type="http://schemas.openxmlformats.org/officeDocument/2006/relationships/tableStyles" Target="tableStyles.xml"/><Relationship Id="rId99" Type="http://schemas.openxmlformats.org/officeDocument/2006/relationships/slide" Target="slides/slide39.xml"/><Relationship Id="rId100" Type="http://schemas.openxmlformats.org/officeDocument/2006/relationships/slide" Target="slides/slide8.xml"/><Relationship Id="rId101" Type="http://schemas.openxmlformats.org/officeDocument/2006/relationships/slide" Target="slides/slide1.xml"/><Relationship Id="rId102" Type="http://schemas.openxmlformats.org/officeDocument/2006/relationships/slide" Target="slides/slide100.xml"/><Relationship Id="rId103" Type="http://schemas.openxmlformats.org/officeDocument/2006/relationships/slide" Target="slides/slide78.xml"/><Relationship Id="rId104" Type="http://schemas.openxmlformats.org/officeDocument/2006/relationships/slide" Target="slides/slide62.xml"/><Relationship Id="rId105" Type="http://schemas.openxmlformats.org/officeDocument/2006/relationships/slide" Target="slides/slide60.xml"/><Relationship Id="rId106" Type="http://schemas.openxmlformats.org/officeDocument/2006/relationships/slide" Target="slides/slide47.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ser>
          <c:idx val="0"/>
          <c:order val="0"/>
          <c:tx>
            <c:strRef>
              <c:f>Sheet1!$B$1</c:f>
              <c:strCache>
                <c:ptCount val="1"/>
                <c:pt idx="0">
                  <c:v>IAM ST</c:v>
                </c:pt>
              </c:strCache>
            </c:strRef>
          </c:tx>
          <c:spPr>
            <a:solidFill>
              <a:srgbClr val="4E7C8B"/>
            </a:solidFill>
            <a:ln>
              <a:noFill/>
            </a:ln>
          </c:spPr>
          <c:dLbls>
            <c:dLbl>
              <c:idx val="0"/>
              <c:tx>
                <c:rich>
                  <a:bodyPr/>
                  <a:lstStyle/>
                  <a:p>
                    <a:r>
                      <a:rPr sz="1200" b="1">
                        <a:solidFill>
                          <a:srgbClr val="FBFCFC"/>
                        </a:solidFill>
                        <a:latin typeface="Roboto"/>
                      </a:rPr>
                      <a:t>527</a:t>
                    </a:r>
                  </a:p>
                  <a:p>
                    <a:r>
                      <a:rPr sz="1200" b="1">
                        <a:solidFill>
                          <a:srgbClr val="FBFCFC"/>
                        </a:solidFill>
                        <a:latin typeface="Roboto"/>
                      </a:rPr>
                      <a:t>79%</a:t>
                    </a:r>
                  </a:p>
                </c:rich>
              </c:tx>
              <c:dLblPos val="ctr"/>
              <c:showLegendKey val="0"/>
              <c:showVal val="1"/>
              <c:showCatName val="0"/>
              <c:showSerName val="0"/>
              <c:showPercent val="0"/>
              <c:showBubbleSize val="0"/>
            </c:dLbl>
            <c:dLbl>
              <c:idx val="1"/>
              <c:tx>
                <c:rich>
                  <a:bodyPr/>
                  <a:lstStyle/>
                  <a:p>
                    <a:r>
                      <a:rPr sz="1200" b="1">
                        <a:solidFill>
                          <a:srgbClr val="FBFCFC"/>
                        </a:solidFill>
                        <a:latin typeface="Roboto"/>
                      </a:rPr>
                      <a:t>423</a:t>
                    </a:r>
                  </a:p>
                  <a:p>
                    <a:r>
                      <a:rPr sz="1200" b="1">
                        <a:solidFill>
                          <a:srgbClr val="FBFCFC"/>
                        </a:solidFill>
                        <a:latin typeface="Roboto"/>
                      </a:rPr>
                      <a:t>79%</a:t>
                    </a:r>
                  </a:p>
                </c:rich>
              </c:tx>
              <c:dLblPos val="ctr"/>
              <c:showLegendKey val="0"/>
              <c:showVal val="1"/>
              <c:showCatName val="0"/>
              <c:showSerName val="0"/>
              <c:showPercent val="0"/>
              <c:showBubbleSize val="0"/>
            </c:dLbl>
            <c:dLbl>
              <c:idx val="2"/>
              <c:tx>
                <c:rich>
                  <a:bodyPr/>
                  <a:lstStyle/>
                  <a:p>
                    <a:r>
                      <a:rPr sz="1200" b="1">
                        <a:solidFill>
                          <a:srgbClr val="FBFCFC"/>
                        </a:solidFill>
                        <a:latin typeface="Roboto"/>
                      </a:rPr>
                      <a:t>127</a:t>
                    </a:r>
                  </a:p>
                  <a:p>
                    <a:r>
                      <a:rPr sz="1200" b="1">
                        <a:solidFill>
                          <a:srgbClr val="FBFCFC"/>
                        </a:solidFill>
                        <a:latin typeface="Roboto"/>
                      </a:rPr>
                      <a:t>43%</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CD</c:v>
                </c:pt>
                <c:pt idx="1">
                  <c:v>DA</c:v>
                </c:pt>
                <c:pt idx="2">
                  <c:v>Cx</c:v>
                </c:pt>
              </c:strCache>
            </c:strRef>
          </c:cat>
          <c:val>
            <c:numRef>
              <c:f>Sheet1!$B$2:$B$4</c:f>
              <c:numCache>
                <c:formatCode>General</c:formatCode>
                <c:ptCount val="3"/>
                <c:pt idx="0">
                  <c:v>527</c:v>
                </c:pt>
                <c:pt idx="1">
                  <c:v>423</c:v>
                </c:pt>
                <c:pt idx="2">
                  <c:v>127</c:v>
                </c:pt>
              </c:numCache>
            </c:numRef>
          </c:val>
        </c:ser>
        <c:ser>
          <c:idx val="1"/>
          <c:order val="1"/>
          <c:tx>
            <c:strRef>
              <c:f>Sheet1!$C$1</c:f>
              <c:strCache>
                <c:ptCount val="1"/>
                <c:pt idx="0">
                  <c:v>IAM NST</c:v>
                </c:pt>
              </c:strCache>
            </c:strRef>
          </c:tx>
          <c:spPr>
            <a:solidFill>
              <a:srgbClr val="8EC4CB"/>
            </a:solidFill>
            <a:ln>
              <a:noFill/>
            </a:ln>
          </c:spPr>
          <c:dLbls>
            <c:dLbl>
              <c:idx val="0"/>
              <c:tx>
                <c:rich>
                  <a:bodyPr/>
                  <a:lstStyle/>
                  <a:p>
                    <a:r>
                      <a:rPr sz="1200" b="1">
                        <a:solidFill>
                          <a:srgbClr val="1F3238"/>
                        </a:solidFill>
                        <a:latin typeface="Roboto"/>
                      </a:rPr>
                      <a:t>143</a:t>
                    </a:r>
                  </a:p>
                </c:rich>
              </c:tx>
              <c:dLblPos val="ctr"/>
              <c:showLegendKey val="0"/>
              <c:showVal val="1"/>
              <c:showCatName val="0"/>
              <c:showSerName val="0"/>
              <c:showPercent val="0"/>
              <c:showBubbleSize val="0"/>
            </c:dLbl>
            <c:dLbl>
              <c:idx val="1"/>
              <c:tx>
                <c:rich>
                  <a:bodyPr/>
                  <a:lstStyle/>
                  <a:p>
                    <a:r>
                      <a:rPr sz="1200" b="1">
                        <a:solidFill>
                          <a:srgbClr val="1F3238"/>
                        </a:solidFill>
                        <a:latin typeface="Roboto"/>
                      </a:rPr>
                      <a:t>114</a:t>
                    </a:r>
                  </a:p>
                </c:rich>
              </c:tx>
              <c:dLblPos val="ctr"/>
              <c:showLegendKey val="0"/>
              <c:showVal val="1"/>
              <c:showCatName val="0"/>
              <c:showSerName val="0"/>
              <c:showPercent val="0"/>
              <c:showBubbleSize val="0"/>
            </c:dLbl>
            <c:dLbl>
              <c:idx val="2"/>
              <c:tx>
                <c:rich>
                  <a:bodyPr/>
                  <a:lstStyle/>
                  <a:p>
                    <a:r>
                      <a:rPr sz="1200" b="1">
                        <a:solidFill>
                          <a:srgbClr val="1F3238"/>
                        </a:solidFill>
                        <a:latin typeface="Roboto"/>
                      </a:rPr>
                      <a:t>166</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CD</c:v>
                </c:pt>
                <c:pt idx="1">
                  <c:v>DA</c:v>
                </c:pt>
                <c:pt idx="2">
                  <c:v>Cx</c:v>
                </c:pt>
              </c:strCache>
            </c:strRef>
          </c:cat>
          <c:val>
            <c:numRef>
              <c:f>Sheet1!$C$2:$C$4</c:f>
              <c:numCache>
                <c:formatCode>General</c:formatCode>
                <c:ptCount val="3"/>
                <c:pt idx="0">
                  <c:v>143</c:v>
                </c:pt>
                <c:pt idx="1">
                  <c:v>114</c:v>
                </c:pt>
                <c:pt idx="2">
                  <c:v>166</c:v>
                </c:pt>
              </c:numCache>
            </c:numRef>
          </c:val>
        </c:ser>
        <c:gapWidth val="60"/>
        <c:overlap val="100"/>
        <c:axId val="-2068027336"/>
        <c:axId val="-2113994440"/>
      </c:barChart>
      <c:catAx>
        <c:axId val="-2068027336"/>
        <c:scaling>
          <c:orientation val="minMax"/>
        </c:scaling>
        <c:delete val="0"/>
        <c:axPos val="b"/>
        <c:majorTickMark val="none"/>
        <c:minorTickMark val="none"/>
        <c:tickLblPos val="nextTo"/>
        <c:spPr>
          <a:ln w="19050">
            <a:solidFill>
              <a:srgbClr val="A3A6A8"/>
            </a:solidFill>
          </a:ln>
        </c:spPr>
        <c:txPr>
          <a:bodyPr/>
          <a:lstStyle/>
          <a:p>
            <a:pPr>
              <a:defRPr sz="1200" b="0">
                <a:solidFill>
                  <a:srgbClr val="1F3238"/>
                </a:solidFill>
                <a:latin typeface="Roboto"/>
              </a:defRPr>
            </a:pPr>
          </a:p>
        </c:txPr>
        <c:crossAx val="-2113994440"/>
        <c:crosses val="autoZero"/>
        <c:auto val="1"/>
        <c:lblAlgn val="ctr"/>
        <c:lblOffset val="100"/>
        <c:noMultiLvlLbl val="0"/>
      </c:catAx>
      <c:valAx>
        <c:axId val="-2113994440"/>
        <c:scaling/>
        <c:delete val="0"/>
        <c:axPos val="l"/>
        <c:majorGridlines>
          <c:spPr>
            <a:ln w="9525">
              <a:solidFill>
                <a:srgbClr val="E4E6E7"/>
              </a:solidFill>
            </a:ln>
          </c:spPr>
        </c:majorGridlines>
        <c:numFmt formatCode="0%" sourceLinked="0"/>
        <c:majorTickMark val="none"/>
        <c:minorTickMark val="none"/>
        <c:tickLblPos val="nextTo"/>
        <c:spPr>
          <a:ln>
            <a:noFill/>
          </a:ln>
        </c:spPr>
        <c:txPr>
          <a:bodyPr/>
          <a:lstStyle/>
          <a:p>
            <a:pPr>
              <a:defRPr sz="1200" b="0">
                <a:solidFill>
                  <a:srgbClr val="5F6468"/>
                </a:solidFill>
                <a:latin typeface="Roboto"/>
              </a:defRPr>
            </a:pPr>
          </a:p>
        </c:txPr>
        <c:crossAx val="-2068027336"/>
        <c:crosses val="autoZero"/>
      </c:valAx>
    </c:plotArea>
    <c:legend>
      <c:legendPos val="t"/>
      <c:overlay val="0"/>
      <c:txPr>
        <a:bodyPr/>
        <a:lstStyle/>
        <a:p>
          <a:pPr>
            <a:defRPr sz="1200" b="0">
              <a:solidFill>
                <a:srgbClr val="5F6468"/>
              </a:solidFill>
              <a:latin typeface="Roboto"/>
            </a:defRPr>
          </a:pPr>
        </a:p>
      </c:txPr>
    </c:legend>
    <c:dispBlanksAs val="gap"/>
  </c:chart>
  <c:txPr>
    <a:bodyPr/>
    <a:lstStyle/>
    <a:p>
      <a:pPr>
        <a:defRPr sz="1200">
          <a:solidFill>
            <a:srgbClr val="5F6468"/>
          </a:solidFill>
          <a:latin typeface="Roboto"/>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Low-Risk</c:v>
                </c:pt>
              </c:strCache>
            </c:strRef>
          </c:tx>
          <c:spPr>
            <a:solidFill>
              <a:srgbClr val="4E7C8B"/>
            </a:solidFill>
            <a:ln>
              <a:noFill/>
            </a:ln>
          </c:spPr>
          <c:dLbls>
            <c:dLbl>
              <c:idx val="0"/>
              <c:tx>
                <c:rich>
                  <a:bodyPr/>
                  <a:lstStyle/>
                  <a:p>
                    <a:r>
                      <a:rPr sz="1200" b="1">
                        <a:solidFill>
                          <a:srgbClr val="1F3238"/>
                        </a:solidFill>
                        <a:latin typeface="Roboto"/>
                      </a:rPr>
                      <a:t>0,3%</a:t>
                    </a:r>
                  </a:p>
                </c:rich>
              </c:tx>
              <c:dLblPos val="outEnd"/>
              <c:showLegendKey val="0"/>
              <c:showVal val="1"/>
              <c:showCatName val="0"/>
              <c:showSerName val="0"/>
              <c:showPercent val="0"/>
              <c:showBubbleSize val="0"/>
            </c:dLbl>
            <c:dLbl>
              <c:idx val="1"/>
              <c:tx>
                <c:rich>
                  <a:bodyPr/>
                  <a:lstStyle/>
                  <a:p>
                    <a:r>
                      <a:rPr sz="1200" b="1">
                        <a:solidFill>
                          <a:srgbClr val="1F3238"/>
                        </a:solidFill>
                        <a:latin typeface="Roboto"/>
                      </a:rPr>
                      <a:t>0,1%</a:t>
                    </a:r>
                  </a:p>
                </c:rich>
              </c:tx>
              <c:dLblPos val="outEnd"/>
              <c:showLegendKey val="0"/>
              <c:showVal val="1"/>
              <c:showCatName val="0"/>
              <c:showSerName val="0"/>
              <c:showPercent val="0"/>
              <c:showBubbleSize val="0"/>
            </c:dLbl>
            <c:dLbl>
              <c:idx val="2"/>
              <c:tx>
                <c:rich>
                  <a:bodyPr/>
                  <a:lstStyle/>
                  <a:p>
                    <a:r>
                      <a:rPr sz="1200" b="1">
                        <a:solidFill>
                          <a:srgbClr val="1F3238"/>
                        </a:solidFill>
                        <a:latin typeface="Roboto"/>
                      </a:rPr>
                      <a:t>0,4%</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Death</c:v>
                </c:pt>
                <c:pt idx="1">
                  <c:v>AMI</c:v>
                </c:pt>
                <c:pt idx="2">
                  <c:v>Composite</c:v>
                </c:pt>
              </c:strCache>
            </c:strRef>
          </c:cat>
          <c:val>
            <c:numRef>
              <c:f>Sheet1!$B$2:$B$4</c:f>
              <c:numCache>
                <c:formatCode>General</c:formatCode>
                <c:ptCount val="3"/>
                <c:pt idx="0">
                  <c:v>0.3</c:v>
                </c:pt>
                <c:pt idx="1">
                  <c:v>0.1</c:v>
                </c:pt>
                <c:pt idx="2">
                  <c:v>0.4</c:v>
                </c:pt>
              </c:numCache>
            </c:numRef>
          </c:val>
        </c:ser>
        <c:ser>
          <c:idx val="1"/>
          <c:order val="1"/>
          <c:tx>
            <c:strRef>
              <c:f>Sheet1!$C$1</c:f>
              <c:strCache>
                <c:ptCount val="1"/>
                <c:pt idx="0">
                  <c:v>High-Risk</c:v>
                </c:pt>
              </c:strCache>
            </c:strRef>
          </c:tx>
          <c:spPr>
            <a:solidFill>
              <a:srgbClr val="8EC4CB"/>
            </a:solidFill>
            <a:ln>
              <a:noFill/>
            </a:ln>
          </c:spPr>
          <c:dLbls>
            <c:dLbl>
              <c:idx val="0"/>
              <c:tx>
                <c:rich>
                  <a:bodyPr/>
                  <a:lstStyle/>
                  <a:p>
                    <a:r>
                      <a:rPr sz="1200" b="1">
                        <a:solidFill>
                          <a:srgbClr val="1F3238"/>
                        </a:solidFill>
                        <a:latin typeface="Roboto"/>
                      </a:rPr>
                      <a:t>1,2%</a:t>
                    </a:r>
                  </a:p>
                </c:rich>
              </c:tx>
              <c:dLblPos val="outEnd"/>
              <c:showLegendKey val="0"/>
              <c:showVal val="1"/>
              <c:showCatName val="0"/>
              <c:showSerName val="0"/>
              <c:showPercent val="0"/>
              <c:showBubbleSize val="0"/>
            </c:dLbl>
            <c:dLbl>
              <c:idx val="1"/>
              <c:tx>
                <c:rich>
                  <a:bodyPr/>
                  <a:lstStyle/>
                  <a:p>
                    <a:r>
                      <a:rPr sz="1200" b="1">
                        <a:solidFill>
                          <a:srgbClr val="1F3238"/>
                        </a:solidFill>
                        <a:latin typeface="Roboto"/>
                      </a:rPr>
                      <a:t>12,6%</a:t>
                    </a:r>
                  </a:p>
                </c:rich>
              </c:tx>
              <c:dLblPos val="outEnd"/>
              <c:showLegendKey val="0"/>
              <c:showVal val="1"/>
              <c:showCatName val="0"/>
              <c:showSerName val="0"/>
              <c:showPercent val="0"/>
              <c:showBubbleSize val="0"/>
            </c:dLbl>
            <c:dLbl>
              <c:idx val="2"/>
              <c:tx>
                <c:rich>
                  <a:bodyPr/>
                  <a:lstStyle/>
                  <a:p>
                    <a:r>
                      <a:rPr sz="1200" b="1">
                        <a:solidFill>
                          <a:srgbClr val="1F3238"/>
                        </a:solidFill>
                        <a:latin typeface="Roboto"/>
                      </a:rPr>
                      <a:t>13,5%</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Death</c:v>
                </c:pt>
                <c:pt idx="1">
                  <c:v>AMI</c:v>
                </c:pt>
                <c:pt idx="2">
                  <c:v>Composite</c:v>
                </c:pt>
              </c:strCache>
            </c:strRef>
          </c:cat>
          <c:val>
            <c:numRef>
              <c:f>Sheet1!$C$2:$C$4</c:f>
              <c:numCache>
                <c:formatCode>General</c:formatCode>
                <c:ptCount val="3"/>
                <c:pt idx="0">
                  <c:v>1.2</c:v>
                </c:pt>
                <c:pt idx="1">
                  <c:v>12.6</c:v>
                </c:pt>
                <c:pt idx="2">
                  <c:v>13.5</c:v>
                </c:pt>
              </c:numCache>
            </c:numRef>
          </c:val>
        </c:ser>
        <c:gapWidth val="60"/>
        <c:axId val="-2068027336"/>
        <c:axId val="-2113994440"/>
      </c:barChart>
      <c:catAx>
        <c:axId val="-2068027336"/>
        <c:scaling>
          <c:orientation val="minMax"/>
        </c:scaling>
        <c:delete val="0"/>
        <c:axPos val="b"/>
        <c:majorTickMark val="none"/>
        <c:minorTickMark val="none"/>
        <c:tickLblPos val="nextTo"/>
        <c:spPr>
          <a:ln w="19050">
            <a:solidFill>
              <a:srgbClr val="A3A6A8"/>
            </a:solidFill>
          </a:ln>
        </c:spPr>
        <c:txPr>
          <a:bodyPr/>
          <a:lstStyle/>
          <a:p>
            <a:pPr>
              <a:defRPr sz="1200" b="0">
                <a:solidFill>
                  <a:srgbClr val="1F3238"/>
                </a:solidFill>
                <a:latin typeface="Roboto"/>
              </a:defRPr>
            </a:pPr>
          </a:p>
        </c:txPr>
        <c:crossAx val="-2113994440"/>
        <c:crosses val="autoZero"/>
        <c:auto val="1"/>
        <c:lblAlgn val="ctr"/>
        <c:lblOffset val="100"/>
        <c:noMultiLvlLbl val="0"/>
      </c:catAx>
      <c:valAx>
        <c:axId val="-2113994440"/>
        <c:scaling>
          <c:max val="16.0"/>
          <c:min val="0.0"/>
        </c:scaling>
        <c:delete val="0"/>
        <c:axPos val="l"/>
        <c:majorGridlines>
          <c:spPr>
            <a:ln w="9525">
              <a:solidFill>
                <a:srgbClr val="E4E6E7"/>
              </a:solidFill>
            </a:ln>
          </c:spPr>
        </c:majorGridlines>
        <c:numFmt formatCode="0&quot;%&quot;" sourceLinked="0"/>
        <c:majorTickMark val="none"/>
        <c:minorTickMark val="none"/>
        <c:tickLblPos val="nextTo"/>
        <c:spPr>
          <a:ln>
            <a:noFill/>
          </a:ln>
        </c:spPr>
        <c:txPr>
          <a:bodyPr/>
          <a:lstStyle/>
          <a:p>
            <a:pPr>
              <a:defRPr sz="1200" b="0">
                <a:solidFill>
                  <a:srgbClr val="5F6468"/>
                </a:solidFill>
                <a:latin typeface="Roboto"/>
              </a:defRPr>
            </a:pPr>
          </a:p>
        </c:txPr>
        <c:crossAx val="-2068027336"/>
        <c:crosses val="autoZero"/>
        <c:majorUnit val="4.0"/>
      </c:valAx>
    </c:plotArea>
    <c:legend>
      <c:legendPos val="t"/>
      <c:overlay val="0"/>
      <c:txPr>
        <a:bodyPr/>
        <a:lstStyle/>
        <a:p>
          <a:pPr>
            <a:defRPr sz="1200" b="0">
              <a:solidFill>
                <a:srgbClr val="5F6468"/>
              </a:solidFill>
              <a:latin typeface="Roboto"/>
            </a:defRPr>
          </a:pPr>
        </a:p>
      </c:txPr>
    </c:legend>
    <c:dispBlanksAs val="gap"/>
  </c:chart>
  <c:txPr>
    <a:bodyPr/>
    <a:lstStyle/>
    <a:p>
      <a:pPr>
        <a:defRPr sz="1200">
          <a:solidFill>
            <a:srgbClr val="5F6468"/>
          </a:solidFill>
          <a:latin typeface="Roboto"/>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8746AD-4320-44D4-A130-E742BD4E7119}" type="datetimeFigureOut">
              <a:rPr lang="pt-BR" smtClean="0"/>
              <a:t>27/09/2026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6BBC14-F423-4804-B09E-8508B5DBBF05}" type="slidenum">
              <a:rPr lang="pt-BR" smtClean="0"/>
              <a:t>‹nº›</a:t>
            </a:fld>
            <a:endParaRPr lang="pt-BR"/>
          </a:p>
        </p:txBody>
      </p:sp>
    </p:spTree>
    <p:extLst>
      <p:ext uri="{BB962C8B-B14F-4D97-AF65-F5344CB8AC3E}">
        <p14:creationId xmlns:p14="http://schemas.microsoft.com/office/powerpoint/2010/main" val="297773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smtClean="0"/>
              <a:t>Em vermelho: os que irão se beneficiar com a </a:t>
            </a:r>
            <a:r>
              <a:rPr lang="pt-BR" dirty="0" err="1" smtClean="0"/>
              <a:t>trombólise</a:t>
            </a:r>
            <a:r>
              <a:rPr lang="pt-BR" dirty="0" smtClean="0"/>
              <a:t> esse é o foco</a:t>
            </a:r>
            <a:endParaRPr lang="pt-BR" dirty="0"/>
          </a:p>
          <a:p/>
          <a:p>
            <a:r>
              <a:t>[VALIDAR] '&lt; 5% serão SCA': a diretriz de 2025 (seção 1.1) cita que apenas 5 a 20% dos pacientes com dor torácica no PS têm SCA. Sugestão: conferir o número e a que grupo ele se refere. Fonte: Diretriz Brasileira de Dor Torácica na Unidade de Emergência 2025 (SBC).</a:t>
            </a:r>
          </a:p>
          <a:p>
            <a:r>
              <a:t>[VALIDAR] 'MOV (mse)': a diretriz define MOV = monitorização, avaliação da saturação de O2 e acesso venoso; o sentido de '(mse)' não está claro. Sugestão: confirmar e explicitar.</a:t>
            </a:r>
          </a:p>
        </p:txBody>
      </p:sp>
      <p:sp>
        <p:nvSpPr>
          <p:cNvPr id="4" name="Espaço Reservado para Número de Slide 3"/>
          <p:cNvSpPr>
            <a:spLocks noGrp="1"/>
          </p:cNvSpPr>
          <p:nvPr>
            <p:ph type="sldNum" sz="quarter" idx="10"/>
          </p:nvPr>
        </p:nvSpPr>
        <p:spPr/>
        <p:txBody>
          <a:bodyPr/>
          <a:lstStyle/>
          <a:p>
            <a:fld id="{866BBC14-F423-4804-B09E-8508B5DBBF05}" type="slidenum">
              <a:rPr lang="pt-BR" smtClean="0"/>
              <a:t>2</a:t>
            </a:fld>
            <a:endParaRPr lang="pt-BR"/>
          </a:p>
        </p:txBody>
      </p:sp>
    </p:spTree>
    <p:extLst>
      <p:ext uri="{BB962C8B-B14F-4D97-AF65-F5344CB8AC3E}">
        <p14:creationId xmlns:p14="http://schemas.microsoft.com/office/powerpoint/2010/main" val="26291331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866BBC14-F423-4804-B09E-8508B5DBBF05}" type="slidenum">
              <a:rPr lang="pt-BR" smtClean="0"/>
              <a:t>4</a:t>
            </a:fld>
            <a:endParaRPr lang="pt-BR"/>
          </a:p>
        </p:txBody>
      </p:sp>
    </p:spTree>
    <p:extLst>
      <p:ext uri="{BB962C8B-B14F-4D97-AF65-F5344CB8AC3E}">
        <p14:creationId xmlns:p14="http://schemas.microsoft.com/office/powerpoint/2010/main" val="3906663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err="1" smtClean="0"/>
              <a:t>Brugada</a:t>
            </a:r>
            <a:r>
              <a:rPr lang="pt-BR" dirty="0" smtClean="0"/>
              <a:t>:</a:t>
            </a:r>
            <a:r>
              <a:rPr lang="pt-BR" baseline="0" dirty="0" smtClean="0"/>
              <a:t> doença genética rara, potencialmente fatal (arritmias), mutações genéticas nos canais de sódio</a:t>
            </a:r>
            <a:endParaRPr lang="pt-BR" dirty="0"/>
          </a:p>
        </p:txBody>
      </p:sp>
      <p:sp>
        <p:nvSpPr>
          <p:cNvPr id="4" name="Espaço Reservado para Número de Slide 3"/>
          <p:cNvSpPr>
            <a:spLocks noGrp="1"/>
          </p:cNvSpPr>
          <p:nvPr>
            <p:ph type="sldNum" sz="quarter" idx="10"/>
          </p:nvPr>
        </p:nvSpPr>
        <p:spPr/>
        <p:txBody>
          <a:bodyPr/>
          <a:lstStyle/>
          <a:p>
            <a:fld id="{866BBC14-F423-4804-B09E-8508B5DBBF05}" type="slidenum">
              <a:rPr lang="pt-BR" smtClean="0"/>
              <a:t>16</a:t>
            </a:fld>
            <a:endParaRPr lang="pt-BR"/>
          </a:p>
        </p:txBody>
      </p:sp>
    </p:spTree>
    <p:extLst>
      <p:ext uri="{BB962C8B-B14F-4D97-AF65-F5344CB8AC3E}">
        <p14:creationId xmlns:p14="http://schemas.microsoft.com/office/powerpoint/2010/main" val="11018223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smtClean="0"/>
              <a:t>143(21,34% ) + 527 (78,66% ) = 670 (100%)   114 (21,23% ) + 423 (78,77% ) = 537 (100%)  166 (55,66%) + 127 (43,34% ) = 293 (100%</a:t>
            </a:r>
            <a:endParaRPr lang="pt-BR" dirty="0"/>
          </a:p>
          <a:p/>
          <a:p>
            <a:r>
              <a:t>[VALIDAR] Nota do autor: '166 (55,66%) + 127 (43,34%) = 293': 166/293 = 56,66%, e só 56,66% + 43,34% fecha 100%. Sugestão: corrigir para 56,66% na nota e conferir o gráfico. Fonte: artigo original do registro (Korea AMI Registry) citado na figura.</a:t>
            </a:r>
          </a:p>
        </p:txBody>
      </p:sp>
      <p:sp>
        <p:nvSpPr>
          <p:cNvPr id="4" name="Espaço Reservado para Número de Slide 3"/>
          <p:cNvSpPr>
            <a:spLocks noGrp="1"/>
          </p:cNvSpPr>
          <p:nvPr>
            <p:ph type="sldNum" sz="quarter" idx="10"/>
          </p:nvPr>
        </p:nvSpPr>
        <p:spPr/>
        <p:txBody>
          <a:bodyPr/>
          <a:lstStyle/>
          <a:p>
            <a:fld id="{866BBC14-F423-4804-B09E-8508B5DBBF05}" type="slidenum">
              <a:rPr lang="pt-BR" smtClean="0"/>
              <a:t>20</a:t>
            </a:fld>
            <a:endParaRPr lang="pt-BR"/>
          </a:p>
        </p:txBody>
      </p:sp>
    </p:spTree>
    <p:extLst>
      <p:ext uri="{BB962C8B-B14F-4D97-AF65-F5344CB8AC3E}">
        <p14:creationId xmlns:p14="http://schemas.microsoft.com/office/powerpoint/2010/main" val="40103248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smtClean="0"/>
              <a:t>Acionar o time de choque</a:t>
            </a:r>
            <a:endParaRPr lang="pt-BR" dirty="0"/>
          </a:p>
        </p:txBody>
      </p:sp>
      <p:sp>
        <p:nvSpPr>
          <p:cNvPr id="4" name="Espaço Reservado para Número de Slide 3"/>
          <p:cNvSpPr>
            <a:spLocks noGrp="1"/>
          </p:cNvSpPr>
          <p:nvPr>
            <p:ph type="sldNum" sz="quarter" idx="10"/>
          </p:nvPr>
        </p:nvSpPr>
        <p:spPr/>
        <p:txBody>
          <a:bodyPr/>
          <a:lstStyle/>
          <a:p>
            <a:fld id="{866BBC14-F423-4804-B09E-8508B5DBBF05}" type="slidenum">
              <a:rPr lang="pt-BR" smtClean="0"/>
              <a:t>26</a:t>
            </a:fld>
            <a:endParaRPr lang="pt-BR"/>
          </a:p>
        </p:txBody>
      </p:sp>
    </p:spTree>
    <p:extLst>
      <p:ext uri="{BB962C8B-B14F-4D97-AF65-F5344CB8AC3E}">
        <p14:creationId xmlns:p14="http://schemas.microsoft.com/office/powerpoint/2010/main" val="2688439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t>[BACKUP?] Tabela/figura completa da diretriz. Candidato a mover para o backup; não foi movido.</a:t>
            </a:r>
            <a:endParaRPr lang="pt-BR" dirty="0"/>
          </a:p>
        </p:txBody>
      </p:sp>
      <p:sp>
        <p:nvSpPr>
          <p:cNvPr id="4" name="Espaço Reservado para Número de Slide 3"/>
          <p:cNvSpPr>
            <a:spLocks noGrp="1"/>
          </p:cNvSpPr>
          <p:nvPr>
            <p:ph type="sldNum" sz="quarter" idx="10"/>
          </p:nvPr>
        </p:nvSpPr>
        <p:spPr/>
        <p:txBody>
          <a:bodyPr/>
          <a:lstStyle/>
          <a:p>
            <a:fld id="{866BBC14-F423-4804-B09E-8508B5DBBF05}" type="slidenum">
              <a:rPr lang="pt-BR" smtClean="0"/>
              <a:t>45</a:t>
            </a:fld>
            <a:endParaRPr lang="pt-BR"/>
          </a:p>
        </p:txBody>
      </p:sp>
    </p:spTree>
    <p:extLst>
      <p:ext uri="{BB962C8B-B14F-4D97-AF65-F5344CB8AC3E}">
        <p14:creationId xmlns:p14="http://schemas.microsoft.com/office/powerpoint/2010/main" val="1323486947"/>
      </p:ext>
    </p:extLst>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[VALIDAR] 'TX' e 'Bb' são siglas ambíguas e não foram expandidas (ex.: TX = transplantado? Bb = betabloqueador?). Sugestão: confirmar o significado e defini-las. Ao dividir o slide em dois, o conteúdo original foi mantido integralmente.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[REVISÃO] Este slide é a segunda metade do slide 'Quem vamos colocar no protocolo?', dividido para caber em fonte legível. Conteúdo original mantido.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[VALIDAR] 'Sensibilidade de 50%' para o 1º ECG: a diretriz diz que o ECG isolado detecta menos de 50% dos IAMs (seção 3.4.2). Sugestão: considerar '&lt; 50%'.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[VALIDAR] Título diz 'Derivações complementares anteriores', mas o conteúdo é de derivações direitas (V3R–V6R) e parede posterior do VD. Sugestão: ajustar o título ou o conteúdo.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[SUGESTÃO] Rótulos em inglês (V7–V9). Sugestão: traduzir para português para manter o idioma da aula.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[VALIDAR] 'Maior 40 anos': a diretriz usa '≥ 40 anos' (≥ 2 mm em V2–V3) e exige elevação em pelo menos 2 derivações contíguas. Sugestão: alinhar com o texto da diretriz. Reformatei o slide para 'Homem, menor 40 anos: ...', sem alterar valores.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[VALIDAR] Slide 'SVE/BRE/IAM' (imagem): confirmar o significado de SVE (ex.: sobrecarga ventricular esquerda?) e defini-lo.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[VALIDAR] 'OMI: 28% SSST': o número 28% não foi localizado na diretriz anexa. Sugestão: citar a fonte primária. Os nomes MINOCA/ANOCA/INOCA/TINOCA estão só parcialmente expandidos no slide (só a 1ª palavra); expandi o restante no rodapé.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[SUGESTÃO] As letras R-E-P-I-T-A ficam sem conteúdo no slide (apenas a letra A está preenchida). A figura do slide 28 traz a lista completa (Ruptura de esôfago, Embolia pulmonar, Pneumotórax, Infarto, Tamponamento, Aorta). Sugestão: completar o slide com essa lista, se for o objetivo.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[VALIDAR] 'Sintomas &gt; 3 horas: Uma dosagem': na diretriz, uma única dosagem só descarta IAM se a troponina de alta sensibilidade estiver abaixo do valor 'muito baixo' e sem recorrência de sintomas. Sugestão: explicitar a condição.</a:t>
            </a:r>
          </a:p>
          <a:p>
            <a:r>
              <a:t>[VALIDAR] '5 xx em qualquer momento': o texto original ('5 xx') não é claro. A diretriz cita valores acima de 5x o limite da normalidade como muito elevados. Sugestão: reescrever ('&gt; 5x o limite superior') após conferir.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[VALIDAR] 'IR' pode significar insuficiência renal ou respiratória. Sugestão: definir. (Slide dividido em dois; conteúdo original mantido.)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(repete o slide 47).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(repete o conteúdo dos slides 49 e 50).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(repete o slide 66 com destaque).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idêntico ao slide 30. Candidato a remoção ou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idêntico ao slide 29. Candidato a remoção ou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repete o slide 32. Candidato a remoção ou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[REVISÃO] Slide sem conteúdo visível. Sugestão: remover ou preencher.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[REVISÃO] Slide sem conteúdo visível. Sugestão: remover ou preencher.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[REVISÃO] Slide sem conteúdo visível. Sugestão: remover ou preencher.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(repete o slide 47).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(repete o conteúdo dos slides 49 e 50).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(repete o conteúdo dos slides 49 e 50).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(repete o conteúdo dos slides 49 e 50).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(repete o conteúdo dos slides 49 e 50).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ORIGINAL DAS CAIXAS (antes de reduzir para 1–3 palavras) – Dor torácica instável – Raciocínio diagnóstico</a:t>
            </a:r>
          </a:p>
          <a:p>
            <a:r>
              <a:t>• Início: Paciente com dor torácica e instabilidade hemodinâmica</a:t>
            </a:r>
          </a:p>
          <a:p>
            <a:r>
              <a:t>• Etapa 1: Pense nas principais causas</a:t>
            </a:r>
          </a:p>
          <a:p>
            <a:r>
              <a:t>• Etapa 2: História e exame físico</a:t>
            </a:r>
          </a:p>
          <a:p>
            <a:r>
              <a:t>• Decisão: Principal hipótese definida?</a:t>
            </a:r>
          </a:p>
          <a:p>
            <a:r>
              <a:t>• Não: ECOCARDIOGRAMA</a:t>
            </a:r>
          </a:p>
          <a:p>
            <a:r>
              <a:t>• Sim: Seguir a propedêutica da hipótese diagnóstica</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ORIGINAL DAS CAIXAS (antes de reduzir para 1–3 palavras) – Investigação não invasiva – Sem DAC conhecida</a:t>
            </a:r>
          </a:p>
          <a:p>
            <a:r>
              <a:t>• Início: Sem doença arterial coronariana conhecida</a:t>
            </a:r>
          </a:p>
          <a:p>
            <a:r>
              <a:t>• Decisão: Teste prévio?</a:t>
            </a:r>
          </a:p>
          <a:p>
            <a:r>
              <a:t>• Sim → resultado (slide de detalhe): caixa de resumo “Resultado do teste” criada na divisão do fluxo (não existia no original)</a:t>
            </a:r>
          </a:p>
          <a:p>
            <a:r>
              <a:t>• Sim, etapa 1: Negativo e recente → Considerar Alta</a:t>
            </a:r>
          </a:p>
          <a:p>
            <a:r>
              <a:t>• Sim, etapa 2: Teste de estresse inconclusivo ou anormalidade discreta → Angio-TC</a:t>
            </a:r>
          </a:p>
          <a:p>
            <a:r>
              <a:t>• Sim, etapa 3: Teste de estresse com isquemia moderada a importante / Sem CATE prévio → CATE</a:t>
            </a:r>
          </a:p>
          <a:p>
            <a:r>
              <a:t>• Não: Angio-TC ou teste de estresse*</a:t>
            </a:r>
          </a:p>
          <a:p>
            <a:r>
              <a:t>• Nota: *Escolha do teste deve ser guiada pela disponibilidade e expertise.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ORIGINAL DAS CAIXAS (antes de reduzir para 1–3 palavras) – Investigação não invasiva – Sem DAC conhecida</a:t>
            </a:r>
          </a:p>
          <a:p>
            <a:r>
              <a:t>• Início: Sem doença arterial coronariana conhecida</a:t>
            </a:r>
          </a:p>
          <a:p>
            <a:r>
              <a:t>• Decisão: Teste prévio?</a:t>
            </a:r>
          </a:p>
          <a:p>
            <a:r>
              <a:t>• Sim → resultado (slide de detalhe): caixa de resumo “Resultado do teste” criada na divisão do fluxo (não existia no original)</a:t>
            </a:r>
          </a:p>
          <a:p>
            <a:r>
              <a:t>• Sim, etapa 1: Negativo e recente → Considerar Alta</a:t>
            </a:r>
          </a:p>
          <a:p>
            <a:r>
              <a:t>• Sim, etapa 2: Teste de estresse inconclusivo ou anormalidade discreta → Angio-TC</a:t>
            </a:r>
          </a:p>
          <a:p>
            <a:r>
              <a:t>• Sim, etapa 3: Teste de estresse com isquemia moderada a importante / Sem CATE prévio → CATE</a:t>
            </a:r>
          </a:p>
          <a:p>
            <a:r>
              <a:t>• Não: Angio-TC ou teste de estresse*</a:t>
            </a:r>
          </a:p>
          <a:p>
            <a:r>
              <a:t>• Nota: *Escolha do teste deve ser guiada pela disponibilidade e expertise.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ORIGINAL DAS CAIXAS (antes de reduzir para 1–3 palavras) – Investigação não invasiva – DAC conhecida</a:t>
            </a:r>
          </a:p>
          <a:p>
            <a:r>
              <a:t>• Início: DAC conhecida</a:t>
            </a:r>
          </a:p>
          <a:p>
            <a:r>
              <a:t>• Decisão: Obstrutiva?</a:t>
            </a:r>
          </a:p>
          <a:p>
            <a:r>
              <a:t>• Sim → critérios (slide de detalhe): caixa de resumo “Critérios de risco” criada na divisão do fluxo (não existia no original)</a:t>
            </a:r>
          </a:p>
          <a:p>
            <a:r>
              <a:t>• Sim, etapa 1: Critérios de alto risco → CATE</a:t>
            </a:r>
          </a:p>
          <a:p>
            <a:r>
              <a:t>• Sim, etapa 2: Sem critérios de alto risco → Teste de estresse (preferência)*</a:t>
            </a:r>
          </a:p>
          <a:p>
            <a:r>
              <a:t>• Não: Angio-TC (preferência)*</a:t>
            </a:r>
          </a:p>
          <a:p>
            <a:r>
              <a:t>• Nota: *Escolha do teste deve ser guiada pela disponibilidade e expertise.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ORIGINAL DAS CAIXAS (antes de reduzir para 1–3 palavras) – Investigação não invasiva – DAC conhecida</a:t>
            </a:r>
          </a:p>
          <a:p>
            <a:r>
              <a:t>• Início: DAC conhecida</a:t>
            </a:r>
          </a:p>
          <a:p>
            <a:r>
              <a:t>• Decisão: Obstrutiva?</a:t>
            </a:r>
          </a:p>
          <a:p>
            <a:r>
              <a:t>• Sim → critérios (slide de detalhe): caixa de resumo “Critérios de risco” criada na divisão do fluxo (não existia no original)</a:t>
            </a:r>
          </a:p>
          <a:p>
            <a:r>
              <a:t>• Sim, etapa 1: Critérios de alto risco → CATE</a:t>
            </a:r>
          </a:p>
          <a:p>
            <a:r>
              <a:t>• Sim, etapa 2: Sem critérios de alto risco → Teste de estresse (preferência)*</a:t>
            </a:r>
          </a:p>
          <a:p>
            <a:r>
              <a:t>• Não: Angio-TC (preferência)*</a:t>
            </a:r>
          </a:p>
          <a:p>
            <a:r>
              <a:t>• Nota: *Escolha do teste deve ser guiada pela disponibilidade e expertise.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ORIGINAL DAS CAIXAS (antes de reduzir para 1–3 palavras) – Diagnóstico – IAM com coronariografia normal (1/2)</a:t>
            </a:r>
          </a:p>
          <a:p>
            <a:r>
              <a:t>• Início: Elevação de troponina + Angiografia normal ou lesão &lt; 50%</a:t>
            </a:r>
          </a:p>
          <a:p>
            <a:r>
              <a:t>• Etapa: Excluir diagnósticos alternativos: - Sepse - TEP - Contusão cardíaca - Outras causas de elevação de troponina não cardiológica</a:t>
            </a:r>
          </a:p>
          <a:p>
            <a:r>
              <a:t>• Primeira etapa, caixa 1: Rever achados da angiografia: DAC; Dissecção coronariana; Embolia e trombo coronariano</a:t>
            </a:r>
          </a:p>
          <a:p>
            <a:r>
              <a:t>• Primeira etapa, caixa 2: Rever função do VE (Eco e ventriculografia): Takotsubo; Outras cardiomiopatias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ORIGINAL DAS CAIXAS (antes de reduzir para 1–3 palavras) – Diagnóstico – IAM com coronariografia normal (2/2)</a:t>
            </a:r>
          </a:p>
          <a:p>
            <a:r>
              <a:t>• Segunda etapa, caixa 1: RM cardíaca: DAC; Miocardite; Outras cardiomiopatias</a:t>
            </a:r>
          </a:p>
          <a:p>
            <a:r>
              <a:t>• Segunda etapa, caixa 2: Imagem vascular intracoronariana (IVUS e OCT): Ruptura de placa; Embolia e trombo coronariano; Dissecção coronariana</a:t>
            </a:r>
          </a:p>
          <a:p>
            <a:r>
              <a:t>• Segunda etapa, caixa 3: Testes provocativos e funcionais: Espasmo coronariano; Doença microvascular</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ORIGINAL DAS CAIXAS (antes de reduzir para 1–3 palavras) – Paciente sem critérios de instabilidade</a:t>
            </a:r>
          </a:p>
          <a:p>
            <a:r>
              <a:t>• Decisão: Suspeita de SCA ou Síndromes Aórticas Agudas ou TEP ?</a:t>
            </a:r>
          </a:p>
          <a:p>
            <a:r>
              <a:t>• Não: Propedêutica Específica</a:t>
            </a:r>
          </a:p>
          <a:p>
            <a:r>
              <a:t>• Sim: Escores Clínicos de Risco e Probabilidade Diagnóstica</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ORIGINAL DAS CAIXAS (antes de reduzir para 1–3 palavras) – Investigação não invasiva – Sem DAC conhecida</a:t>
            </a:r>
          </a:p>
          <a:p>
            <a:r>
              <a:t>• Início: Sem doença arterial coronariana conhecida</a:t>
            </a:r>
          </a:p>
          <a:p>
            <a:r>
              <a:t>• Decisão: Teste prévio?</a:t>
            </a:r>
          </a:p>
          <a:p>
            <a:r>
              <a:t>• Sim → resultado (slide de detalhe): caixa de resumo “Resultado do teste” criada na divisão do fluxo (não existia no original)</a:t>
            </a:r>
          </a:p>
          <a:p>
            <a:r>
              <a:t>• Sim, etapa 1: Negativo e recente → Considerar Alta</a:t>
            </a:r>
          </a:p>
          <a:p>
            <a:r>
              <a:t>• Sim, etapa 2: Teste de estresse inconclusivo ou anormalidade discreta → Angio-TC</a:t>
            </a:r>
          </a:p>
          <a:p>
            <a:r>
              <a:t>• Sim, etapa 3: Teste de estresse com isquemia moderada a importante / Sem CATE prévio → CATE</a:t>
            </a:r>
          </a:p>
          <a:p>
            <a:r>
              <a:t>• Não: Angio-TC ou teste de estresse*</a:t>
            </a:r>
          </a:p>
          <a:p>
            <a:r>
              <a:t>• Nota: *Escolha do teste deve ser guiada pela disponibilidade e expertise.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ORIGINAL DAS CAIXAS (antes de reduzir para 1–3 palavras) – Investigação não invasiva – Sem DAC conhecida</a:t>
            </a:r>
          </a:p>
          <a:p>
            <a:r>
              <a:t>• Início: Sem doença arterial coronariana conhecida</a:t>
            </a:r>
          </a:p>
          <a:p>
            <a:r>
              <a:t>• Decisão: Teste prévio?</a:t>
            </a:r>
          </a:p>
          <a:p>
            <a:r>
              <a:t>• Sim → resultado (slide de detalhe): caixa de resumo “Resultado do teste” criada na divisão do fluxo (não existia no original)</a:t>
            </a:r>
          </a:p>
          <a:p>
            <a:r>
              <a:t>• Sim, etapa 1: Negativo e recente → Considerar Alta</a:t>
            </a:r>
          </a:p>
          <a:p>
            <a:r>
              <a:t>• Sim, etapa 2: Teste de estresse inconclusivo ou anormalidade discreta → Angio-TC</a:t>
            </a:r>
          </a:p>
          <a:p>
            <a:r>
              <a:t>• Sim, etapa 3: Teste de estresse com isquemia moderada a importante / Sem CATE prévio → CATE</a:t>
            </a:r>
          </a:p>
          <a:p>
            <a:r>
              <a:t>• Não: Angio-TC ou teste de estresse*</a:t>
            </a:r>
          </a:p>
          <a:p>
            <a:r>
              <a:t>• Nota: *Escolha do teste deve ser guiada pela disponibilidade e expertise.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smtClean="0"/>
              <a:t>Clique para editar o título mestre</a:t>
            </a:r>
            <a:endParaRPr lang="pt-B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BD369FCB-0806-413A-AB6B-A3AD5F3930F6}" type="datetimeFigureOut">
              <a:rPr lang="pt-BR" smtClean="0"/>
              <a:t>27/09/2026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E26F845-71FE-4AB4-84E8-461DBCD1E889}" type="slidenum">
              <a:rPr lang="pt-BR" smtClean="0"/>
              <a:t>‹nº›</a:t>
            </a:fld>
            <a:endParaRPr lang="pt-BR"/>
          </a:p>
        </p:txBody>
      </p:sp>
    </p:spTree>
    <p:extLst>
      <p:ext uri="{BB962C8B-B14F-4D97-AF65-F5344CB8AC3E}">
        <p14:creationId xmlns:p14="http://schemas.microsoft.com/office/powerpoint/2010/main" val="32113807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idx="1"/>
          </p:nvPr>
        </p:nvSpPr>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BD369FCB-0806-413A-AB6B-A3AD5F3930F6}" type="datetimeFigureOut">
              <a:rPr lang="pt-BR" smtClean="0"/>
              <a:t>27/09/2026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E26F845-71FE-4AB4-84E8-461DBCD1E889}" type="slidenum">
              <a:rPr lang="pt-BR" smtClean="0"/>
              <a:t>‹nº›</a:t>
            </a:fld>
            <a:endParaRPr lang="pt-BR"/>
          </a:p>
        </p:txBody>
      </p:sp>
    </p:spTree>
    <p:extLst>
      <p:ext uri="{BB962C8B-B14F-4D97-AF65-F5344CB8AC3E}">
        <p14:creationId xmlns:p14="http://schemas.microsoft.com/office/powerpoint/2010/main" val="1240244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smtClean="0"/>
              <a:t>Clique para editar o título mestre</a:t>
            </a:r>
            <a:endParaRPr lang="pt-BR"/>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smtClean="0"/>
              <a:t>Clique para editar o texto mestre</a:t>
            </a:r>
          </a:p>
        </p:txBody>
      </p:sp>
      <p:sp>
        <p:nvSpPr>
          <p:cNvPr id="4" name="Espaço Reservado para Data 3"/>
          <p:cNvSpPr>
            <a:spLocks noGrp="1"/>
          </p:cNvSpPr>
          <p:nvPr>
            <p:ph type="dt" sz="half" idx="10"/>
          </p:nvPr>
        </p:nvSpPr>
        <p:spPr/>
        <p:txBody>
          <a:bodyPr/>
          <a:lstStyle/>
          <a:p>
            <a:fld id="{BD369FCB-0806-413A-AB6B-A3AD5F3930F6}" type="datetimeFigureOut">
              <a:rPr lang="pt-BR" smtClean="0"/>
              <a:t>27/09/2026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E26F845-71FE-4AB4-84E8-461DBCD1E889}" type="slidenum">
              <a:rPr lang="pt-BR" smtClean="0"/>
              <a:t>‹nº›</a:t>
            </a:fld>
            <a:endParaRPr lang="pt-BR"/>
          </a:p>
        </p:txBody>
      </p:sp>
    </p:spTree>
    <p:extLst>
      <p:ext uri="{BB962C8B-B14F-4D97-AF65-F5344CB8AC3E}">
        <p14:creationId xmlns:p14="http://schemas.microsoft.com/office/powerpoint/2010/main" val="3169340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sz="half" idx="1"/>
          </p:nvPr>
        </p:nvSpPr>
        <p:spPr>
          <a:xfrm>
            <a:off x="838200" y="1825625"/>
            <a:ext cx="5181600" cy="435133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6172200" y="1825625"/>
            <a:ext cx="5181600" cy="435133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BD369FCB-0806-413A-AB6B-A3AD5F3930F6}" type="datetimeFigureOut">
              <a:rPr lang="pt-BR" smtClean="0"/>
              <a:t>27/09/2026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7E26F845-71FE-4AB4-84E8-461DBCD1E889}" type="slidenum">
              <a:rPr lang="pt-BR" smtClean="0"/>
              <a:t>‹nº›</a:t>
            </a:fld>
            <a:endParaRPr lang="pt-BR"/>
          </a:p>
        </p:txBody>
      </p:sp>
    </p:spTree>
    <p:extLst>
      <p:ext uri="{BB962C8B-B14F-4D97-AF65-F5344CB8AC3E}">
        <p14:creationId xmlns:p14="http://schemas.microsoft.com/office/powerpoint/2010/main" val="586998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smtClean="0"/>
              <a:t>Clique para editar o título mestre</a:t>
            </a:r>
            <a:endParaRPr lang="pt-BR"/>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BD369FCB-0806-413A-AB6B-A3AD5F3930F6}" type="datetimeFigureOut">
              <a:rPr lang="pt-BR" smtClean="0"/>
              <a:t>27/09/2026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7E26F845-71FE-4AB4-84E8-461DBCD1E889}" type="slidenum">
              <a:rPr lang="pt-BR" smtClean="0"/>
              <a:t>‹nº›</a:t>
            </a:fld>
            <a:endParaRPr lang="pt-BR"/>
          </a:p>
        </p:txBody>
      </p:sp>
    </p:spTree>
    <p:extLst>
      <p:ext uri="{BB962C8B-B14F-4D97-AF65-F5344CB8AC3E}">
        <p14:creationId xmlns:p14="http://schemas.microsoft.com/office/powerpoint/2010/main" val="4159780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Data 2"/>
          <p:cNvSpPr>
            <a:spLocks noGrp="1"/>
          </p:cNvSpPr>
          <p:nvPr>
            <p:ph type="dt" sz="half" idx="10"/>
          </p:nvPr>
        </p:nvSpPr>
        <p:spPr/>
        <p:txBody>
          <a:bodyPr/>
          <a:lstStyle/>
          <a:p>
            <a:fld id="{BD369FCB-0806-413A-AB6B-A3AD5F3930F6}" type="datetimeFigureOut">
              <a:rPr lang="pt-BR" smtClean="0"/>
              <a:t>27/09/2026</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7E26F845-71FE-4AB4-84E8-461DBCD1E889}" type="slidenum">
              <a:rPr lang="pt-BR" smtClean="0"/>
              <a:t>‹nº›</a:t>
            </a:fld>
            <a:endParaRPr lang="pt-BR"/>
          </a:p>
        </p:txBody>
      </p:sp>
    </p:spTree>
    <p:extLst>
      <p:ext uri="{BB962C8B-B14F-4D97-AF65-F5344CB8AC3E}">
        <p14:creationId xmlns:p14="http://schemas.microsoft.com/office/powerpoint/2010/main" val="2377795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D369FCB-0806-413A-AB6B-A3AD5F3930F6}" type="datetimeFigureOut">
              <a:rPr lang="pt-BR" smtClean="0"/>
              <a:t>27/09/2026</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7E26F845-71FE-4AB4-84E8-461DBCD1E889}" type="slidenum">
              <a:rPr lang="pt-BR" smtClean="0"/>
              <a:t>‹nº›</a:t>
            </a:fld>
            <a:endParaRPr lang="pt-BR"/>
          </a:p>
        </p:txBody>
      </p:sp>
    </p:spTree>
    <p:extLst>
      <p:ext uri="{BB962C8B-B14F-4D97-AF65-F5344CB8AC3E}">
        <p14:creationId xmlns:p14="http://schemas.microsoft.com/office/powerpoint/2010/main" val="20175755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BD369FCB-0806-413A-AB6B-A3AD5F3930F6}" type="datetimeFigureOut">
              <a:rPr lang="pt-BR" smtClean="0"/>
              <a:t>27/09/2026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7E26F845-71FE-4AB4-84E8-461DBCD1E889}" type="slidenum">
              <a:rPr lang="pt-BR" smtClean="0"/>
              <a:t>‹nº›</a:t>
            </a:fld>
            <a:endParaRPr lang="pt-BR"/>
          </a:p>
        </p:txBody>
      </p:sp>
    </p:spTree>
    <p:extLst>
      <p:ext uri="{BB962C8B-B14F-4D97-AF65-F5344CB8AC3E}">
        <p14:creationId xmlns:p14="http://schemas.microsoft.com/office/powerpoint/2010/main" val="824894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BD369FCB-0806-413A-AB6B-A3AD5F3930F6}" type="datetimeFigureOut">
              <a:rPr lang="pt-BR" smtClean="0"/>
              <a:t>27/09/2026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7E26F845-71FE-4AB4-84E8-461DBCD1E889}" type="slidenum">
              <a:rPr lang="pt-BR" smtClean="0"/>
              <a:t>‹nº›</a:t>
            </a:fld>
            <a:endParaRPr lang="pt-BR"/>
          </a:p>
        </p:txBody>
      </p:sp>
    </p:spTree>
    <p:extLst>
      <p:ext uri="{BB962C8B-B14F-4D97-AF65-F5344CB8AC3E}">
        <p14:creationId xmlns:p14="http://schemas.microsoft.com/office/powerpoint/2010/main" val="8969561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BD369FCB-0806-413A-AB6B-A3AD5F3930F6}" type="datetimeFigureOut">
              <a:rPr lang="pt-BR" smtClean="0"/>
              <a:t>27/09/2026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E26F845-71FE-4AB4-84E8-461DBCD1E889}" type="slidenum">
              <a:rPr lang="pt-BR" smtClean="0"/>
              <a:t>‹nº›</a:t>
            </a:fld>
            <a:endParaRPr lang="pt-BR"/>
          </a:p>
        </p:txBody>
      </p:sp>
    </p:spTree>
    <p:extLst>
      <p:ext uri="{BB962C8B-B14F-4D97-AF65-F5344CB8AC3E}">
        <p14:creationId xmlns:p14="http://schemas.microsoft.com/office/powerpoint/2010/main" val="4282154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smtClean="0"/>
              <a:t>Clique para editar o título mestre</a:t>
            </a:r>
            <a:endParaRPr lang="pt-BR"/>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BD369FCB-0806-413A-AB6B-A3AD5F3930F6}" type="datetimeFigureOut">
              <a:rPr lang="pt-BR" smtClean="0"/>
              <a:t>27/09/2026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E26F845-71FE-4AB4-84E8-461DBCD1E889}" type="slidenum">
              <a:rPr lang="pt-BR" smtClean="0"/>
              <a:t>‹nº›</a:t>
            </a:fld>
            <a:endParaRPr lang="pt-BR"/>
          </a:p>
        </p:txBody>
      </p:sp>
    </p:spTree>
    <p:extLst>
      <p:ext uri="{BB962C8B-B14F-4D97-AF65-F5344CB8AC3E}">
        <p14:creationId xmlns:p14="http://schemas.microsoft.com/office/powerpoint/2010/main" val="17411107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smtClean="0"/>
              <a:t>Clique para editar o título mestre</a:t>
            </a:r>
            <a:endParaRPr lang="pt-BR"/>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369FCB-0806-413A-AB6B-A3AD5F3930F6}" type="datetimeFigureOut">
              <a:rPr lang="pt-BR" smtClean="0"/>
              <a:t>27/09/2026</a:t>
            </a:fld>
            <a:endParaRPr lang="pt-BR"/>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26F845-71FE-4AB4-84E8-461DBCD1E889}" type="slidenum">
              <a:rPr lang="pt-BR" smtClean="0"/>
              <a:t>‹nº›</a:t>
            </a:fld>
            <a:endParaRPr lang="pt-BR"/>
          </a:p>
        </p:txBody>
      </p:sp>
    </p:spTree>
    <p:extLst>
      <p:ext uri="{BB962C8B-B14F-4D97-AF65-F5344CB8AC3E}">
        <p14:creationId xmlns:p14="http://schemas.microsoft.com/office/powerpoint/2010/main" val="14622573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4" Type="http://schemas.openxmlformats.org/officeDocument/2006/relationships/image" Target="../media/image7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4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4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13.xml"/><Relationship Id="rId10" Type="http://schemas.openxmlformats.org/officeDocument/2006/relationships/image" Target="../media/crop_21a.png"/><Relationship Id="rId11" Type="http://schemas.openxmlformats.org/officeDocument/2006/relationships/image" Target="../media/crop_21b.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5" Type="http://schemas.openxmlformats.org/officeDocument/2006/relationships/chart" Target="../charts/chart1.xml"/><Relationship Id="rId10" Type="http://schemas.openxmlformats.org/officeDocument/2006/relationships/image" Target="../media/crop_22a.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39.xml"/><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40.xml"/><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21.png"/><Relationship Id="rId4" Type="http://schemas.openxmlformats.org/officeDocument/2006/relationships/image" Target="../media/image23.png"/><Relationship Id="rId5"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31.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41.xml"/><Relationship Id="rId4" Type="http://schemas.openxmlformats.org/officeDocument/2006/relationships/image" Target="../media/image21.png"/><Relationship Id="rId5" Type="http://schemas.openxmlformats.org/officeDocument/2006/relationships/image" Target="../media/image23.png"/><Relationship Id="rId6" Type="http://schemas.openxmlformats.org/officeDocument/2006/relationships/image" Target="../media/image2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6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crop_75.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crop_76.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crop_79.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crop_80.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crop_8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crop_8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crop_83.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crop_84.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crop_85_0.png"/><Relationship Id="rId11" Type="http://schemas.openxmlformats.org/officeDocument/2006/relationships/image" Target="../media/crop_85_1.png"/><Relationship Id="rId12" Type="http://schemas.openxmlformats.org/officeDocument/2006/relationships/image" Target="../media/crop_85_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crop_87.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crop_88.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crop_89a.png"/><Relationship Id="rId11" Type="http://schemas.openxmlformats.org/officeDocument/2006/relationships/image" Target="../media/crop_89b.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crop_90a.png"/><Relationship Id="rId11" Type="http://schemas.openxmlformats.org/officeDocument/2006/relationships/image" Target="../media/crop_90b.png"/><Relationship Id="rId12" Type="http://schemas.openxmlformats.org/officeDocument/2006/relationships/image" Target="../media/crop_90c.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16.png"/><Relationship Id="rId4" Type="http://schemas.openxmlformats.org/officeDocument/2006/relationships/image" Target="../media/image18.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19.png"/><Relationship Id="rId4" Type="http://schemas.openxmlformats.org/officeDocument/2006/relationships/image" Target="../media/image22.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22.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16.png"/><Relationship Id="rId4" Type="http://schemas.openxmlformats.org/officeDocument/2006/relationships/image" Target="../media/image18.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19.png"/><Relationship Id="rId4" Type="http://schemas.openxmlformats.org/officeDocument/2006/relationships/image" Target="../media/image22.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22.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8.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2.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26.png"/><Relationship Id="rId4" Type="http://schemas.openxmlformats.org/officeDocument/2006/relationships/image" Target="../media/image27.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15.png"/><Relationship Id="rId4" Type="http://schemas.openxmlformats.org/officeDocument/2006/relationships/image" Target="../media/image26.png"/><Relationship Id="rId5" Type="http://schemas.openxmlformats.org/officeDocument/2006/relationships/image" Target="../media/image27.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E7C8B"/>
        </a:solidFill>
        <a:effectLst/>
      </p:bgPr>
    </p:bg>
    <p:spTree>
      <p:nvGrpSpPr>
        <p:cNvPr id="1" name=""/>
        <p:cNvGrpSpPr/>
        <p:nvPr/>
      </p:nvGrpSpPr>
      <p:grpSpPr/>
      <p:sp>
        <p:nvSpPr>
          <p:cNvPr id="2" name="TextBox 1"/>
          <p:cNvSpPr txBox="1"/>
          <p:nvPr/>
        </p:nvSpPr>
        <p:spPr>
          <a:xfrm>
            <a:off x="711403" y="1828800"/>
            <a:ext cx="6949440" cy="365760"/>
          </a:xfrm>
          <a:prstGeom prst="rect">
            <a:avLst/>
          </a:prstGeom>
          <a:noFill/>
        </p:spPr>
        <p:txBody>
          <a:bodyPr wrap="square" lIns="0" rIns="0" tIns="0" bIns="0" anchor="t">
            <a:spAutoFit/>
          </a:bodyPr>
          <a:lstStyle/>
          <a:p>
            <a:pPr algn="l"/>
            <a:r>
              <a:rPr sz="1200" b="0" spc="300">
                <a:solidFill>
                  <a:srgbClr val="C9E3E6"/>
                </a:solidFill>
                <a:latin typeface="Roboto Medium"/>
                <a:ea typeface="Roboto Medium"/>
                <a:cs typeface="Roboto Medium"/>
              </a:rPr>
              <a:t>AULA</a:t>
            </a:r>
          </a:p>
        </p:txBody>
      </p:sp>
      <p:sp>
        <p:nvSpPr>
          <p:cNvPr id="3" name="TextBox 2"/>
          <p:cNvSpPr txBox="1"/>
          <p:nvPr/>
        </p:nvSpPr>
        <p:spPr>
          <a:xfrm>
            <a:off x="711403" y="2286000"/>
            <a:ext cx="7315200" cy="1737360"/>
          </a:xfrm>
          <a:prstGeom prst="rect">
            <a:avLst/>
          </a:prstGeom>
          <a:noFill/>
        </p:spPr>
        <p:txBody>
          <a:bodyPr wrap="square" lIns="0" rIns="0" tIns="0" bIns="0" anchor="t">
            <a:spAutoFit/>
          </a:bodyPr>
          <a:lstStyle/>
          <a:p>
            <a:pPr algn="l"/>
            <a:r>
              <a:rPr sz="4400" b="1">
                <a:solidFill>
                  <a:srgbClr val="FBFCFC"/>
                </a:solidFill>
                <a:latin typeface="Roboto"/>
                <a:ea typeface="Roboto"/>
                <a:cs typeface="Roboto"/>
              </a:rPr>
              <a:t>Dor torácica na unidade de emergência</a:t>
            </a:r>
          </a:p>
        </p:txBody>
      </p:sp>
      <p:sp>
        <p:nvSpPr>
          <p:cNvPr id="4" name="TextBox 3"/>
          <p:cNvSpPr txBox="1"/>
          <p:nvPr/>
        </p:nvSpPr>
        <p:spPr>
          <a:xfrm>
            <a:off x="711403" y="4526280"/>
            <a:ext cx="6949440" cy="822960"/>
          </a:xfrm>
          <a:prstGeom prst="rect">
            <a:avLst/>
          </a:prstGeom>
          <a:noFill/>
        </p:spPr>
        <p:txBody>
          <a:bodyPr wrap="square" lIns="0" rIns="0" tIns="0" bIns="0" anchor="t">
            <a:spAutoFit/>
          </a:bodyPr>
          <a:lstStyle/>
          <a:p>
            <a:pPr algn="l"/>
            <a:r>
              <a:rPr sz="1500">
                <a:solidFill>
                  <a:srgbClr val="E4EEF0"/>
                </a:solidFill>
                <a:latin typeface="Roboto"/>
                <a:ea typeface="Roboto"/>
                <a:cs typeface="Roboto"/>
              </a:rPr>
              <a:t>Protocolo 2025 · Diretriz Brasileira de Atendimento à Dor Torácica</a:t>
            </a:r>
          </a:p>
        </p:txBody>
      </p:sp>
      <p:sp>
        <p:nvSpPr>
          <p:cNvPr id="5" name="Rectangle 4"/>
          <p:cNvSpPr/>
          <p:nvPr/>
        </p:nvSpPr>
        <p:spPr>
          <a:xfrm>
            <a:off x="711403" y="5440680"/>
            <a:ext cx="761695" cy="38404"/>
          </a:xfrm>
          <a:prstGeom prst="rect">
            <a:avLst/>
          </a:prstGeom>
          <a:solidFill>
            <a:srgbClr val="8EC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1403" y="5715000"/>
            <a:ext cx="6949440" cy="320040"/>
          </a:xfrm>
          <a:prstGeom prst="rect">
            <a:avLst/>
          </a:prstGeom>
          <a:noFill/>
        </p:spPr>
        <p:txBody>
          <a:bodyPr wrap="square" lIns="0" rIns="0" tIns="0" bIns="0" anchor="t">
            <a:spAutoFit/>
          </a:bodyPr>
          <a:lstStyle/>
          <a:p>
            <a:pPr algn="l"/>
            <a:r>
              <a:rPr sz="1300">
                <a:solidFill>
                  <a:srgbClr val="E4EEF0"/>
                </a:solidFill>
                <a:latin typeface="Roboto"/>
                <a:ea typeface="Roboto"/>
                <a:cs typeface="Roboto"/>
              </a:rPr>
              <a:t>[nome do palestrante]</a:t>
            </a:r>
          </a:p>
        </p:txBody>
      </p:sp>
      <p:sp>
        <p:nvSpPr>
          <p:cNvPr id="7" name="TextBox 6"/>
          <p:cNvSpPr txBox="1"/>
          <p:nvPr/>
        </p:nvSpPr>
        <p:spPr>
          <a:xfrm>
            <a:off x="711403" y="6044184"/>
            <a:ext cx="6949440" cy="320040"/>
          </a:xfrm>
          <a:prstGeom prst="rect">
            <a:avLst/>
          </a:prstGeom>
          <a:noFill/>
        </p:spPr>
        <p:txBody>
          <a:bodyPr wrap="square" lIns="0" rIns="0" tIns="0" bIns="0" anchor="t">
            <a:spAutoFit/>
          </a:bodyPr>
          <a:lstStyle/>
          <a:p>
            <a:pPr algn="l"/>
            <a:r>
              <a:rPr sz="1300">
                <a:solidFill>
                  <a:srgbClr val="E4EEF0"/>
                </a:solidFill>
                <a:latin typeface="Roboto"/>
                <a:ea typeface="Roboto"/>
                <a:cs typeface="Roboto"/>
              </a:rPr>
              <a:t>[instituição]</a:t>
            </a:r>
          </a:p>
        </p:txBody>
      </p:sp>
      <p:sp>
        <p:nvSpPr>
          <p:cNvPr id="8" name="Oval 7"/>
          <p:cNvSpPr/>
          <p:nvPr/>
        </p:nvSpPr>
        <p:spPr>
          <a:xfrm>
            <a:off x="8138160" y="1463040"/>
            <a:ext cx="2794406" cy="2794406"/>
          </a:xfrm>
          <a:prstGeom prst="ellipse">
            <a:avLst/>
          </a:prstGeom>
          <a:noFill/>
          <a:ln w="12700">
            <a:solidFill>
              <a:srgbClr val="6E9D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09760" y="3291840"/>
            <a:ext cx="1524304" cy="1524304"/>
          </a:xfrm>
          <a:prstGeom prst="ellipse">
            <a:avLst/>
          </a:prstGeom>
          <a:solidFill>
            <a:srgbClr val="5B8A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C9E3E6"/>
                </a:solidFill>
                <a:latin typeface="Roboto"/>
                <a:ea typeface="Roboto"/>
                <a:cs typeface="Roboto"/>
              </a:rPr>
              <a:t>1  ·  Dor torácica – Protocolo 2025 | Set 2026</a:t>
            </a:r>
          </a:p>
        </p:txBody>
      </p:sp>
      <p:sp>
        <p:nvSpPr>
          <p:cNvPr id="11" name="TextBox 10"/>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C9E3E6"/>
                </a:solidFill>
                <a:latin typeface="Roboto"/>
                <a:ea typeface="Roboto"/>
                <a:cs typeface="Roboto"/>
              </a:rPr>
              <a:t>SEU LOGO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Diretriz Brasileira de Atendimento à Dor Torácica na Unidade de Emergência – 2025</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2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6" name="Subtítulo"/>
          <p:cNvSpPr txBox="1"/>
          <p:nvPr/>
        </p:nvSpPr>
        <p:spPr>
          <a:xfrm>
            <a:off x="711403" y="1640000"/>
            <a:ext cx="10771632" cy="213167"/>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300" b="0" i="1" dirty="0">
                <a:solidFill>
                  <a:srgbClr val="737A7F"/>
                </a:solidFill>
                <a:latin typeface="Roboto"/>
                <a:ea typeface="Roboto"/>
                <a:cs typeface="Roboto"/>
              </a:rPr>
              <a:t>Brazilian Guideline for the Evaluation and Diagnosis of Chest Pain in the Emergency Department – 2025</a:t>
            </a:r>
            <a:endParaRPr lang="pt-BR" sz="1300" dirty="0"/>
          </a:p>
        </p:txBody>
      </p:sp>
      <p:sp>
        <p:nvSpPr>
          <p:cNvPr id="7" name="Realização"/>
          <p:cNvSpPr txBox="1"/>
          <p:nvPr/>
        </p:nvSpPr>
        <p:spPr>
          <a:xfrm>
            <a:off x="711403" y="2093167"/>
            <a:ext cx="10771632" cy="599501"/>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300" b="1" i="0" dirty="0">
                <a:solidFill>
                  <a:srgbClr val="5F6468"/>
                </a:solidFill>
                <a:latin typeface="Roboto"/>
                <a:ea typeface="Roboto"/>
                <a:cs typeface="Roboto"/>
              </a:rPr>
              <a:t>Realização:</a:t>
            </a:r>
            <a:r>
              <a:rPr lang="pt-BR" sz="1300" b="0" i="0" dirty="0">
                <a:solidFill>
                  <a:srgbClr val="5F6468"/>
                </a:solidFill>
                <a:latin typeface="Roboto"/>
                <a:ea typeface="Roboto"/>
                <a:cs typeface="Roboto"/>
              </a:rPr>
              <a:t> Grupos de Estudos em Coronariopatias, Emergências e Terapia Intensiva (GECETI) do Departamento de Cardiologia Clínica da Sociedade Brasileira de Cardiologia (DCC), Sociedade Brasileira de Cardiologia (SBC) Federación Latinoamericana de Medicina de Emergencias (FLAME)</a:t>
            </a:r>
            <a:endParaRPr lang="pt-BR" sz="1300" dirty="0"/>
          </a:p>
        </p:txBody>
      </p:sp>
      <p:sp>
        <p:nvSpPr>
          <p:cNvPr id="8" name="Coordenadores"/>
          <p:cNvSpPr txBox="1"/>
          <p:nvPr/>
        </p:nvSpPr>
        <p:spPr>
          <a:xfrm>
            <a:off x="711403" y="2852668"/>
            <a:ext cx="10771632" cy="213167"/>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300" b="1" i="0" dirty="0">
                <a:solidFill>
                  <a:srgbClr val="5F6468"/>
                </a:solidFill>
                <a:latin typeface="Roboto"/>
                <a:ea typeface="Roboto"/>
                <a:cs typeface="Roboto"/>
              </a:rPr>
              <a:t>Coordenadores:</a:t>
            </a:r>
            <a:r>
              <a:rPr lang="pt-BR" sz="1300" b="0" i="0" dirty="0">
                <a:solidFill>
                  <a:srgbClr val="5F6468"/>
                </a:solidFill>
                <a:latin typeface="Roboto"/>
                <a:ea typeface="Roboto"/>
                <a:cs typeface="Roboto"/>
              </a:rPr>
              <a:t> Pedro Gabriel Melo de Barros e Silva, Alexandre de Matos Soeiro</a:t>
            </a:r>
            <a:endParaRPr lang="pt-BR" sz="1300" dirty="0"/>
          </a:p>
        </p:txBody>
      </p:sp>
      <p:sp>
        <p:nvSpPr>
          <p:cNvPr id="9" name="Fonte"/>
          <p:cNvSpPr txBox="1"/>
          <p:nvPr/>
        </p:nvSpPr>
        <p:spPr>
          <a:xfrm>
            <a:off x="711403" y="5650000"/>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0" dirty="0">
                <a:solidFill>
                  <a:srgbClr val="737A7F"/>
                </a:solidFill>
                <a:latin typeface="Roboto"/>
                <a:ea typeface="Roboto"/>
                <a:cs typeface="Roboto"/>
              </a:rPr>
              <a:t>de Barros e Silva et al.  ·  Diretriz Brasileira de Atendimento à Dor Torácica na Unidade de Emergência – 2025  ·  Diretrizes</a:t>
            </a:r>
            <a:endParaRPr lang="pt-BR" sz="1200" dirty="0"/>
          </a:p>
        </p:txBody>
      </p:sp>
    </p:spTree>
    <p:extLst>
      <p:ext uri="{BB962C8B-B14F-4D97-AF65-F5344CB8AC3E}">
        <p14:creationId xmlns:p14="http://schemas.microsoft.com/office/powerpoint/2010/main" val="11175501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O protocolo</a:t>
            </a:r>
            <a:endParaRPr lang="pt-BR" dirty="0" sz="3200"/>
          </a:p>
        </p:txBody>
      </p:sp>
      <p:sp>
        <p:nvSpPr>
          <p:cNvPr id="3" name="Espaço Reservado para Conteúdo 2"/>
          <p:cNvSpPr>
            <a:spLocks noGrp="1"/>
          </p:cNvSpPr>
          <p:nvPr>
            <p:ph idx="1"/>
          </p:nvPr>
        </p:nvSpPr>
        <p:spPr>
          <a:xfrm>
            <a:off x="711403" y="1417320"/>
            <a:ext cx="10771632" cy="3721608"/>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1960 </a:t>
            </a:r>
            <a:r>
              <a:rPr lang="pt-BR" dirty="0" err="1" smtClean="0" sz="1300" b="0">
                <a:solidFill>
                  <a:srgbClr val="5F6468"/>
                </a:solidFill>
                <a:latin typeface="Roboto"/>
                <a:ea typeface="Roboto"/>
                <a:cs typeface="Roboto"/>
              </a:rPr>
              <a:t>unidades coronarianas (UCOs)</a:t>
            </a:r>
            <a:r>
              <a:rPr lang="pt-BR" dirty="0" smtClean="0" sz="1300" b="0">
                <a:solidFill>
                  <a:srgbClr val="5F6468"/>
                </a:solidFill>
                <a:latin typeface="Roboto"/>
                <a:ea typeface="Roboto"/>
                <a:cs typeface="Roboto"/>
              </a:rPr>
              <a:t> 50% redução mortalidade</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Nome engloba mais sintomas (equivalentes anginosos)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Última diretriz 2002</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Mudança da análise do eletrocardiograma (ECG) = procura de nuances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a:solidFill>
                  <a:srgbClr val="4E7C8B"/>
                </a:solidFill>
                <a:latin typeface="Roboto Medium"/>
                <a:ea typeface="Roboto Medium"/>
                <a:cs typeface="Roboto Medium"/>
              </a:rPr>
              <a:t>Além do supra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a:solidFill>
                  <a:srgbClr val="4E7C8B"/>
                </a:solidFill>
                <a:latin typeface="Roboto Medium"/>
                <a:ea typeface="Roboto Medium"/>
                <a:cs typeface="Roboto Medium"/>
              </a:rPr>
              <a:t>Oclusão coronariana aguda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Feito </a:t>
            </a:r>
            <a:r>
              <a:rPr lang="pt-BR" dirty="0" sz="1300" b="0">
                <a:solidFill>
                  <a:srgbClr val="5F6468"/>
                </a:solidFill>
                <a:latin typeface="Roboto"/>
                <a:ea typeface="Roboto"/>
                <a:cs typeface="Roboto"/>
              </a:rPr>
              <a:t>um diagnóstico passa para diretriz de tratamento</a:t>
            </a:r>
            <a:endParaRPr sz="2400" lang="pt-BR"/>
          </a:p>
          <a:p>
            <a:pPr marL="285750" indent="-285750" algn="l">
              <a:lnSpc>
                <a:spcPct val="140000"/>
              </a:lnSpc>
              <a:spcBef>
                <a:spcPts val="0"/>
              </a:spcBef>
              <a:spcAft>
                <a:spcPts val="600"/>
              </a:spcAft>
              <a:buClr>
                <a:srgbClr val="4E7C8B"/>
              </a:buClr>
              <a:buFont typeface="Arial"/>
              <a:buChar char="•"/>
            </a:pPr>
            <a:r>
              <a:rPr lang="pt-BR" dirty="0" sz="1300" b="0">
                <a:solidFill>
                  <a:srgbClr val="5F6468"/>
                </a:solidFill>
                <a:latin typeface="Roboto"/>
                <a:ea typeface="Roboto"/>
                <a:cs typeface="Roboto"/>
              </a:rPr>
              <a:t>&lt; 5% serão de síndrome coronariana aguda (SCA)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Colocou no protocolo: MOV (</a:t>
            </a:r>
            <a:r>
              <a:rPr lang="pt-BR" dirty="0" err="1" smtClean="0" sz="1300" b="0">
                <a:solidFill>
                  <a:srgbClr val="5F6468"/>
                </a:solidFill>
                <a:latin typeface="Roboto"/>
                <a:ea typeface="Roboto"/>
                <a:cs typeface="Roboto"/>
              </a:rPr>
              <a:t>mse</a:t>
            </a:r>
            <a:r>
              <a:rPr lang="pt-BR" dirty="0" smtClean="0" sz="1300" b="0">
                <a:solidFill>
                  <a:srgbClr val="5F6468"/>
                </a:solidFill>
                <a:latin typeface="Roboto"/>
                <a:ea typeface="Roboto"/>
                <a:cs typeface="Roboto"/>
              </a:rPr>
              <a:t>)</a:t>
            </a:r>
            <a:endParaRPr lang="pt-BR" dirty="0" sz="2400"/>
          </a:p>
        </p:txBody>
      </p:sp>
      <p:sp>
        <p:nvSpPr>
          <p:cNvPr id="4" name="Siglas (revisão)"/>
          <p:cNvSpPr txBox="1"/>
          <p:nvPr/>
        </p:nvSpPr>
        <p:spPr>
          <a:xfrm>
            <a:off x="711403" y="5230368"/>
            <a:ext cx="10771632" cy="612647"/>
          </a:xfrm>
          <a:prstGeom prst="rect">
            <a:avLst/>
          </a:prstGeom>
          <a:noFill/>
        </p:spPr>
        <p:txBody>
          <a:bodyPr wrap="square" tIns="27432" bIns="27432" anchor="b"/>
          <a:lstStyle/>
          <a:p>
            <a:pPr algn="l">
              <a:lnSpc>
                <a:spcPct val="120000"/>
              </a:lnSpc>
              <a:spcBef>
                <a:spcPts val="0"/>
              </a:spcBef>
              <a:spcAft>
                <a:spcPts val="0"/>
              </a:spcAft>
            </a:pPr>
            <a:r>
              <a:rPr sz="1200">
                <a:solidFill>
                  <a:srgbClr val="4E7C8B"/>
                </a:solidFill>
                <a:latin typeface="Roboto Medium"/>
                <a:ea typeface="Roboto Medium"/>
                <a:cs typeface="Roboto Medium"/>
              </a:rPr>
              <a:t>Siglas: MOV = monitorização, avaliação da saturação de O₂ e acesso venoso (definição conforme a diretriz de 2025 anexa).</a:t>
            </a:r>
          </a:p>
        </p:txBody>
      </p:sp>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3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5583479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Classificação dos sintomas</a:t>
            </a:r>
            <a:endParaRPr lang="pt-BR" dirty="0" sz="3200"/>
          </a:p>
        </p:txBody>
      </p:sp>
      <p:sp>
        <p:nvSpPr>
          <p:cNvPr id="3" name="Espaço Reservado para Conteúdo 2"/>
          <p:cNvSpPr>
            <a:spLocks noGrp="1"/>
          </p:cNvSpPr>
          <p:nvPr>
            <p:ph idx="1"/>
          </p:nvPr>
        </p:nvSpPr>
        <p:spPr>
          <a:xfrm>
            <a:off x="711403" y="1417320"/>
            <a:ext cx="10771632" cy="4425696"/>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Sintomas altamente suspeitos de SCA (certo)</a:t>
            </a:r>
            <a:endParaRPr sz="2400" lang="pt-BR"/>
          </a:p>
          <a:p>
            <a:pPr marL="285750" indent="-285750" algn="l">
              <a:lnSpc>
                <a:spcPct val="140000"/>
              </a:lnSpc>
              <a:spcBef>
                <a:spcPts val="0"/>
              </a:spcBef>
              <a:spcAft>
                <a:spcPts val="600"/>
              </a:spcAft>
              <a:buClr>
                <a:srgbClr val="4E7C8B"/>
              </a:buClr>
              <a:buFont typeface="Arial"/>
              <a:buChar char="•"/>
            </a:pPr>
            <a:r>
              <a:rPr lang="pt-BR" dirty="0" sz="1300" b="0">
                <a:solidFill>
                  <a:srgbClr val="5F6468"/>
                </a:solidFill>
                <a:latin typeface="Roboto"/>
                <a:ea typeface="Roboto"/>
                <a:cs typeface="Roboto"/>
              </a:rPr>
              <a:t>Sintomas </a:t>
            </a:r>
            <a:r>
              <a:rPr lang="pt-BR" dirty="0" smtClean="0" sz="1300" b="0">
                <a:solidFill>
                  <a:srgbClr val="5F6468"/>
                </a:solidFill>
                <a:latin typeface="Roboto"/>
                <a:ea typeface="Roboto"/>
                <a:cs typeface="Roboto"/>
              </a:rPr>
              <a:t>moderadamente suspeitos </a:t>
            </a:r>
            <a:r>
              <a:rPr lang="pt-BR" dirty="0" sz="1300" b="0">
                <a:solidFill>
                  <a:srgbClr val="5F6468"/>
                </a:solidFill>
                <a:latin typeface="Roboto"/>
                <a:ea typeface="Roboto"/>
                <a:cs typeface="Roboto"/>
              </a:rPr>
              <a:t>de </a:t>
            </a:r>
            <a:r>
              <a:rPr lang="pt-BR" dirty="0" smtClean="0" sz="1300" b="0">
                <a:solidFill>
                  <a:srgbClr val="5F6468"/>
                </a:solidFill>
                <a:latin typeface="Roboto"/>
                <a:ea typeface="Roboto"/>
                <a:cs typeface="Roboto"/>
              </a:rPr>
              <a:t>SCA (provável)</a:t>
            </a:r>
            <a:endParaRPr sz="2400" lang="pt-BR"/>
          </a:p>
          <a:p>
            <a:pPr marL="285750" indent="-285750" algn="l">
              <a:lnSpc>
                <a:spcPct val="140000"/>
              </a:lnSpc>
              <a:spcBef>
                <a:spcPts val="0"/>
              </a:spcBef>
              <a:spcAft>
                <a:spcPts val="600"/>
              </a:spcAft>
              <a:buClr>
                <a:srgbClr val="4E7C8B"/>
              </a:buClr>
              <a:buFont typeface="Arial"/>
              <a:buChar char="•"/>
            </a:pPr>
            <a:r>
              <a:rPr lang="pt-BR" dirty="0" sz="1300" b="0">
                <a:solidFill>
                  <a:srgbClr val="5F6468"/>
                </a:solidFill>
                <a:latin typeface="Roboto"/>
                <a:ea typeface="Roboto"/>
                <a:cs typeface="Roboto"/>
              </a:rPr>
              <a:t>Sintomas </a:t>
            </a:r>
            <a:r>
              <a:rPr lang="pt-BR" dirty="0" smtClean="0" sz="1300" b="0">
                <a:solidFill>
                  <a:srgbClr val="5F6468"/>
                </a:solidFill>
                <a:latin typeface="Roboto"/>
                <a:ea typeface="Roboto"/>
                <a:cs typeface="Roboto"/>
              </a:rPr>
              <a:t>pouco ou nada suspeitos </a:t>
            </a:r>
            <a:r>
              <a:rPr lang="pt-BR" dirty="0" sz="1300" b="0">
                <a:solidFill>
                  <a:srgbClr val="5F6468"/>
                </a:solidFill>
                <a:latin typeface="Roboto"/>
                <a:ea typeface="Roboto"/>
                <a:cs typeface="Roboto"/>
              </a:rPr>
              <a:t>de </a:t>
            </a:r>
            <a:r>
              <a:rPr lang="pt-BR" dirty="0" smtClean="0" sz="1300" b="0">
                <a:solidFill>
                  <a:srgbClr val="5F6468"/>
                </a:solidFill>
                <a:latin typeface="Roboto"/>
                <a:ea typeface="Roboto"/>
                <a:cs typeface="Roboto"/>
              </a:rPr>
              <a:t>SCA (improvável)</a:t>
            </a:r>
            <a:endParaRPr sz="2400" lang="pt-BR"/>
          </a:p>
          <a:p>
            <a:pPr marL="0" indent="0" algn="l">
              <a:lnSpc>
                <a:spcPct val="140000"/>
              </a:lnSpc>
              <a:spcBef>
                <a:spcPts val="0"/>
              </a:spcBef>
              <a:spcAft>
                <a:spcPts val="0"/>
              </a:spcAft>
              <a:buFont typeface="Arial" panose="020B0604020202020204" pitchFamily="34" charset="0"/>
              <a:buNone/>
              <a:buAutoNum type="arabicPeriod"/>
            </a:pPr>
            <a:endParaRPr lang="pt-BR" dirty="0" sz="2400"/>
          </a:p>
          <a:p>
            <a:pPr marL="285750" indent="-285750" algn="l">
              <a:lnSpc>
                <a:spcPct val="140000"/>
              </a:lnSpc>
              <a:spcBef>
                <a:spcPts val="0"/>
              </a:spcBef>
              <a:spcAft>
                <a:spcPts val="600"/>
              </a:spcAft>
              <a:buClr>
                <a:srgbClr val="4E7C8B"/>
              </a:buClr>
              <a:buFont typeface="Arial"/>
              <a:buChar char="•"/>
            </a:pPr>
            <a:r>
              <a:rPr lang="pt-BR" dirty="0" sz="1300" b="0">
                <a:solidFill>
                  <a:srgbClr val="5F6468"/>
                </a:solidFill>
                <a:latin typeface="Roboto"/>
                <a:ea typeface="Roboto"/>
                <a:cs typeface="Roboto"/>
              </a:rPr>
              <a:t>Dor típica e atípica está em desuso</a:t>
            </a:r>
            <a:endParaRPr sz="2400" lang="pt-B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4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2054900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10"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Principais causas de dor torácica</a:t>
            </a:r>
          </a:p>
        </p:txBody>
      </p:sp>
      <p:sp>
        <p:nvSpPr>
          <p:cNvPr id="12" name="Coluna esquerda"/>
          <p:cNvSpPr txBox="1"/>
          <p:nvPr/>
        </p:nvSpPr>
        <p:spPr>
          <a:xfrm>
            <a:off x="711403" y="1417320"/>
            <a:ext cx="3800000" cy="4000000"/>
          </a:xfrm>
          <a:prstGeom prst="rect">
            <a:avLst/>
          </a:prstGeom>
          <a:noFill/>
        </p:spPr>
        <p:txBody>
          <a:bodyPr wrap="square" lIns="0" rIns="0" tIns="0" bIns="0" anchor="t">
            <a:noAutofit/>
          </a:bodyPr>
          <a:lstStyle/>
          <a:p>
            <a:pPr marL="0" indent="0" algn="l">
              <a:lnSpc>
                <a:spcPct val="120000"/>
              </a:lnSpc>
              <a:spcBef>
                <a:spcPts val="0"/>
              </a:spcBef>
              <a:spcAft>
                <a:spcPts val="200"/>
              </a:spcAft>
              <a:buNone/>
            </a:pPr>
            <a:r>
              <a:rPr lang="pt-BR" sz="1500" b="0" dirty="0">
                <a:solidFill>
                  <a:srgbClr val="3B3F42"/>
                </a:solidFill>
                <a:latin typeface="Roboto Medium"/>
                <a:ea typeface="Roboto Medium"/>
                <a:cs typeface="Roboto Medium"/>
              </a:rPr>
              <a:t>Cardiovasculares</a:t>
            </a:r>
          </a:p>
          <a:p>
            <a:pPr marL="285750" indent="-285750" algn="l">
              <a:lnSpc>
                <a:spcPct val="120000"/>
              </a:lnSpc>
              <a:spcBef>
                <a:spcPts val="0"/>
              </a:spcBef>
              <a:spcAft>
                <a:spcPts val="200"/>
              </a:spcAft>
              <a:buClr>
                <a:srgbClr val="B5533C"/>
              </a:buClr>
              <a:buFont typeface="Arial"/>
              <a:buChar char="•"/>
            </a:pPr>
            <a:r>
              <a:rPr lang="pt-BR" sz="1300" b="0" dirty="0">
                <a:solidFill>
                  <a:srgbClr val="B5533C"/>
                </a:solidFill>
                <a:latin typeface="Roboto"/>
                <a:ea typeface="Roboto"/>
                <a:cs typeface="Roboto"/>
              </a:rPr>
              <a:t>Síndrome Coronariana Aguda</a:t>
            </a:r>
          </a:p>
          <a:p>
            <a:pPr marL="285750" indent="-285750" algn="l">
              <a:lnSpc>
                <a:spcPct val="120000"/>
              </a:lnSpc>
              <a:spcBef>
                <a:spcPts val="0"/>
              </a:spcBef>
              <a:spcAft>
                <a:spcPts val="200"/>
              </a:spcAft>
              <a:buClr>
                <a:srgbClr val="4E7C8B"/>
              </a:buClr>
              <a:buFont typeface="Arial"/>
              <a:buChar char="•"/>
            </a:pPr>
            <a:r>
              <a:rPr lang="pt-BR" sz="1300" b="0" dirty="0">
                <a:solidFill>
                  <a:srgbClr val="5F6468"/>
                </a:solidFill>
                <a:latin typeface="Roboto"/>
                <a:ea typeface="Roboto"/>
                <a:cs typeface="Roboto"/>
              </a:rPr>
              <a:t>Doença Valvar</a:t>
            </a:r>
          </a:p>
          <a:p>
            <a:pPr marL="285750" indent="-285750" algn="l">
              <a:lnSpc>
                <a:spcPct val="120000"/>
              </a:lnSpc>
              <a:spcBef>
                <a:spcPts val="0"/>
              </a:spcBef>
              <a:spcAft>
                <a:spcPts val="200"/>
              </a:spcAft>
              <a:buClr>
                <a:srgbClr val="4E7C8B"/>
              </a:buClr>
              <a:buFont typeface="Arial"/>
              <a:buChar char="•"/>
            </a:pPr>
            <a:r>
              <a:rPr lang="pt-BR" sz="1300" b="0" dirty="0">
                <a:solidFill>
                  <a:srgbClr val="5F6468"/>
                </a:solidFill>
                <a:latin typeface="Roboto"/>
                <a:ea typeface="Roboto"/>
                <a:cs typeface="Roboto"/>
              </a:rPr>
              <a:t>Pericardite</a:t>
            </a:r>
          </a:p>
          <a:p>
            <a:pPr marL="285750" indent="-285750" algn="l">
              <a:lnSpc>
                <a:spcPct val="120000"/>
              </a:lnSpc>
              <a:spcBef>
                <a:spcPts val="0"/>
              </a:spcBef>
              <a:spcAft>
                <a:spcPts val="200"/>
              </a:spcAft>
              <a:buClr>
                <a:srgbClr val="B5533C"/>
              </a:buClr>
              <a:buFont typeface="Arial"/>
              <a:buChar char="•"/>
            </a:pPr>
            <a:r>
              <a:rPr lang="pt-BR" sz="1300" b="0" dirty="0">
                <a:solidFill>
                  <a:srgbClr val="B5533C"/>
                </a:solidFill>
                <a:latin typeface="Roboto"/>
                <a:ea typeface="Roboto"/>
                <a:cs typeface="Roboto"/>
              </a:rPr>
              <a:t>Tamponamento cardíaco</a:t>
            </a:r>
          </a:p>
          <a:p>
            <a:pPr marL="285750" indent="-285750" algn="l">
              <a:lnSpc>
                <a:spcPct val="120000"/>
              </a:lnSpc>
              <a:spcBef>
                <a:spcPts val="0"/>
              </a:spcBef>
              <a:spcAft>
                <a:spcPts val="200"/>
              </a:spcAft>
              <a:buClr>
                <a:srgbClr val="B5533C"/>
              </a:buClr>
              <a:buFont typeface="Arial"/>
              <a:buChar char="•"/>
            </a:pPr>
            <a:r>
              <a:rPr lang="pt-BR" sz="1300" b="0" dirty="0">
                <a:solidFill>
                  <a:srgbClr val="B5533C"/>
                </a:solidFill>
                <a:latin typeface="Roboto"/>
                <a:ea typeface="Roboto"/>
                <a:cs typeface="Roboto"/>
              </a:rPr>
              <a:t>Dissecção de Aorta</a:t>
            </a:r>
          </a:p>
          <a:p>
            <a:pPr marL="0" indent="0" algn="l">
              <a:lnSpc>
                <a:spcPct val="120000"/>
              </a:lnSpc>
              <a:spcBef>
                <a:spcPts val="900"/>
              </a:spcBef>
              <a:spcAft>
                <a:spcPts val="200"/>
              </a:spcAft>
              <a:buNone/>
            </a:pPr>
            <a:r>
              <a:rPr lang="pt-BR" sz="1500" b="0" dirty="0">
                <a:solidFill>
                  <a:srgbClr val="3B3F42"/>
                </a:solidFill>
                <a:latin typeface="Roboto Medium"/>
                <a:ea typeface="Roboto Medium"/>
                <a:cs typeface="Roboto Medium"/>
              </a:rPr>
              <a:t>Pulmonares</a:t>
            </a:r>
          </a:p>
          <a:p>
            <a:pPr marL="285750" indent="-285750" algn="l">
              <a:lnSpc>
                <a:spcPct val="120000"/>
              </a:lnSpc>
              <a:spcBef>
                <a:spcPts val="0"/>
              </a:spcBef>
              <a:spcAft>
                <a:spcPts val="200"/>
              </a:spcAft>
              <a:buClr>
                <a:srgbClr val="B5533C"/>
              </a:buClr>
              <a:buFont typeface="Arial"/>
              <a:buChar char="•"/>
            </a:pPr>
            <a:r>
              <a:rPr lang="pt-BR" sz="1300" b="0" dirty="0">
                <a:solidFill>
                  <a:srgbClr val="B5533C"/>
                </a:solidFill>
                <a:latin typeface="Roboto"/>
                <a:ea typeface="Roboto"/>
                <a:cs typeface="Roboto"/>
              </a:rPr>
              <a:t>Embolia Pulmonar</a:t>
            </a:r>
          </a:p>
          <a:p>
            <a:pPr marL="285750" indent="-285750" algn="l">
              <a:lnSpc>
                <a:spcPct val="120000"/>
              </a:lnSpc>
              <a:spcBef>
                <a:spcPts val="0"/>
              </a:spcBef>
              <a:spcAft>
                <a:spcPts val="200"/>
              </a:spcAft>
              <a:buClr>
                <a:srgbClr val="4E7C8B"/>
              </a:buClr>
              <a:buFont typeface="Arial"/>
              <a:buChar char="•"/>
            </a:pPr>
            <a:r>
              <a:rPr lang="pt-BR" sz="1300" b="0" dirty="0">
                <a:solidFill>
                  <a:srgbClr val="5F6468"/>
                </a:solidFill>
                <a:latin typeface="Roboto"/>
                <a:ea typeface="Roboto"/>
                <a:cs typeface="Roboto"/>
              </a:rPr>
              <a:t>Pneumonia</a:t>
            </a:r>
          </a:p>
          <a:p>
            <a:pPr marL="285750" indent="-285750" algn="l">
              <a:lnSpc>
                <a:spcPct val="120000"/>
              </a:lnSpc>
              <a:spcBef>
                <a:spcPts val="0"/>
              </a:spcBef>
              <a:spcAft>
                <a:spcPts val="200"/>
              </a:spcAft>
              <a:buClr>
                <a:srgbClr val="B5533C"/>
              </a:buClr>
              <a:buFont typeface="Arial"/>
              <a:buChar char="•"/>
            </a:pPr>
            <a:r>
              <a:rPr lang="pt-BR" sz="1300" b="0" dirty="0">
                <a:solidFill>
                  <a:srgbClr val="B5533C"/>
                </a:solidFill>
                <a:latin typeface="Roboto"/>
                <a:ea typeface="Roboto"/>
                <a:cs typeface="Roboto"/>
              </a:rPr>
              <a:t>Pneumotórax</a:t>
            </a:r>
          </a:p>
          <a:p>
            <a:pPr marL="285750" indent="-285750" algn="l">
              <a:lnSpc>
                <a:spcPct val="120000"/>
              </a:lnSpc>
              <a:spcBef>
                <a:spcPts val="0"/>
              </a:spcBef>
              <a:spcAft>
                <a:spcPts val="200"/>
              </a:spcAft>
              <a:buClr>
                <a:srgbClr val="4E7C8B"/>
              </a:buClr>
              <a:buFont typeface="Arial"/>
              <a:buChar char="•"/>
            </a:pPr>
            <a:r>
              <a:rPr lang="pt-BR" sz="1300" b="0" dirty="0">
                <a:solidFill>
                  <a:srgbClr val="5F6468"/>
                </a:solidFill>
                <a:latin typeface="Roboto"/>
                <a:ea typeface="Roboto"/>
                <a:cs typeface="Roboto"/>
              </a:rPr>
              <a:t>Pleurite</a:t>
            </a:r>
          </a:p>
          <a:p>
            <a:pPr marL="0" indent="0" algn="l">
              <a:lnSpc>
                <a:spcPct val="120000"/>
              </a:lnSpc>
              <a:spcBef>
                <a:spcPts val="900"/>
              </a:spcBef>
              <a:spcAft>
                <a:spcPts val="200"/>
              </a:spcAft>
              <a:buNone/>
            </a:pPr>
            <a:r>
              <a:rPr lang="pt-BR" sz="1500" b="0" dirty="0">
                <a:solidFill>
                  <a:srgbClr val="3B3F42"/>
                </a:solidFill>
                <a:latin typeface="Roboto Medium"/>
                <a:ea typeface="Roboto Medium"/>
                <a:cs typeface="Roboto Medium"/>
              </a:rPr>
              <a:t>Psiquiátricos</a:t>
            </a:r>
          </a:p>
          <a:p>
            <a:pPr marL="285750" indent="-285750" algn="l">
              <a:lnSpc>
                <a:spcPct val="120000"/>
              </a:lnSpc>
              <a:spcBef>
                <a:spcPts val="0"/>
              </a:spcBef>
              <a:spcAft>
                <a:spcPts val="200"/>
              </a:spcAft>
              <a:buClr>
                <a:srgbClr val="4E7C8B"/>
              </a:buClr>
              <a:buFont typeface="Arial"/>
              <a:buChar char="•"/>
            </a:pPr>
            <a:r>
              <a:rPr lang="pt-BR" sz="1300" b="0" dirty="0">
                <a:solidFill>
                  <a:srgbClr val="5F6468"/>
                </a:solidFill>
                <a:latin typeface="Roboto"/>
                <a:ea typeface="Roboto"/>
                <a:cs typeface="Roboto"/>
              </a:rPr>
              <a:t>Ansiedade</a:t>
            </a:r>
          </a:p>
          <a:p>
            <a:pPr marL="285750" indent="-285750" algn="l">
              <a:lnSpc>
                <a:spcPct val="120000"/>
              </a:lnSpc>
              <a:spcBef>
                <a:spcPts val="0"/>
              </a:spcBef>
              <a:spcAft>
                <a:spcPts val="200"/>
              </a:spcAft>
              <a:buClr>
                <a:srgbClr val="4E7C8B"/>
              </a:buClr>
              <a:buFont typeface="Arial"/>
              <a:buChar char="•"/>
            </a:pPr>
            <a:r>
              <a:rPr lang="pt-BR" sz="1300" b="0" dirty="0">
                <a:solidFill>
                  <a:srgbClr val="5F6468"/>
                </a:solidFill>
                <a:latin typeface="Roboto"/>
                <a:ea typeface="Roboto"/>
                <a:cs typeface="Roboto"/>
              </a:rPr>
              <a:t>Depressão</a:t>
            </a:r>
          </a:p>
        </p:txBody>
      </p:sp>
      <p:pic>
        <p:nvPicPr>
          <p:cNvPr id="11" name="Ilustração dor torácica" descr="Homem com a mão sobre o peito, expressão de dor"/>
          <p:cNvPicPr>
            <a:picLocks noChangeAspect="1"/>
          </p:cNvPicPr>
          <p:nvPr/>
        </p:nvPicPr>
        <p:blipFill>
          <a:blip r:embed="rId4"/>
          <a:stretch>
            <a:fillRect/>
          </a:stretch>
        </p:blipFill>
        <p:spPr>
          <a:xfrm>
            <a:off x="4650000" y="1500000"/>
            <a:ext cx="3000000" cy="3873000"/>
          </a:xfrm>
          <a:prstGeom prst="rect">
            <a:avLst/>
          </a:prstGeom>
        </p:spPr>
      </p:pic>
      <p:sp>
        <p:nvSpPr>
          <p:cNvPr id="13" name="Coluna direita"/>
          <p:cNvSpPr txBox="1"/>
          <p:nvPr/>
        </p:nvSpPr>
        <p:spPr>
          <a:xfrm>
            <a:off x="7950000" y="1417320"/>
            <a:ext cx="3533035" cy="4000000"/>
          </a:xfrm>
          <a:prstGeom prst="rect">
            <a:avLst/>
          </a:prstGeom>
          <a:noFill/>
        </p:spPr>
        <p:txBody>
          <a:bodyPr wrap="square" lIns="0" rIns="0" tIns="0" bIns="0" anchor="t">
            <a:noAutofit/>
          </a:bodyPr>
          <a:lstStyle/>
          <a:p>
            <a:pPr marL="0" indent="0" algn="l">
              <a:lnSpc>
                <a:spcPct val="120000"/>
              </a:lnSpc>
              <a:spcBef>
                <a:spcPts val="0"/>
              </a:spcBef>
              <a:spcAft>
                <a:spcPts val="200"/>
              </a:spcAft>
              <a:buNone/>
            </a:pPr>
            <a:r>
              <a:rPr lang="pt-BR" sz="1500" b="0" dirty="0">
                <a:solidFill>
                  <a:srgbClr val="3B3F42"/>
                </a:solidFill>
                <a:latin typeface="Roboto Medium"/>
                <a:ea typeface="Roboto Medium"/>
                <a:cs typeface="Roboto Medium"/>
              </a:rPr>
              <a:t>Musculoesquelético</a:t>
            </a:r>
          </a:p>
          <a:p>
            <a:pPr marL="285750" indent="-285750" algn="l">
              <a:lnSpc>
                <a:spcPct val="120000"/>
              </a:lnSpc>
              <a:spcBef>
                <a:spcPts val="0"/>
              </a:spcBef>
              <a:spcAft>
                <a:spcPts val="200"/>
              </a:spcAft>
              <a:buClr>
                <a:srgbClr val="4E7C8B"/>
              </a:buClr>
              <a:buFont typeface="Arial"/>
              <a:buChar char="•"/>
            </a:pPr>
            <a:r>
              <a:rPr lang="pt-BR" sz="1300" b="0" dirty="0">
                <a:solidFill>
                  <a:srgbClr val="5F6468"/>
                </a:solidFill>
                <a:latin typeface="Roboto"/>
                <a:ea typeface="Roboto"/>
                <a:cs typeface="Roboto"/>
              </a:rPr>
              <a:t>Costocondrite</a:t>
            </a:r>
          </a:p>
          <a:p>
            <a:pPr marL="285750" indent="-285750" algn="l">
              <a:lnSpc>
                <a:spcPct val="120000"/>
              </a:lnSpc>
              <a:spcBef>
                <a:spcPts val="0"/>
              </a:spcBef>
              <a:spcAft>
                <a:spcPts val="200"/>
              </a:spcAft>
              <a:buClr>
                <a:srgbClr val="4E7C8B"/>
              </a:buClr>
              <a:buFont typeface="Arial"/>
              <a:buChar char="•"/>
            </a:pPr>
            <a:r>
              <a:rPr lang="pt-BR" sz="1300" b="0" dirty="0">
                <a:solidFill>
                  <a:srgbClr val="5F6468"/>
                </a:solidFill>
                <a:latin typeface="Roboto"/>
                <a:ea typeface="Roboto"/>
                <a:cs typeface="Roboto"/>
              </a:rPr>
              <a:t>Artrite</a:t>
            </a:r>
          </a:p>
          <a:p>
            <a:pPr marL="0" indent="0" algn="l">
              <a:lnSpc>
                <a:spcPct val="120000"/>
              </a:lnSpc>
              <a:spcBef>
                <a:spcPts val="900"/>
              </a:spcBef>
              <a:spcAft>
                <a:spcPts val="200"/>
              </a:spcAft>
              <a:buNone/>
            </a:pPr>
            <a:r>
              <a:rPr lang="pt-BR" sz="1500" b="0" dirty="0">
                <a:solidFill>
                  <a:srgbClr val="3B3F42"/>
                </a:solidFill>
                <a:latin typeface="Roboto Medium"/>
                <a:ea typeface="Roboto Medium"/>
                <a:cs typeface="Roboto Medium"/>
              </a:rPr>
              <a:t>Gastrointestinais</a:t>
            </a:r>
          </a:p>
          <a:p>
            <a:pPr marL="285750" indent="-285750" algn="l">
              <a:lnSpc>
                <a:spcPct val="120000"/>
              </a:lnSpc>
              <a:spcBef>
                <a:spcPts val="0"/>
              </a:spcBef>
              <a:spcAft>
                <a:spcPts val="200"/>
              </a:spcAft>
              <a:buClr>
                <a:srgbClr val="4E7C8B"/>
              </a:buClr>
              <a:buFont typeface="Arial"/>
              <a:buChar char="•"/>
            </a:pPr>
            <a:r>
              <a:rPr lang="pt-BR" sz="1300" b="0" dirty="0">
                <a:solidFill>
                  <a:srgbClr val="5F6468"/>
                </a:solidFill>
                <a:latin typeface="Roboto"/>
                <a:ea typeface="Roboto"/>
                <a:cs typeface="Roboto"/>
              </a:rPr>
              <a:t>Úlcera gástrica</a:t>
            </a:r>
          </a:p>
          <a:p>
            <a:pPr marL="285750" indent="-285750" algn="l">
              <a:lnSpc>
                <a:spcPct val="120000"/>
              </a:lnSpc>
              <a:spcBef>
                <a:spcPts val="0"/>
              </a:spcBef>
              <a:spcAft>
                <a:spcPts val="200"/>
              </a:spcAft>
              <a:buClr>
                <a:srgbClr val="4E7C8B"/>
              </a:buClr>
              <a:buFont typeface="Arial"/>
              <a:buChar char="•"/>
            </a:pPr>
            <a:r>
              <a:rPr lang="pt-BR" sz="1300" b="0" dirty="0">
                <a:solidFill>
                  <a:srgbClr val="5F6468"/>
                </a:solidFill>
                <a:latin typeface="Roboto"/>
                <a:ea typeface="Roboto"/>
                <a:cs typeface="Roboto"/>
              </a:rPr>
              <a:t>Hérnia de Hiato</a:t>
            </a:r>
          </a:p>
          <a:p>
            <a:pPr marL="285750" indent="-285750" algn="l">
              <a:lnSpc>
                <a:spcPct val="120000"/>
              </a:lnSpc>
              <a:spcBef>
                <a:spcPts val="0"/>
              </a:spcBef>
              <a:spcAft>
                <a:spcPts val="200"/>
              </a:spcAft>
              <a:buClr>
                <a:srgbClr val="B5533C"/>
              </a:buClr>
              <a:buFont typeface="Arial"/>
              <a:buChar char="•"/>
            </a:pPr>
            <a:r>
              <a:rPr lang="pt-BR" sz="1300" b="0" dirty="0">
                <a:solidFill>
                  <a:srgbClr val="B5533C"/>
                </a:solidFill>
                <a:latin typeface="Roboto"/>
                <a:ea typeface="Roboto"/>
                <a:cs typeface="Roboto"/>
              </a:rPr>
              <a:t>Perfuração de esôfago</a:t>
            </a:r>
          </a:p>
          <a:p>
            <a:pPr marL="285750" indent="-285750" algn="l">
              <a:lnSpc>
                <a:spcPct val="120000"/>
              </a:lnSpc>
              <a:spcBef>
                <a:spcPts val="0"/>
              </a:spcBef>
              <a:spcAft>
                <a:spcPts val="200"/>
              </a:spcAft>
              <a:buClr>
                <a:srgbClr val="4E7C8B"/>
              </a:buClr>
              <a:buFont typeface="Arial"/>
              <a:buChar char="•"/>
            </a:pPr>
            <a:r>
              <a:rPr lang="pt-BR" sz="1300" b="0" dirty="0">
                <a:solidFill>
                  <a:srgbClr val="5F6468"/>
                </a:solidFill>
                <a:latin typeface="Roboto"/>
                <a:ea typeface="Roboto"/>
                <a:cs typeface="Roboto"/>
              </a:rPr>
              <a:t>Espasmo esofageano</a:t>
            </a:r>
          </a:p>
          <a:p>
            <a:pPr marL="285750" indent="-285750" algn="l">
              <a:lnSpc>
                <a:spcPct val="120000"/>
              </a:lnSpc>
              <a:spcBef>
                <a:spcPts val="0"/>
              </a:spcBef>
              <a:spcAft>
                <a:spcPts val="200"/>
              </a:spcAft>
              <a:buClr>
                <a:srgbClr val="4E7C8B"/>
              </a:buClr>
              <a:buFont typeface="Arial"/>
              <a:buChar char="•"/>
            </a:pPr>
            <a:r>
              <a:rPr lang="pt-BR" sz="1300" b="0" dirty="0">
                <a:solidFill>
                  <a:srgbClr val="5F6468"/>
                </a:solidFill>
                <a:latin typeface="Roboto"/>
                <a:ea typeface="Roboto"/>
                <a:cs typeface="Roboto"/>
              </a:rPr>
              <a:t>Pancreatite</a:t>
            </a:r>
          </a:p>
          <a:p>
            <a:pPr marL="285750" indent="-285750" algn="l">
              <a:lnSpc>
                <a:spcPct val="120000"/>
              </a:lnSpc>
              <a:spcBef>
                <a:spcPts val="0"/>
              </a:spcBef>
              <a:spcAft>
                <a:spcPts val="200"/>
              </a:spcAft>
              <a:buClr>
                <a:srgbClr val="4E7C8B"/>
              </a:buClr>
              <a:buFont typeface="Arial"/>
              <a:buChar char="•"/>
            </a:pPr>
            <a:r>
              <a:rPr lang="pt-BR" sz="1300" b="0" dirty="0">
                <a:solidFill>
                  <a:srgbClr val="5F6468"/>
                </a:solidFill>
                <a:latin typeface="Roboto"/>
                <a:ea typeface="Roboto"/>
                <a:cs typeface="Roboto"/>
              </a:rPr>
              <a:t>Colecistite</a:t>
            </a:r>
          </a:p>
          <a:p>
            <a:pPr marL="0" indent="0" algn="l">
              <a:lnSpc>
                <a:spcPct val="120000"/>
              </a:lnSpc>
              <a:spcBef>
                <a:spcPts val="900"/>
              </a:spcBef>
              <a:spcAft>
                <a:spcPts val="200"/>
              </a:spcAft>
              <a:buNone/>
            </a:pPr>
            <a:r>
              <a:rPr lang="pt-BR" sz="1500" b="0" dirty="0">
                <a:solidFill>
                  <a:srgbClr val="3B3F42"/>
                </a:solidFill>
                <a:latin typeface="Roboto Medium"/>
                <a:ea typeface="Roboto Medium"/>
                <a:cs typeface="Roboto Medium"/>
              </a:rPr>
              <a:t>Trauma</a:t>
            </a:r>
          </a:p>
          <a:p>
            <a:pPr marL="285750" indent="-285750" algn="l">
              <a:lnSpc>
                <a:spcPct val="120000"/>
              </a:lnSpc>
              <a:spcBef>
                <a:spcPts val="0"/>
              </a:spcBef>
              <a:spcAft>
                <a:spcPts val="200"/>
              </a:spcAft>
              <a:buClr>
                <a:srgbClr val="4E7C8B"/>
              </a:buClr>
              <a:buFont typeface="Arial"/>
              <a:buChar char="•"/>
            </a:pPr>
            <a:r>
              <a:rPr lang="pt-BR" sz="1300" b="0" dirty="0">
                <a:solidFill>
                  <a:srgbClr val="5F6468"/>
                </a:solidFill>
                <a:latin typeface="Roboto"/>
                <a:ea typeface="Roboto"/>
                <a:cs typeface="Roboto"/>
              </a:rPr>
              <a:t>Fratura de arcos costais</a:t>
            </a:r>
          </a:p>
        </p:txBody>
      </p:sp>
      <p:sp>
        <p:nvSpPr>
          <p:cNvPr id="14" name="Nota"/>
          <p:cNvSpPr txBox="1"/>
          <p:nvPr/>
        </p:nvSpPr>
        <p:spPr>
          <a:xfrm>
            <a:off x="711403" y="5560000"/>
            <a:ext cx="10771632" cy="300000"/>
          </a:xfrm>
          <a:prstGeom prst="rect">
            <a:avLst/>
          </a:prstGeom>
          <a:noFill/>
        </p:spPr>
        <p:txBody>
          <a:bodyPr wrap="square" lIns="0" rIns="0" tIns="0" bIns="0" anchor="t">
            <a:noAutofit/>
          </a:bodyPr>
          <a:lstStyle/>
          <a:p>
            <a:pPr algn="l"/>
            <a:r>
              <a:rPr lang="pt-BR" sz="1300" b="0" dirty="0">
                <a:solidFill>
                  <a:srgbClr val="3B3F42"/>
                </a:solidFill>
                <a:latin typeface="Roboto Medium"/>
                <a:ea typeface="Roboto Medium"/>
                <a:cs typeface="Roboto Medium"/>
              </a:rPr>
              <a:t>* Todas podem apresentar ECG não diagnóstico...</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5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649741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Objetivos</a:t>
            </a:r>
            <a:endParaRPr lang="pt-BR" dirty="0" sz="3200"/>
          </a:p>
        </p:txBody>
      </p:sp>
      <p:sp>
        <p:nvSpPr>
          <p:cNvPr id="3" name="Espaço Reservado para Conteúdo 2"/>
          <p:cNvSpPr>
            <a:spLocks noGrp="1"/>
          </p:cNvSpPr>
          <p:nvPr>
            <p:ph idx="1"/>
          </p:nvPr>
        </p:nvSpPr>
        <p:spPr>
          <a:xfrm>
            <a:off x="711403" y="1417320"/>
            <a:ext cx="10771632" cy="4425696"/>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Identificar ou afastar SCA</a:t>
            </a:r>
            <a:endParaRPr sz="2400" lang="pt-BR"/>
          </a:p>
          <a:p>
            <a:pPr marL="285750" indent="-285750" algn="l">
              <a:lnSpc>
                <a:spcPct val="140000"/>
              </a:lnSpc>
              <a:spcBef>
                <a:spcPts val="0"/>
              </a:spcBef>
              <a:spcAft>
                <a:spcPts val="600"/>
              </a:spcAft>
              <a:buClr>
                <a:srgbClr val="4E7C8B"/>
              </a:buClr>
              <a:buFont typeface="Arial"/>
              <a:buChar char="•"/>
            </a:pPr>
            <a:r>
              <a:rPr lang="pt-BR" dirty="0" sz="1300" b="0">
                <a:solidFill>
                  <a:srgbClr val="5F6468"/>
                </a:solidFill>
                <a:latin typeface="Roboto"/>
                <a:ea typeface="Roboto"/>
                <a:cs typeface="Roboto"/>
              </a:rPr>
              <a:t>Identificar ou afastar </a:t>
            </a:r>
            <a:r>
              <a:rPr lang="pt-BR" dirty="0" smtClean="0" sz="1300" b="0">
                <a:solidFill>
                  <a:srgbClr val="5F6468"/>
                </a:solidFill>
                <a:latin typeface="Roboto"/>
                <a:ea typeface="Roboto"/>
                <a:cs typeface="Roboto"/>
              </a:rPr>
              <a:t>doenças tempo sensíveis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a:solidFill>
                  <a:srgbClr val="4E7C8B"/>
                </a:solidFill>
                <a:latin typeface="Roboto Medium"/>
                <a:ea typeface="Roboto Medium"/>
                <a:cs typeface="Roboto Medium"/>
              </a:rPr>
              <a:t>REPITA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Internar quem precisa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Evitar internações desnecessárias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Salvar vidas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Reduzir sequelas</a:t>
            </a:r>
            <a:endParaRPr sz="2400" lang="pt-B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6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415196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Quem vamos colocar no protocolo? (1/2)</a:t>
            </a:r>
            <a:endParaRPr lang="pt-BR" dirty="0" sz="3200"/>
          </a:p>
        </p:txBody>
      </p:sp>
      <p:sp>
        <p:nvSpPr>
          <p:cNvPr id="3" name="Espaço Reservado para Conteúdo 2"/>
          <p:cNvSpPr>
            <a:spLocks noGrp="1"/>
          </p:cNvSpPr>
          <p:nvPr>
            <p:ph idx="1"/>
          </p:nvPr>
        </p:nvSpPr>
        <p:spPr>
          <a:xfrm>
            <a:off x="711403" y="1417320"/>
            <a:ext cx="10771632" cy="3721608"/>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Dor no momento do atendimento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10% a 30% não terão dor (idoso, DM, TX, </a:t>
            </a:r>
            <a:r>
              <a:rPr lang="pt-BR" dirty="0" err="1" smtClean="0" sz="1300" b="0">
                <a:solidFill>
                  <a:srgbClr val="5F6468"/>
                </a:solidFill>
                <a:latin typeface="Roboto"/>
                <a:ea typeface="Roboto"/>
                <a:cs typeface="Roboto"/>
              </a:rPr>
              <a:t>Bb</a:t>
            </a:r>
            <a:r>
              <a:rPr lang="pt-BR" dirty="0" smtClean="0" sz="1300" b="0">
                <a:solidFill>
                  <a:srgbClr val="5F6468"/>
                </a:solidFill>
                <a:latin typeface="Roboto"/>
                <a:ea typeface="Roboto"/>
                <a:cs typeface="Roboto"/>
              </a:rPr>
              <a:t>)</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Dor entre a cicatriz umbilical e o mento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História de dor torácica com mais de 10 min de duração (mesmo assintomático)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Desconforto epigástrico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Dor nos braços</a:t>
            </a:r>
            <a:endParaRPr sz="2400" lang="pt-BR"/>
          </a:p>
        </p:txBody>
      </p:sp>
      <p:sp>
        <p:nvSpPr>
          <p:cNvPr id="4" name="Siglas (revisão)"/>
          <p:cNvSpPr txBox="1"/>
          <p:nvPr/>
        </p:nvSpPr>
        <p:spPr>
          <a:xfrm>
            <a:off x="711403" y="5230368"/>
            <a:ext cx="10771632" cy="612647"/>
          </a:xfrm>
          <a:prstGeom prst="rect">
            <a:avLst/>
          </a:prstGeom>
          <a:noFill/>
        </p:spPr>
        <p:txBody>
          <a:bodyPr wrap="square" tIns="27432" bIns="27432" anchor="b"/>
          <a:lstStyle/>
          <a:p>
            <a:pPr algn="l">
              <a:lnSpc>
                <a:spcPct val="120000"/>
              </a:lnSpc>
              <a:spcBef>
                <a:spcPts val="0"/>
              </a:spcBef>
              <a:spcAft>
                <a:spcPts val="0"/>
              </a:spcAft>
            </a:pPr>
            <a:r>
              <a:rPr sz="1200">
                <a:solidFill>
                  <a:srgbClr val="4E7C8B"/>
                </a:solidFill>
                <a:latin typeface="Roboto Medium"/>
                <a:ea typeface="Roboto Medium"/>
                <a:cs typeface="Roboto Medium"/>
              </a:rPr>
              <a:t>Siglas: DM = diabetes mellitus.</a:t>
            </a:r>
          </a:p>
        </p:txBody>
      </p:sp>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7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88550891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Quem vamos colocar no protocolo? (2/2)</a:t>
            </a:r>
            <a:endParaRPr lang="pt-BR" dirty="0" sz="3200"/>
          </a:p>
        </p:txBody>
      </p:sp>
      <p:sp>
        <p:nvSpPr>
          <p:cNvPr id="3" name="Espaço Reservado para Conteúdo 2"/>
          <p:cNvSpPr>
            <a:spLocks noGrp="1"/>
          </p:cNvSpPr>
          <p:nvPr>
            <p:ph idx="1"/>
          </p:nvPr>
        </p:nvSpPr>
        <p:spPr>
          <a:xfrm>
            <a:off x="711403" y="1417320"/>
            <a:ext cx="10771632" cy="3721608"/>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Equivalentes isquêmicos</a:t>
            </a:r>
            <a:endParaRPr sz="2400" lang="pt-BR"/>
          </a:p>
          <a:p>
            <a:pPr marL="285750" indent="-285750" algn="l">
              <a:lnSpc>
                <a:spcPct val="140000"/>
              </a:lnSpc>
              <a:spcBef>
                <a:spcPts val="0"/>
              </a:spcBef>
              <a:spcAft>
                <a:spcPts val="600"/>
              </a:spcAft>
              <a:buClr>
                <a:srgbClr val="4E7C8B"/>
              </a:buClr>
              <a:buFont typeface="Arial"/>
              <a:buChar char="•"/>
            </a:pPr>
            <a:r>
              <a:rPr lang="pt-BR" dirty="0" err="1" smtClean="0" sz="1300" b="0">
                <a:solidFill>
                  <a:srgbClr val="5F6468"/>
                </a:solidFill>
                <a:latin typeface="Roboto"/>
                <a:ea typeface="Roboto"/>
                <a:cs typeface="Roboto"/>
              </a:rPr>
              <a:t>Dispneia</a:t>
            </a:r>
            <a:r>
              <a:rPr lang="pt-BR" dirty="0" smtClean="0" sz="1300" b="0">
                <a:solidFill>
                  <a:srgbClr val="5F6468"/>
                </a:solidFill>
                <a:latin typeface="Roboto"/>
                <a:ea typeface="Roboto"/>
                <a:cs typeface="Roboto"/>
              </a:rPr>
              <a:t>, sudorese, hipotensão, síncope, arritmias agudas, AVC, pós PCR</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Pacientes sempre de risco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DM, IRC, DAC, DAOP, AVC</a:t>
            </a:r>
            <a:endParaRPr sz="2400" lang="pt-BR"/>
          </a:p>
        </p:txBody>
      </p:sp>
      <p:sp>
        <p:nvSpPr>
          <p:cNvPr id="4" name="Siglas (revisão)"/>
          <p:cNvSpPr txBox="1"/>
          <p:nvPr/>
        </p:nvSpPr>
        <p:spPr>
          <a:xfrm>
            <a:off x="711403" y="5230368"/>
            <a:ext cx="10771632" cy="612647"/>
          </a:xfrm>
          <a:prstGeom prst="rect">
            <a:avLst/>
          </a:prstGeom>
          <a:noFill/>
        </p:spPr>
        <p:txBody>
          <a:bodyPr wrap="square" tIns="27432" bIns="27432" anchor="b"/>
          <a:lstStyle/>
          <a:p>
            <a:pPr algn="l">
              <a:lnSpc>
                <a:spcPct val="120000"/>
              </a:lnSpc>
              <a:spcBef>
                <a:spcPts val="0"/>
              </a:spcBef>
              <a:spcAft>
                <a:spcPts val="0"/>
              </a:spcAft>
            </a:pPr>
            <a:r>
              <a:rPr sz="1200">
                <a:solidFill>
                  <a:srgbClr val="4E7C8B"/>
                </a:solidFill>
                <a:latin typeface="Roboto Medium"/>
                <a:ea typeface="Roboto Medium"/>
                <a:cs typeface="Roboto Medium"/>
              </a:rPr>
              <a:t>Siglas: AVC = acidente vascular cerebral; PCR = parada cardiorrespiratória; IRC = insuficiência renal crônica; DAC = doença arterial coronariana; DAOP = doença arterial obstrutiva periférica; DM = diabetes mellitus.</a:t>
            </a:r>
          </a:p>
        </p:txBody>
      </p:sp>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8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8855089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Ações</a:t>
            </a:r>
            <a:endParaRPr lang="pt-BR" dirty="0" sz="3200"/>
          </a:p>
        </p:txBody>
      </p:sp>
      <p:sp>
        <p:nvSpPr>
          <p:cNvPr id="3" name="Espaço Reservado para Conteúdo 2"/>
          <p:cNvSpPr>
            <a:spLocks noGrp="1"/>
          </p:cNvSpPr>
          <p:nvPr>
            <p:ph idx="1"/>
          </p:nvPr>
        </p:nvSpPr>
        <p:spPr>
          <a:xfrm>
            <a:off x="711403" y="1417320"/>
            <a:ext cx="10771632" cy="3721608"/>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Realizar ECG em 10 minutos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Colher exames: </a:t>
            </a:r>
            <a:r>
              <a:rPr lang="pt-BR" dirty="0" err="1" smtClean="0" sz="1300" b="0">
                <a:solidFill>
                  <a:srgbClr val="5F6468"/>
                </a:solidFill>
                <a:latin typeface="Roboto"/>
                <a:ea typeface="Roboto"/>
                <a:cs typeface="Roboto"/>
              </a:rPr>
              <a:t>Troponina</a:t>
            </a:r>
            <a:r>
              <a:rPr lang="pt-BR" dirty="0" smtClean="0" sz="1300" b="0">
                <a:solidFill>
                  <a:srgbClr val="5F6468"/>
                </a:solidFill>
                <a:latin typeface="Roboto"/>
                <a:ea typeface="Roboto"/>
                <a:cs typeface="Roboto"/>
              </a:rPr>
              <a:t> alta sensibilidade (</a:t>
            </a:r>
            <a:r>
              <a:rPr lang="pt-BR" dirty="0" err="1" smtClean="0" sz="1300" b="0">
                <a:solidFill>
                  <a:srgbClr val="5F6468"/>
                </a:solidFill>
                <a:latin typeface="Roboto"/>
                <a:ea typeface="Roboto"/>
                <a:cs typeface="Roboto"/>
              </a:rPr>
              <a:t>ng</a:t>
            </a:r>
            <a:r>
              <a:rPr lang="pt-BR" dirty="0" smtClean="0" sz="1300" b="0">
                <a:solidFill>
                  <a:srgbClr val="5F6468"/>
                </a:solidFill>
                <a:latin typeface="Roboto"/>
                <a:ea typeface="Roboto"/>
                <a:cs typeface="Roboto"/>
              </a:rPr>
              <a:t>/L = </a:t>
            </a:r>
            <a:r>
              <a:rPr lang="pt-BR" dirty="0" err="1" smtClean="0" sz="1300" b="0">
                <a:solidFill>
                  <a:srgbClr val="5F6468"/>
                </a:solidFill>
                <a:latin typeface="Roboto"/>
                <a:ea typeface="Roboto"/>
                <a:cs typeface="Roboto"/>
              </a:rPr>
              <a:t>pg</a:t>
            </a:r>
            <a:r>
              <a:rPr lang="pt-BR" dirty="0" smtClean="0" sz="1300" b="0">
                <a:solidFill>
                  <a:srgbClr val="5F6468"/>
                </a:solidFill>
                <a:latin typeface="Roboto"/>
                <a:ea typeface="Roboto"/>
                <a:cs typeface="Roboto"/>
              </a:rPr>
              <a:t>/</a:t>
            </a:r>
            <a:r>
              <a:rPr lang="pt-BR" dirty="0" err="1" smtClean="0" sz="1300" b="0">
                <a:solidFill>
                  <a:srgbClr val="5F6468"/>
                </a:solidFill>
                <a:latin typeface="Roboto"/>
                <a:ea typeface="Roboto"/>
                <a:cs typeface="Roboto"/>
              </a:rPr>
              <a:t>mL</a:t>
            </a:r>
            <a:r>
              <a:rPr lang="pt-BR" dirty="0" smtClean="0" sz="1300" b="0">
                <a:solidFill>
                  <a:srgbClr val="5F6468"/>
                </a:solidFill>
                <a:latin typeface="Roboto"/>
                <a:ea typeface="Roboto"/>
                <a:cs typeface="Roboto"/>
              </a:rPr>
              <a:t>)</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Seguir os algoritmos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Tratamento baseado em evidências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Estar preparado para o pior cenário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PCR</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Choque </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Arritmias malignas</a:t>
            </a:r>
            <a:endParaRPr sz="2400" lang="pt-BR"/>
          </a:p>
        </p:txBody>
      </p:sp>
      <p:sp>
        <p:nvSpPr>
          <p:cNvPr id="4" name="Siglas (revisão)"/>
          <p:cNvSpPr txBox="1"/>
          <p:nvPr/>
        </p:nvSpPr>
        <p:spPr>
          <a:xfrm>
            <a:off x="711403" y="5230368"/>
            <a:ext cx="10771632" cy="612647"/>
          </a:xfrm>
          <a:prstGeom prst="rect">
            <a:avLst/>
          </a:prstGeom>
          <a:noFill/>
        </p:spPr>
        <p:txBody>
          <a:bodyPr wrap="square" tIns="27432" bIns="27432" anchor="b"/>
          <a:lstStyle/>
          <a:p>
            <a:pPr algn="l">
              <a:lnSpc>
                <a:spcPct val="120000"/>
              </a:lnSpc>
              <a:spcBef>
                <a:spcPts val="0"/>
              </a:spcBef>
              <a:spcAft>
                <a:spcPts val="0"/>
              </a:spcAft>
            </a:pPr>
            <a:r>
              <a:rPr sz="1200">
                <a:solidFill>
                  <a:srgbClr val="4E7C8B"/>
                </a:solidFill>
                <a:latin typeface="Roboto Medium"/>
                <a:ea typeface="Roboto Medium"/>
                <a:cs typeface="Roboto Medium"/>
              </a:rPr>
              <a:t>Siglas: PCR = parada cardiorrespiratória.</a:t>
            </a:r>
          </a:p>
        </p:txBody>
      </p:sp>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9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297006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ECG</a:t>
            </a:r>
            <a:endParaRPr lang="pt-BR" dirty="0" sz="3200"/>
          </a:p>
        </p:txBody>
      </p:sp>
      <p:sp>
        <p:nvSpPr>
          <p:cNvPr id="3" name="Espaço Reservado para Conteúdo 2"/>
          <p:cNvSpPr>
            <a:spLocks noGrp="1"/>
          </p:cNvSpPr>
          <p:nvPr>
            <p:ph idx="1"/>
          </p:nvPr>
        </p:nvSpPr>
        <p:spPr>
          <a:xfrm>
            <a:off x="711403" y="1417320"/>
            <a:ext cx="10771632" cy="4425696"/>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z="1300" b="0">
                <a:solidFill>
                  <a:srgbClr val="5F6468"/>
                </a:solidFill>
                <a:latin typeface="Roboto"/>
                <a:ea typeface="Roboto"/>
                <a:cs typeface="Roboto"/>
              </a:rPr>
              <a:t>Deve ser bem feito = treinamento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90% do 1</a:t>
            </a:r>
            <a:r>
              <a:rPr lang="pt-BR" dirty="0" smtClean="0" sz="1300" b="0">
                <a:solidFill>
                  <a:srgbClr val="5F6468"/>
                </a:solidFill>
                <a:latin typeface="Roboto" panose="020B0502040204020203" pitchFamily="34" charset="0"/>
                <a:ea typeface="Roboto"/>
                <a:cs typeface="Roboto"/>
              </a:rPr>
              <a:t>°</a:t>
            </a:r>
            <a:r>
              <a:rPr lang="pt-BR" dirty="0" smtClean="0" sz="1300" b="0">
                <a:solidFill>
                  <a:srgbClr val="5F6468"/>
                </a:solidFill>
                <a:latin typeface="Roboto"/>
                <a:ea typeface="Roboto"/>
                <a:cs typeface="Roboto"/>
              </a:rPr>
              <a:t> ECG é não diagnóstico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Sensibilidade de 50%</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ECG seriado (de 10 a 20 min entre um e outro)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Sensibilidade de 70 a 90%</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Mandatório: dor persistente, recorrência ou mudança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Derivações complementares: V3R, V4R, V7, V8, V9</a:t>
            </a:r>
            <a:endParaRPr lang="pt-BR" dirty="0" sz="2400"/>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10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41676460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pic>
        <p:nvPicPr>
          <p:cNvPr id="12" name="Picture 11" descr="Tórax com eletrodos V1 a V6 posicionados (bolinhas roxas)"/>
          <p:cNvPicPr>
            <a:picLocks noChangeAspect="1"/>
          </p:cNvPicPr>
          <p:nvPr/>
        </p:nvPicPr>
        <p:blipFill>
          <a:blip r:embed="rId2"/>
          <a:stretch>
            <a:fillRect/>
          </a:stretch>
        </p:blipFill>
        <p:spPr>
          <a:xfrm>
            <a:off x="711403" y="1417320"/>
            <a:ext cx="5120640" cy="3581034"/>
          </a:xfrm>
          <a:prstGeom prst="rect">
            <a:avLst/>
          </a:prstGeom>
        </p:spPr>
      </p:pic>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ECG BEM feito</a:t>
            </a:r>
            <a:endParaRPr lang="pt-BR" dirty="0" sz="3200"/>
          </a:p>
        </p:txBody>
      </p:sp>
      <p:sp>
        <p:nvSpPr>
          <p:cNvPr id="5" name="Espaço Reservado para Conteúdo 4"/>
          <p:cNvSpPr>
            <a:spLocks noGrp="1"/>
          </p:cNvSpPr>
          <p:nvPr>
            <p:ph sz="half" idx="2"/>
          </p:nvPr>
        </p:nvSpPr>
        <p:spPr>
          <a:xfrm>
            <a:off x="6309360" y="1417320"/>
            <a:ext cx="5166360" cy="4425696"/>
          </a:xfrm>
        </p:spPr>
        <p:txBody>
          <a:bodyPr wrap="square" anchor="t"/>
          <a:lstStyle/>
          <a:p>
            <a:pPr algn="l" marL="285750" indent="-285750">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Local limpo</a:t>
            </a:r>
            <a:endParaRPr sz="2400" lang="pt-BR"/>
          </a:p>
          <a:p>
            <a:pPr algn="l" marL="285750" indent="-285750">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Cabos soltos</a:t>
            </a:r>
            <a:endParaRPr sz="2400" lang="pt-BR"/>
          </a:p>
          <a:p>
            <a:pPr algn="l" marL="285750" indent="-285750">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Gel</a:t>
            </a:r>
            <a:endParaRPr sz="2400" lang="pt-BR"/>
          </a:p>
          <a:p>
            <a:pPr algn="l" marL="285750" indent="-285750">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Eletrodo novo ou limpo</a:t>
            </a:r>
            <a:endParaRPr sz="2400" lang="pt-BR"/>
          </a:p>
          <a:p>
            <a:pPr algn="l" marL="285750" indent="-285750">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Contato firme do eletrodo</a:t>
            </a:r>
            <a:endParaRPr sz="2400" lang="pt-BR"/>
          </a:p>
          <a:p>
            <a:pPr algn="l" marL="285750" indent="-285750">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Conferir posicionamento</a:t>
            </a:r>
            <a:endParaRPr lang="pt-BR" dirty="0" sz="2400"/>
          </a:p>
        </p:txBody>
      </p:sp>
      <p:sp>
        <p:nvSpPr>
          <p:cNvPr id="10" name="TextBox 9"/>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11  ·  Dor torácica – Protocolo 2025 | Set 2026</a:t>
            </a:r>
          </a:p>
        </p:txBody>
      </p:sp>
      <p:sp>
        <p:nvSpPr>
          <p:cNvPr id="11" name="TextBox 10"/>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7572024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pic>
        <p:nvPicPr>
          <p:cNvPr id="11" name="Picture 10" descr="Tórax com derivações direitas V3R a V6R, além de V1 e V2"/>
          <p:cNvPicPr>
            <a:picLocks noChangeAspect="1"/>
          </p:cNvPicPr>
          <p:nvPr/>
        </p:nvPicPr>
        <p:blipFill>
          <a:blip r:embed="rId2"/>
          <a:stretch>
            <a:fillRect/>
          </a:stretch>
        </p:blipFill>
        <p:spPr>
          <a:xfrm>
            <a:off x="711403" y="1417320"/>
            <a:ext cx="5120640" cy="4179888"/>
          </a:xfrm>
          <a:prstGeom prst="rect">
            <a:avLst/>
          </a:prstGeom>
        </p:spPr>
      </p:pic>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Derivações complementares anteriores</a:t>
            </a:r>
            <a:endParaRPr lang="pt-BR" dirty="0" sz="3200"/>
          </a:p>
        </p:txBody>
      </p:sp>
      <p:sp>
        <p:nvSpPr>
          <p:cNvPr id="7" name="Espaço Reservado para Texto 6"/>
          <p:cNvSpPr>
            <a:spLocks noGrp="1"/>
          </p:cNvSpPr>
          <p:nvPr>
            <p:ph type="body" sz="quarter" idx="3"/>
          </p:nvPr>
        </p:nvSpPr>
        <p:spPr>
          <a:xfrm>
            <a:off x="6309360" y="1417320"/>
            <a:ext cx="5166360" cy="457200"/>
          </a:xfrm>
        </p:spPr>
        <p:txBody>
          <a:bodyPr wrap="square" anchor="t"/>
          <a:lstStyle/>
          <a:p>
            <a:pPr algn="l">
              <a:lnSpc>
                <a:spcPct val="120000"/>
              </a:lnSpc>
              <a:spcBef>
                <a:spcPts val="0"/>
              </a:spcBef>
              <a:spcAft>
                <a:spcPts val="600"/>
              </a:spcAft>
            </a:pPr>
            <a:r>
              <a:rPr lang="pt-BR" dirty="0" smtClean="0" sz="1500" b="0">
                <a:solidFill>
                  <a:srgbClr val="3B3F42"/>
                </a:solidFill>
                <a:latin typeface="Roboto Medium"/>
                <a:ea typeface="Roboto Medium"/>
                <a:cs typeface="Roboto Medium"/>
              </a:rPr>
              <a:t>DERIVAÇÕES DIREITAS</a:t>
            </a:r>
            <a:endParaRPr lang="pt-BR" dirty="0" sz="2400"/>
          </a:p>
        </p:txBody>
      </p:sp>
      <p:sp>
        <p:nvSpPr>
          <p:cNvPr id="8" name="Espaço Reservado para Conteúdo 7"/>
          <p:cNvSpPr>
            <a:spLocks noGrp="1"/>
          </p:cNvSpPr>
          <p:nvPr>
            <p:ph sz="quarter" idx="4"/>
          </p:nvPr>
        </p:nvSpPr>
        <p:spPr>
          <a:xfrm>
            <a:off x="6309360" y="2011680"/>
            <a:ext cx="5166360" cy="3831335"/>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Atividade elétrica do ventrículo direito (VD)</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Atividade elétrica da parede posterior</a:t>
            </a:r>
            <a:endParaRPr lang="pt-BR" dirty="0" sz="2400"/>
          </a:p>
        </p:txBody>
      </p:sp>
      <p:sp>
        <p:nvSpPr>
          <p:cNvPr id="9" name="TextBox 8"/>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12  ·  Dor torácica – Protocolo 2025 | Set 2026</a:t>
            </a:r>
          </a:p>
        </p:txBody>
      </p:sp>
      <p:sp>
        <p:nvSpPr>
          <p:cNvPr id="10" name="TextBox 9"/>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3293552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pic>
        <p:nvPicPr>
          <p:cNvPr id="8" name="Picture 7" descr="Dorso com eletrodos posteriores V7, V8 e V9"/>
          <p:cNvPicPr>
            <a:picLocks noChangeAspect="1"/>
          </p:cNvPicPr>
          <p:nvPr/>
        </p:nvPicPr>
        <p:blipFill>
          <a:blip r:embed="rId2"/>
          <a:stretch>
            <a:fillRect/>
          </a:stretch>
        </p:blipFill>
        <p:spPr>
          <a:xfrm>
            <a:off x="4439869" y="1926138"/>
            <a:ext cx="3314699" cy="2639963"/>
          </a:xfrm>
          <a:prstGeom prst="rect">
            <a:avLst/>
          </a:prstGeom>
        </p:spPr>
      </p:pic>
      <p:sp>
        <p:nvSpPr>
          <p:cNvPr id="3" name="Retângulo 2"/>
          <p:cNvSpPr/>
          <p:nvPr/>
        </p:nvSpPr>
        <p:spPr>
          <a:xfrm>
            <a:off x="711403" y="4663440"/>
            <a:ext cx="10771632" cy="1179576"/>
          </a:xfrm>
          <a:prstGeom prst="rect">
            <a:avLst/>
          </a:prstGeom>
          <a:noFill/>
          <a:ln>
            <a:noFill/>
          </a:ln>
        </p:spPr>
        <p:txBody>
          <a:bodyPr wrap="square" anchor="t" lIns="0" rIns="0"/>
          <a:lstStyle/>
          <a:p>
            <a:pPr algn="l">
              <a:lnSpc>
                <a:spcPct val="140000"/>
              </a:lnSpc>
              <a:spcBef>
                <a:spcPts val="0"/>
              </a:spcBef>
              <a:spcAft>
                <a:spcPts val="600"/>
              </a:spcAft>
            </a:pPr>
            <a:r>
              <a:rPr lang="en-US" sz="1300" dirty="0" b="0">
                <a:solidFill>
                  <a:srgbClr val="5F6468"/>
                </a:solidFill>
                <a:latin typeface="Roboto"/>
                <a:ea typeface="Roboto"/>
                <a:cs typeface="Roboto"/>
              </a:rPr>
              <a:t>V7 – Left posterior axillary line, in the same horizontal plane as V6</a:t>
            </a:r>
          </a:p>
          <a:p>
            <a:pPr algn="l">
              <a:lnSpc>
                <a:spcPct val="140000"/>
              </a:lnSpc>
              <a:spcBef>
                <a:spcPts val="0"/>
              </a:spcBef>
              <a:spcAft>
                <a:spcPts val="600"/>
              </a:spcAft>
            </a:pPr>
            <a:r>
              <a:rPr lang="en-US" sz="1300" dirty="0" b="0">
                <a:solidFill>
                  <a:srgbClr val="5F6468"/>
                </a:solidFill>
                <a:latin typeface="Roboto"/>
                <a:ea typeface="Roboto"/>
                <a:cs typeface="Roboto"/>
              </a:rPr>
              <a:t>V8 – Tip of the left scapula, in the same horizontal plane as V6</a:t>
            </a:r>
          </a:p>
          <a:p>
            <a:pPr algn="l">
              <a:lnSpc>
                <a:spcPct val="140000"/>
              </a:lnSpc>
              <a:spcBef>
                <a:spcPts val="0"/>
              </a:spcBef>
              <a:spcAft>
                <a:spcPts val="600"/>
              </a:spcAft>
            </a:pPr>
            <a:r>
              <a:rPr lang="en-US" sz="1300" dirty="0" b="0">
                <a:solidFill>
                  <a:srgbClr val="5F6468"/>
                </a:solidFill>
                <a:latin typeface="Roboto"/>
                <a:ea typeface="Roboto"/>
                <a:cs typeface="Roboto"/>
              </a:rPr>
              <a:t>V9 – Left </a:t>
            </a:r>
            <a:r>
              <a:rPr lang="en-US" sz="1300" dirty="0" err="1" b="0">
                <a:solidFill>
                  <a:srgbClr val="5F6468"/>
                </a:solidFill>
                <a:latin typeface="Roboto"/>
                <a:ea typeface="Roboto"/>
                <a:cs typeface="Roboto"/>
              </a:rPr>
              <a:t>paraspinal</a:t>
            </a:r>
            <a:r>
              <a:rPr lang="en-US" sz="1300" dirty="0" b="0">
                <a:solidFill>
                  <a:srgbClr val="5F6468"/>
                </a:solidFill>
                <a:latin typeface="Roboto"/>
                <a:ea typeface="Roboto"/>
                <a:cs typeface="Roboto"/>
              </a:rPr>
              <a:t> region, in the same horizontal plane as V6</a:t>
            </a:r>
            <a:endParaRPr lang="pt-BR" sz="2400" dirty="0"/>
          </a:p>
        </p:txBody>
      </p:sp>
      <p:sp>
        <p:nvSpPr>
          <p:cNvPr id="4" name="Título 3"/>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Derivações complementares posteriores</a:t>
            </a:r>
            <a:endParaRPr lang="pt-BR" sz="3200" dirty="0"/>
          </a:p>
        </p:txBody>
      </p:sp>
      <p:sp>
        <p:nvSpPr>
          <p:cNvPr id="5" name="Espaço Reservado para Conteúdo 4"/>
          <p:cNvSpPr>
            <a:spLocks noGrp="1"/>
          </p:cNvSpPr>
          <p:nvPr>
            <p:ph idx="1"/>
          </p:nvPr>
        </p:nvSpPr>
        <p:spPr>
          <a:xfrm>
            <a:off x="711403" y="1417320"/>
            <a:ext cx="10771632" cy="457200"/>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Parede posterior do coração</a:t>
            </a:r>
            <a:endParaRPr lang="pt-BR" dirty="0" sz="2400"/>
          </a:p>
        </p:txBody>
      </p:sp>
      <p:sp>
        <p:nvSpPr>
          <p:cNvPr id="6" name="TextBox 5"/>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13  ·  Dor torácica – Protocolo 2025 | Set 2026</a:t>
            </a:r>
          </a:p>
        </p:txBody>
      </p:sp>
      <p:sp>
        <p:nvSpPr>
          <p:cNvPr id="7" name="TextBox 6"/>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56711925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1029"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Segmentos do ventrículo esquerdo (1/3)</a:t>
            </a:r>
          </a:p>
        </p:txBody>
      </p:sp>
      <p:sp>
        <p:nvSpPr>
          <p:cNvPr id="1027" name="TextBox 1026"/>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14  ·  Dor torácica – Protocolo 2025 | Set 2026</a:t>
            </a:r>
          </a:p>
        </p:txBody>
      </p:sp>
      <p:sp>
        <p:nvSpPr>
          <p:cNvPr id="1028" name="TextBox 1027"/>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1030" name="Tabela"/>
          <p:cNvGraphicFramePr>
            <a:graphicFrameLocks noGrp="1"/>
          </p:cNvGraphicFramePr>
          <p:nvPr/>
        </p:nvGraphicFramePr>
        <p:xfrm>
          <a:off x="711403" y="1417320"/>
          <a:ext cx="3000000" cy="1738527"/>
        </p:xfrm>
        <a:graphic>
          <a:graphicData uri="http://schemas.openxmlformats.org/drawingml/2006/table">
            <a:tbl>
              <a:tblPr firstRow="1"/>
              <a:tblGrid>
                <a:gridCol w="700000"/>
                <a:gridCol w="2300000"/>
              </a:tblGrid>
              <a:tr h="248361">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Num.</a:t>
                      </a:r>
                      <a:endParaRPr lang="pt-BR" sz="1300" dirty="0"/>
                    </a:p>
                  </a:txBody>
                  <a:tcPr marL="91440" marR="91440" marT="27432" marB="27432" anchor="ctr">
                    <a:lnL w="0">
                      <a:noFill/>
                    </a:lnL>
                    <a:lnR w="0">
                      <a:noFill/>
                    </a:lnR>
                    <a:lnT w="0">
                      <a:noFill/>
                    </a:lnT>
                    <a:lnB w="0">
                      <a:noFill/>
                    </a:lnB>
                    <a:solidFill>
                      <a:srgbClr val="4E7C8B"/>
                    </a:solidFill>
                  </a:tcPr>
                </a:tc>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Segmento</a:t>
                      </a:r>
                      <a:endParaRPr lang="pt-BR" sz="1300" dirty="0"/>
                    </a:p>
                  </a:txBody>
                  <a:tcPr marL="91440" marR="91440" marT="27432" marB="27432" anchor="ctr">
                    <a:lnL w="0">
                      <a:noFill/>
                    </a:lnL>
                    <a:lnR w="0">
                      <a:noFill/>
                    </a:lnR>
                    <a:lnT w="0">
                      <a:noFill/>
                    </a:lnT>
                    <a:lnB w="0">
                      <a:noFill/>
                    </a:lnB>
                    <a:solidFill>
                      <a:srgbClr val="4E7C8B"/>
                    </a:solidFill>
                  </a:tcPr>
                </a:tc>
              </a:tr>
              <a:tr h="248361">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Basal anterior</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r>
              <a:tr h="248361">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2</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Basal antero-septal</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r>
              <a:tr h="248361">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3</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Basal ínfero-septal</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r>
              <a:tr h="248361">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4</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Basal inferior</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r>
              <a:tr h="248361">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5</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Basal ínfero-lateral</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r>
              <a:tr h="248361">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6</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Basal antero-lateral</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r>
            </a:tbl>
          </a:graphicData>
        </a:graphic>
      </p:graphicFrame>
      <p:pic>
        <p:nvPicPr>
          <p:cNvPr id="1031" name="Picture 1030" descr="Modelo de 17 segmentos do ventrículo esquerdo em 4, 2 e 3 câmaras e cortes basal, medial e apical, com legenda de artérias (ACD, ADA, ACx)"/>
          <p:cNvPicPr>
            <a:picLocks noChangeAspect="1"/>
          </p:cNvPicPr>
          <p:nvPr/>
        </p:nvPicPr>
        <p:blipFill>
          <a:blip r:embed="rId2"/>
          <a:stretch>
            <a:fillRect/>
          </a:stretch>
        </p:blipFill>
        <p:spPr>
          <a:xfrm>
            <a:off x="4061403" y="1780394"/>
            <a:ext cx="7421632" cy="3710816"/>
          </a:xfrm>
          <a:prstGeom prst="rect">
            <a:avLst/>
          </a:prstGeom>
        </p:spPr>
      </p:pic>
    </p:spTree>
    <p:extLst>
      <p:ext uri="{BB962C8B-B14F-4D97-AF65-F5344CB8AC3E}">
        <p14:creationId xmlns:p14="http://schemas.microsoft.com/office/powerpoint/2010/main" val="2017419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pic>
        <p:nvPicPr>
          <p:cNvPr id="4" name="Imagem 3"/>
          <p:cNvPicPr>
            <a:picLocks noChangeAspect="1"/>
          </p:cNvPicPr>
          <p:nvPr/>
        </p:nvPicPr>
        <p:blipFill>
          <a:blip r:embed="rId2"/>
          <a:stretch>
            <a:fillRect/>
          </a:stretch>
        </p:blipFill>
        <p:spPr>
          <a:xfrm>
            <a:off x="1295234" y="558698"/>
            <a:ext cx="9603970" cy="5284317"/>
          </a:xfrm>
          <a:prstGeom prst="rect">
            <a:avLst/>
          </a:prstGeom>
        </p:spPr>
      </p:pic>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17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248506017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ECG</a:t>
            </a:r>
            <a:endParaRPr lang="pt-BR" dirty="0" sz="3200"/>
          </a:p>
        </p:txBody>
      </p:sp>
      <p:sp>
        <p:nvSpPr>
          <p:cNvPr id="3" name="Espaço Reservado para Conteúdo 2"/>
          <p:cNvSpPr>
            <a:spLocks noGrp="1"/>
          </p:cNvSpPr>
          <p:nvPr>
            <p:ph idx="1"/>
          </p:nvPr>
        </p:nvSpPr>
        <p:spPr>
          <a:xfrm>
            <a:off x="711403" y="1417320"/>
            <a:ext cx="7040880" cy="3721608"/>
          </a:xfrm>
        </p:spPr>
        <p:txBody>
          <a:bodyPr wrap="square" anchor="t"/>
          <a:lstStyle/>
          <a:p>
            <a:pPr marL="285750" indent="-285750" algn="l">
              <a:lnSpc>
                <a:spcPct val="140000"/>
              </a:lnSpc>
              <a:spcBef>
                <a:spcPts val="0"/>
              </a:spcBef>
              <a:spcAft>
                <a:spcPts val="600"/>
              </a:spcAft>
              <a:buClr>
                <a:srgbClr val="4E7C8B"/>
              </a:buClr>
              <a:buFont typeface="Arial"/>
              <a:buChar char="•"/>
            </a:pPr>
            <a:r>
              <a:rPr lang="pt-BR" sz="1300" dirty="0" smtClean="0" b="0">
                <a:solidFill>
                  <a:srgbClr val="5F6468"/>
                </a:solidFill>
                <a:latin typeface="Roboto"/>
                <a:ea typeface="Roboto"/>
                <a:cs typeface="Roboto"/>
              </a:rPr>
              <a:t>Procuramos SUPRA (1920, </a:t>
            </a:r>
            <a:r>
              <a:rPr lang="pt-BR" sz="1300" dirty="0" err="1" smtClean="0" b="0">
                <a:solidFill>
                  <a:srgbClr val="5F6468"/>
                </a:solidFill>
                <a:latin typeface="Roboto"/>
                <a:ea typeface="Roboto"/>
                <a:cs typeface="Roboto"/>
              </a:rPr>
              <a:t>Pardee</a:t>
            </a:r>
            <a:r>
              <a:rPr lang="pt-BR" sz="1300" dirty="0" smtClean="0" b="0">
                <a:solidFill>
                  <a:srgbClr val="5F6468"/>
                </a:solidFill>
                <a:latin typeface="Roboto"/>
                <a:ea typeface="Roboto"/>
                <a:cs typeface="Roboto"/>
              </a:rPr>
              <a:t>)</a:t>
            </a:r>
            <a:endParaRPr sz="2400" lang="pt-BR"/>
          </a:p>
          <a:p>
            <a:pPr marL="285750" indent="-285750" algn="l">
              <a:lnSpc>
                <a:spcPct val="140000"/>
              </a:lnSpc>
              <a:spcBef>
                <a:spcPts val="0"/>
              </a:spcBef>
              <a:spcAft>
                <a:spcPts val="600"/>
              </a:spcAft>
              <a:buClr>
                <a:srgbClr val="4E7C8B"/>
              </a:buClr>
              <a:buFont typeface="Arial"/>
              <a:buChar char="•"/>
            </a:pPr>
            <a:r>
              <a:rPr lang="pt-BR" sz="1300" dirty="0" smtClean="0" b="0">
                <a:solidFill>
                  <a:srgbClr val="5F6468"/>
                </a:solidFill>
                <a:latin typeface="Roboto"/>
                <a:ea typeface="Roboto"/>
                <a:cs typeface="Roboto"/>
              </a:rPr>
              <a:t>Alterações sugestivas de oclusão</a:t>
            </a:r>
            <a:endParaRPr sz="2400" lang="pt-BR"/>
          </a:p>
          <a:p>
            <a:pPr marL="285750" indent="-285750" algn="l">
              <a:lnSpc>
                <a:spcPct val="140000"/>
              </a:lnSpc>
              <a:spcBef>
                <a:spcPts val="0"/>
              </a:spcBef>
              <a:spcAft>
                <a:spcPts val="600"/>
              </a:spcAft>
              <a:buClr>
                <a:srgbClr val="4E7C8B"/>
              </a:buClr>
              <a:buFont typeface="Arial"/>
              <a:buChar char="•"/>
            </a:pPr>
            <a:r>
              <a:rPr lang="pt-BR" sz="1300" dirty="0" smtClean="0" b="0">
                <a:solidFill>
                  <a:srgbClr val="5F6468"/>
                </a:solidFill>
                <a:latin typeface="Roboto"/>
                <a:ea typeface="Roboto"/>
                <a:cs typeface="Roboto"/>
              </a:rPr>
              <a:t>BRE - </a:t>
            </a:r>
            <a:r>
              <a:rPr lang="pt-BR" sz="1300" dirty="0" err="1" smtClean="0" b="0">
                <a:solidFill>
                  <a:srgbClr val="5F6468"/>
                </a:solidFill>
                <a:latin typeface="Roboto"/>
                <a:ea typeface="Roboto"/>
                <a:cs typeface="Roboto"/>
              </a:rPr>
              <a:t>Sgarbossa</a:t>
            </a:r>
            <a:r>
              <a:rPr lang="pt-BR" sz="1300" dirty="0" smtClean="0" b="0">
                <a:solidFill>
                  <a:srgbClr val="5F6468"/>
                </a:solidFill>
                <a:latin typeface="Roboto"/>
                <a:ea typeface="Roboto"/>
                <a:cs typeface="Roboto"/>
              </a:rPr>
              <a:t>, Smith (modificou)</a:t>
            </a:r>
            <a:endParaRPr sz="2400" lang="pt-BR"/>
          </a:p>
          <a:p>
            <a:pPr marL="285750" indent="-285750" algn="l">
              <a:lnSpc>
                <a:spcPct val="140000"/>
              </a:lnSpc>
              <a:spcBef>
                <a:spcPts val="0"/>
              </a:spcBef>
              <a:spcAft>
                <a:spcPts val="600"/>
              </a:spcAft>
              <a:buClr>
                <a:srgbClr val="4E7C8B"/>
              </a:buClr>
              <a:buFont typeface="Arial"/>
              <a:buChar char="•"/>
            </a:pPr>
            <a:r>
              <a:rPr lang="pt-BR" sz="1300" dirty="0" smtClean="0" b="0">
                <a:solidFill>
                  <a:srgbClr val="5F6468"/>
                </a:solidFill>
                <a:latin typeface="Roboto"/>
                <a:ea typeface="Roboto"/>
                <a:cs typeface="Roboto"/>
              </a:rPr>
              <a:t>BRD</a:t>
            </a:r>
            <a:endParaRPr sz="2400" lang="pt-BR"/>
          </a:p>
          <a:p>
            <a:pPr marL="285750" indent="-285750" algn="l">
              <a:lnSpc>
                <a:spcPct val="140000"/>
              </a:lnSpc>
              <a:spcBef>
                <a:spcPts val="0"/>
              </a:spcBef>
              <a:spcAft>
                <a:spcPts val="600"/>
              </a:spcAft>
              <a:buClr>
                <a:srgbClr val="4E7C8B"/>
              </a:buClr>
              <a:buFont typeface="Arial"/>
              <a:buChar char="•"/>
            </a:pPr>
            <a:r>
              <a:rPr lang="pt-BR" sz="1300" dirty="0" smtClean="0" b="0">
                <a:solidFill>
                  <a:srgbClr val="5F6468"/>
                </a:solidFill>
                <a:latin typeface="Roboto"/>
                <a:ea typeface="Roboto"/>
                <a:cs typeface="Roboto"/>
              </a:rPr>
              <a:t>Ondas T hiperagudas</a:t>
            </a:r>
            <a:endParaRPr sz="2400" lang="pt-BR"/>
          </a:p>
          <a:p>
            <a:pPr marL="285750" indent="-285750" algn="l">
              <a:lnSpc>
                <a:spcPct val="140000"/>
              </a:lnSpc>
              <a:spcBef>
                <a:spcPts val="0"/>
              </a:spcBef>
              <a:spcAft>
                <a:spcPts val="600"/>
              </a:spcAft>
              <a:buClr>
                <a:srgbClr val="4E7C8B"/>
              </a:buClr>
              <a:buFont typeface="Arial"/>
              <a:buChar char="•"/>
            </a:pPr>
            <a:r>
              <a:rPr lang="pt-BR" sz="1300" dirty="0" smtClean="0" b="0">
                <a:solidFill>
                  <a:srgbClr val="5F6468"/>
                </a:solidFill>
                <a:latin typeface="Roboto"/>
                <a:ea typeface="Roboto"/>
                <a:cs typeface="Roboto"/>
              </a:rPr>
              <a:t>Distorção terminal do QRS</a:t>
            </a:r>
            <a:endParaRPr sz="2400" lang="pt-BR"/>
          </a:p>
          <a:p>
            <a:pPr marL="285750" indent="-285750" algn="l">
              <a:lnSpc>
                <a:spcPct val="140000"/>
              </a:lnSpc>
              <a:spcBef>
                <a:spcPts val="0"/>
              </a:spcBef>
              <a:spcAft>
                <a:spcPts val="600"/>
              </a:spcAft>
              <a:buClr>
                <a:srgbClr val="4E7C8B"/>
              </a:buClr>
              <a:buFont typeface="Arial"/>
              <a:buChar char="•"/>
            </a:pPr>
            <a:r>
              <a:rPr lang="pt-BR" sz="1300" dirty="0" smtClean="0" b="0">
                <a:solidFill>
                  <a:srgbClr val="5F6468"/>
                </a:solidFill>
                <a:latin typeface="Roboto"/>
                <a:ea typeface="Roboto"/>
                <a:cs typeface="Roboto"/>
              </a:rPr>
              <a:t>Padrão de </a:t>
            </a:r>
            <a:r>
              <a:rPr lang="pt-BR" sz="1300" dirty="0" err="1" smtClean="0" b="0">
                <a:solidFill>
                  <a:srgbClr val="5F6468"/>
                </a:solidFill>
                <a:latin typeface="Roboto"/>
                <a:ea typeface="Roboto"/>
                <a:cs typeface="Roboto"/>
              </a:rPr>
              <a:t>Wellens</a:t>
            </a:r>
            <a:endParaRPr lang="pt-BR" sz="2400" dirty="0" smtClean="0"/>
          </a:p>
          <a:p>
            <a:pPr marL="285750" indent="-285750" algn="l">
              <a:lnSpc>
                <a:spcPct val="140000"/>
              </a:lnSpc>
              <a:spcBef>
                <a:spcPts val="0"/>
              </a:spcBef>
              <a:spcAft>
                <a:spcPts val="600"/>
              </a:spcAft>
              <a:buClr>
                <a:srgbClr val="4E7C8B"/>
              </a:buClr>
              <a:buFont typeface="Arial"/>
              <a:buChar char="•"/>
            </a:pPr>
            <a:r>
              <a:rPr lang="pt-BR" sz="1300" dirty="0" smtClean="0" b="0">
                <a:solidFill>
                  <a:srgbClr val="5F6468"/>
                </a:solidFill>
                <a:latin typeface="Roboto"/>
                <a:ea typeface="Roboto"/>
                <a:cs typeface="Roboto"/>
              </a:rPr>
              <a:t>Padrão De </a:t>
            </a:r>
            <a:r>
              <a:rPr lang="pt-BR" sz="1300" dirty="0" err="1" smtClean="0" b="0">
                <a:solidFill>
                  <a:srgbClr val="5F6468"/>
                </a:solidFill>
                <a:latin typeface="Roboto"/>
                <a:ea typeface="Roboto"/>
                <a:cs typeface="Roboto"/>
              </a:rPr>
              <a:t>Winter</a:t>
            </a:r>
            <a:endParaRPr lang="pt-BR" sz="2400" dirty="0" smtClean="0"/>
          </a:p>
          <a:p>
            <a:pPr marL="285750" indent="-285750" algn="l">
              <a:lnSpc>
                <a:spcPct val="140000"/>
              </a:lnSpc>
              <a:spcBef>
                <a:spcPts val="0"/>
              </a:spcBef>
              <a:spcAft>
                <a:spcPts val="600"/>
              </a:spcAft>
              <a:buClr>
                <a:srgbClr val="4E7C8B"/>
              </a:buClr>
              <a:buFont typeface="Arial"/>
              <a:buChar char="•"/>
            </a:pPr>
            <a:r>
              <a:rPr lang="pt-BR" sz="1300" dirty="0" smtClean="0" b="0">
                <a:solidFill>
                  <a:srgbClr val="5F6468"/>
                </a:solidFill>
                <a:latin typeface="Roboto"/>
                <a:ea typeface="Roboto"/>
                <a:cs typeface="Roboto"/>
              </a:rPr>
              <a:t>Padrão de </a:t>
            </a:r>
            <a:r>
              <a:rPr lang="pt-BR" sz="1300" dirty="0" err="1" smtClean="0" b="0">
                <a:solidFill>
                  <a:srgbClr val="5F6468"/>
                </a:solidFill>
                <a:latin typeface="Roboto"/>
                <a:ea typeface="Roboto"/>
                <a:cs typeface="Roboto"/>
              </a:rPr>
              <a:t>Aslanger</a:t>
            </a:r>
            <a:endParaRPr lang="pt-BR" sz="2400" dirty="0" smtClean="0"/>
          </a:p>
          <a:p>
            <a:pPr marL="285750" indent="-285750" algn="l">
              <a:lnSpc>
                <a:spcPct val="140000"/>
              </a:lnSpc>
              <a:spcBef>
                <a:spcPts val="0"/>
              </a:spcBef>
              <a:spcAft>
                <a:spcPts val="600"/>
              </a:spcAft>
              <a:buClr>
                <a:srgbClr val="4E7C8B"/>
              </a:buClr>
              <a:buFont typeface="Arial"/>
              <a:buChar char="•"/>
            </a:pPr>
            <a:r>
              <a:rPr lang="pt-BR" sz="1300" dirty="0" smtClean="0" b="0">
                <a:solidFill>
                  <a:srgbClr val="5F6468"/>
                </a:solidFill>
                <a:latin typeface="Roboto"/>
                <a:ea typeface="Roboto"/>
                <a:cs typeface="Roboto"/>
              </a:rPr>
              <a:t>Padrão da bandeira da </a:t>
            </a:r>
            <a:r>
              <a:rPr lang="pt-BR" sz="1300" dirty="0" err="1" smtClean="0" b="0">
                <a:solidFill>
                  <a:srgbClr val="5F6468"/>
                </a:solidFill>
                <a:latin typeface="Roboto"/>
                <a:ea typeface="Roboto"/>
                <a:cs typeface="Roboto"/>
              </a:rPr>
              <a:t>África</a:t>
            </a:r>
            <a:r>
              <a:rPr lang="pt-BR" sz="1300" dirty="0" smtClean="0" b="0">
                <a:solidFill>
                  <a:srgbClr val="5F6468"/>
                </a:solidFill>
                <a:latin typeface="Roboto"/>
                <a:ea typeface="Roboto"/>
                <a:cs typeface="Roboto"/>
              </a:rPr>
              <a:t> do Sul</a:t>
            </a:r>
            <a:endParaRPr sz="2400" lang="pt-BR"/>
          </a:p>
        </p:txBody>
      </p:sp>
      <p:pic>
        <p:nvPicPr>
          <p:cNvPr id="4" name="Imagem 3"/>
          <p:cNvPicPr>
            <a:picLocks noChangeAspect="1"/>
          </p:cNvPicPr>
          <p:nvPr/>
        </p:nvPicPr>
        <p:blipFill rotWithShape="1">
          <a:blip r:embed="rId3"/>
          <a:srcRect l="64122" t="5161" r="20070" b="23466"/>
          <a:stretch/>
        </p:blipFill>
        <p:spPr>
          <a:xfrm>
            <a:off x="8703945" y="1417320"/>
            <a:ext cx="2114549" cy="3749039"/>
          </a:xfrm>
          <a:prstGeom prst="rect">
            <a:avLst/>
          </a:prstGeom>
        </p:spPr>
      </p:pic>
      <p:sp>
        <p:nvSpPr>
          <p:cNvPr id="5" name="Siglas (revisão)"/>
          <p:cNvSpPr txBox="1"/>
          <p:nvPr/>
        </p:nvSpPr>
        <p:spPr>
          <a:xfrm>
            <a:off x="711403" y="5230368"/>
            <a:ext cx="10771632" cy="612647"/>
          </a:xfrm>
          <a:prstGeom prst="rect">
            <a:avLst/>
          </a:prstGeom>
          <a:noFill/>
        </p:spPr>
        <p:txBody>
          <a:bodyPr wrap="square" tIns="27432" bIns="27432" anchor="b"/>
          <a:lstStyle/>
          <a:p>
            <a:pPr algn="l">
              <a:lnSpc>
                <a:spcPct val="120000"/>
              </a:lnSpc>
              <a:spcBef>
                <a:spcPts val="0"/>
              </a:spcBef>
              <a:spcAft>
                <a:spcPts val="0"/>
              </a:spcAft>
            </a:pPr>
            <a:r>
              <a:rPr sz="1200">
                <a:solidFill>
                  <a:srgbClr val="4E7C8B"/>
                </a:solidFill>
                <a:latin typeface="Roboto Medium"/>
                <a:ea typeface="Roboto Medium"/>
                <a:cs typeface="Roboto Medium"/>
              </a:rPr>
              <a:t>Siglas: BRE = bloqueio de ramo esquerdo; BRD = bloqueio de ramo direito.</a:t>
            </a:r>
          </a:p>
        </p:txBody>
      </p:sp>
      <p:sp>
        <p:nvSpPr>
          <p:cNvPr id="6" name="TextBox 5"/>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18  ·  Dor torácica – Protocolo 2025 | Set 2026</a:t>
            </a:r>
          </a:p>
        </p:txBody>
      </p:sp>
      <p:sp>
        <p:nvSpPr>
          <p:cNvPr id="7" name="TextBox 6"/>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85935703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pic>
        <p:nvPicPr>
          <p:cNvPr id="2" name="Imagem 1"/>
          <p:cNvPicPr>
            <a:picLocks noChangeAspect="1"/>
          </p:cNvPicPr>
          <p:nvPr/>
        </p:nvPicPr>
        <p:blipFill>
          <a:blip r:embed="rId3"/>
          <a:stretch>
            <a:fillRect/>
          </a:stretch>
        </p:blipFill>
        <p:spPr>
          <a:xfrm>
            <a:off x="711403" y="1085939"/>
            <a:ext cx="10771632" cy="4229835"/>
          </a:xfrm>
          <a:prstGeom prst="rect">
            <a:avLst/>
          </a:prstGeom>
        </p:spPr>
      </p:pic>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19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7415455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Causas de supra desnivelamento do ST</a:t>
            </a:r>
            <a:endParaRPr lang="pt-BR" dirty="0" sz="3200"/>
          </a:p>
        </p:txBody>
      </p:sp>
      <p:sp>
        <p:nvSpPr>
          <p:cNvPr id="3" name="Espaço Reservado para Conteúdo 2"/>
          <p:cNvSpPr>
            <a:spLocks noGrp="1"/>
          </p:cNvSpPr>
          <p:nvPr>
            <p:ph sz="half" idx="2"/>
          </p:nvPr>
        </p:nvSpPr>
        <p:spPr>
          <a:xfrm>
            <a:off x="711403" y="1417320"/>
            <a:ext cx="5166360" cy="3721608"/>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IAM</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BRE</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HVE</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Pericardite</a:t>
            </a:r>
            <a:endParaRPr sz="2400" lang="pt-BR"/>
          </a:p>
          <a:p>
            <a:pPr marL="285750" indent="-285750" algn="l">
              <a:lnSpc>
                <a:spcPct val="140000"/>
              </a:lnSpc>
              <a:spcBef>
                <a:spcPts val="0"/>
              </a:spcBef>
              <a:spcAft>
                <a:spcPts val="600"/>
              </a:spcAft>
              <a:buClr>
                <a:srgbClr val="4E7C8B"/>
              </a:buClr>
              <a:buFont typeface="Arial"/>
              <a:buChar char="•"/>
            </a:pPr>
            <a:r>
              <a:rPr lang="pt-BR" dirty="0" err="1" smtClean="0" sz="1300" b="0">
                <a:solidFill>
                  <a:srgbClr val="5F6468"/>
                </a:solidFill>
                <a:latin typeface="Roboto"/>
                <a:ea typeface="Roboto"/>
                <a:cs typeface="Roboto"/>
              </a:rPr>
              <a:t>Repolarização</a:t>
            </a:r>
            <a:r>
              <a:rPr lang="pt-BR" dirty="0" smtClean="0" sz="1300" b="0">
                <a:solidFill>
                  <a:srgbClr val="5F6468"/>
                </a:solidFill>
                <a:latin typeface="Roboto"/>
                <a:ea typeface="Roboto"/>
                <a:cs typeface="Roboto"/>
              </a:rPr>
              <a:t> precoce</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Angina </a:t>
            </a:r>
            <a:r>
              <a:rPr lang="pt-BR" dirty="0" err="1" smtClean="0" sz="1300" b="0">
                <a:solidFill>
                  <a:srgbClr val="5F6468"/>
                </a:solidFill>
                <a:latin typeface="Roboto"/>
                <a:ea typeface="Roboto"/>
                <a:cs typeface="Roboto"/>
              </a:rPr>
              <a:t>vasoespástica</a:t>
            </a:r>
            <a:endParaRPr lang="pt-BR" dirty="0" smtClean="0" sz="2400"/>
          </a:p>
        </p:txBody>
      </p:sp>
      <p:sp>
        <p:nvSpPr>
          <p:cNvPr id="6" name="Espaço Reservado para Conteúdo 5"/>
          <p:cNvSpPr>
            <a:spLocks noGrp="1"/>
          </p:cNvSpPr>
          <p:nvPr>
            <p:ph sz="quarter" idx="4"/>
          </p:nvPr>
        </p:nvSpPr>
        <p:spPr>
          <a:xfrm>
            <a:off x="6309360" y="1417320"/>
            <a:ext cx="5166360" cy="3721608"/>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err="1" smtClean="0" sz="1300" b="0">
                <a:solidFill>
                  <a:srgbClr val="5F6468"/>
                </a:solidFill>
                <a:latin typeface="Roboto"/>
                <a:ea typeface="Roboto"/>
                <a:cs typeface="Roboto"/>
              </a:rPr>
              <a:t>Hipercalemia</a:t>
            </a:r>
            <a:endParaRPr lang="pt-BR" dirty="0" smtClean="0" sz="2400"/>
          </a:p>
          <a:p>
            <a:pPr marL="285750" indent="-285750" algn="l">
              <a:lnSpc>
                <a:spcPct val="140000"/>
              </a:lnSpc>
              <a:spcBef>
                <a:spcPts val="0"/>
              </a:spcBef>
              <a:spcAft>
                <a:spcPts val="600"/>
              </a:spcAft>
              <a:buClr>
                <a:srgbClr val="4E7C8B"/>
              </a:buClr>
              <a:buFont typeface="Arial"/>
              <a:buChar char="•"/>
            </a:pPr>
            <a:r>
              <a:rPr lang="pt-BR" dirty="0" err="1" smtClean="0" sz="1300" b="0">
                <a:solidFill>
                  <a:srgbClr val="5F6468"/>
                </a:solidFill>
                <a:latin typeface="Roboto"/>
                <a:ea typeface="Roboto"/>
                <a:cs typeface="Roboto"/>
              </a:rPr>
              <a:t>Takotsubo</a:t>
            </a:r>
            <a:endParaRPr lang="pt-BR" dirty="0" smtClean="0" sz="2400"/>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Marca-passo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Síndrome de </a:t>
            </a:r>
            <a:r>
              <a:rPr lang="pt-BR" dirty="0" err="1" smtClean="0" sz="1300" b="0">
                <a:solidFill>
                  <a:srgbClr val="5F6468"/>
                </a:solidFill>
                <a:latin typeface="Roboto"/>
                <a:ea typeface="Roboto"/>
                <a:cs typeface="Roboto"/>
              </a:rPr>
              <a:t>Brugada</a:t>
            </a:r>
            <a:endParaRPr lang="pt-BR" dirty="0" smtClean="0" sz="2400"/>
          </a:p>
          <a:p>
            <a:pPr marL="285750" indent="-285750" algn="l">
              <a:lnSpc>
                <a:spcPct val="140000"/>
              </a:lnSpc>
              <a:spcBef>
                <a:spcPts val="0"/>
              </a:spcBef>
              <a:spcAft>
                <a:spcPts val="600"/>
              </a:spcAft>
              <a:buClr>
                <a:srgbClr val="4E7C8B"/>
              </a:buClr>
              <a:buFont typeface="Arial"/>
              <a:buChar char="•"/>
            </a:pPr>
            <a:r>
              <a:rPr lang="pt-BR" dirty="0" err="1" smtClean="0" sz="1300" b="0">
                <a:solidFill>
                  <a:srgbClr val="5F6468"/>
                </a:solidFill>
                <a:latin typeface="Roboto"/>
                <a:ea typeface="Roboto"/>
                <a:cs typeface="Roboto"/>
              </a:rPr>
              <a:t>Síndrome</a:t>
            </a:r>
            <a:r>
              <a:rPr lang="pt-BR" dirty="0" smtClean="0" sz="1300" b="0">
                <a:solidFill>
                  <a:srgbClr val="5F6468"/>
                </a:solidFill>
                <a:latin typeface="Roboto"/>
                <a:ea typeface="Roboto"/>
                <a:cs typeface="Roboto"/>
              </a:rPr>
              <a:t> de </a:t>
            </a:r>
            <a:r>
              <a:rPr lang="pt-BR" dirty="0" err="1" smtClean="0" sz="1300" b="0">
                <a:solidFill>
                  <a:srgbClr val="5F6468"/>
                </a:solidFill>
                <a:latin typeface="Roboto"/>
                <a:ea typeface="Roboto"/>
                <a:cs typeface="Roboto"/>
              </a:rPr>
              <a:t>pré</a:t>
            </a:r>
            <a:r>
              <a:rPr lang="pt-BR" dirty="0" smtClean="0" sz="1300" b="0">
                <a:solidFill>
                  <a:srgbClr val="5F6468"/>
                </a:solidFill>
                <a:latin typeface="Roboto"/>
                <a:ea typeface="Roboto"/>
                <a:cs typeface="Roboto"/>
              </a:rPr>
              <a:t> excitação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Aneurisma de VE</a:t>
            </a:r>
            <a:endParaRPr sz="2400" lang="pt-BR"/>
          </a:p>
        </p:txBody>
      </p:sp>
      <p:sp>
        <p:nvSpPr>
          <p:cNvPr id="7" name="Siglas (revisão)"/>
          <p:cNvSpPr txBox="1"/>
          <p:nvPr/>
        </p:nvSpPr>
        <p:spPr>
          <a:xfrm>
            <a:off x="711403" y="5230368"/>
            <a:ext cx="10771632" cy="612647"/>
          </a:xfrm>
          <a:prstGeom prst="rect">
            <a:avLst/>
          </a:prstGeom>
          <a:noFill/>
        </p:spPr>
        <p:txBody>
          <a:bodyPr wrap="square" tIns="27432" bIns="27432" anchor="b"/>
          <a:lstStyle/>
          <a:p>
            <a:pPr algn="l">
              <a:lnSpc>
                <a:spcPct val="120000"/>
              </a:lnSpc>
              <a:spcBef>
                <a:spcPts val="0"/>
              </a:spcBef>
              <a:spcAft>
                <a:spcPts val="0"/>
              </a:spcAft>
            </a:pPr>
            <a:r>
              <a:rPr sz="1200">
                <a:solidFill>
                  <a:srgbClr val="4E7C8B"/>
                </a:solidFill>
                <a:latin typeface="Roboto Medium"/>
                <a:ea typeface="Roboto Medium"/>
                <a:cs typeface="Roboto Medium"/>
              </a:rPr>
              <a:t>Siglas: IAM = infarto agudo do miocárdio; HVE = hipertrofia ventricular esquerda; VE = ventrículo esquerdo; BRE = bloqueio de ramo esquerdo.</a:t>
            </a:r>
          </a:p>
        </p:txBody>
      </p:sp>
      <p:sp>
        <p:nvSpPr>
          <p:cNvPr id="8" name="TextBox 7"/>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20  ·  Dor torácica – Protocolo 2025 | Set 2026</a:t>
            </a:r>
          </a:p>
        </p:txBody>
      </p:sp>
      <p:sp>
        <p:nvSpPr>
          <p:cNvPr id="9" name="TextBox 8"/>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77474544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Alterações ECG diagnósticas SCA sem BRE</a:t>
            </a:r>
            <a:endParaRPr lang="pt-BR" dirty="0" sz="3200"/>
          </a:p>
        </p:txBody>
      </p:sp>
      <p:sp>
        <p:nvSpPr>
          <p:cNvPr id="3" name="Espaço Reservado para Conteúdo 2"/>
          <p:cNvSpPr>
            <a:spLocks noGrp="1"/>
          </p:cNvSpPr>
          <p:nvPr>
            <p:ph idx="1"/>
          </p:nvPr>
        </p:nvSpPr>
        <p:spPr>
          <a:xfrm>
            <a:off x="711403" y="1417320"/>
            <a:ext cx="10771632" cy="4425696"/>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Análise de supra V2 e V3</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Homem, menor 40 anos: ST ≥ 2,5 mm</a:t>
            </a:r>
            <a:r>
              <a:rPr lang="pt-BR" dirty="0" smtClean="0" sz="1300" b="0">
                <a:solidFill>
                  <a:srgbClr val="5F6468"/>
                </a:solidFill>
                <a:latin typeface="Roboto" panose="020F0502020204030204" pitchFamily="34" charset="0"/>
                <a:ea typeface="Roboto" panose="020F0502020204030204" pitchFamily="34" charset="0"/>
                <a:cs typeface="Roboto" panose="020F0502020204030204" pitchFamily="34" charset="0"/>
              </a:rPr>
              <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panose="020F0502020204030204" pitchFamily="34" charset="0"/>
                <a:ea typeface="Roboto" panose="020F0502020204030204" pitchFamily="34" charset="0"/>
                <a:cs typeface="Roboto" panose="020F0502020204030204" pitchFamily="34" charset="0"/>
              </a:rPr>
              <a:t>Homem, maior 40 anos: ST ≥ 2,0 mm</a:t>
            </a:r>
            <a:r>
              <a:rPr lang="pt-BR" dirty="0" sz="1300" b="0">
                <a:solidFill>
                  <a:srgbClr val="5F6468"/>
                </a:solidFill>
                <a:latin typeface="Roboto" panose="020F0502020204030204" pitchFamily="34" charset="0"/>
                <a:ea typeface="Roboto" panose="020F0502020204030204" pitchFamily="34" charset="0"/>
                <a:cs typeface="Roboto" panose="020F0502020204030204" pitchFamily="34" charset="0"/>
              </a:rPr>
              <a:t/>
            </a:r>
            <a:r>
              <a:rPr lang="pt-BR" dirty="0" smtClean="0" sz="1300" b="0">
                <a:solidFill>
                  <a:srgbClr val="5F6468"/>
                </a:solidFill>
                <a:latin typeface="Roboto" panose="020F0502020204030204" pitchFamily="34" charset="0"/>
                <a:ea typeface="Roboto" panose="020F0502020204030204" pitchFamily="34" charset="0"/>
                <a:cs typeface="Roboto" panose="020F0502020204030204" pitchFamily="34" charset="0"/>
              </a:rPr>
              <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panose="020F0502020204030204" pitchFamily="34" charset="0"/>
                <a:ea typeface="Roboto" panose="020F0502020204030204" pitchFamily="34" charset="0"/>
                <a:cs typeface="Roboto" panose="020F0502020204030204" pitchFamily="34" charset="0"/>
              </a:rPr>
              <a:t>Mulher: ST ≥ 1,5 mm</a:t>
            </a:r>
            <a:r>
              <a:rPr lang="pt-BR" dirty="0" sz="1300" b="0">
                <a:solidFill>
                  <a:srgbClr val="5F6468"/>
                </a:solidFill>
                <a:latin typeface="Roboto" panose="020F0502020204030204" pitchFamily="34" charset="0"/>
                <a:ea typeface="Roboto" panose="020F0502020204030204" pitchFamily="34" charset="0"/>
                <a:cs typeface="Roboto" panose="020F0502020204030204" pitchFamily="34" charset="0"/>
              </a:rPr>
              <a:t/>
            </a:r>
            <a:r>
              <a:rPr lang="pt-BR" dirty="0" smtClean="0" sz="1300" b="0">
                <a:solidFill>
                  <a:srgbClr val="5F6468"/>
                </a:solidFill>
                <a:latin typeface="Roboto" panose="020F0502020204030204" pitchFamily="34" charset="0"/>
                <a:ea typeface="Roboto" panose="020F0502020204030204" pitchFamily="34" charset="0"/>
                <a:cs typeface="Roboto" panose="020F0502020204030204" pitchFamily="34" charset="0"/>
              </a:rPr>
              <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panose="020F0502020204030204" pitchFamily="34" charset="0"/>
                <a:ea typeface="Roboto" panose="020F0502020204030204" pitchFamily="34" charset="0"/>
                <a:cs typeface="Roboto" panose="020F0502020204030204" pitchFamily="34" charset="0"/>
              </a:rPr>
              <a:t>Outras derivações normais ST ≥ 1,0 mm derivações contíguas</a:t>
            </a:r>
            <a:endParaRPr lang="pt-BR" dirty="0" sz="2400">
              <a:latin typeface="Calibri" panose="020F0502020204030204" pitchFamily="34" charset="0"/>
              <a:ea typeface="Calibri" panose="020F0502020204030204" pitchFamily="34" charset="0"/>
              <a:cs typeface="Calibri" panose="020F0502020204030204" pitchFamily="34" charset="0"/>
            </a:endParaRP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panose="020F0502020204030204" pitchFamily="34" charset="0"/>
                <a:ea typeface="Roboto" panose="020F0502020204030204" pitchFamily="34" charset="0"/>
                <a:cs typeface="Roboto" panose="020F0502020204030204" pitchFamily="34" charset="0"/>
              </a:rPr>
              <a:t>Derivações complementares ST ≥ 0,5 mm</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panose="020F0502020204030204" pitchFamily="34" charset="0"/>
                <a:ea typeface="Roboto" panose="020F0502020204030204" pitchFamily="34" charset="0"/>
                <a:cs typeface="Roboto" panose="020F0502020204030204" pitchFamily="34" charset="0"/>
              </a:rPr>
              <a:t>Analisar derivações opostas (</a:t>
            </a:r>
            <a:r>
              <a:rPr lang="pt-BR" i="1" dirty="0" smtClean="0" sz="1300" b="0">
                <a:solidFill>
                  <a:srgbClr val="5F6468"/>
                </a:solidFill>
                <a:latin typeface="Roboto" panose="020F0502020204030204" pitchFamily="34" charset="0"/>
                <a:ea typeface="Roboto" panose="020F0502020204030204" pitchFamily="34" charset="0"/>
                <a:cs typeface="Roboto" panose="020F0502020204030204" pitchFamily="34" charset="0"/>
              </a:rPr>
              <a:t>efeito recíproco, imagem em espelho</a:t>
            </a:r>
            <a:r>
              <a:rPr lang="pt-BR" dirty="0" smtClean="0" sz="1300" b="0">
                <a:solidFill>
                  <a:srgbClr val="5F6468"/>
                </a:solidFill>
                <a:latin typeface="Roboto" panose="020F0502020204030204" pitchFamily="34" charset="0"/>
                <a:ea typeface="Roboto" panose="020F0502020204030204" pitchFamily="34" charset="0"/>
                <a:cs typeface="Roboto" panose="020F0502020204030204" pitchFamily="34" charset="0"/>
              </a:rPr>
              <a:t>)</a:t>
            </a:r>
            <a:endParaRPr sz="2400" lang="pt-B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21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25207531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Imagem em espelho</a:t>
            </a:r>
            <a:endParaRPr lang="pt-BR" dirty="0" sz="3200"/>
          </a:p>
        </p:txBody>
      </p:sp>
      <p:graphicFrame>
        <p:nvGraphicFramePr>
          <p:cNvPr id="4" name="Espaço Reservado para Conteúdo 3"/>
          <p:cNvGraphicFramePr>
            <a:graphicFrameLocks noGrp="1"/>
          </p:cNvGraphicFramePr>
          <p:nvPr>
            <p:ph idx="1"/>
            <p:extLst>
              <p:ext uri="{D42A27DB-BD31-4B8C-83A1-F6EECF244321}">
                <p14:modId xmlns:p14="http://schemas.microsoft.com/office/powerpoint/2010/main" val="31254851"/>
              </p:ext>
            </p:extLst>
          </p:nvPr>
        </p:nvGraphicFramePr>
        <p:xfrm>
          <a:off x="711403" y="1417320"/>
          <a:ext cx="10771632" cy="2194560"/>
        </p:xfrm>
        <a:graphic>
          <a:graphicData uri="http://schemas.openxmlformats.org/drawingml/2006/table">
            <a:tbl>
              <a:tblPr firstRow="1" bandRow="1">
                <a:tableStyleId>{5C22544A-7EE6-4342-B048-85BDC9FD1C3A}</a:tableStyleId>
              </a:tblPr>
              <a:tblGrid>
                <a:gridCol w="5385816"/>
                <a:gridCol w="5385816"/>
              </a:tblGrid>
              <a:tr h="731520">
                <a:tc>
                  <a:txBody>
                    <a:bodyPr/>
                    <a:lstStyle/>
                    <a:p>
                      <a:pPr algn="l"/>
                      <a:r>
                        <a:rPr lang="pt-BR" dirty="0" smtClean="0" sz="1300" b="0">
                          <a:solidFill>
                            <a:srgbClr val="FBFCFC"/>
                          </a:solidFill>
                          <a:latin typeface="Roboto Medium"/>
                          <a:ea typeface="Roboto Medium"/>
                          <a:cs typeface="Roboto Medium"/>
                        </a:rPr>
                        <a:t>PAREDE</a:t>
                      </a:r>
                      <a:r>
                        <a:rPr lang="pt-BR" baseline="0" dirty="0" smtClean="0" sz="1300" b="0">
                          <a:solidFill>
                            <a:srgbClr val="FBFCFC"/>
                          </a:solidFill>
                          <a:latin typeface="Roboto Medium"/>
                          <a:ea typeface="Roboto Medium"/>
                          <a:cs typeface="Roboto Medium"/>
                        </a:rPr>
                        <a:t> PRINCIPAL</a:t>
                      </a:r>
                      <a:endParaRPr lang="pt-BR" dirty="0" sz="2000"/>
                    </a:p>
                  </a:txBody>
                  <a:tcPr marL="109728" marR="109728">
                    <a:solidFill>
                      <a:srgbClr val="4E7C8B"/>
                    </a:solidFill>
                  </a:tcPr>
                </a:tc>
                <a:tc>
                  <a:txBody>
                    <a:bodyPr/>
                    <a:lstStyle/>
                    <a:p>
                      <a:pPr algn="l"/>
                      <a:r>
                        <a:rPr lang="pt-BR" dirty="0" smtClean="0" sz="1300" b="0">
                          <a:solidFill>
                            <a:srgbClr val="FBFCFC"/>
                          </a:solidFill>
                          <a:latin typeface="Roboto Medium"/>
                          <a:ea typeface="Roboto Medium"/>
                          <a:cs typeface="Roboto Medium"/>
                        </a:rPr>
                        <a:t>PAREDE</a:t>
                      </a:r>
                      <a:r>
                        <a:rPr lang="pt-BR" baseline="0" dirty="0" smtClean="0" sz="1300" b="0">
                          <a:solidFill>
                            <a:srgbClr val="FBFCFC"/>
                          </a:solidFill>
                          <a:latin typeface="Roboto Medium"/>
                          <a:ea typeface="Roboto Medium"/>
                          <a:cs typeface="Roboto Medium"/>
                        </a:rPr>
                        <a:t> DA </a:t>
                      </a:r>
                      <a:r>
                        <a:rPr lang="pt-BR" dirty="0" smtClean="0" sz="1300" b="0">
                          <a:solidFill>
                            <a:srgbClr val="FBFCFC"/>
                          </a:solidFill>
                          <a:latin typeface="Roboto Medium"/>
                          <a:ea typeface="Roboto Medium"/>
                          <a:cs typeface="Roboto Medium"/>
                        </a:rPr>
                        <a:t>IMAGEM EM ESPELHO </a:t>
                      </a:r>
                      <a:endParaRPr lang="pt-BR" dirty="0" sz="2000"/>
                    </a:p>
                  </a:txBody>
                  <a:tcPr marL="109728" marR="109728">
                    <a:solidFill>
                      <a:srgbClr val="4E7C8B"/>
                    </a:solidFill>
                  </a:tcPr>
                </a:tc>
              </a:tr>
              <a:tr h="731520">
                <a:tc>
                  <a:txBody>
                    <a:bodyPr/>
                    <a:lstStyle/>
                    <a:p>
                      <a:pPr algn="l"/>
                      <a:r>
                        <a:rPr lang="pt-BR" dirty="0" smtClean="0" sz="1300" b="0">
                          <a:solidFill>
                            <a:srgbClr val="5F6468"/>
                          </a:solidFill>
                          <a:latin typeface="Roboto"/>
                          <a:ea typeface="Roboto"/>
                          <a:cs typeface="Roboto"/>
                        </a:rPr>
                        <a:t>Inferior :</a:t>
                      </a:r>
                      <a:r>
                        <a:rPr lang="pt-BR" baseline="0" dirty="0" smtClean="0" sz="1300" b="0">
                          <a:solidFill>
                            <a:srgbClr val="5F6468"/>
                          </a:solidFill>
                          <a:latin typeface="Roboto"/>
                          <a:ea typeface="Roboto"/>
                          <a:cs typeface="Roboto"/>
                        </a:rPr>
                        <a:t> </a:t>
                      </a:r>
                      <a:r>
                        <a:rPr lang="pt-BR" dirty="0" smtClean="0" sz="1300" b="0">
                          <a:solidFill>
                            <a:srgbClr val="5F6468"/>
                          </a:solidFill>
                          <a:latin typeface="Roboto"/>
                          <a:ea typeface="Roboto"/>
                          <a:cs typeface="Roboto"/>
                        </a:rPr>
                        <a:t>DII, DIII, AVF</a:t>
                      </a:r>
                      <a:endParaRPr lang="pt-BR" dirty="0" sz="2000"/>
                    </a:p>
                  </a:txBody>
                  <a:tcPr marL="109728" marR="109728">
                    <a:solidFill>
                      <a:srgbClr val="FBFCFC"/>
                    </a:solidFill>
                  </a:tcPr>
                </a:tc>
                <a:tc>
                  <a:txBody>
                    <a:bodyPr/>
                    <a:lstStyle/>
                    <a:p>
                      <a:pPr algn="l"/>
                      <a:r>
                        <a:rPr lang="pt-BR" dirty="0" smtClean="0" sz="1300" b="0">
                          <a:solidFill>
                            <a:srgbClr val="5F6468"/>
                          </a:solidFill>
                          <a:latin typeface="Roboto"/>
                          <a:ea typeface="Roboto"/>
                          <a:cs typeface="Roboto"/>
                        </a:rPr>
                        <a:t>Lateral alta:</a:t>
                      </a:r>
                      <a:r>
                        <a:rPr lang="pt-BR" baseline="0" dirty="0" smtClean="0" sz="1300" b="0">
                          <a:solidFill>
                            <a:srgbClr val="5F6468"/>
                          </a:solidFill>
                          <a:latin typeface="Roboto"/>
                          <a:ea typeface="Roboto"/>
                          <a:cs typeface="Roboto"/>
                        </a:rPr>
                        <a:t> DI e AVL</a:t>
                      </a:r>
                      <a:endParaRPr lang="pt-BR" dirty="0" sz="2000"/>
                    </a:p>
                  </a:txBody>
                  <a:tcPr marL="109728" marR="109728">
                    <a:solidFill>
                      <a:srgbClr val="FBFCFC"/>
                    </a:solidFill>
                  </a:tcPr>
                </a:tc>
              </a:tr>
              <a:tr h="731520">
                <a:tc>
                  <a:txBody>
                    <a:bodyPr/>
                    <a:lstStyle/>
                    <a:p>
                      <a:pPr algn="l"/>
                      <a:r>
                        <a:rPr lang="pt-BR" dirty="0" smtClean="0" sz="1300" b="0">
                          <a:solidFill>
                            <a:srgbClr val="5F6468"/>
                          </a:solidFill>
                          <a:latin typeface="Roboto"/>
                          <a:ea typeface="Roboto"/>
                          <a:cs typeface="Roboto"/>
                        </a:rPr>
                        <a:t>Anterior/septal: V1 a V3</a:t>
                      </a:r>
                      <a:endParaRPr lang="pt-BR" dirty="0" sz="2000"/>
                    </a:p>
                  </a:txBody>
                  <a:tcPr marL="109728" marR="109728">
                    <a:solidFill>
                      <a:srgbClr val="F2F4F5"/>
                    </a:solidFill>
                  </a:tcPr>
                </a:tc>
                <a:tc>
                  <a:txBody>
                    <a:bodyPr/>
                    <a:lstStyle/>
                    <a:p>
                      <a:pPr algn="l"/>
                      <a:r>
                        <a:rPr lang="pt-BR" dirty="0" smtClean="0" sz="1300" b="0">
                          <a:solidFill>
                            <a:srgbClr val="5F6468"/>
                          </a:solidFill>
                          <a:latin typeface="Roboto"/>
                          <a:ea typeface="Roboto"/>
                          <a:cs typeface="Roboto"/>
                        </a:rPr>
                        <a:t>Parede posterior: V7 e V8</a:t>
                      </a:r>
                      <a:endParaRPr lang="pt-BR" dirty="0" sz="2000"/>
                    </a:p>
                  </a:txBody>
                  <a:tcPr marL="109728" marR="109728">
                    <a:solidFill>
                      <a:srgbClr val="F2F4F5"/>
                    </a:solidFill>
                  </a:tcPr>
                </a:tc>
              </a:tr>
            </a:tbl>
          </a:graphicData>
        </a:graphic>
      </p:graphicFrame>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22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85959132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Como identificamos a oclusão coronária hoje?</a:t>
            </a:r>
          </a:p>
        </p:txBody>
      </p:sp>
      <p:sp>
        <p:nvSpPr>
          <p:cNvPr id="3" name="Rótulo 3"/>
          <p:cNvSpPr txBox="1"/>
          <p:nvPr/>
        </p:nvSpPr>
        <p:spPr>
          <a:xfrm>
            <a:off x="711403" y="1417320"/>
            <a:ext cx="1226406" cy="300000"/>
          </a:xfrm>
          <a:prstGeom prst="rect">
            <a:avLst/>
          </a:prstGeom>
          <a:solidFill>
            <a:srgbClr val="4E7C8B"/>
          </a:solidFill>
        </p:spPr>
        <p:txBody>
          <a:bodyPr wrap="square" lIns="0" tIns="0" rIns="0" bIns="0" anchor="ctr">
            <a:noAutofit/>
          </a:bodyPr>
          <a:lstStyle/>
          <a:p>
            <a:pPr marL="0" indent="0" algn="ctr">
              <a:lnSpc>
                <a:spcPct val="100000"/>
              </a:lnSpc>
              <a:spcBef>
                <a:spcPts val="0"/>
              </a:spcBef>
              <a:spcAft>
                <a:spcPts val="0"/>
              </a:spcAft>
              <a:buNone/>
            </a:pPr>
            <a:r>
              <a:rPr lang="pt-BR" sz="1200" b="0" i="0" dirty="0">
                <a:solidFill>
                  <a:srgbClr val="FBFCFC"/>
                </a:solidFill>
                <a:latin typeface="Roboto Medium"/>
                <a:ea typeface="Roboto Medium"/>
                <a:cs typeface="Roboto Medium"/>
              </a:rPr>
              <a:t>SVE/BRE/IAM</a:t>
            </a:r>
          </a:p>
        </p:txBody>
      </p:sp>
      <p:sp>
        <p:nvSpPr>
          <p:cNvPr id="4" name="Caixa 4"/>
          <p:cNvSpPr txBox="1"/>
          <p:nvPr/>
        </p:nvSpPr>
        <p:spPr>
          <a:xfrm>
            <a:off x="711403" y="2000000"/>
            <a:ext cx="3600000" cy="2400000"/>
          </a:xfrm>
          <a:prstGeom prst="rect">
            <a:avLst/>
          </a:prstGeom>
          <a:solidFill>
            <a:srgbClr val="F2F4F5"/>
          </a:solidFill>
        </p:spPr>
        <p:txBody>
          <a:bodyPr wrap="square" lIns="240000" tIns="200000" rIns="240000" bIns="200000" anchor="ctr">
            <a:noAutofit/>
          </a:bodyPr>
          <a:lstStyle/>
          <a:p>
            <a:pPr marL="285750" indent="-285750" algn="l">
              <a:lnSpc>
                <a:spcPct val="125000"/>
              </a:lnSpc>
              <a:spcBef>
                <a:spcPts val="0"/>
              </a:spcBef>
              <a:spcAft>
                <a:spcPts val="900"/>
              </a:spcAft>
              <a:buClr>
                <a:srgbClr val="4E7C8B"/>
              </a:buClr>
              <a:buFont typeface="Arial"/>
              <a:buChar char="•"/>
            </a:pPr>
            <a:r>
              <a:rPr lang="pt-BR" sz="1500" b="0" i="0" dirty="0">
                <a:solidFill>
                  <a:srgbClr val="3B3F42"/>
                </a:solidFill>
                <a:latin typeface="Roboto Medium"/>
                <a:ea typeface="Roboto Medium"/>
                <a:cs typeface="Roboto Medium"/>
              </a:rPr>
              <a:t>Nem todo Supradesnível ST é devido a uma OCA</a:t>
            </a:r>
          </a:p>
          <a:p>
            <a:pPr marL="285750" indent="-285750" algn="l">
              <a:lnSpc>
                <a:spcPct val="125000"/>
              </a:lnSpc>
              <a:spcBef>
                <a:spcPts val="0"/>
              </a:spcBef>
              <a:spcAft>
                <a:spcPts val="0"/>
              </a:spcAft>
              <a:buClr>
                <a:srgbClr val="4E7C8B"/>
              </a:buClr>
              <a:buFont typeface="Arial"/>
              <a:buChar char="•"/>
            </a:pPr>
            <a:r>
              <a:rPr lang="pt-BR" sz="1500" b="0" i="0" dirty="0">
                <a:solidFill>
                  <a:srgbClr val="3B3F42"/>
                </a:solidFill>
                <a:latin typeface="Roboto Medium"/>
                <a:ea typeface="Roboto Medium"/>
                <a:cs typeface="Roboto Medium"/>
              </a:rPr>
              <a:t>Nem toda OCA se manifesta com Supradesnível ST</a:t>
            </a:r>
          </a:p>
        </p:txBody>
      </p:sp>
      <p:pic>
        <p:nvPicPr>
          <p:cNvPr id="5" name="Figura 5" descr="Supradesnível ST convexo e côncavo"/>
          <p:cNvPicPr>
            <a:picLocks noChangeAspect="1"/>
          </p:cNvPicPr>
          <p:nvPr/>
        </p:nvPicPr>
        <p:blipFill>
          <a:blip r:embed="rId10"/>
          <a:stretch>
            <a:fillRect/>
          </a:stretch>
        </p:blipFill>
        <p:spPr>
          <a:xfrm>
            <a:off x="5828213" y="1417320"/>
            <a:ext cx="4476607" cy="2150000"/>
          </a:xfrm>
          <a:prstGeom prst="rect">
            <a:avLst/>
          </a:prstGeom>
        </p:spPr>
      </p:pic>
      <p:pic>
        <p:nvPicPr>
          <p:cNvPr id="6" name="Figura 6" descr="O valor do infradesnivelamento recíproco ST"/>
          <p:cNvPicPr>
            <a:picLocks noChangeAspect="1"/>
          </p:cNvPicPr>
          <p:nvPr/>
        </p:nvPicPr>
        <p:blipFill>
          <a:blip r:embed="rId11"/>
          <a:stretch>
            <a:fillRect/>
          </a:stretch>
        </p:blipFill>
        <p:spPr>
          <a:xfrm>
            <a:off x="5956875" y="3667320"/>
            <a:ext cx="4219283" cy="2150000"/>
          </a:xfrm>
          <a:prstGeom prst="rect">
            <a:avLst/>
          </a:prstGeom>
        </p:spPr>
      </p:pic>
      <p:sp>
        <p:nvSpPr>
          <p:cNvPr id="7" name="Legenda 7"/>
          <p:cNvSpPr txBox="1"/>
          <p:nvPr/>
        </p:nvSpPr>
        <p:spPr>
          <a:xfrm>
            <a:off x="711403" y="5560000"/>
            <a:ext cx="3600000" cy="300000"/>
          </a:xfrm>
          <a:prstGeom prst="rect">
            <a:avLst/>
          </a:prstGeom>
          <a:noFill/>
        </p:spPr>
        <p:txBody>
          <a:bodyPr wrap="square" lIns="0" tIns="0" rIns="0" bIns="0" anchor="t">
            <a:noAutofit/>
          </a:bodyPr>
          <a:lstStyle/>
          <a:p>
            <a:pPr marL="0" indent="0" algn="l">
              <a:lnSpc>
                <a:spcPct val="125000"/>
              </a:lnSpc>
              <a:spcBef>
                <a:spcPts val="0"/>
              </a:spcBef>
              <a:spcAft>
                <a:spcPts val="0"/>
              </a:spcAft>
              <a:buNone/>
            </a:pPr>
            <a:r>
              <a:rPr lang="pt-BR" sz="1200" b="0" i="0" dirty="0">
                <a:solidFill>
                  <a:srgbClr val="737A7F"/>
                </a:solidFill>
                <a:latin typeface="Roboto"/>
                <a:ea typeface="Roboto"/>
                <a:cs typeface="Roboto"/>
              </a:rPr>
              <a:t>OCA: Oclusão Coronária Aguda</a:t>
            </a:r>
          </a:p>
        </p:txBody>
      </p:sp>
      <p:sp>
        <p:nvSpPr>
          <p:cNvPr id="8" name="Rodapé 8"/>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23  ·  Dor torácica – Protocolo 2025 | Set 2026</a:t>
            </a:r>
          </a:p>
        </p:txBody>
      </p:sp>
      <p:sp>
        <p:nvSpPr>
          <p:cNvPr id="9" name="Rodapé 9"/>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O problema da circunflexa</a:t>
            </a:r>
          </a:p>
        </p:txBody>
      </p:sp>
      <p:pic>
        <p:nvPicPr>
          <p:cNvPr id="3" name="Figura 3" descr="Korea Acute Myocardial Infarction Registry – Clinical outcomes of acute myocardial infarction with occluded left circumflex artery"/>
          <p:cNvPicPr>
            <a:picLocks noChangeAspect="1"/>
          </p:cNvPicPr>
          <p:nvPr/>
        </p:nvPicPr>
        <p:blipFill>
          <a:blip r:embed="rId10"/>
          <a:stretch>
            <a:fillRect/>
          </a:stretch>
        </p:blipFill>
        <p:spPr>
          <a:xfrm>
            <a:off x="711403" y="1500000"/>
            <a:ext cx="6000000" cy="2694610"/>
          </a:xfrm>
          <a:prstGeom prst="rect">
            <a:avLst/>
          </a:prstGeom>
        </p:spPr>
      </p:pic>
      <p:sp>
        <p:nvSpPr>
          <p:cNvPr id="4" name="Texto 4"/>
          <p:cNvSpPr txBox="1"/>
          <p:nvPr/>
        </p:nvSpPr>
        <p:spPr>
          <a:xfrm>
            <a:off x="711403" y="4450000"/>
            <a:ext cx="6000000" cy="900000"/>
          </a:xfrm>
          <a:prstGeom prst="rect">
            <a:avLst/>
          </a:prstGeom>
          <a:noFill/>
        </p:spPr>
        <p:txBody>
          <a:bodyPr wrap="square" lIns="0" tIns="0" rIns="0" bIns="0" anchor="t">
            <a:noAutofit/>
          </a:bodyPr>
          <a:lstStyle/>
          <a:p>
            <a:pPr marL="0" indent="0" algn="l">
              <a:lnSpc>
                <a:spcPct val="125000"/>
              </a:lnSpc>
              <a:spcBef>
                <a:spcPts val="0"/>
              </a:spcBef>
              <a:spcAft>
                <a:spcPts val="0"/>
              </a:spcAft>
              <a:buNone/>
            </a:pPr>
            <a:r>
              <a:rPr lang="pt-BR" sz="1500" b="0" i="0" dirty="0">
                <a:solidFill>
                  <a:srgbClr val="B5533C"/>
                </a:solidFill>
                <a:latin typeface="Roboto Medium"/>
                <a:ea typeface="Roboto Medium"/>
                <a:cs typeface="Roboto Medium"/>
              </a:rPr>
              <a:t>2.281 pctes. com oclusão coronária aguda</a:t>
            </a:r>
          </a:p>
        </p:txBody>
      </p:sp>
      <p:sp>
        <p:nvSpPr>
          <p:cNvPr id="9" name="Rodapé 9"/>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24  ·  Dor torácica – Protocolo 2025 | Set 2026</a:t>
            </a:r>
          </a:p>
        </p:txBody>
      </p:sp>
      <p:sp>
        <p:nvSpPr>
          <p:cNvPr id="10" name="Rodapé 10"/>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graphicFrame>
        <p:nvGraphicFramePr>
          <p:cNvPr id="11" name="Chart 10"/>
          <p:cNvGraphicFramePr>
            <a:graphicFrameLocks noGrp="1"/>
          </p:cNvGraphicFramePr>
          <p:nvPr/>
        </p:nvGraphicFramePr>
        <p:xfrm>
          <a:off x="6953250" y="1419225"/>
          <a:ext cx="4524375" cy="3810000"/>
        </p:xfrm>
        <a:graphic>
          <a:graphicData uri="http://schemas.openxmlformats.org/drawingml/2006/chart">
            <c:chart xmlns:c="http://schemas.openxmlformats.org/drawingml/2006/chart" r:id="rId5"/>
          </a:graphicData>
        </a:graphic>
      </p:graphicFrame>
      <p:sp>
        <p:nvSpPr>
          <p:cNvPr id="12" name="TextBox 11"/>
          <p:cNvSpPr txBox="1"/>
          <p:nvPr/>
        </p:nvSpPr>
        <p:spPr>
          <a:xfrm>
            <a:off x="6953250" y="5295900"/>
            <a:ext cx="4524375" cy="190500"/>
          </a:xfrm>
          <a:prstGeom prst="rect">
            <a:avLst/>
          </a:prstGeom>
          <a:noFill/>
        </p:spPr>
        <p:txBody>
          <a:bodyPr wrap="square" lIns="0" rIns="0" tIns="0" bIns="0">
            <a:spAutoFit/>
          </a:bodyPr>
          <a:lstStyle/>
          <a:p>
            <a:r>
              <a:rPr sz="1200" b="0">
                <a:solidFill>
                  <a:srgbClr val="737A7F"/>
                </a:solidFill>
                <a:latin typeface="Roboto"/>
              </a:rPr>
              <a:t>p &lt; 0,001 · valores em nº de pacientes</a:t>
            </a:r>
          </a:p>
        </p:txBody>
      </p:sp>
      <p:sp>
        <p:nvSpPr>
          <p:cNvPr id="13" name="TextBox 12"/>
          <p:cNvSpPr txBox="1"/>
          <p:nvPr/>
        </p:nvSpPr>
        <p:spPr>
          <a:xfrm>
            <a:off x="6953250" y="5543550"/>
            <a:ext cx="4524375" cy="190500"/>
          </a:xfrm>
          <a:prstGeom prst="rect">
            <a:avLst/>
          </a:prstGeom>
          <a:noFill/>
        </p:spPr>
        <p:txBody>
          <a:bodyPr wrap="square" lIns="0" rIns="0" tIns="0" bIns="0">
            <a:spAutoFit/>
          </a:bodyPr>
          <a:lstStyle/>
          <a:p>
            <a:r>
              <a:rPr sz="1200" b="0">
                <a:solidFill>
                  <a:srgbClr val="737A7F"/>
                </a:solidFill>
                <a:latin typeface="Roboto"/>
              </a:rPr>
              <a:t>Fonte: Korea Acute Myocardial Infarction Registry. J Cardiol 2011;57:290–296.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IAM posterior</a:t>
            </a:r>
            <a:endParaRPr lang="pt-BR" dirty="0" sz="3200"/>
          </a:p>
        </p:txBody>
      </p:sp>
      <p:sp>
        <p:nvSpPr>
          <p:cNvPr id="3" name="Espaço Reservado para Conteúdo 2"/>
          <p:cNvSpPr>
            <a:spLocks noGrp="1"/>
          </p:cNvSpPr>
          <p:nvPr>
            <p:ph idx="1"/>
          </p:nvPr>
        </p:nvSpPr>
        <p:spPr>
          <a:xfrm>
            <a:off x="711403" y="1417320"/>
            <a:ext cx="4480560" cy="4425696"/>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Avaliar V1,V2 e V3</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R dominante</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R larga ( &gt; 30 </a:t>
            </a:r>
            <a:r>
              <a:rPr lang="pt-BR" dirty="0" err="1" smtClean="0" sz="1300" b="0">
                <a:solidFill>
                  <a:srgbClr val="5F6468"/>
                </a:solidFill>
                <a:latin typeface="Roboto"/>
                <a:ea typeface="Roboto"/>
                <a:cs typeface="Roboto"/>
              </a:rPr>
              <a:t>ms</a:t>
            </a:r>
            <a:r>
              <a:rPr lang="pt-BR" dirty="0" smtClean="0" sz="1300" b="0">
                <a:solidFill>
                  <a:srgbClr val="5F6468"/>
                </a:solidFill>
                <a:latin typeface="Roboto"/>
                <a:ea typeface="Roboto"/>
                <a:cs typeface="Roboto"/>
              </a:rPr>
              <a:t>)</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T positiva terminal</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Avaliar V7, V8 e V9</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Supra ST &gt; 0,5 mm</a:t>
            </a:r>
            <a:endParaRPr sz="2400" lang="pt-BR"/>
          </a:p>
        </p:txBody>
      </p:sp>
      <p:pic>
        <p:nvPicPr>
          <p:cNvPr id="4" name="Imagem 3"/>
          <p:cNvPicPr>
            <a:picLocks noChangeAspect="1"/>
          </p:cNvPicPr>
          <p:nvPr/>
        </p:nvPicPr>
        <p:blipFill>
          <a:blip r:embed="rId2"/>
          <a:stretch>
            <a:fillRect/>
          </a:stretch>
        </p:blipFill>
        <p:spPr>
          <a:xfrm>
            <a:off x="5486400" y="1417320"/>
            <a:ext cx="5989320" cy="2368909"/>
          </a:xfrm>
          <a:prstGeom prst="rect">
            <a:avLst/>
          </a:prstGeom>
        </p:spPr>
      </p:pic>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25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56951351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pic>
        <p:nvPicPr>
          <p:cNvPr id="3074" name="Picture 2" descr="ECG Posterior AMI 1b V78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403" y="692034"/>
            <a:ext cx="10771632" cy="5017646"/>
          </a:xfrm>
          <a:prstGeom prst="rect">
            <a:avLst/>
          </a:prstGeom>
          <a:noFill/>
          <a:extLst>
            <a:ext uri="{909E8E84-426E-40DD-AFC4-6F175D3DCCD1}">
              <a14:hiddenFill xmlns:a14="http://schemas.microsoft.com/office/drawing/2010/main">
                <a:solidFill>
                  <a:srgbClr val="FFFFFF"/>
                </a:solidFill>
              </a14:hiddenFill>
            </a:ext>
          </a:extLst>
        </p:spPr>
      </p:pic>
      <p:sp>
        <p:nvSpPr>
          <p:cNvPr id="3075" name="TextBox 307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26  ·  Dor torácica – Protocolo 2025 | Set 2026</a:t>
            </a:r>
          </a:p>
        </p:txBody>
      </p:sp>
      <p:sp>
        <p:nvSpPr>
          <p:cNvPr id="3076" name="TextBox 307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21876044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Classificação da isquemia miocárdica segundo a oclusão coronariana</a:t>
            </a:r>
            <a:endParaRPr lang="pt-BR" dirty="0" sz="3200"/>
          </a:p>
        </p:txBody>
      </p:sp>
      <p:sp>
        <p:nvSpPr>
          <p:cNvPr id="3" name="Espaço Reservado para Conteúdo 2"/>
          <p:cNvSpPr>
            <a:spLocks noGrp="1"/>
          </p:cNvSpPr>
          <p:nvPr>
            <p:ph idx="1"/>
          </p:nvPr>
        </p:nvSpPr>
        <p:spPr>
          <a:xfrm>
            <a:off x="711403" y="1417320"/>
            <a:ext cx="10771632" cy="3721608"/>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OMI: 28% SSST – Procurar outros sinais ECG</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MINOCA: </a:t>
            </a:r>
            <a:r>
              <a:rPr lang="pt-BR" dirty="0" err="1" smtClean="0" sz="1300" b="0">
                <a:solidFill>
                  <a:srgbClr val="5F6468"/>
                </a:solidFill>
                <a:latin typeface="Roboto"/>
                <a:ea typeface="Roboto"/>
                <a:cs typeface="Roboto"/>
              </a:rPr>
              <a:t>Myocardial</a:t>
            </a:r>
            <a:r>
              <a:rPr lang="pt-BR" dirty="0" smtClean="0" sz="1300" b="0">
                <a:solidFill>
                  <a:srgbClr val="5F6468"/>
                </a:solidFill>
                <a:latin typeface="Roboto"/>
                <a:ea typeface="Roboto"/>
                <a:cs typeface="Roboto"/>
              </a:rPr>
              <a:t> </a:t>
            </a:r>
            <a:r>
              <a:rPr lang="pt-BR" dirty="0" err="1" smtClean="0" sz="1300" b="0">
                <a:solidFill>
                  <a:srgbClr val="5F6468"/>
                </a:solidFill>
                <a:latin typeface="Roboto"/>
                <a:ea typeface="Roboto"/>
                <a:cs typeface="Roboto"/>
              </a:rPr>
              <a:t>Infarction</a:t>
            </a:r>
            <a:endParaRPr lang="pt-BR" dirty="0" sz="2400"/>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ANOCA: Angina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INOCA: Isquemia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TINOCA: </a:t>
            </a:r>
            <a:r>
              <a:rPr lang="pt-BR" dirty="0" err="1" smtClean="0" sz="1300" b="0">
                <a:solidFill>
                  <a:srgbClr val="5F6468"/>
                </a:solidFill>
                <a:latin typeface="Roboto"/>
                <a:ea typeface="Roboto"/>
                <a:cs typeface="Roboto"/>
              </a:rPr>
              <a:t>Troponin</a:t>
            </a:r>
            <a:endParaRPr lang="pt-BR" dirty="0" smtClean="0" sz="2400"/>
          </a:p>
        </p:txBody>
      </p:sp>
      <p:sp>
        <p:nvSpPr>
          <p:cNvPr id="4" name="Siglas (revisão)"/>
          <p:cNvSpPr txBox="1"/>
          <p:nvPr/>
        </p:nvSpPr>
        <p:spPr>
          <a:xfrm>
            <a:off x="711403" y="5230368"/>
            <a:ext cx="10771632" cy="612647"/>
          </a:xfrm>
          <a:prstGeom prst="rect">
            <a:avLst/>
          </a:prstGeom>
          <a:noFill/>
        </p:spPr>
        <p:txBody>
          <a:bodyPr wrap="square" tIns="27432" bIns="27432" anchor="b"/>
          <a:lstStyle/>
          <a:p>
            <a:pPr algn="l">
              <a:lnSpc>
                <a:spcPct val="120000"/>
              </a:lnSpc>
              <a:spcBef>
                <a:spcPts val="0"/>
              </a:spcBef>
              <a:spcAft>
                <a:spcPts val="0"/>
              </a:spcAft>
            </a:pPr>
            <a:r>
              <a:rPr sz="1200">
                <a:solidFill>
                  <a:srgbClr val="4E7C8B"/>
                </a:solidFill>
                <a:latin typeface="Roboto Medium"/>
                <a:ea typeface="Roboto Medium"/>
                <a:cs typeface="Roboto Medium"/>
              </a:rPr>
              <a:t>Siglas: SSST = sem supradesnivelamento do segmento ST; MINOCA / ANOCA / INOCA / TINOCA = ... with Non-Obstructive Coronary Arteries (artérias coronárias não obstrutivas).</a:t>
            </a:r>
          </a:p>
        </p:txBody>
      </p:sp>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27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3544018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pic>
        <p:nvPicPr>
          <p:cNvPr id="2" name="Imagem 1"/>
          <p:cNvPicPr>
            <a:picLocks noChangeAspect="1"/>
          </p:cNvPicPr>
          <p:nvPr/>
        </p:nvPicPr>
        <p:blipFill>
          <a:blip r:embed="rId2"/>
          <a:stretch>
            <a:fillRect/>
          </a:stretch>
        </p:blipFill>
        <p:spPr>
          <a:xfrm>
            <a:off x="711403" y="1075572"/>
            <a:ext cx="10771632" cy="4250570"/>
          </a:xfrm>
          <a:prstGeom prst="rect">
            <a:avLst/>
          </a:prstGeom>
        </p:spPr>
      </p:pic>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28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15102782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E se o ECG não for diagnóstico?</a:t>
            </a:r>
            <a:endParaRPr lang="pt-BR" dirty="0" sz="3200"/>
          </a:p>
        </p:txBody>
      </p:sp>
      <p:sp>
        <p:nvSpPr>
          <p:cNvPr id="3" name="Espaço Reservado para Conteúdo 2"/>
          <p:cNvSpPr>
            <a:spLocks noGrp="1"/>
          </p:cNvSpPr>
          <p:nvPr>
            <p:ph idx="1"/>
          </p:nvPr>
        </p:nvSpPr>
        <p:spPr>
          <a:xfrm>
            <a:off x="711403" y="1417320"/>
            <a:ext cx="10771632" cy="4425696"/>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ECG normal x ECG preocupante?</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Preocupante: não é normal e nem é diagnóstico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Repetir ECG</a:t>
            </a:r>
            <a:endParaRPr sz="2400" lang="pt-BR"/>
          </a:p>
          <a:p>
            <a:pPr marL="285750" indent="-285750" algn="l">
              <a:lnSpc>
                <a:spcPct val="140000"/>
              </a:lnSpc>
              <a:spcBef>
                <a:spcPts val="0"/>
              </a:spcBef>
              <a:spcAft>
                <a:spcPts val="600"/>
              </a:spcAft>
              <a:buClr>
                <a:srgbClr val="4E7C8B"/>
              </a:buClr>
              <a:buFont typeface="Arial"/>
              <a:buChar char="•"/>
            </a:pPr>
            <a:r>
              <a:rPr lang="pt-BR" dirty="0" sz="1300" b="0">
                <a:solidFill>
                  <a:srgbClr val="5F6468"/>
                </a:solidFill>
                <a:latin typeface="Roboto"/>
                <a:ea typeface="Roboto"/>
                <a:cs typeface="Roboto"/>
              </a:rPr>
              <a:t>Reavaliação clínica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Há critérios de instabilidade?</a:t>
            </a:r>
            <a:endParaRPr sz="2400" lang="pt-B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29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405901304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Critérios de instabilidade</a:t>
            </a:r>
            <a:endParaRPr lang="pt-BR" dirty="0" sz="3200"/>
          </a:p>
        </p:txBody>
      </p:sp>
      <p:sp>
        <p:nvSpPr>
          <p:cNvPr id="3" name="Espaço Reservado para Conteúdo 2"/>
          <p:cNvSpPr>
            <a:spLocks noGrp="1"/>
          </p:cNvSpPr>
          <p:nvPr>
            <p:ph sz="half" idx="1"/>
          </p:nvPr>
        </p:nvSpPr>
        <p:spPr>
          <a:xfrm>
            <a:off x="711403" y="1417320"/>
            <a:ext cx="5166360" cy="3721608"/>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Dor persistente</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Hipotensão arterial</a:t>
            </a:r>
            <a:endParaRPr sz="2400" lang="pt-BR"/>
          </a:p>
          <a:p>
            <a:pPr marL="285750" indent="-285750" algn="l">
              <a:lnSpc>
                <a:spcPct val="140000"/>
              </a:lnSpc>
              <a:spcBef>
                <a:spcPts val="0"/>
              </a:spcBef>
              <a:spcAft>
                <a:spcPts val="600"/>
              </a:spcAft>
              <a:buClr>
                <a:srgbClr val="4E7C8B"/>
              </a:buClr>
              <a:buFont typeface="Arial"/>
              <a:buChar char="•"/>
            </a:pPr>
            <a:r>
              <a:rPr lang="pt-BR" dirty="0" err="1" smtClean="0" sz="1300" b="0">
                <a:solidFill>
                  <a:srgbClr val="5F6468"/>
                </a:solidFill>
                <a:latin typeface="Roboto"/>
                <a:ea typeface="Roboto"/>
                <a:cs typeface="Roboto"/>
              </a:rPr>
              <a:t>Taquiarritmia</a:t>
            </a:r>
            <a:r>
              <a:rPr lang="pt-BR" dirty="0" smtClean="0" sz="1300" b="0">
                <a:solidFill>
                  <a:srgbClr val="5F6468"/>
                </a:solidFill>
                <a:latin typeface="Roboto"/>
                <a:ea typeface="Roboto"/>
                <a:cs typeface="Roboto"/>
              </a:rPr>
              <a:t> ou </a:t>
            </a:r>
            <a:r>
              <a:rPr lang="pt-BR" dirty="0" err="1" smtClean="0" sz="1300" b="0">
                <a:solidFill>
                  <a:srgbClr val="5F6468"/>
                </a:solidFill>
                <a:latin typeface="Roboto"/>
                <a:ea typeface="Roboto"/>
                <a:cs typeface="Roboto"/>
              </a:rPr>
              <a:t>bradiarritmia</a:t>
            </a:r>
            <a:endParaRPr lang="pt-BR" dirty="0" smtClean="0" sz="2400"/>
          </a:p>
          <a:p>
            <a:pPr marL="285750" indent="-285750" algn="l">
              <a:lnSpc>
                <a:spcPct val="140000"/>
              </a:lnSpc>
              <a:spcBef>
                <a:spcPts val="0"/>
              </a:spcBef>
              <a:spcAft>
                <a:spcPts val="600"/>
              </a:spcAft>
              <a:buClr>
                <a:srgbClr val="4E7C8B"/>
              </a:buClr>
              <a:buFont typeface="Arial"/>
              <a:buChar char="•"/>
            </a:pPr>
            <a:r>
              <a:rPr lang="pt-BR" dirty="0" err="1" smtClean="0" sz="1300" b="0">
                <a:solidFill>
                  <a:srgbClr val="5F6468"/>
                </a:solidFill>
                <a:latin typeface="Roboto"/>
                <a:ea typeface="Roboto"/>
                <a:cs typeface="Roboto"/>
              </a:rPr>
              <a:t>Dispneia</a:t>
            </a:r>
            <a:r>
              <a:rPr lang="pt-BR" dirty="0" smtClean="0" sz="1300" b="0">
                <a:solidFill>
                  <a:srgbClr val="5F6468"/>
                </a:solidFill>
                <a:latin typeface="Roboto"/>
                <a:ea typeface="Roboto"/>
                <a:cs typeface="Roboto"/>
              </a:rPr>
              <a:t> (EAP)</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Diaforese</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Extremidades frias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Pulsos distais filiformes</a:t>
            </a:r>
            <a:endParaRPr sz="2400" lang="pt-BR"/>
          </a:p>
        </p:txBody>
      </p:sp>
      <p:sp>
        <p:nvSpPr>
          <p:cNvPr id="7" name="Espaço Reservado para Conteúdo 6"/>
          <p:cNvSpPr>
            <a:spLocks noGrp="1"/>
          </p:cNvSpPr>
          <p:nvPr>
            <p:ph sz="half" idx="2"/>
          </p:nvPr>
        </p:nvSpPr>
        <p:spPr>
          <a:xfrm>
            <a:off x="6309360" y="1417320"/>
            <a:ext cx="5166360" cy="1463040"/>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Diminuição do débito urinário</a:t>
            </a:r>
            <a:endParaRPr lang="pt-BR" dirty="0" sz="2400"/>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Tempo enchimento &gt; 3 s</a:t>
            </a:r>
            <a:endParaRPr sz="2400" lang="pt-BR"/>
          </a:p>
          <a:p>
            <a:pPr marL="285750" indent="-285750" algn="l">
              <a:lnSpc>
                <a:spcPct val="140000"/>
              </a:lnSpc>
              <a:spcBef>
                <a:spcPts val="0"/>
              </a:spcBef>
              <a:spcAft>
                <a:spcPts val="600"/>
              </a:spcAft>
              <a:buClr>
                <a:srgbClr val="4E7C8B"/>
              </a:buClr>
              <a:buFont typeface="Arial"/>
              <a:buChar char="•"/>
            </a:pPr>
            <a:r>
              <a:rPr lang="pt-BR" dirty="0" sz="1300" b="0">
                <a:solidFill>
                  <a:srgbClr val="5F6468"/>
                </a:solidFill>
                <a:latin typeface="Roboto"/>
                <a:ea typeface="Roboto"/>
                <a:cs typeface="Roboto"/>
              </a:rPr>
              <a:t>Rebaixamento nível </a:t>
            </a:r>
            <a:r>
              <a:rPr lang="pt-BR" dirty="0" smtClean="0" sz="1300" b="0">
                <a:solidFill>
                  <a:srgbClr val="5F6468"/>
                </a:solidFill>
                <a:latin typeface="Roboto"/>
                <a:ea typeface="Roboto"/>
                <a:cs typeface="Roboto"/>
              </a:rPr>
              <a:t>consciência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ECG preocupante</a:t>
            </a:r>
            <a:endParaRPr lang="pt-BR" dirty="0" sz="2400"/>
          </a:p>
        </p:txBody>
      </p:sp>
      <p:sp>
        <p:nvSpPr>
          <p:cNvPr id="9" name="Siglas (revisão)"/>
          <p:cNvSpPr txBox="1"/>
          <p:nvPr/>
        </p:nvSpPr>
        <p:spPr>
          <a:xfrm>
            <a:off x="711403" y="5230368"/>
            <a:ext cx="10771632" cy="612647"/>
          </a:xfrm>
          <a:prstGeom prst="rect">
            <a:avLst/>
          </a:prstGeom>
          <a:noFill/>
        </p:spPr>
        <p:txBody>
          <a:bodyPr wrap="square" tIns="27432" bIns="27432" anchor="b"/>
          <a:lstStyle/>
          <a:p>
            <a:pPr algn="l">
              <a:lnSpc>
                <a:spcPct val="120000"/>
              </a:lnSpc>
              <a:spcBef>
                <a:spcPts val="0"/>
              </a:spcBef>
              <a:spcAft>
                <a:spcPts val="0"/>
              </a:spcAft>
            </a:pPr>
            <a:r>
              <a:rPr sz="1200">
                <a:solidFill>
                  <a:srgbClr val="4E7C8B"/>
                </a:solidFill>
                <a:latin typeface="Roboto Medium"/>
                <a:ea typeface="Roboto Medium"/>
                <a:cs typeface="Roboto Medium"/>
              </a:rPr>
              <a:t>Siglas: EAP = edema agudo de pulmão.</a:t>
            </a:r>
          </a:p>
        </p:txBody>
      </p:sp>
      <p:sp>
        <p:nvSpPr>
          <p:cNvPr id="10" name="TextBox 9"/>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30  ·  Dor torácica – Protocolo 2025 | Set 2026</a:t>
            </a:r>
          </a:p>
        </p:txBody>
      </p:sp>
      <p:sp>
        <p:nvSpPr>
          <p:cNvPr id="11" name="TextBox 10"/>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12" name="Caixa de destaque"/>
          <p:cNvSpPr/>
          <p:nvPr/>
        </p:nvSpPr>
        <p:spPr>
          <a:xfrm>
            <a:off x="6309360" y="3017520"/>
            <a:ext cx="5166359" cy="1300143"/>
          </a:xfrm>
          <a:prstGeom prst="rect">
            <a:avLst/>
          </a:prstGeom>
          <a:solidFill>
            <a:srgbClr val="4E7C8B"/>
          </a:solidFill>
          <a:ln>
            <a:noFill/>
          </a:ln>
        </p:spPr>
        <p:txBody>
          <a:bodyPr wrap="square" lIns="91440" rIns="91440" tIns="45720" bIns="45720" anchor="ctr">
            <a:noAutofit/>
          </a:bodyPr>
          <a:lstStyle/>
          <a:p>
            <a:pPr algn="ctr" marL="0" indent="0">
              <a:lnSpc>
                <a:spcPct val="100000"/>
              </a:lnSpc>
              <a:spcBef>
                <a:spcPts val="0"/>
              </a:spcBef>
              <a:spcAft>
                <a:spcPts val="0"/>
              </a:spcAft>
              <a:buNone/>
            </a:pPr>
            <a:r>
              <a:rPr lang="pt-BR" sz="1500" b="0" i="0" dirty="0">
                <a:solidFill>
                  <a:srgbClr val="FBFCFC"/>
                </a:solidFill>
                <a:latin typeface="Roboto Medium"/>
                <a:ea typeface="Roboto Medium"/>
                <a:cs typeface="Roboto Medium"/>
              </a:rPr>
              <a:t>EXIGE UMA INVESTIGAÇÃO ACELERADA</a:t>
            </a:r>
            <a:endParaRPr lang="pt-BR" sz="1500" dirty="0"/>
          </a:p>
        </p:txBody>
      </p:sp>
    </p:spTree>
    <p:extLst>
      <p:ext uri="{BB962C8B-B14F-4D97-AF65-F5344CB8AC3E}">
        <p14:creationId xmlns:p14="http://schemas.microsoft.com/office/powerpoint/2010/main" val="20282340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Dor torácica instável – Raciocínio diagnóstico</a:t>
            </a:r>
            <a:endParaRPr lang="pt-BR" dirty="0" sz="3200"/>
          </a:p>
        </p:txBody>
      </p:sp>
      <p:sp>
        <p:nvSpPr>
          <p:cNvPr id="10" name="Mnemônico"/>
          <p:cNvSpPr txBox="1"/>
          <p:nvPr/>
        </p:nvSpPr>
        <p:spPr>
          <a:xfrm>
            <a:off x="8250000" y="2420000"/>
            <a:ext cx="3100000" cy="1450000"/>
          </a:xfrm>
          <a:prstGeom prst="rect">
            <a:avLst/>
          </a:prstGeom>
          <a:noFill/>
        </p:spPr>
        <p:txBody>
          <a:bodyPr wrap="square" lIns="0" rIns="0" tIns="0" bIns="0" anchor="t">
            <a:spAutoFit/>
          </a:bodyPr>
          <a:lstStyle/>
          <a:p>
            <a:pPr algn="l">
              <a:lnSpc>
                <a:spcPct val="115000"/>
              </a:lnSpc>
            </a:pPr>
            <a:r>
              <a:rPr sz="1300" b="0" i="0">
                <a:solidFill>
                  <a:srgbClr val="B5533C"/>
                </a:solidFill>
                <a:latin typeface="Roboto Medium"/>
                <a:ea typeface="Roboto Medium"/>
                <a:cs typeface="Roboto Medium"/>
              </a:rPr>
              <a:t>R</a:t>
            </a:r>
            <a:r>
              <a:rPr sz="1300" b="0" i="0">
                <a:solidFill>
                  <a:srgbClr val="5F6468"/>
                </a:solidFill>
                <a:latin typeface="Roboto"/>
                <a:ea typeface="Roboto"/>
                <a:cs typeface="Roboto"/>
              </a:rPr>
              <a:t>uptura de esôfago</a:t>
            </a:r>
          </a:p>
          <a:p>
            <a:pPr algn="l">
              <a:lnSpc>
                <a:spcPct val="115000"/>
              </a:lnSpc>
            </a:pPr>
            <a:r>
              <a:rPr sz="1300" b="0" i="0">
                <a:solidFill>
                  <a:srgbClr val="B5533C"/>
                </a:solidFill>
                <a:latin typeface="Roboto Medium"/>
                <a:ea typeface="Roboto Medium"/>
                <a:cs typeface="Roboto Medium"/>
              </a:rPr>
              <a:t>E</a:t>
            </a:r>
            <a:r>
              <a:rPr sz="1300" b="0" i="0">
                <a:solidFill>
                  <a:srgbClr val="5F6468"/>
                </a:solidFill>
                <a:latin typeface="Roboto"/>
                <a:ea typeface="Roboto"/>
                <a:cs typeface="Roboto"/>
              </a:rPr>
              <a:t>mbolia pulmonar</a:t>
            </a:r>
          </a:p>
          <a:p>
            <a:pPr algn="l">
              <a:lnSpc>
                <a:spcPct val="115000"/>
              </a:lnSpc>
            </a:pPr>
            <a:r>
              <a:rPr sz="1300" b="0" i="0">
                <a:solidFill>
                  <a:srgbClr val="B5533C"/>
                </a:solidFill>
                <a:latin typeface="Roboto Medium"/>
                <a:ea typeface="Roboto Medium"/>
                <a:cs typeface="Roboto Medium"/>
              </a:rPr>
              <a:t>P</a:t>
            </a:r>
            <a:r>
              <a:rPr sz="1300" b="0" i="0">
                <a:solidFill>
                  <a:srgbClr val="5F6468"/>
                </a:solidFill>
                <a:latin typeface="Roboto"/>
                <a:ea typeface="Roboto"/>
                <a:cs typeface="Roboto"/>
              </a:rPr>
              <a:t>neumotórax</a:t>
            </a:r>
          </a:p>
          <a:p>
            <a:pPr algn="l">
              <a:lnSpc>
                <a:spcPct val="115000"/>
              </a:lnSpc>
            </a:pPr>
            <a:r>
              <a:rPr sz="1300" b="0" i="0">
                <a:solidFill>
                  <a:srgbClr val="B5533C"/>
                </a:solidFill>
                <a:latin typeface="Roboto Medium"/>
                <a:ea typeface="Roboto Medium"/>
                <a:cs typeface="Roboto Medium"/>
              </a:rPr>
              <a:t>I</a:t>
            </a:r>
            <a:r>
              <a:rPr sz="1300" b="0" i="0">
                <a:solidFill>
                  <a:srgbClr val="5F6468"/>
                </a:solidFill>
                <a:latin typeface="Roboto"/>
                <a:ea typeface="Roboto"/>
                <a:cs typeface="Roboto"/>
              </a:rPr>
              <a:t>nfarto</a:t>
            </a:r>
          </a:p>
          <a:p>
            <a:pPr algn="l">
              <a:lnSpc>
                <a:spcPct val="115000"/>
              </a:lnSpc>
            </a:pPr>
            <a:r>
              <a:rPr sz="1300" b="0" i="0">
                <a:solidFill>
                  <a:srgbClr val="B5533C"/>
                </a:solidFill>
                <a:latin typeface="Roboto Medium"/>
                <a:ea typeface="Roboto Medium"/>
                <a:cs typeface="Roboto Medium"/>
              </a:rPr>
              <a:t>T</a:t>
            </a:r>
            <a:r>
              <a:rPr sz="1300" b="0" i="0">
                <a:solidFill>
                  <a:srgbClr val="5F6468"/>
                </a:solidFill>
                <a:latin typeface="Roboto"/>
                <a:ea typeface="Roboto"/>
                <a:cs typeface="Roboto"/>
              </a:rPr>
              <a:t>amponamento</a:t>
            </a:r>
          </a:p>
          <a:p>
            <a:pPr algn="l">
              <a:lnSpc>
                <a:spcPct val="115000"/>
              </a:lnSpc>
            </a:pPr>
            <a:r>
              <a:rPr sz="1300" b="0" i="0">
                <a:solidFill>
                  <a:srgbClr val="B5533C"/>
                </a:solidFill>
                <a:latin typeface="Roboto Medium"/>
                <a:ea typeface="Roboto Medium"/>
                <a:cs typeface="Roboto Medium"/>
              </a:rPr>
              <a:t>A</a:t>
            </a:r>
            <a:r>
              <a:rPr sz="1300" b="0" i="0">
                <a:solidFill>
                  <a:srgbClr val="5F6468"/>
                </a:solidFill>
                <a:latin typeface="Roboto"/>
                <a:ea typeface="Roboto"/>
                <a:cs typeface="Roboto"/>
              </a:rPr>
              <a:t>orta</a:t>
            </a: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31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Fim/Início"/>
          <p:cNvSpPr/>
          <p:nvPr/>
        </p:nvSpPr>
        <p:spPr>
          <a:xfrm>
            <a:off x="4542739" y="1371600"/>
            <a:ext cx="3108960" cy="603504"/>
          </a:xfrm>
          <a:prstGeom prst="roundRect">
            <a:avLst>
              <a:gd name="adj" fmla="val 50000"/>
            </a:avLst>
          </a:prstGeom>
          <a:solidFill>
            <a:srgbClr val="4E7C8B"/>
          </a:solidFill>
          <a:ln>
            <a:noFill/>
          </a:ln>
          <a:effectLst/>
        </p:spPr>
        <p:txBody>
          <a:bodyPr rtlCol="0" anchor="ctr" wrap="square" lIns="91440" rIns="91440" tIns="45720" bIns="45720"/>
          <a:lstStyle/>
          <a:p>
            <a:pPr algn="ctr"/>
            <a:r>
              <a:rPr lang="pt-BR" sz="1300" b="0" i="0" dirty="0">
                <a:solidFill>
                  <a:srgbClr val="FBFCFC"/>
                </a:solidFill>
                <a:latin typeface="Roboto Medium"/>
                <a:ea typeface="Roboto Medium"/>
                <a:cs typeface="Roboto Medium"/>
              </a:rPr>
              <a:t>Dor torácica instável</a:t>
            </a:r>
          </a:p>
        </p:txBody>
      </p:sp>
      <p:sp>
        <p:nvSpPr>
          <p:cNvPr id="302" name="Seta"/>
          <p:cNvSpPr/>
          <p:nvPr/>
        </p:nvSpPr>
        <p:spPr>
          <a:xfrm>
            <a:off x="6097219" y="1975104"/>
            <a:ext cx="1" cy="237744"/>
          </a:xfrm>
          <a:custGeom>
            <a:avLst/>
            <a:gdLst/>
            <a:ahLst/>
            <a:cxnLst/>
            <a:rect l="0" t="0" r="r" b="b"/>
            <a:pathLst>
              <a:path w="1" h="237744" fill="none">
                <a:moveTo>
                  <a:pt x="0" y="0"/>
                </a:moveTo>
                <a:lnTo>
                  <a:pt x="0" y="237744"/>
                </a:lnTo>
              </a:path>
            </a:pathLst>
          </a:custGeom>
          <a:noFill/>
          <a:ln w="19050">
            <a:solidFill>
              <a:srgbClr val="6B6E70"/>
            </a:solidFill>
            <a:round/>
            <a:tailEnd type="triangle" w="med" len="med"/>
          </a:ln>
          <a:effectLst/>
        </p:spPr>
      </p:sp>
      <p:sp>
        <p:nvSpPr>
          <p:cNvPr id="303" name="Etapa"/>
          <p:cNvSpPr/>
          <p:nvPr/>
        </p:nvSpPr>
        <p:spPr>
          <a:xfrm>
            <a:off x="4542739" y="2212848"/>
            <a:ext cx="3108960" cy="603504"/>
          </a:xfrm>
          <a:prstGeom prst="rect">
            <a:avLst/>
          </a:prstGeom>
          <a:solidFill>
            <a:srgbClr val="F2F4F5"/>
          </a:solidFill>
          <a:ln w="12700">
            <a:solidFill>
              <a:srgbClr val="6E9DAB"/>
            </a:solidFill>
          </a:ln>
          <a:effectLst/>
        </p:spPr>
        <p:txBody>
          <a:bodyPr rtlCol="0" anchor="ctr" wrap="square" lIns="91440" rIns="91440" tIns="45720" bIns="45720"/>
          <a:lstStyle/>
          <a:p>
            <a:pPr algn="ctr"/>
            <a:r>
              <a:rPr lang="pt-BR" sz="1300" b="0" i="0" dirty="0">
                <a:solidFill>
                  <a:srgbClr val="3B3F42"/>
                </a:solidFill>
                <a:latin typeface="Roboto Medium"/>
                <a:ea typeface="Roboto Medium"/>
                <a:cs typeface="Roboto Medium"/>
              </a:rPr>
              <a:t>Principais causas</a:t>
            </a:r>
          </a:p>
        </p:txBody>
      </p:sp>
      <p:sp>
        <p:nvSpPr>
          <p:cNvPr id="304" name="Seta"/>
          <p:cNvSpPr/>
          <p:nvPr/>
        </p:nvSpPr>
        <p:spPr>
          <a:xfrm>
            <a:off x="6097219" y="2816352"/>
            <a:ext cx="1" cy="237744"/>
          </a:xfrm>
          <a:custGeom>
            <a:avLst/>
            <a:gdLst/>
            <a:ahLst/>
            <a:cxnLst/>
            <a:rect l="0" t="0" r="r" b="b"/>
            <a:pathLst>
              <a:path w="1" h="237744" fill="none">
                <a:moveTo>
                  <a:pt x="0" y="0"/>
                </a:moveTo>
                <a:lnTo>
                  <a:pt x="0" y="237744"/>
                </a:lnTo>
              </a:path>
            </a:pathLst>
          </a:custGeom>
          <a:noFill/>
          <a:ln w="19050">
            <a:solidFill>
              <a:srgbClr val="6B6E70"/>
            </a:solidFill>
            <a:round/>
            <a:tailEnd type="triangle" w="med" len="med"/>
          </a:ln>
          <a:effectLst/>
        </p:spPr>
      </p:sp>
      <p:sp>
        <p:nvSpPr>
          <p:cNvPr id="305" name="Etapa"/>
          <p:cNvSpPr/>
          <p:nvPr/>
        </p:nvSpPr>
        <p:spPr>
          <a:xfrm>
            <a:off x="4542739" y="3054096"/>
            <a:ext cx="3108960" cy="603504"/>
          </a:xfrm>
          <a:prstGeom prst="rect">
            <a:avLst/>
          </a:prstGeom>
          <a:solidFill>
            <a:srgbClr val="F2F4F5"/>
          </a:solidFill>
          <a:ln w="12700">
            <a:solidFill>
              <a:srgbClr val="6E9DAB"/>
            </a:solidFill>
          </a:ln>
          <a:effectLst/>
        </p:spPr>
        <p:txBody>
          <a:bodyPr rtlCol="0" anchor="ctr" wrap="square" lIns="91440" rIns="91440" tIns="45720" bIns="45720"/>
          <a:lstStyle/>
          <a:p>
            <a:pPr algn="ctr"/>
            <a:r>
              <a:rPr lang="pt-BR" sz="1300" b="0" i="0" dirty="0">
                <a:solidFill>
                  <a:srgbClr val="3B3F42"/>
                </a:solidFill>
                <a:latin typeface="Roboto Medium"/>
                <a:ea typeface="Roboto Medium"/>
                <a:cs typeface="Roboto Medium"/>
              </a:rPr>
              <a:t>História, exame físico</a:t>
            </a:r>
          </a:p>
        </p:txBody>
      </p:sp>
      <p:sp>
        <p:nvSpPr>
          <p:cNvPr id="306" name="Seta"/>
          <p:cNvSpPr/>
          <p:nvPr/>
        </p:nvSpPr>
        <p:spPr>
          <a:xfrm>
            <a:off x="6097219" y="3657600"/>
            <a:ext cx="1" cy="237744"/>
          </a:xfrm>
          <a:custGeom>
            <a:avLst/>
            <a:gdLst/>
            <a:ahLst/>
            <a:cxnLst/>
            <a:rect l="0" t="0" r="r" b="b"/>
            <a:pathLst>
              <a:path w="1" h="237744" fill="none">
                <a:moveTo>
                  <a:pt x="0" y="0"/>
                </a:moveTo>
                <a:lnTo>
                  <a:pt x="0" y="237744"/>
                </a:lnTo>
              </a:path>
            </a:pathLst>
          </a:custGeom>
          <a:noFill/>
          <a:ln w="19050">
            <a:solidFill>
              <a:srgbClr val="6B6E70"/>
            </a:solidFill>
            <a:round/>
            <a:tailEnd type="triangle" w="med" len="med"/>
          </a:ln>
          <a:effectLst/>
        </p:spPr>
      </p:sp>
      <p:sp>
        <p:nvSpPr>
          <p:cNvPr id="307" name="Decisão"/>
          <p:cNvSpPr/>
          <p:nvPr/>
        </p:nvSpPr>
        <p:spPr>
          <a:xfrm>
            <a:off x="4725619" y="3895344"/>
            <a:ext cx="2743200" cy="1188720"/>
          </a:xfrm>
          <a:prstGeom prst="diamond">
            <a:avLst/>
          </a:prstGeom>
          <a:solidFill>
            <a:srgbClr val="8EC4CB"/>
          </a:solidFill>
          <a:ln>
            <a:noFill/>
          </a:ln>
          <a:effectLst/>
        </p:spPr>
        <p:txBody>
          <a:bodyPr rtlCol="0" anchor="ctr" wrap="square" lIns="0" rIns="0" tIns="45720" bIns="45720"/>
          <a:lstStyle/>
          <a:p>
            <a:pPr algn="ctr"/>
            <a:r>
              <a:rPr lang="pt-BR" sz="1200" b="0" i="0" dirty="0">
                <a:solidFill>
                  <a:srgbClr val="1F3238"/>
                </a:solidFill>
                <a:latin typeface="Roboto Medium"/>
                <a:ea typeface="Roboto Medium"/>
                <a:cs typeface="Roboto Medium"/>
              </a:rPr>
              <a:t>Hipótese</a:t>
            </a:r>
          </a:p>
          <a:p>
            <a:pPr algn="ctr"/>
            <a:r>
              <a:rPr lang="pt-BR" sz="1200" b="0" i="0" dirty="0">
                <a:solidFill>
                  <a:srgbClr val="1F3238"/>
                </a:solidFill>
                <a:latin typeface="Roboto Medium"/>
                <a:ea typeface="Roboto Medium"/>
                <a:cs typeface="Roboto Medium"/>
              </a:rPr>
              <a:t>definida?</a:t>
            </a:r>
          </a:p>
        </p:txBody>
      </p:sp>
      <p:sp>
        <p:nvSpPr>
          <p:cNvPr id="308" name="Fim/Início"/>
          <p:cNvSpPr/>
          <p:nvPr/>
        </p:nvSpPr>
        <p:spPr>
          <a:xfrm>
            <a:off x="1068019" y="5285232"/>
            <a:ext cx="2926080" cy="603504"/>
          </a:xfrm>
          <a:prstGeom prst="roundRect">
            <a:avLst>
              <a:gd name="adj" fmla="val 50000"/>
            </a:avLst>
          </a:prstGeom>
          <a:solidFill>
            <a:srgbClr val="4E7C8B"/>
          </a:solidFill>
          <a:ln>
            <a:noFill/>
          </a:ln>
          <a:effectLst/>
        </p:spPr>
        <p:txBody>
          <a:bodyPr rtlCol="0" anchor="ctr" wrap="square" lIns="91440" rIns="91440" tIns="45720" bIns="45720"/>
          <a:lstStyle/>
          <a:p>
            <a:pPr algn="ctr"/>
            <a:r>
              <a:rPr lang="pt-BR" sz="1300" b="0" i="0" dirty="0">
                <a:solidFill>
                  <a:srgbClr val="FBFCFC"/>
                </a:solidFill>
                <a:latin typeface="Roboto Medium"/>
                <a:ea typeface="Roboto Medium"/>
                <a:cs typeface="Roboto Medium"/>
              </a:rPr>
              <a:t>ECOCARDIOGRAMA</a:t>
            </a:r>
          </a:p>
        </p:txBody>
      </p:sp>
      <p:sp>
        <p:nvSpPr>
          <p:cNvPr id="309" name="Fim/Início"/>
          <p:cNvSpPr/>
          <p:nvPr/>
        </p:nvSpPr>
        <p:spPr>
          <a:xfrm>
            <a:off x="8200339" y="5285232"/>
            <a:ext cx="2926080" cy="603504"/>
          </a:xfrm>
          <a:prstGeom prst="roundRect">
            <a:avLst>
              <a:gd name="adj" fmla="val 50000"/>
            </a:avLst>
          </a:prstGeom>
          <a:solidFill>
            <a:srgbClr val="4E7C8B"/>
          </a:solidFill>
          <a:ln>
            <a:noFill/>
          </a:ln>
          <a:effectLst/>
        </p:spPr>
        <p:txBody>
          <a:bodyPr rtlCol="0" anchor="ctr" wrap="square" lIns="91440" rIns="91440" tIns="45720" bIns="45720"/>
          <a:lstStyle/>
          <a:p>
            <a:pPr algn="ctr"/>
            <a:r>
              <a:rPr lang="pt-BR" sz="1300" b="0" i="0" dirty="0">
                <a:solidFill>
                  <a:srgbClr val="FBFCFC"/>
                </a:solidFill>
                <a:latin typeface="Roboto Medium"/>
                <a:ea typeface="Roboto Medium"/>
                <a:cs typeface="Roboto Medium"/>
              </a:rPr>
              <a:t>Seguir propedêutica</a:t>
            </a:r>
          </a:p>
        </p:txBody>
      </p:sp>
      <p:sp>
        <p:nvSpPr>
          <p:cNvPr id="310" name="Seta"/>
          <p:cNvSpPr/>
          <p:nvPr/>
        </p:nvSpPr>
        <p:spPr>
          <a:xfrm>
            <a:off x="2531059" y="4489704"/>
            <a:ext cx="2194560" cy="795528"/>
          </a:xfrm>
          <a:custGeom>
            <a:avLst/>
            <a:gdLst/>
            <a:ahLst/>
            <a:cxnLst/>
            <a:rect l="0" t="0" r="r" b="b"/>
            <a:pathLst>
              <a:path w="2194560" h="795528" fill="none">
                <a:moveTo>
                  <a:pt x="2194560" y="0"/>
                </a:moveTo>
                <a:lnTo>
                  <a:pt x="0" y="0"/>
                </a:lnTo>
                <a:lnTo>
                  <a:pt x="0" y="795528"/>
                </a:lnTo>
              </a:path>
            </a:pathLst>
          </a:custGeom>
          <a:noFill/>
          <a:ln w="19050">
            <a:solidFill>
              <a:srgbClr val="6B6E70"/>
            </a:solidFill>
            <a:round/>
            <a:tailEnd type="triangle" w="med" len="med"/>
          </a:ln>
          <a:effectLst/>
        </p:spPr>
      </p:sp>
      <p:sp>
        <p:nvSpPr>
          <p:cNvPr id="311" name="Seta"/>
          <p:cNvSpPr/>
          <p:nvPr/>
        </p:nvSpPr>
        <p:spPr>
          <a:xfrm>
            <a:off x="7468819" y="4489704"/>
            <a:ext cx="2194560" cy="795528"/>
          </a:xfrm>
          <a:custGeom>
            <a:avLst/>
            <a:gdLst/>
            <a:ahLst/>
            <a:cxnLst/>
            <a:rect l="0" t="0" r="r" b="b"/>
            <a:pathLst>
              <a:path w="2194560" h="795528" fill="none">
                <a:moveTo>
                  <a:pt x="0" y="0"/>
                </a:moveTo>
                <a:lnTo>
                  <a:pt x="2194560" y="0"/>
                </a:lnTo>
                <a:lnTo>
                  <a:pt x="2194560" y="795528"/>
                </a:lnTo>
              </a:path>
            </a:pathLst>
          </a:custGeom>
          <a:noFill/>
          <a:ln w="19050">
            <a:solidFill>
              <a:srgbClr val="6B6E70"/>
            </a:solidFill>
            <a:round/>
            <a:tailEnd type="triangle" w="med" len="med"/>
          </a:ln>
          <a:effectLst/>
        </p:spPr>
      </p:sp>
      <p:sp>
        <p:nvSpPr>
          <p:cNvPr id="312" name="Rótulo"/>
          <p:cNvSpPr txBox="1"/>
          <p:nvPr/>
        </p:nvSpPr>
        <p:spPr>
          <a:xfrm>
            <a:off x="4158691" y="4233672"/>
            <a:ext cx="475488" cy="201168"/>
          </a:xfrm>
          <a:prstGeom prst="rect">
            <a:avLst/>
          </a:prstGeom>
          <a:noFill/>
        </p:spPr>
        <p:txBody>
          <a:bodyPr wrap="square" lIns="0" rIns="0" tIns="0" bIns="0" anchor="t">
            <a:noAutofit/>
          </a:bodyPr>
          <a:lstStyle/>
          <a:p>
            <a:pPr algn="r"/>
            <a:r>
              <a:rPr lang="pt-BR" sz="1200" b="0" i="0" dirty="0">
                <a:solidFill>
                  <a:srgbClr val="4E7C8B"/>
                </a:solidFill>
                <a:latin typeface="Roboto Medium"/>
                <a:ea typeface="Roboto Medium"/>
                <a:cs typeface="Roboto Medium"/>
              </a:rPr>
              <a:t>Não</a:t>
            </a:r>
          </a:p>
        </p:txBody>
      </p:sp>
      <p:sp>
        <p:nvSpPr>
          <p:cNvPr id="313" name="Rótulo"/>
          <p:cNvSpPr txBox="1"/>
          <p:nvPr/>
        </p:nvSpPr>
        <p:spPr>
          <a:xfrm>
            <a:off x="7560259" y="4233672"/>
            <a:ext cx="475488"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Sim</a:t>
            </a:r>
          </a:p>
        </p:txBody>
      </p:sp>
    </p:spTree>
    <p:extLst>
      <p:ext uri="{BB962C8B-B14F-4D97-AF65-F5344CB8AC3E}">
        <p14:creationId xmlns:p14="http://schemas.microsoft.com/office/powerpoint/2010/main" val="317711716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Figura Central – Atendimento na emergência (1/4)</a:t>
            </a:r>
            <a:endParaRPr lang="pt-BR" dirty="0" sz="3200"/>
          </a:p>
        </p:txBody>
      </p:sp>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32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Fim/Início"/>
          <p:cNvSpPr/>
          <p:nvPr/>
        </p:nvSpPr>
        <p:spPr>
          <a:xfrm>
            <a:off x="713232" y="1463040"/>
            <a:ext cx="4023360" cy="777240"/>
          </a:xfrm>
          <a:prstGeom prst="roundRect">
            <a:avLst>
              <a:gd name="adj" fmla="val 50000"/>
            </a:avLst>
          </a:prstGeom>
          <a:solidFill>
            <a:srgbClr val="4E7C8B"/>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SINTOMAS SUSPEITOS</a:t>
            </a:r>
          </a:p>
          <a:p>
            <a:pPr algn="ctr">
              <a:buNone/>
            </a:pPr>
            <a:r>
              <a:rPr lang="pt-BR" sz="1200" b="0" i="0" dirty="0">
                <a:solidFill>
                  <a:srgbClr val="E4EEF0"/>
                </a:solidFill>
                <a:latin typeface="Roboto"/>
                <a:ea typeface="Roboto"/>
                <a:cs typeface="Roboto"/>
              </a:rPr>
              <a:t>(BUSCAR ATENDIMENTO IMEDIATAMENTE)</a:t>
            </a:r>
          </a:p>
        </p:txBody>
      </p:sp>
      <p:pic>
        <p:nvPicPr>
          <p:cNvPr id="302" name="Figura" descr="Pessoa com dor no peito (ilustração recortada da figura original)"/>
          <p:cNvPicPr>
            <a:picLocks noChangeAspect="1"/>
          </p:cNvPicPr>
          <p:nvPr/>
        </p:nvPicPr>
        <p:blipFill>
          <a:blip r:embed="rId2"/>
          <a:stretch>
            <a:fillRect/>
          </a:stretch>
        </p:blipFill>
        <p:spPr>
          <a:xfrm>
            <a:off x="868680" y="1536192"/>
            <a:ext cx="359343" cy="640080"/>
          </a:xfrm>
          <a:prstGeom prst="rect">
            <a:avLst/>
          </a:prstGeom>
        </p:spPr>
      </p:pic>
      <p:sp>
        <p:nvSpPr>
          <p:cNvPr id="302" name="Fim/Início"/>
          <p:cNvSpPr/>
          <p:nvPr/>
        </p:nvSpPr>
        <p:spPr>
          <a:xfrm>
            <a:off x="5120640" y="1463040"/>
            <a:ext cx="4023360" cy="777240"/>
          </a:xfrm>
          <a:prstGeom prst="roundRect">
            <a:avLst>
              <a:gd name="adj" fmla="val 50000"/>
            </a:avLst>
          </a:prstGeom>
          <a:solidFill>
            <a:srgbClr val="4E7C8B"/>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Suspeita clínica confirmada</a:t>
            </a:r>
          </a:p>
          <a:p>
            <a:pPr algn="ctr">
              <a:buNone/>
            </a:pPr>
            <a:r>
              <a:rPr lang="pt-BR" sz="1200" b="0" i="0" dirty="0">
                <a:solidFill>
                  <a:srgbClr val="E4EEF0"/>
                </a:solidFill>
                <a:latin typeface="Roboto"/>
                <a:ea typeface="Roboto"/>
                <a:cs typeface="Roboto"/>
              </a:rPr>
              <a:t>(dor torácica ou sintoma equivalente)</a:t>
            </a:r>
          </a:p>
        </p:txBody>
      </p:sp>
      <p:sp>
        <p:nvSpPr>
          <p:cNvPr id="303" name="Seta"/>
          <p:cNvSpPr/>
          <p:nvPr/>
        </p:nvSpPr>
        <p:spPr>
          <a:xfrm>
            <a:off x="7132320" y="2240280"/>
            <a:ext cx="1" cy="274320"/>
          </a:xfrm>
          <a:custGeom>
            <a:avLst/>
            <a:gdLst/>
            <a:ahLst/>
            <a:cxnLst/>
            <a:rect l="0" t="0" r="r" b="b"/>
            <a:pathLst>
              <a:path w="1" h="274320" fill="none">
                <a:moveTo>
                  <a:pt x="0" y="0"/>
                </a:moveTo>
                <a:lnTo>
                  <a:pt x="0" y="274320"/>
                </a:lnTo>
              </a:path>
            </a:pathLst>
          </a:custGeom>
          <a:noFill/>
          <a:ln w="19050">
            <a:solidFill>
              <a:srgbClr val="6B6E70"/>
            </a:solidFill>
            <a:round/>
            <a:tailEnd type="triangle" w="med" len="med"/>
          </a:ln>
          <a:effectLst/>
        </p:spPr>
      </p:sp>
      <p:sp>
        <p:nvSpPr>
          <p:cNvPr id="304" name="Etapa"/>
          <p:cNvSpPr/>
          <p:nvPr/>
        </p:nvSpPr>
        <p:spPr>
          <a:xfrm>
            <a:off x="5120640" y="2514600"/>
            <a:ext cx="4023360" cy="73152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PASSO 1</a:t>
            </a:r>
          </a:p>
          <a:p>
            <a:pPr algn="ctr">
              <a:buNone/>
            </a:pPr>
            <a:r>
              <a:rPr lang="pt-BR" sz="1200" b="0" i="0" dirty="0">
                <a:solidFill>
                  <a:srgbClr val="5F6468"/>
                </a:solidFill>
                <a:latin typeface="Roboto"/>
                <a:ea typeface="Roboto"/>
                <a:cs typeface="Roboto"/>
              </a:rPr>
              <a:t>(Realizar ECG até 10 minutos)</a:t>
            </a:r>
          </a:p>
        </p:txBody>
      </p:sp>
      <p:pic>
        <p:nvPicPr>
          <p:cNvPr id="305" name="Figura" descr="Ícone de cronômetro"/>
          <p:cNvPicPr>
            <a:picLocks noChangeAspect="1"/>
          </p:cNvPicPr>
          <p:nvPr/>
        </p:nvPicPr>
        <p:blipFill>
          <a:blip r:embed="rId4"/>
          <a:stretch>
            <a:fillRect/>
          </a:stretch>
        </p:blipFill>
        <p:spPr>
          <a:xfrm>
            <a:off x="4434840" y="2606040"/>
            <a:ext cx="562021" cy="548640"/>
          </a:xfrm>
          <a:prstGeom prst="rect">
            <a:avLst/>
          </a:prstGeom>
        </p:spPr>
      </p:pic>
      <p:sp>
        <p:nvSpPr>
          <p:cNvPr id="305" name="Seta"/>
          <p:cNvSpPr/>
          <p:nvPr/>
        </p:nvSpPr>
        <p:spPr>
          <a:xfrm>
            <a:off x="7132320" y="3246120"/>
            <a:ext cx="1" cy="274320"/>
          </a:xfrm>
          <a:custGeom>
            <a:avLst/>
            <a:gdLst/>
            <a:ahLst/>
            <a:cxnLst/>
            <a:rect l="0" t="0" r="r" b="b"/>
            <a:pathLst>
              <a:path w="1" h="274320" fill="none">
                <a:moveTo>
                  <a:pt x="0" y="0"/>
                </a:moveTo>
                <a:lnTo>
                  <a:pt x="0" y="274320"/>
                </a:lnTo>
              </a:path>
            </a:pathLst>
          </a:custGeom>
          <a:noFill/>
          <a:ln w="19050">
            <a:solidFill>
              <a:srgbClr val="6B6E70"/>
            </a:solidFill>
            <a:round/>
            <a:tailEnd type="triangle" w="med" len="med"/>
          </a:ln>
          <a:effectLst/>
        </p:spPr>
      </p:sp>
      <p:sp>
        <p:nvSpPr>
          <p:cNvPr id="306" name="Decisão"/>
          <p:cNvSpPr/>
          <p:nvPr/>
        </p:nvSpPr>
        <p:spPr>
          <a:xfrm>
            <a:off x="5394960" y="3520440"/>
            <a:ext cx="3474720" cy="1417320"/>
          </a:xfrm>
          <a:prstGeom prst="diamond">
            <a:avLst/>
          </a:prstGeom>
          <a:solidFill>
            <a:srgbClr val="8EC4CB"/>
          </a:solidFill>
          <a:ln>
            <a:noFill/>
          </a:ln>
          <a:effectLst/>
        </p:spPr>
        <p:txBody>
          <a:bodyPr rtlCol="0" anchor="ctr" wrap="square" lIns="0" rIns="0" tIns="45720" bIns="45720"/>
          <a:lstStyle/>
          <a:p>
            <a:pPr algn="ctr"/>
            <a:r>
              <a:rPr lang="pt-BR" sz="1200" b="0" i="0" dirty="0">
                <a:solidFill>
                  <a:srgbClr val="1F3238"/>
                </a:solidFill>
                <a:latin typeface="Roboto Medium"/>
                <a:ea typeface="Roboto Medium"/>
                <a:cs typeface="Roboto Medium"/>
              </a:rPr>
              <a:t>ECG COM</a:t>
            </a:r>
          </a:p>
          <a:p>
            <a:pPr algn="ctr"/>
            <a:r>
              <a:rPr lang="pt-BR" sz="1200" b="0" i="0" dirty="0">
                <a:solidFill>
                  <a:srgbClr val="1F3238"/>
                </a:solidFill>
                <a:latin typeface="Roboto Medium"/>
                <a:ea typeface="Roboto Medium"/>
                <a:cs typeface="Roboto Medium"/>
              </a:rPr>
              <a:t>CRITÉRIOS</a:t>
            </a:r>
          </a:p>
          <a:p>
            <a:pPr algn="ctr"/>
            <a:r>
              <a:rPr lang="pt-BR" sz="1200" b="0" i="0" dirty="0">
                <a:solidFill>
                  <a:srgbClr val="1F3238"/>
                </a:solidFill>
                <a:latin typeface="Roboto Medium"/>
                <a:ea typeface="Roboto Medium"/>
                <a:cs typeface="Roboto Medium"/>
              </a:rPr>
              <a:t>DIAGNÓSTICOS?</a:t>
            </a:r>
          </a:p>
        </p:txBody>
      </p:sp>
      <p:sp>
        <p:nvSpPr>
          <p:cNvPr id="307" name="Etapa"/>
          <p:cNvSpPr/>
          <p:nvPr/>
        </p:nvSpPr>
        <p:spPr>
          <a:xfrm>
            <a:off x="9418320" y="3497580"/>
            <a:ext cx="2066544" cy="146304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SEGUIR ROTA TERAPÊUTICA</a:t>
            </a:r>
          </a:p>
          <a:p>
            <a:pPr algn="ctr">
              <a:buNone/>
            </a:pPr>
            <a:r>
              <a:rPr lang="pt-BR" sz="1200" b="0" i="0" dirty="0">
                <a:solidFill>
                  <a:srgbClr val="5F6468"/>
                </a:solidFill>
                <a:latin typeface="Roboto"/>
                <a:ea typeface="Roboto"/>
                <a:cs typeface="Roboto"/>
              </a:rPr>
              <a:t>(diretriz específica de acordo com o diagnóstico estabelecido)</a:t>
            </a:r>
          </a:p>
        </p:txBody>
      </p:sp>
      <p:sp>
        <p:nvSpPr>
          <p:cNvPr id="308" name="Seta"/>
          <p:cNvSpPr/>
          <p:nvPr/>
        </p:nvSpPr>
        <p:spPr>
          <a:xfrm>
            <a:off x="8869680" y="4229100"/>
            <a:ext cx="548640" cy="1"/>
          </a:xfrm>
          <a:custGeom>
            <a:avLst/>
            <a:gdLst/>
            <a:ahLst/>
            <a:cxnLst/>
            <a:rect l="0" t="0" r="r" b="b"/>
            <a:pathLst>
              <a:path w="548640" h="1" fill="none">
                <a:moveTo>
                  <a:pt x="0" y="0"/>
                </a:moveTo>
                <a:lnTo>
                  <a:pt x="548640" y="0"/>
                </a:lnTo>
              </a:path>
            </a:pathLst>
          </a:custGeom>
          <a:noFill/>
          <a:ln w="19050">
            <a:solidFill>
              <a:srgbClr val="6B6E70"/>
            </a:solidFill>
            <a:round/>
            <a:tailEnd type="triangle" w="med" len="med"/>
          </a:ln>
          <a:effectLst/>
        </p:spPr>
      </p:sp>
      <p:sp>
        <p:nvSpPr>
          <p:cNvPr id="309" name="Rótulo"/>
          <p:cNvSpPr txBox="1"/>
          <p:nvPr/>
        </p:nvSpPr>
        <p:spPr>
          <a:xfrm>
            <a:off x="8915400" y="3973068"/>
            <a:ext cx="41148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Sim</a:t>
            </a:r>
          </a:p>
        </p:txBody>
      </p:sp>
      <p:sp>
        <p:nvSpPr>
          <p:cNvPr id="310" name="Fim/Início"/>
          <p:cNvSpPr/>
          <p:nvPr/>
        </p:nvSpPr>
        <p:spPr>
          <a:xfrm>
            <a:off x="1097280" y="5257800"/>
            <a:ext cx="3291840" cy="603504"/>
          </a:xfrm>
          <a:prstGeom prst="roundRect">
            <a:avLst>
              <a:gd name="adj" fmla="val 50000"/>
            </a:avLst>
          </a:prstGeom>
          <a:solidFill>
            <a:srgbClr val="4E7C8B"/>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PASSO 2</a:t>
            </a:r>
          </a:p>
        </p:txBody>
      </p:sp>
      <p:sp>
        <p:nvSpPr>
          <p:cNvPr id="311" name="Seta"/>
          <p:cNvSpPr/>
          <p:nvPr/>
        </p:nvSpPr>
        <p:spPr>
          <a:xfrm>
            <a:off x="2743200" y="4229100"/>
            <a:ext cx="2651760" cy="1028700"/>
          </a:xfrm>
          <a:custGeom>
            <a:avLst/>
            <a:gdLst/>
            <a:ahLst/>
            <a:cxnLst/>
            <a:rect l="0" t="0" r="r" b="b"/>
            <a:pathLst>
              <a:path w="2651760" h="1028700" fill="none">
                <a:moveTo>
                  <a:pt x="2651760" y="0"/>
                </a:moveTo>
                <a:lnTo>
                  <a:pt x="0" y="0"/>
                </a:lnTo>
                <a:lnTo>
                  <a:pt x="0" y="1028700"/>
                </a:lnTo>
              </a:path>
            </a:pathLst>
          </a:custGeom>
          <a:noFill/>
          <a:ln w="19050">
            <a:solidFill>
              <a:srgbClr val="6B6E70"/>
            </a:solidFill>
            <a:round/>
            <a:tailEnd type="triangle" w="med" len="med"/>
          </a:ln>
          <a:effectLst/>
        </p:spPr>
      </p:sp>
      <p:sp>
        <p:nvSpPr>
          <p:cNvPr id="312" name="Rótulo"/>
          <p:cNvSpPr txBox="1"/>
          <p:nvPr/>
        </p:nvSpPr>
        <p:spPr>
          <a:xfrm>
            <a:off x="4846320" y="3973068"/>
            <a:ext cx="457200" cy="201168"/>
          </a:xfrm>
          <a:prstGeom prst="rect">
            <a:avLst/>
          </a:prstGeom>
          <a:noFill/>
        </p:spPr>
        <p:txBody>
          <a:bodyPr wrap="square" lIns="0" rIns="0" tIns="0" bIns="0" anchor="t">
            <a:noAutofit/>
          </a:bodyPr>
          <a:lstStyle/>
          <a:p>
            <a:pPr algn="r"/>
            <a:r>
              <a:rPr lang="pt-BR" sz="1200" b="0" i="0" dirty="0">
                <a:solidFill>
                  <a:srgbClr val="4E7C8B"/>
                </a:solidFill>
                <a:latin typeface="Roboto Medium"/>
                <a:ea typeface="Roboto Medium"/>
                <a:cs typeface="Roboto Medium"/>
              </a:rPr>
              <a:t>Não</a:t>
            </a:r>
          </a:p>
        </p:txBody>
      </p:sp>
    </p:spTree>
    <p:extLst>
      <p:ext uri="{BB962C8B-B14F-4D97-AF65-F5344CB8AC3E}">
        <p14:creationId xmlns:p14="http://schemas.microsoft.com/office/powerpoint/2010/main" val="232320781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Figura Central – Atendimento na emergência (1/4)</a:t>
            </a:r>
            <a:endParaRPr lang="pt-BR" dirty="0" sz="3200"/>
          </a:p>
        </p:txBody>
      </p:sp>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36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Fim/Início"/>
          <p:cNvSpPr/>
          <p:nvPr/>
        </p:nvSpPr>
        <p:spPr>
          <a:xfrm>
            <a:off x="713232" y="1463040"/>
            <a:ext cx="4023360" cy="777240"/>
          </a:xfrm>
          <a:prstGeom prst="roundRect">
            <a:avLst>
              <a:gd name="adj" fmla="val 50000"/>
            </a:avLst>
          </a:prstGeom>
          <a:solidFill>
            <a:srgbClr val="4E7C8B"/>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SINTOMAS SUSPEITOS</a:t>
            </a:r>
          </a:p>
          <a:p>
            <a:pPr algn="ctr">
              <a:buNone/>
            </a:pPr>
            <a:r>
              <a:rPr lang="pt-BR" sz="1200" b="0" i="0" dirty="0">
                <a:solidFill>
                  <a:srgbClr val="E4EEF0"/>
                </a:solidFill>
                <a:latin typeface="Roboto"/>
                <a:ea typeface="Roboto"/>
                <a:cs typeface="Roboto"/>
              </a:rPr>
              <a:t>(BUSCAR ATENDIMENTO IMEDIATAMENTE)</a:t>
            </a:r>
          </a:p>
        </p:txBody>
      </p:sp>
      <p:pic>
        <p:nvPicPr>
          <p:cNvPr id="302" name="Figura" descr="Pessoa com dor no peito (ilustração recortada da figura original)"/>
          <p:cNvPicPr>
            <a:picLocks noChangeAspect="1"/>
          </p:cNvPicPr>
          <p:nvPr/>
        </p:nvPicPr>
        <p:blipFill>
          <a:blip r:embed="rId2"/>
          <a:stretch>
            <a:fillRect/>
          </a:stretch>
        </p:blipFill>
        <p:spPr>
          <a:xfrm>
            <a:off x="868680" y="1536192"/>
            <a:ext cx="359343" cy="640080"/>
          </a:xfrm>
          <a:prstGeom prst="rect">
            <a:avLst/>
          </a:prstGeom>
        </p:spPr>
      </p:pic>
      <p:sp>
        <p:nvSpPr>
          <p:cNvPr id="302" name="Fim/Início"/>
          <p:cNvSpPr/>
          <p:nvPr/>
        </p:nvSpPr>
        <p:spPr>
          <a:xfrm>
            <a:off x="5120640" y="1463040"/>
            <a:ext cx="4023360" cy="777240"/>
          </a:xfrm>
          <a:prstGeom prst="roundRect">
            <a:avLst>
              <a:gd name="adj" fmla="val 50000"/>
            </a:avLst>
          </a:prstGeom>
          <a:solidFill>
            <a:srgbClr val="4E7C8B"/>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Suspeita clínica confirmada</a:t>
            </a:r>
          </a:p>
          <a:p>
            <a:pPr algn="ctr">
              <a:buNone/>
            </a:pPr>
            <a:r>
              <a:rPr lang="pt-BR" sz="1200" b="0" i="0" dirty="0">
                <a:solidFill>
                  <a:srgbClr val="E4EEF0"/>
                </a:solidFill>
                <a:latin typeface="Roboto"/>
                <a:ea typeface="Roboto"/>
                <a:cs typeface="Roboto"/>
              </a:rPr>
              <a:t>(dor torácica ou sintoma equivalente)</a:t>
            </a:r>
          </a:p>
        </p:txBody>
      </p:sp>
      <p:sp>
        <p:nvSpPr>
          <p:cNvPr id="303" name="Seta"/>
          <p:cNvSpPr/>
          <p:nvPr/>
        </p:nvSpPr>
        <p:spPr>
          <a:xfrm>
            <a:off x="7132320" y="2240280"/>
            <a:ext cx="1" cy="274320"/>
          </a:xfrm>
          <a:custGeom>
            <a:avLst/>
            <a:gdLst/>
            <a:ahLst/>
            <a:cxnLst/>
            <a:rect l="0" t="0" r="r" b="b"/>
            <a:pathLst>
              <a:path w="1" h="274320" fill="none">
                <a:moveTo>
                  <a:pt x="0" y="0"/>
                </a:moveTo>
                <a:lnTo>
                  <a:pt x="0" y="274320"/>
                </a:lnTo>
              </a:path>
            </a:pathLst>
          </a:custGeom>
          <a:noFill/>
          <a:ln w="19050">
            <a:solidFill>
              <a:srgbClr val="6B6E70"/>
            </a:solidFill>
            <a:round/>
            <a:tailEnd type="triangle" w="med" len="med"/>
          </a:ln>
          <a:effectLst/>
        </p:spPr>
      </p:sp>
      <p:sp>
        <p:nvSpPr>
          <p:cNvPr id="304" name="Etapa"/>
          <p:cNvSpPr/>
          <p:nvPr/>
        </p:nvSpPr>
        <p:spPr>
          <a:xfrm>
            <a:off x="5120640" y="2514600"/>
            <a:ext cx="4023360" cy="73152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PASSO 1</a:t>
            </a:r>
          </a:p>
          <a:p>
            <a:pPr algn="ctr">
              <a:buNone/>
            </a:pPr>
            <a:r>
              <a:rPr lang="pt-BR" sz="1200" b="0" i="0" dirty="0">
                <a:solidFill>
                  <a:srgbClr val="5F6468"/>
                </a:solidFill>
                <a:latin typeface="Roboto"/>
                <a:ea typeface="Roboto"/>
                <a:cs typeface="Roboto"/>
              </a:rPr>
              <a:t>(Realizar ECG até 10 minutos)</a:t>
            </a:r>
          </a:p>
        </p:txBody>
      </p:sp>
      <p:pic>
        <p:nvPicPr>
          <p:cNvPr id="305" name="Figura" descr="Ícone de cronômetro"/>
          <p:cNvPicPr>
            <a:picLocks noChangeAspect="1"/>
          </p:cNvPicPr>
          <p:nvPr/>
        </p:nvPicPr>
        <p:blipFill>
          <a:blip r:embed="rId4"/>
          <a:stretch>
            <a:fillRect/>
          </a:stretch>
        </p:blipFill>
        <p:spPr>
          <a:xfrm>
            <a:off x="4434840" y="2606040"/>
            <a:ext cx="562021" cy="548640"/>
          </a:xfrm>
          <a:prstGeom prst="rect">
            <a:avLst/>
          </a:prstGeom>
        </p:spPr>
      </p:pic>
      <p:sp>
        <p:nvSpPr>
          <p:cNvPr id="305" name="Seta"/>
          <p:cNvSpPr/>
          <p:nvPr/>
        </p:nvSpPr>
        <p:spPr>
          <a:xfrm>
            <a:off x="7132320" y="3246120"/>
            <a:ext cx="1" cy="274320"/>
          </a:xfrm>
          <a:custGeom>
            <a:avLst/>
            <a:gdLst/>
            <a:ahLst/>
            <a:cxnLst/>
            <a:rect l="0" t="0" r="r" b="b"/>
            <a:pathLst>
              <a:path w="1" h="274320" fill="none">
                <a:moveTo>
                  <a:pt x="0" y="0"/>
                </a:moveTo>
                <a:lnTo>
                  <a:pt x="0" y="274320"/>
                </a:lnTo>
              </a:path>
            </a:pathLst>
          </a:custGeom>
          <a:noFill/>
          <a:ln w="19050">
            <a:solidFill>
              <a:srgbClr val="6B6E70"/>
            </a:solidFill>
            <a:round/>
            <a:tailEnd type="triangle" w="med" len="med"/>
          </a:ln>
          <a:effectLst/>
        </p:spPr>
      </p:sp>
      <p:sp>
        <p:nvSpPr>
          <p:cNvPr id="306" name="Decisão"/>
          <p:cNvSpPr/>
          <p:nvPr/>
        </p:nvSpPr>
        <p:spPr>
          <a:xfrm>
            <a:off x="5394960" y="3520440"/>
            <a:ext cx="3474720" cy="1417320"/>
          </a:xfrm>
          <a:prstGeom prst="diamond">
            <a:avLst/>
          </a:prstGeom>
          <a:solidFill>
            <a:srgbClr val="8EC4CB"/>
          </a:solidFill>
          <a:ln>
            <a:noFill/>
          </a:ln>
          <a:effectLst/>
        </p:spPr>
        <p:txBody>
          <a:bodyPr rtlCol="0" anchor="ctr" wrap="square" lIns="0" rIns="0" tIns="45720" bIns="45720"/>
          <a:lstStyle/>
          <a:p>
            <a:pPr algn="ctr"/>
            <a:r>
              <a:rPr lang="pt-BR" sz="1200" b="0" i="0" dirty="0">
                <a:solidFill>
                  <a:srgbClr val="1F3238"/>
                </a:solidFill>
                <a:latin typeface="Roboto Medium"/>
                <a:ea typeface="Roboto Medium"/>
                <a:cs typeface="Roboto Medium"/>
              </a:rPr>
              <a:t>ECG COM</a:t>
            </a:r>
          </a:p>
          <a:p>
            <a:pPr algn="ctr"/>
            <a:r>
              <a:rPr lang="pt-BR" sz="1200" b="0" i="0" dirty="0">
                <a:solidFill>
                  <a:srgbClr val="1F3238"/>
                </a:solidFill>
                <a:latin typeface="Roboto Medium"/>
                <a:ea typeface="Roboto Medium"/>
                <a:cs typeface="Roboto Medium"/>
              </a:rPr>
              <a:t>CRITÉRIOS</a:t>
            </a:r>
          </a:p>
          <a:p>
            <a:pPr algn="ctr"/>
            <a:r>
              <a:rPr lang="pt-BR" sz="1200" b="0" i="0" dirty="0">
                <a:solidFill>
                  <a:srgbClr val="1F3238"/>
                </a:solidFill>
                <a:latin typeface="Roboto Medium"/>
                <a:ea typeface="Roboto Medium"/>
                <a:cs typeface="Roboto Medium"/>
              </a:rPr>
              <a:t>DIAGNÓSTICOS?</a:t>
            </a:r>
          </a:p>
        </p:txBody>
      </p:sp>
      <p:sp>
        <p:nvSpPr>
          <p:cNvPr id="307" name="Etapa"/>
          <p:cNvSpPr/>
          <p:nvPr/>
        </p:nvSpPr>
        <p:spPr>
          <a:xfrm>
            <a:off x="9418320" y="3497580"/>
            <a:ext cx="2066544" cy="146304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SEGUIR ROTA TERAPÊUTICA</a:t>
            </a:r>
          </a:p>
          <a:p>
            <a:pPr algn="ctr">
              <a:buNone/>
            </a:pPr>
            <a:r>
              <a:rPr lang="pt-BR" sz="1200" b="0" i="0" dirty="0">
                <a:solidFill>
                  <a:srgbClr val="5F6468"/>
                </a:solidFill>
                <a:latin typeface="Roboto"/>
                <a:ea typeface="Roboto"/>
                <a:cs typeface="Roboto"/>
              </a:rPr>
              <a:t>(diretriz específica de acordo com o diagnóstico estabelecido)</a:t>
            </a:r>
          </a:p>
        </p:txBody>
      </p:sp>
      <p:sp>
        <p:nvSpPr>
          <p:cNvPr id="308" name="Seta"/>
          <p:cNvSpPr/>
          <p:nvPr/>
        </p:nvSpPr>
        <p:spPr>
          <a:xfrm>
            <a:off x="8869680" y="4229100"/>
            <a:ext cx="548640" cy="1"/>
          </a:xfrm>
          <a:custGeom>
            <a:avLst/>
            <a:gdLst/>
            <a:ahLst/>
            <a:cxnLst/>
            <a:rect l="0" t="0" r="r" b="b"/>
            <a:pathLst>
              <a:path w="548640" h="1" fill="none">
                <a:moveTo>
                  <a:pt x="0" y="0"/>
                </a:moveTo>
                <a:lnTo>
                  <a:pt x="548640" y="0"/>
                </a:lnTo>
              </a:path>
            </a:pathLst>
          </a:custGeom>
          <a:noFill/>
          <a:ln w="19050">
            <a:solidFill>
              <a:srgbClr val="6B6E70"/>
            </a:solidFill>
            <a:round/>
            <a:tailEnd type="triangle" w="med" len="med"/>
          </a:ln>
          <a:effectLst/>
        </p:spPr>
      </p:sp>
      <p:sp>
        <p:nvSpPr>
          <p:cNvPr id="309" name="Rótulo"/>
          <p:cNvSpPr txBox="1"/>
          <p:nvPr/>
        </p:nvSpPr>
        <p:spPr>
          <a:xfrm>
            <a:off x="8915400" y="3973068"/>
            <a:ext cx="41148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Sim</a:t>
            </a:r>
          </a:p>
        </p:txBody>
      </p:sp>
      <p:sp>
        <p:nvSpPr>
          <p:cNvPr id="310" name="Fim/Início"/>
          <p:cNvSpPr/>
          <p:nvPr/>
        </p:nvSpPr>
        <p:spPr>
          <a:xfrm>
            <a:off x="1097280" y="5257800"/>
            <a:ext cx="3291840" cy="603504"/>
          </a:xfrm>
          <a:prstGeom prst="roundRect">
            <a:avLst>
              <a:gd name="adj" fmla="val 50000"/>
            </a:avLst>
          </a:prstGeom>
          <a:solidFill>
            <a:srgbClr val="4E7C8B"/>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PASSO 2</a:t>
            </a:r>
          </a:p>
        </p:txBody>
      </p:sp>
      <p:sp>
        <p:nvSpPr>
          <p:cNvPr id="311" name="Seta"/>
          <p:cNvSpPr/>
          <p:nvPr/>
        </p:nvSpPr>
        <p:spPr>
          <a:xfrm>
            <a:off x="2743200" y="4229100"/>
            <a:ext cx="2651760" cy="1028700"/>
          </a:xfrm>
          <a:custGeom>
            <a:avLst/>
            <a:gdLst/>
            <a:ahLst/>
            <a:cxnLst/>
            <a:rect l="0" t="0" r="r" b="b"/>
            <a:pathLst>
              <a:path w="2651760" h="1028700" fill="none">
                <a:moveTo>
                  <a:pt x="2651760" y="0"/>
                </a:moveTo>
                <a:lnTo>
                  <a:pt x="0" y="0"/>
                </a:lnTo>
                <a:lnTo>
                  <a:pt x="0" y="1028700"/>
                </a:lnTo>
              </a:path>
            </a:pathLst>
          </a:custGeom>
          <a:noFill/>
          <a:ln w="19050">
            <a:solidFill>
              <a:srgbClr val="6B6E70"/>
            </a:solidFill>
            <a:round/>
            <a:tailEnd type="triangle" w="med" len="med"/>
          </a:ln>
          <a:effectLst/>
        </p:spPr>
      </p:sp>
      <p:sp>
        <p:nvSpPr>
          <p:cNvPr id="312" name="Rótulo"/>
          <p:cNvSpPr txBox="1"/>
          <p:nvPr/>
        </p:nvSpPr>
        <p:spPr>
          <a:xfrm>
            <a:off x="4846320" y="3973068"/>
            <a:ext cx="457200" cy="201168"/>
          </a:xfrm>
          <a:prstGeom prst="rect">
            <a:avLst/>
          </a:prstGeom>
          <a:noFill/>
        </p:spPr>
        <p:txBody>
          <a:bodyPr wrap="square" lIns="0" rIns="0" tIns="0" bIns="0" anchor="t">
            <a:noAutofit/>
          </a:bodyPr>
          <a:lstStyle/>
          <a:p>
            <a:pPr algn="r"/>
            <a:r>
              <a:rPr lang="pt-BR" sz="1200" b="0" i="0" dirty="0">
                <a:solidFill>
                  <a:srgbClr val="4E7C8B"/>
                </a:solidFill>
                <a:latin typeface="Roboto Medium"/>
                <a:ea typeface="Roboto Medium"/>
                <a:cs typeface="Roboto Medium"/>
              </a:rPr>
              <a:t>Não</a:t>
            </a:r>
          </a:p>
        </p:txBody>
      </p:sp>
    </p:spTree>
    <p:extLst>
      <p:ext uri="{BB962C8B-B14F-4D97-AF65-F5344CB8AC3E}">
        <p14:creationId xmlns:p14="http://schemas.microsoft.com/office/powerpoint/2010/main" val="72753477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E se o ECG não for diagnóstico com paciente estável?</a:t>
            </a:r>
            <a:endParaRPr lang="pt-BR" dirty="0" sz="3200"/>
          </a:p>
        </p:txBody>
      </p:sp>
      <p:sp>
        <p:nvSpPr>
          <p:cNvPr id="3" name="Espaço Reservado para Conteúdo 2"/>
          <p:cNvSpPr>
            <a:spLocks noGrp="1"/>
          </p:cNvSpPr>
          <p:nvPr>
            <p:ph idx="1"/>
          </p:nvPr>
        </p:nvSpPr>
        <p:spPr>
          <a:xfrm>
            <a:off x="711403" y="1417320"/>
            <a:ext cx="10771632" cy="4425696"/>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Reavaliação clínica contínua – paciente muda de status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Repetir ECG + solicitar ajuda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Rotas individualizadas – busca ativa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Já temos algum exame pronto?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Investigação anatômica e/ou funcional</a:t>
            </a:r>
            <a:endParaRPr sz="2400" lang="pt-BR"/>
          </a:p>
          <a:p>
            <a:pPr marL="285750" indent="-285750" algn="l">
              <a:lnSpc>
                <a:spcPct val="140000"/>
              </a:lnSpc>
              <a:spcBef>
                <a:spcPts val="0"/>
              </a:spcBef>
              <a:spcAft>
                <a:spcPts val="600"/>
              </a:spcAft>
              <a:buClr>
                <a:srgbClr val="4E7C8B"/>
              </a:buClr>
              <a:buFont typeface="Arial"/>
              <a:buChar char="•"/>
            </a:pPr>
            <a:r>
              <a:rPr lang="pt-BR" dirty="0" err="1" smtClean="0" sz="1300" b="0">
                <a:solidFill>
                  <a:srgbClr val="5F6468"/>
                </a:solidFill>
                <a:latin typeface="Roboto"/>
                <a:ea typeface="Roboto"/>
                <a:cs typeface="Roboto"/>
              </a:rPr>
              <a:t>Angiotomografia coronariana</a:t>
            </a:r>
            <a:r>
              <a:rPr lang="pt-BR" dirty="0" smtClean="0" sz="1300" b="0">
                <a:solidFill>
                  <a:srgbClr val="5F6468"/>
                </a:solidFill>
                <a:latin typeface="Roboto"/>
                <a:ea typeface="Roboto"/>
                <a:cs typeface="Roboto"/>
              </a:rPr>
              <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Cateterismo cardíaco</a:t>
            </a:r>
            <a:endParaRPr sz="2400" lang="pt-B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40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47242415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Rota diagnóstica – ECG inicial não-diagnóstico (1/2)</a:t>
            </a:r>
            <a:endParaRPr lang="pt-BR" dirty="0" sz="3200"/>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41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900" name="Subtítulo"/>
          <p:cNvSpPr txBox="1"/>
          <p:nvPr/>
        </p:nvSpPr>
        <p:spPr>
          <a:xfrm>
            <a:off x="711403" y="1040000"/>
            <a:ext cx="10771632" cy="213167"/>
          </a:xfrm>
          <a:prstGeom prst="rect">
            <a:avLst/>
          </a:prstGeom>
          <a:noFill/>
        </p:spPr>
        <p:txBody>
          <a:bodyPr wrap="square" lIns="0" rIns="0" tIns="0" bIns="0" anchor="t">
            <a:noAutofit/>
          </a:bodyPr>
          <a:lstStyle/>
          <a:p>
            <a:pPr algn="l" marL="0" indent="0">
              <a:buNone/>
            </a:pPr>
            <a:r>
              <a:rPr lang="pt-BR" sz="1300" b="0" i="0" dirty="0">
                <a:solidFill>
                  <a:srgbClr val="737A7F"/>
                </a:solidFill>
                <a:latin typeface="Roboto"/>
                <a:ea typeface="Roboto"/>
                <a:cs typeface="Roboto"/>
              </a:rPr>
              <a:t>Figura 6 – Passo 2: avaliação inicial da rota diagnóstica.</a:t>
            </a:r>
          </a:p>
        </p:txBody>
      </p:sp>
      <p:pic>
        <p:nvPicPr>
          <p:cNvPr id="901" name="Figura" descr="Paciente com dor torácica (ilustração recortada da figura original)"/>
          <p:cNvPicPr>
            <a:picLocks noChangeAspect="1"/>
          </p:cNvPicPr>
          <p:nvPr/>
        </p:nvPicPr>
        <p:blipFill>
          <a:blip r:embed="rId2"/>
          <a:stretch>
            <a:fillRect/>
          </a:stretch>
        </p:blipFill>
        <p:spPr>
          <a:xfrm>
            <a:off x="896112" y="1463040"/>
            <a:ext cx="2743200" cy="2051636"/>
          </a:xfrm>
          <a:prstGeom prst="rect">
            <a:avLst/>
          </a:prstGeom>
        </p:spPr>
      </p:pic>
      <p:sp>
        <p:nvSpPr>
          <p:cNvPr id="301" name="Decisão"/>
          <p:cNvSpPr/>
          <p:nvPr/>
        </p:nvSpPr>
        <p:spPr>
          <a:xfrm>
            <a:off x="713232" y="3611880"/>
            <a:ext cx="4023360" cy="2286000"/>
          </a:xfrm>
          <a:prstGeom prst="diamond">
            <a:avLst/>
          </a:prstGeom>
          <a:solidFill>
            <a:srgbClr val="8EC4CB"/>
          </a:solidFill>
          <a:ln>
            <a:noFill/>
          </a:ln>
          <a:effectLst/>
        </p:spPr>
        <p:txBody>
          <a:bodyPr rtlCol="0" anchor="ctr" wrap="square" lIns="0" rIns="0" tIns="45720" bIns="45720"/>
          <a:lstStyle/>
          <a:p>
            <a:pPr algn="ctr"/>
            <a:r>
              <a:rPr lang="pt-BR" sz="1200" b="0" i="0" dirty="0">
                <a:solidFill>
                  <a:srgbClr val="1F3238"/>
                </a:solidFill>
                <a:latin typeface="Roboto Medium"/>
                <a:ea typeface="Roboto Medium"/>
                <a:cs typeface="Roboto Medium"/>
              </a:rPr>
              <a:t>ECG LIMÍTROFE/</a:t>
            </a:r>
          </a:p>
          <a:p>
            <a:pPr algn="ctr"/>
            <a:r>
              <a:rPr lang="pt-BR" sz="1200" b="0" i="0" dirty="0">
                <a:solidFill>
                  <a:srgbClr val="1F3238"/>
                </a:solidFill>
                <a:latin typeface="Roboto Medium"/>
                <a:ea typeface="Roboto Medium"/>
                <a:cs typeface="Roboto Medium"/>
              </a:rPr>
              <a:t>DUVIDOSO OU</a:t>
            </a:r>
          </a:p>
          <a:p>
            <a:pPr algn="ctr"/>
            <a:r>
              <a:rPr lang="pt-BR" sz="1200" b="0" i="0" dirty="0">
                <a:solidFill>
                  <a:srgbClr val="1F3238"/>
                </a:solidFill>
                <a:latin typeface="Roboto Medium"/>
                <a:ea typeface="Roboto Medium"/>
                <a:cs typeface="Roboto Medium"/>
              </a:rPr>
              <a:t>CRITÉRIOS DE</a:t>
            </a:r>
          </a:p>
          <a:p>
            <a:pPr algn="ctr"/>
            <a:r>
              <a:rPr lang="pt-BR" sz="1200" b="0" i="0" dirty="0">
                <a:solidFill>
                  <a:srgbClr val="1F3238"/>
                </a:solidFill>
                <a:latin typeface="Roboto Medium"/>
                <a:ea typeface="Roboto Medium"/>
                <a:cs typeface="Roboto Medium"/>
              </a:rPr>
              <a:t>INSTABILIDADE CLÍNICA</a:t>
            </a:r>
          </a:p>
          <a:p>
            <a:pPr algn="ctr"/>
            <a:r>
              <a:rPr lang="pt-BR" sz="1200" b="0" i="0" dirty="0">
                <a:solidFill>
                  <a:srgbClr val="1F3238"/>
                </a:solidFill>
                <a:latin typeface="Roboto Medium"/>
                <a:ea typeface="Roboto Medium"/>
                <a:cs typeface="Roboto Medium"/>
              </a:rPr>
              <a:t>(incluindo dor persistente)?</a:t>
            </a:r>
          </a:p>
        </p:txBody>
      </p:sp>
      <p:sp>
        <p:nvSpPr>
          <p:cNvPr id="302" name="Nota"/>
          <p:cNvSpPr txBox="1"/>
          <p:nvPr/>
        </p:nvSpPr>
        <p:spPr>
          <a:xfrm>
            <a:off x="5394960" y="5779008"/>
            <a:ext cx="6089904" cy="228600"/>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*Algoritmos de troponina conforme figuras 11A e 11B</a:t>
            </a:r>
          </a:p>
        </p:txBody>
      </p:sp>
      <p:pic>
        <p:nvPicPr>
          <p:cNvPr id="902" name="Figura" descr="Eletrodos de ECG no tórax (ilustração recortada)"/>
          <p:cNvPicPr>
            <a:picLocks noChangeAspect="1"/>
          </p:cNvPicPr>
          <p:nvPr/>
        </p:nvPicPr>
        <p:blipFill>
          <a:blip r:embed="rId3"/>
          <a:stretch>
            <a:fillRect/>
          </a:stretch>
        </p:blipFill>
        <p:spPr>
          <a:xfrm>
            <a:off x="5696712" y="1417320"/>
            <a:ext cx="1286359" cy="1143000"/>
          </a:xfrm>
          <a:prstGeom prst="rect">
            <a:avLst/>
          </a:prstGeom>
        </p:spPr>
      </p:pic>
      <p:pic>
        <p:nvPicPr>
          <p:cNvPr id="903" name="Figura" descr="Ecocardiograma no monitor (ilustração recortada)"/>
          <p:cNvPicPr>
            <a:picLocks noChangeAspect="1"/>
          </p:cNvPicPr>
          <p:nvPr/>
        </p:nvPicPr>
        <p:blipFill>
          <a:blip r:embed="rId4"/>
          <a:stretch>
            <a:fillRect/>
          </a:stretch>
        </p:blipFill>
        <p:spPr>
          <a:xfrm>
            <a:off x="7845552" y="1417320"/>
            <a:ext cx="1146874" cy="1143000"/>
          </a:xfrm>
          <a:prstGeom prst="rect">
            <a:avLst/>
          </a:prstGeom>
        </p:spPr>
      </p:pic>
      <p:pic>
        <p:nvPicPr>
          <p:cNvPr id="904" name="Figura" descr="Tubo de coleta de sangue (ilustração recortada)"/>
          <p:cNvPicPr>
            <a:picLocks noChangeAspect="1"/>
          </p:cNvPicPr>
          <p:nvPr/>
        </p:nvPicPr>
        <p:blipFill>
          <a:blip r:embed="rId5"/>
          <a:stretch>
            <a:fillRect/>
          </a:stretch>
        </p:blipFill>
        <p:spPr>
          <a:xfrm>
            <a:off x="9994392" y="1417320"/>
            <a:ext cx="1146874" cy="1143000"/>
          </a:xfrm>
          <a:prstGeom prst="rect">
            <a:avLst/>
          </a:prstGeom>
        </p:spPr>
      </p:pic>
      <p:sp>
        <p:nvSpPr>
          <p:cNvPr id="303" name="Etapa"/>
          <p:cNvSpPr/>
          <p:nvPr/>
        </p:nvSpPr>
        <p:spPr>
          <a:xfrm>
            <a:off x="5394960" y="2697480"/>
            <a:ext cx="1792224" cy="2971800"/>
          </a:xfrm>
          <a:prstGeom prst="rect">
            <a:avLst/>
          </a:prstGeom>
          <a:solidFill>
            <a:srgbClr val="F2F4F5"/>
          </a:solidFill>
          <a:ln w="12700">
            <a:solidFill>
              <a:srgbClr val="6E9DAB"/>
            </a:solidFill>
          </a:ln>
          <a:effectLst/>
        </p:spPr>
        <p:txBody>
          <a:bodyPr rtlCol="0" anchor="t" wrap="square" lIns="91440" rIns="91440" tIns="45720" bIns="45720"/>
          <a:lstStyle/>
          <a:p>
            <a:pPr algn="l">
              <a:buNone/>
            </a:pPr>
            <a:r>
              <a:rPr lang="pt-BR" sz="1300" b="0" i="0" dirty="0">
                <a:solidFill>
                  <a:srgbClr val="3B3F42"/>
                </a:solidFill>
                <a:latin typeface="Roboto Medium"/>
                <a:ea typeface="Roboto Medium"/>
                <a:cs typeface="Roboto Medium"/>
              </a:rPr>
              <a:t>REPETIR ECG A CADA 10-20 MINUTOS</a:t>
            </a:r>
          </a:p>
          <a:p>
            <a:pPr algn="l">
              <a:buNone/>
            </a:pPr>
            <a:r>
              <a:rPr lang="pt-BR" sz="1200" b="0" i="0" dirty="0">
                <a:solidFill>
                  <a:srgbClr val="5F6468"/>
                </a:solidFill>
                <a:latin typeface="Roboto"/>
                <a:ea typeface="Roboto"/>
                <a:cs typeface="Roboto"/>
              </a:rPr>
              <a:t>(apoio de médico experiente),</a:t>
            </a:r>
          </a:p>
          <a:p>
            <a:pPr algn="l">
              <a:buNone/>
            </a:pPr>
            <a:r>
              <a:rPr lang="pt-BR" sz="1300" b="0" i="0" dirty="0">
                <a:solidFill>
                  <a:srgbClr val="3B3F42"/>
                </a:solidFill>
                <a:latin typeface="Roboto Medium"/>
                <a:ea typeface="Roboto Medium"/>
                <a:cs typeface="Roboto Medium"/>
              </a:rPr>
              <a:t>MANTER MONITORIZAÇÃO E TRATAR CRITÉRIOS DE INSTABILIDADE</a:t>
            </a:r>
          </a:p>
          <a:p>
            <a:pPr algn="l">
              <a:buNone/>
            </a:pPr>
            <a:r>
              <a:rPr lang="pt-BR" sz="1200" b="0" i="0" dirty="0">
                <a:solidFill>
                  <a:srgbClr val="5F6468"/>
                </a:solidFill>
                <a:latin typeface="Roboto"/>
                <a:ea typeface="Roboto"/>
                <a:cs typeface="Roboto"/>
              </a:rPr>
              <a:t>(acionar time de choque se instabilidade hemodinâmica)</a:t>
            </a:r>
          </a:p>
        </p:txBody>
      </p:sp>
      <p:sp>
        <p:nvSpPr>
          <p:cNvPr id="304" name="Etapa"/>
          <p:cNvSpPr/>
          <p:nvPr/>
        </p:nvSpPr>
        <p:spPr>
          <a:xfrm>
            <a:off x="7543800" y="2697480"/>
            <a:ext cx="1792224" cy="2971800"/>
          </a:xfrm>
          <a:prstGeom prst="rect">
            <a:avLst/>
          </a:prstGeom>
          <a:solidFill>
            <a:srgbClr val="F2F4F5"/>
          </a:solidFill>
          <a:ln w="12700">
            <a:solidFill>
              <a:srgbClr val="6E9DAB"/>
            </a:solidFill>
          </a:ln>
          <a:effectLst/>
        </p:spPr>
        <p:txBody>
          <a:bodyPr rtlCol="0" anchor="t" wrap="square" lIns="91440" rIns="91440" tIns="45720" bIns="45720"/>
          <a:lstStyle/>
          <a:p>
            <a:pPr algn="l">
              <a:buNone/>
            </a:pPr>
            <a:r>
              <a:rPr lang="pt-BR" sz="1300" b="0" i="0" dirty="0">
                <a:solidFill>
                  <a:srgbClr val="3B3F42"/>
                </a:solidFill>
                <a:latin typeface="Roboto Medium"/>
                <a:ea typeface="Roboto Medium"/>
                <a:cs typeface="Roboto Medium"/>
              </a:rPr>
              <a:t>BUSCAR ATIVAMENTE OUTROS DIAGNÓSTICOS</a:t>
            </a:r>
          </a:p>
          <a:p>
            <a:pPr algn="l" marL="171450" indent="-171450">
              <a:buClr>
                <a:srgbClr val="4E7C8B"/>
              </a:buClr>
              <a:buFont typeface="Roboto"/>
              <a:buChar char="•"/>
            </a:pPr>
            <a:r>
              <a:rPr lang="pt-BR" sz="1200" b="0" i="0" dirty="0">
                <a:solidFill>
                  <a:srgbClr val="5F6468"/>
                </a:solidFill>
                <a:latin typeface="Roboto"/>
                <a:ea typeface="Roboto"/>
                <a:cs typeface="Roboto"/>
              </a:rPr>
              <a:t>avaliação clínica detalhada</a:t>
            </a:r>
          </a:p>
          <a:p>
            <a:pPr algn="l" marL="171450" indent="-171450">
              <a:buClr>
                <a:srgbClr val="4E7C8B"/>
              </a:buClr>
              <a:buFont typeface="Roboto"/>
              <a:buChar char="•"/>
            </a:pPr>
            <a:r>
              <a:rPr lang="pt-BR" sz="1200" b="0" i="0" dirty="0">
                <a:solidFill>
                  <a:srgbClr val="5F6468"/>
                </a:solidFill>
                <a:latin typeface="Roboto"/>
                <a:ea typeface="Roboto"/>
                <a:cs typeface="Roboto"/>
              </a:rPr>
              <a:t>uso de escores diagnósticos</a:t>
            </a:r>
          </a:p>
          <a:p>
            <a:pPr algn="l" marL="171450" indent="-171450">
              <a:buClr>
                <a:srgbClr val="4E7C8B"/>
              </a:buClr>
              <a:buFont typeface="Roboto"/>
              <a:buChar char="•"/>
            </a:pPr>
            <a:r>
              <a:rPr lang="pt-BR" sz="1200" b="0" i="0" dirty="0">
                <a:solidFill>
                  <a:srgbClr val="5F6468"/>
                </a:solidFill>
                <a:latin typeface="Roboto"/>
                <a:ea typeface="Roboto"/>
                <a:cs typeface="Roboto"/>
              </a:rPr>
              <a:t>RX</a:t>
            </a:r>
          </a:p>
          <a:p>
            <a:pPr algn="l" marL="171450" indent="-171450">
              <a:buClr>
                <a:srgbClr val="4E7C8B"/>
              </a:buClr>
              <a:buFont typeface="Roboto"/>
              <a:buChar char="•"/>
            </a:pPr>
            <a:r>
              <a:rPr lang="pt-BR" sz="1200" b="0" i="0" dirty="0">
                <a:solidFill>
                  <a:srgbClr val="5F6468"/>
                </a:solidFill>
                <a:latin typeface="Roboto"/>
                <a:ea typeface="Roboto"/>
                <a:cs typeface="Roboto"/>
              </a:rPr>
              <a:t>POCUS</a:t>
            </a:r>
          </a:p>
          <a:p>
            <a:pPr algn="l" marL="171450" indent="-171450">
              <a:buClr>
                <a:srgbClr val="4E7C8B"/>
              </a:buClr>
              <a:buFont typeface="Roboto"/>
              <a:buChar char="•"/>
            </a:pPr>
            <a:r>
              <a:rPr lang="pt-BR" sz="1200" b="0" i="0" dirty="0">
                <a:solidFill>
                  <a:srgbClr val="5F6468"/>
                </a:solidFill>
                <a:latin typeface="Roboto"/>
                <a:ea typeface="Roboto"/>
                <a:cs typeface="Roboto"/>
              </a:rPr>
              <a:t>outros exames conforme suspeita</a:t>
            </a:r>
          </a:p>
        </p:txBody>
      </p:sp>
      <p:sp>
        <p:nvSpPr>
          <p:cNvPr id="305" name="Etapa"/>
          <p:cNvSpPr/>
          <p:nvPr/>
        </p:nvSpPr>
        <p:spPr>
          <a:xfrm>
            <a:off x="9692640" y="2697480"/>
            <a:ext cx="1792224" cy="1280160"/>
          </a:xfrm>
          <a:prstGeom prst="rect">
            <a:avLst/>
          </a:prstGeom>
          <a:solidFill>
            <a:srgbClr val="F2F4F5"/>
          </a:solidFill>
          <a:ln w="12700">
            <a:solidFill>
              <a:srgbClr val="6E9DAB"/>
            </a:solidFill>
          </a:ln>
          <a:effectLst/>
        </p:spPr>
        <p:txBody>
          <a:bodyPr rtlCol="0" anchor="t" wrap="square" lIns="91440" rIns="91440" tIns="45720" bIns="45720"/>
          <a:lstStyle/>
          <a:p>
            <a:pPr algn="l">
              <a:buNone/>
            </a:pPr>
            <a:r>
              <a:rPr lang="pt-BR" sz="1300" b="0" i="0" dirty="0">
                <a:solidFill>
                  <a:srgbClr val="3B3F42"/>
                </a:solidFill>
                <a:latin typeface="Roboto Medium"/>
                <a:ea typeface="Roboto Medium"/>
                <a:cs typeface="Roboto Medium"/>
              </a:rPr>
              <a:t>ALGORITMOS DE TROPONINA*</a:t>
            </a:r>
          </a:p>
        </p:txBody>
      </p:sp>
      <p:sp>
        <p:nvSpPr>
          <p:cNvPr id="306" name="Rótulo"/>
          <p:cNvSpPr txBox="1"/>
          <p:nvPr/>
        </p:nvSpPr>
        <p:spPr>
          <a:xfrm>
            <a:off x="7251192" y="4023360"/>
            <a:ext cx="182880" cy="274320"/>
          </a:xfrm>
          <a:prstGeom prst="rect">
            <a:avLst/>
          </a:prstGeom>
          <a:noFill/>
        </p:spPr>
        <p:txBody>
          <a:bodyPr wrap="square" lIns="0" rIns="0" tIns="0" bIns="0" anchor="t">
            <a:noAutofit/>
          </a:bodyPr>
          <a:lstStyle/>
          <a:p>
            <a:pPr algn="ctr">
              <a:buNone/>
            </a:pPr>
            <a:r>
              <a:rPr lang="pt-BR" sz="1500" b="0" i="0" dirty="0">
                <a:solidFill>
                  <a:srgbClr val="4E7C8B"/>
                </a:solidFill>
                <a:latin typeface="Roboto Medium"/>
                <a:ea typeface="Roboto Medium"/>
                <a:cs typeface="Roboto Medium"/>
              </a:rPr>
              <a:t>+</a:t>
            </a:r>
          </a:p>
        </p:txBody>
      </p:sp>
      <p:sp>
        <p:nvSpPr>
          <p:cNvPr id="307" name="Rótulo"/>
          <p:cNvSpPr txBox="1"/>
          <p:nvPr/>
        </p:nvSpPr>
        <p:spPr>
          <a:xfrm>
            <a:off x="9400032" y="4023360"/>
            <a:ext cx="182880" cy="274320"/>
          </a:xfrm>
          <a:prstGeom prst="rect">
            <a:avLst/>
          </a:prstGeom>
          <a:noFill/>
        </p:spPr>
        <p:txBody>
          <a:bodyPr wrap="square" lIns="0" rIns="0" tIns="0" bIns="0" anchor="t">
            <a:noAutofit/>
          </a:bodyPr>
          <a:lstStyle/>
          <a:p>
            <a:pPr algn="ctr">
              <a:buNone/>
            </a:pPr>
            <a:r>
              <a:rPr lang="pt-BR" sz="1500" b="0" i="0" dirty="0">
                <a:solidFill>
                  <a:srgbClr val="4E7C8B"/>
                </a:solidFill>
                <a:latin typeface="Roboto Medium"/>
                <a:ea typeface="Roboto Medium"/>
                <a:cs typeface="Roboto Medium"/>
              </a:rPr>
              <a:t>+</a:t>
            </a:r>
          </a:p>
        </p:txBody>
      </p:sp>
      <p:sp>
        <p:nvSpPr>
          <p:cNvPr id="308" name="Seta"/>
          <p:cNvSpPr/>
          <p:nvPr/>
        </p:nvSpPr>
        <p:spPr>
          <a:xfrm>
            <a:off x="4736592" y="4114800"/>
            <a:ext cx="658368" cy="640080"/>
          </a:xfrm>
          <a:custGeom>
            <a:avLst/>
            <a:gdLst/>
            <a:ahLst/>
            <a:cxnLst/>
            <a:rect l="0" t="0" r="r" b="b"/>
            <a:pathLst>
              <a:path w="658368" h="640080" fill="none">
                <a:moveTo>
                  <a:pt x="0" y="640080"/>
                </a:moveTo>
                <a:lnTo>
                  <a:pt x="493776" y="640080"/>
                </a:lnTo>
                <a:lnTo>
                  <a:pt x="493776" y="0"/>
                </a:lnTo>
                <a:lnTo>
                  <a:pt x="658368" y="0"/>
                </a:lnTo>
              </a:path>
            </a:pathLst>
          </a:custGeom>
          <a:noFill/>
          <a:ln w="19050">
            <a:solidFill>
              <a:srgbClr val="6B6E70"/>
            </a:solidFill>
            <a:round/>
            <a:tailEnd type="triangle" w="med" len="med"/>
          </a:ln>
          <a:effectLst/>
        </p:spPr>
      </p:sp>
      <p:sp>
        <p:nvSpPr>
          <p:cNvPr id="309" name="Rótulo"/>
          <p:cNvSpPr txBox="1"/>
          <p:nvPr/>
        </p:nvSpPr>
        <p:spPr>
          <a:xfrm>
            <a:off x="4791456" y="4498848"/>
            <a:ext cx="36576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Sim</a:t>
            </a:r>
          </a:p>
        </p:txBody>
      </p:sp>
    </p:spTree>
    <p:extLst>
      <p:ext uri="{BB962C8B-B14F-4D97-AF65-F5344CB8AC3E}">
        <p14:creationId xmlns:p14="http://schemas.microsoft.com/office/powerpoint/2010/main" val="235805261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Avaliação clínica detalhada</a:t>
            </a:r>
            <a:endParaRPr lang="pt-BR" dirty="0" sz="3200"/>
          </a:p>
        </p:txBody>
      </p:sp>
      <p:sp>
        <p:nvSpPr>
          <p:cNvPr id="3" name="Espaço Reservado para Conteúdo 2"/>
          <p:cNvSpPr>
            <a:spLocks noGrp="1"/>
          </p:cNvSpPr>
          <p:nvPr>
            <p:ph idx="1"/>
          </p:nvPr>
        </p:nvSpPr>
        <p:spPr>
          <a:xfrm>
            <a:off x="711403" y="1417320"/>
            <a:ext cx="10771632" cy="4425696"/>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Você examina e mede os sinais vitais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R:</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E:</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P:</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I:</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T:</a:t>
            </a:r>
            <a:endParaRPr sz="2400" lang="pt-BR"/>
          </a:p>
          <a:p>
            <a:pPr marL="285750" indent="-285750" algn="l">
              <a:lnSpc>
                <a:spcPct val="140000"/>
              </a:lnSpc>
              <a:spcBef>
                <a:spcPts val="0"/>
              </a:spcBef>
              <a:spcAft>
                <a:spcPts val="600"/>
              </a:spcAft>
              <a:buClr>
                <a:srgbClr val="4E7C8B"/>
              </a:buClr>
              <a:buFont typeface="Arial"/>
              <a:buChar char="•"/>
            </a:pPr>
            <a:r>
              <a:rPr lang="pt-BR" smtClean="0" sz="1300" b="0">
                <a:solidFill>
                  <a:srgbClr val="5F6468"/>
                </a:solidFill>
                <a:latin typeface="Roboto"/>
                <a:ea typeface="Roboto"/>
                <a:cs typeface="Roboto"/>
              </a:rPr>
              <a:t>A: </a:t>
            </a:r>
            <a:r>
              <a:rPr lang="pt-BR" sz="1300" b="0">
                <a:solidFill>
                  <a:srgbClr val="5F6468"/>
                </a:solidFill>
                <a:latin typeface="Roboto"/>
                <a:ea typeface="Roboto"/>
                <a:cs typeface="Roboto"/>
              </a:rPr>
              <a:t>Déficit de pulso, déficit neurológico, novo sopro, hipotensão, choque</a:t>
            </a:r>
            <a:endParaRPr sz="2400" lang="pt-B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43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253483085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25 – Aplicação dos algoritmos dos marcadores de injúria miocárdica</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44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640000"/>
          <a:ext cx="10771632" cy="3320317"/>
        </p:xfrm>
        <a:graphic>
          <a:graphicData uri="http://schemas.openxmlformats.org/drawingml/2006/table">
            <a:tbl>
              <a:tblPr firstRow="1"/>
              <a:tblGrid>
                <a:gridCol w="7571632"/>
                <a:gridCol w="1700000"/>
                <a:gridCol w="1500000"/>
              </a:tblGrid>
              <a:tr h="519904">
                <a:tc>
                  <a:txBody>
                    <a:bodyPr/>
                    <a:lstStyle/>
                    <a:p>
                      <a:pPr algn="l" marL="0" indent="0">
                        <a:lnSpc>
                          <a:spcPct val="100000"/>
                        </a:lnSpc>
                        <a:spcBef>
                          <a:spcPts val="0"/>
                        </a:spcBef>
                        <a:spcAft>
                          <a:spcPts val="0"/>
                        </a:spcAft>
                        <a:buNone/>
                      </a:pP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Classe de recomendação</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Nível de evidência</a:t>
                      </a:r>
                      <a:endParaRPr lang="pt-BR" sz="1300" dirty="0"/>
                    </a:p>
                  </a:txBody>
                  <a:tcPr marL="91440" marR="91440" marT="54864" marB="54864" anchor="ctr">
                    <a:lnL w="0">
                      <a:noFill/>
                    </a:lnL>
                    <a:lnR w="0">
                      <a:noFill/>
                    </a:lnR>
                    <a:lnT w="0">
                      <a:noFill/>
                    </a:lnT>
                    <a:lnB w="0">
                      <a:noFill/>
                    </a:lnB>
                    <a:solidFill>
                      <a:srgbClr val="4E7C8B"/>
                    </a:solidFill>
                  </a:tcPr>
                </a:tc>
              </a:tr>
              <a:tr h="319010">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Troponina cardíaca de alta sensibilidade é o marcador de escolha para investigação de IAM.</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r>
              <a:tr h="72079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Na ausência de troponina cardíaca de alta sensibilidade, usar investigações com dosagem de biomarcador disponível* a cada 3 horas, até tempo hábil para definir ou afastar diagnóstico de IAM (varia de acordo com tipo de biomarcador).</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r>
              <a:tr h="519904">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Os algoritmos de troponina cardíaca de alta sensibilidade 0-1 hora e 0-2 horas são preferíveis aos algoritmos de 0-3 horas.</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IIa</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r>
              <a:tr h="921691">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Em pacientes com dor precordial há mais de 3 horas, uma única dosagem de troponina cardíaca de alta sensibilidade abaixo do limite de detecção do ensaio pode ser suficiente para descartar IAM, quando associada a escores clínicos de baixo risco, eletrocardiograma sem alterações isquêmicas e ausência de dor recorrente ou persistente.</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IIa</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r>
              <a:tr h="319010">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Se troponina quantitativa disponível, não se deve solicitar CK-MB para investigação de IAM.</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III</a:t>
                      </a:r>
                      <a:endParaRPr lang="pt-BR" sz="1300" dirty="0"/>
                    </a:p>
                  </a:txBody>
                  <a:tcPr marL="91440" marR="91440" marT="54864" marB="54864" anchor="ctr">
                    <a:lnL w="0">
                      <a:noFill/>
                    </a:lnL>
                    <a:lnR w="0">
                      <a:noFill/>
                    </a:lnR>
                    <a:lnT w="0">
                      <a:noFill/>
                    </a:lnT>
                    <a:lnB w="12700">
                      <a:solidFill>
                        <a:srgbClr val="FBFCFC"/>
                      </a:solidFill>
                    </a:lnB>
                    <a:solidFill>
                      <a:srgbClr val="B5533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B5533C"/>
                    </a:solidFill>
                  </a:tcPr>
                </a:tc>
              </a:tr>
            </a:tbl>
          </a:graphicData>
        </a:graphic>
      </p:graphicFrame>
      <p:sp>
        <p:nvSpPr>
          <p:cNvPr id="7" name="Nota"/>
          <p:cNvSpPr txBox="1"/>
          <p:nvPr/>
        </p:nvSpPr>
        <p:spPr>
          <a:xfrm>
            <a:off x="711403" y="5020317"/>
            <a:ext cx="10771632" cy="376616"/>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IAM: infarto agudo do miocárdio. *Na ausência de troponina cardíaca de alta sensibilidade, pode-se utilizar troponina convencional ou, na ausência desta, CKMB-massa.</a:t>
            </a:r>
            <a:endParaRPr lang="pt-BR" sz="1200" dirty="0"/>
          </a:p>
        </p:txBody>
      </p:sp>
    </p:spTree>
    <p:extLst>
      <p:ext uri="{BB962C8B-B14F-4D97-AF65-F5344CB8AC3E}">
        <p14:creationId xmlns:p14="http://schemas.microsoft.com/office/powerpoint/2010/main" val="51754476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Troponina – Curva na síndrome coronariana aguda</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45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pic>
        <p:nvPicPr>
          <p:cNvPr id="6" name="Picture 5" descr="Curva de troponina cardíaca (cTn, ng/mL) ao longo das horas na síndrome coronariana aguda, com limites de decisão do percentil 99 e ensaios de alta sensibilidade"/>
          <p:cNvPicPr>
            <a:picLocks noChangeAspect="1"/>
          </p:cNvPicPr>
          <p:nvPr/>
        </p:nvPicPr>
        <p:blipFill>
          <a:blip r:embed="rId2"/>
          <a:stretch>
            <a:fillRect/>
          </a:stretch>
        </p:blipFill>
        <p:spPr>
          <a:xfrm>
            <a:off x="711403" y="1417320"/>
            <a:ext cx="5559509" cy="4600000"/>
          </a:xfrm>
          <a:prstGeom prst="rect">
            <a:avLst/>
          </a:prstGeom>
        </p:spPr>
      </p:pic>
      <p:graphicFrame>
        <p:nvGraphicFramePr>
          <p:cNvPr id="6" name="Tabela"/>
          <p:cNvGraphicFramePr>
            <a:graphicFrameLocks noGrp="1"/>
          </p:cNvGraphicFramePr>
          <p:nvPr/>
        </p:nvGraphicFramePr>
        <p:xfrm>
          <a:off x="6620912" y="3079300"/>
          <a:ext cx="4862123" cy="1276040"/>
        </p:xfrm>
        <a:graphic>
          <a:graphicData uri="http://schemas.openxmlformats.org/drawingml/2006/table">
            <a:tbl>
              <a:tblPr firstRow="1"/>
              <a:tblGrid>
                <a:gridCol w="1458636"/>
                <a:gridCol w="1944849"/>
                <a:gridCol w="1458636"/>
              </a:tblGrid>
              <a:tr h="319010">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cTn Assay</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Diagnostic cutoff</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Implementation</a:t>
                      </a:r>
                      <a:endParaRPr lang="pt-BR" sz="1300" dirty="0"/>
                    </a:p>
                  </a:txBody>
                  <a:tcPr marL="91440" marR="91440" marT="54864" marB="54864" anchor="ctr">
                    <a:lnL w="0">
                      <a:noFill/>
                    </a:lnL>
                    <a:lnR w="0">
                      <a:noFill/>
                    </a:lnR>
                    <a:lnT w="0">
                      <a:noFill/>
                    </a:lnT>
                    <a:lnB w="0">
                      <a:noFill/>
                    </a:lnB>
                    <a:solidFill>
                      <a:srgbClr val="4E7C8B"/>
                    </a:solidFill>
                  </a:tcPr>
                </a:tc>
              </a:tr>
              <a:tr h="319010">
                <a:tc>
                  <a:txBody>
                    <a:bodyPr/>
                    <a:lstStyle/>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TnI</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1.5 ng/mL</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1995</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19010">
                <a:tc>
                  <a:txBody>
                    <a:bodyPr/>
                    <a:lstStyle/>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cTnI</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&gt; 0.10 ng/mL</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2003</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19010">
                <a:tc>
                  <a:txBody>
                    <a:bodyPr/>
                    <a:lstStyle/>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TnI-Ultra</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&gt; 0.04 ng/mL</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2007</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bl>
          </a:graphicData>
        </a:graphic>
      </p:graphicFrame>
    </p:spTree>
    <p:extLst>
      <p:ext uri="{BB962C8B-B14F-4D97-AF65-F5344CB8AC3E}">
        <p14:creationId xmlns:p14="http://schemas.microsoft.com/office/powerpoint/2010/main" val="289700987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Algoritmo da troponina</a:t>
            </a:r>
            <a:endParaRPr lang="pt-BR" dirty="0" sz="3200"/>
          </a:p>
        </p:txBody>
      </p:sp>
      <p:sp>
        <p:nvSpPr>
          <p:cNvPr id="3" name="Espaço Reservado para Conteúdo 2"/>
          <p:cNvSpPr>
            <a:spLocks noGrp="1"/>
          </p:cNvSpPr>
          <p:nvPr>
            <p:ph idx="1"/>
          </p:nvPr>
        </p:nvSpPr>
        <p:spPr>
          <a:xfrm>
            <a:off x="711403" y="1417320"/>
            <a:ext cx="10771632" cy="4425696"/>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Há injúria miocárdica?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Ascensão ou queda &gt; 20% (percentil 99)</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Injúria por isquemia ou outras causas?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Se isquemia é IAM</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Injúria aguda ou crônica?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Crônica: platô máximo de 20%</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Importante no ECG normal </a:t>
            </a:r>
            <a:endParaRPr sz="2400" lang="pt-B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46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72973589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Outros mecanismos de injúria (1/2)</a:t>
            </a:r>
            <a:endParaRPr lang="pt-BR" dirty="0" sz="3200"/>
          </a:p>
        </p:txBody>
      </p:sp>
      <p:sp>
        <p:nvSpPr>
          <p:cNvPr id="3" name="Espaço Reservado para Conteúdo 2"/>
          <p:cNvSpPr>
            <a:spLocks noGrp="1"/>
          </p:cNvSpPr>
          <p:nvPr>
            <p:ph idx="1"/>
          </p:nvPr>
        </p:nvSpPr>
        <p:spPr>
          <a:xfrm>
            <a:off x="711403" y="1417320"/>
            <a:ext cx="10771632" cy="3721608"/>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Não relacionados com isquemia miocárdica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Contusão, cirurgia cardíaca, ablação, </a:t>
            </a:r>
            <a:r>
              <a:rPr lang="pt-BR" dirty="0" err="1" smtClean="0" sz="1300" b="0">
                <a:solidFill>
                  <a:srgbClr val="5F6468"/>
                </a:solidFill>
                <a:latin typeface="Roboto"/>
                <a:ea typeface="Roboto"/>
                <a:cs typeface="Roboto"/>
              </a:rPr>
              <a:t>pacing</a:t>
            </a:r>
            <a:r>
              <a:rPr lang="pt-BR" dirty="0" smtClean="0" sz="1300" b="0">
                <a:solidFill>
                  <a:srgbClr val="5F6468"/>
                </a:solidFill>
                <a:latin typeface="Roboto"/>
                <a:ea typeface="Roboto"/>
                <a:cs typeface="Roboto"/>
              </a:rPr>
              <a:t>, CVE</a:t>
            </a:r>
            <a:endParaRPr sz="2400" lang="pt-BR"/>
          </a:p>
          <a:p>
            <a:pPr marL="285750" indent="-285750" algn="l">
              <a:lnSpc>
                <a:spcPct val="140000"/>
              </a:lnSpc>
              <a:spcBef>
                <a:spcPts val="0"/>
              </a:spcBef>
              <a:spcAft>
                <a:spcPts val="600"/>
              </a:spcAft>
              <a:buClr>
                <a:srgbClr val="4E7C8B"/>
              </a:buClr>
              <a:buFont typeface="Arial"/>
              <a:buChar char="•"/>
            </a:pPr>
            <a:r>
              <a:rPr lang="pt-BR" dirty="0" err="1" smtClean="0" sz="1300" b="0">
                <a:solidFill>
                  <a:srgbClr val="5F6468"/>
                </a:solidFill>
                <a:latin typeface="Roboto"/>
                <a:ea typeface="Roboto"/>
                <a:cs typeface="Roboto"/>
              </a:rPr>
              <a:t>Rabdomiólise</a:t>
            </a:r>
            <a:r>
              <a:rPr lang="pt-BR" dirty="0" smtClean="0" sz="1300" b="0">
                <a:solidFill>
                  <a:srgbClr val="5F6468"/>
                </a:solidFill>
                <a:latin typeface="Roboto"/>
                <a:ea typeface="Roboto"/>
                <a:cs typeface="Roboto"/>
              </a:rPr>
              <a:t>, miocardite (chagásica) </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Drogas </a:t>
            </a:r>
            <a:r>
              <a:rPr lang="pt-BR" dirty="0" err="1" smtClean="0" sz="1300" b="0">
                <a:solidFill>
                  <a:srgbClr val="5F6468"/>
                </a:solidFill>
                <a:latin typeface="Roboto"/>
                <a:ea typeface="Roboto"/>
                <a:cs typeface="Roboto"/>
              </a:rPr>
              <a:t>cardiotóxicas</a:t>
            </a:r>
            <a:r>
              <a:rPr lang="pt-BR" dirty="0" smtClean="0" sz="1300" b="0">
                <a:solidFill>
                  <a:srgbClr val="5F6468"/>
                </a:solidFill>
                <a:latin typeface="Roboto"/>
                <a:ea typeface="Roboto"/>
                <a:cs typeface="Roboto"/>
              </a:rPr>
              <a:t> (</a:t>
            </a:r>
            <a:r>
              <a:rPr lang="pt-BR" dirty="0" err="1" smtClean="0" sz="1300" b="0">
                <a:solidFill>
                  <a:srgbClr val="5F6468"/>
                </a:solidFill>
                <a:latin typeface="Roboto"/>
                <a:ea typeface="Roboto"/>
                <a:cs typeface="Roboto"/>
              </a:rPr>
              <a:t>miocitotóxico</a:t>
            </a:r>
            <a:r>
              <a:rPr lang="pt-BR" dirty="0" smtClean="0" sz="1300" b="0">
                <a:solidFill>
                  <a:srgbClr val="5F6468"/>
                </a:solidFill>
                <a:latin typeface="Roboto"/>
                <a:ea typeface="Roboto"/>
                <a:cs typeface="Roboto"/>
              </a:rPr>
              <a:t>)</a:t>
            </a:r>
            <a:endParaRPr sz="2400" lang="pt-BR"/>
          </a:p>
        </p:txBody>
      </p:sp>
      <p:sp>
        <p:nvSpPr>
          <p:cNvPr id="4" name="Siglas (revisão)"/>
          <p:cNvSpPr txBox="1"/>
          <p:nvPr/>
        </p:nvSpPr>
        <p:spPr>
          <a:xfrm>
            <a:off x="711403" y="5230368"/>
            <a:ext cx="10771632" cy="612647"/>
          </a:xfrm>
          <a:prstGeom prst="rect">
            <a:avLst/>
          </a:prstGeom>
          <a:noFill/>
        </p:spPr>
        <p:txBody>
          <a:bodyPr wrap="square" tIns="27432" bIns="27432" anchor="b"/>
          <a:lstStyle/>
          <a:p>
            <a:pPr algn="l">
              <a:lnSpc>
                <a:spcPct val="120000"/>
              </a:lnSpc>
              <a:spcBef>
                <a:spcPts val="0"/>
              </a:spcBef>
              <a:spcAft>
                <a:spcPts val="0"/>
              </a:spcAft>
            </a:pPr>
            <a:r>
              <a:rPr sz="1200">
                <a:solidFill>
                  <a:srgbClr val="4E7C8B"/>
                </a:solidFill>
                <a:latin typeface="Roboto Medium"/>
                <a:ea typeface="Roboto Medium"/>
                <a:cs typeface="Roboto Medium"/>
              </a:rPr>
              <a:t>Siglas: CVE = cardioversão elétrica.</a:t>
            </a:r>
          </a:p>
        </p:txBody>
      </p:sp>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47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123919964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Outros mecanismos de injúria (2/2)</a:t>
            </a:r>
            <a:endParaRPr lang="pt-BR" dirty="0" sz="3200"/>
          </a:p>
        </p:txBody>
      </p:sp>
      <p:sp>
        <p:nvSpPr>
          <p:cNvPr id="3" name="Espaço Reservado para Conteúdo 2"/>
          <p:cNvSpPr>
            <a:spLocks noGrp="1"/>
          </p:cNvSpPr>
          <p:nvPr>
            <p:ph idx="1"/>
          </p:nvPr>
        </p:nvSpPr>
        <p:spPr>
          <a:xfrm>
            <a:off x="711403" y="1417320"/>
            <a:ext cx="10771632" cy="3721608"/>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Multifatorial ou indeterminada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IC, Cardiomiopatia de estresse (</a:t>
            </a:r>
            <a:r>
              <a:rPr lang="pt-BR" dirty="0" err="1" smtClean="0" sz="1300" b="0">
                <a:solidFill>
                  <a:srgbClr val="5F6468"/>
                </a:solidFill>
                <a:latin typeface="Roboto"/>
                <a:ea typeface="Roboto"/>
                <a:cs typeface="Roboto"/>
              </a:rPr>
              <a:t>Takotsubo</a:t>
            </a:r>
            <a:r>
              <a:rPr lang="pt-BR" dirty="0" smtClean="0" sz="1300" b="0">
                <a:solidFill>
                  <a:srgbClr val="5F6468"/>
                </a:solidFill>
                <a:latin typeface="Roboto"/>
                <a:ea typeface="Roboto"/>
                <a:cs typeface="Roboto"/>
              </a:rPr>
              <a:t>), </a:t>
            </a:r>
            <a:r>
              <a:rPr lang="pt-BR" dirty="0" err="1" smtClean="0" sz="1300" b="0">
                <a:solidFill>
                  <a:srgbClr val="5F6468"/>
                </a:solidFill>
                <a:latin typeface="Roboto"/>
                <a:ea typeface="Roboto"/>
                <a:cs typeface="Roboto"/>
              </a:rPr>
              <a:t>Amiloidose</a:t>
            </a:r>
            <a:r>
              <a:rPr lang="pt-BR" dirty="0" smtClean="0" sz="1300" b="0">
                <a:solidFill>
                  <a:srgbClr val="5F6468"/>
                </a:solidFill>
                <a:latin typeface="Roboto"/>
                <a:ea typeface="Roboto"/>
                <a:cs typeface="Roboto"/>
              </a:rPr>
              <a:t>, Sarcoidose</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Embolia pulmonar, IR, Sepsis</a:t>
            </a:r>
            <a:r>
              <a:rPr lang="pt-BR" dirty="0" err="1" smtClean="0" sz="1300" b="0">
                <a:solidFill>
                  <a:srgbClr val="5F6468"/>
                </a:solidFill>
                <a:latin typeface="Roboto"/>
                <a:ea typeface="Roboto"/>
                <a:cs typeface="Roboto"/>
              </a:rPr>
              <a:t/>
            </a:r>
            <a:r>
              <a:rPr lang="pt-BR" dirty="0" smtClean="0" sz="1300" b="0">
                <a:solidFill>
                  <a:srgbClr val="5F6468"/>
                </a:solidFill>
                <a:latin typeface="Roboto"/>
                <a:ea typeface="Roboto"/>
                <a:cs typeface="Roboto"/>
              </a:rPr>
              <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AVC, Exercícios intensos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Catecolaminas</a:t>
            </a:r>
            <a:endParaRPr sz="2400" lang="pt-BR"/>
          </a:p>
        </p:txBody>
      </p:sp>
      <p:sp>
        <p:nvSpPr>
          <p:cNvPr id="4" name="Siglas (revisão)"/>
          <p:cNvSpPr txBox="1"/>
          <p:nvPr/>
        </p:nvSpPr>
        <p:spPr>
          <a:xfrm>
            <a:off x="711403" y="5230368"/>
            <a:ext cx="10771632" cy="612647"/>
          </a:xfrm>
          <a:prstGeom prst="rect">
            <a:avLst/>
          </a:prstGeom>
          <a:noFill/>
        </p:spPr>
        <p:txBody>
          <a:bodyPr wrap="square" tIns="27432" bIns="27432" anchor="b"/>
          <a:lstStyle/>
          <a:p>
            <a:pPr algn="l">
              <a:lnSpc>
                <a:spcPct val="120000"/>
              </a:lnSpc>
              <a:spcBef>
                <a:spcPts val="0"/>
              </a:spcBef>
              <a:spcAft>
                <a:spcPts val="0"/>
              </a:spcAft>
            </a:pPr>
            <a:r>
              <a:rPr sz="1200">
                <a:solidFill>
                  <a:srgbClr val="4E7C8B"/>
                </a:solidFill>
                <a:latin typeface="Roboto Medium"/>
                <a:ea typeface="Roboto Medium"/>
                <a:cs typeface="Roboto Medium"/>
              </a:rPr>
              <a:t>Siglas: IC = insuficiência cardíaca; AVC = acidente vascular cerebral.</a:t>
            </a:r>
          </a:p>
        </p:txBody>
      </p:sp>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48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123919964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Estratégias de análise da troponina</a:t>
            </a:r>
            <a:endParaRPr lang="pt-BR" dirty="0" sz="3200"/>
          </a:p>
        </p:txBody>
      </p:sp>
      <p:sp>
        <p:nvSpPr>
          <p:cNvPr id="3" name="Espaço Reservado para Conteúdo 2"/>
          <p:cNvSpPr>
            <a:spLocks noGrp="1"/>
          </p:cNvSpPr>
          <p:nvPr>
            <p:ph idx="1"/>
          </p:nvPr>
        </p:nvSpPr>
        <p:spPr>
          <a:xfrm>
            <a:off x="711403" y="1417320"/>
            <a:ext cx="10771632" cy="4425696"/>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Algoritmo de escolha: hora 0 e hora 1 (variação delta)</a:t>
            </a:r>
            <a:endParaRPr sz="2400" lang="pt-BR"/>
          </a:p>
          <a:p>
            <a:pPr marL="0" indent="0" algn="l">
              <a:lnSpc>
                <a:spcPct val="140000"/>
              </a:lnSpc>
              <a:spcBef>
                <a:spcPts val="0"/>
              </a:spcBef>
              <a:spcAft>
                <a:spcPts val="0"/>
              </a:spcAft>
              <a:buNone/>
              <a:buNone/>
            </a:pPr>
            <a:endParaRPr lang="pt-BR" dirty="0" smtClean="0" sz="2400"/>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Sintomas &gt; 3 horas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Uma dosagem </a:t>
            </a:r>
            <a:endParaRPr lang="pt-BR" dirty="0" sz="2400"/>
          </a:p>
          <a:p>
            <a:pPr marL="0" indent="0" algn="l">
              <a:lnSpc>
                <a:spcPct val="140000"/>
              </a:lnSpc>
              <a:spcBef>
                <a:spcPts val="0"/>
              </a:spcBef>
              <a:spcAft>
                <a:spcPts val="0"/>
              </a:spcAft>
              <a:buNone/>
              <a:buNone/>
            </a:pPr>
            <a:endParaRPr lang="pt-BR" dirty="0" smtClean="0" sz="2400"/>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Sintomas &lt; 3 horas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Segunda coleta em 1 ou 2 horas</a:t>
            </a:r>
            <a:endParaRPr sz="2400" lang="pt-BR"/>
          </a:p>
          <a:p>
            <a:pPr marL="0" indent="0" algn="l">
              <a:lnSpc>
                <a:spcPct val="140000"/>
              </a:lnSpc>
              <a:spcBef>
                <a:spcPts val="0"/>
              </a:spcBef>
              <a:spcAft>
                <a:spcPts val="0"/>
              </a:spcAft>
              <a:buNone/>
              <a:buNone/>
            </a:pPr>
            <a:endParaRPr lang="pt-BR" dirty="0" sz="2400"/>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Positiva: percentil 99, ou 5 xx em qualquer momento</a:t>
            </a:r>
            <a:r>
              <a:rPr lang="pt-BR" dirty="0" err="1" smtClean="0" sz="1300" b="0">
                <a:solidFill>
                  <a:srgbClr val="5F6468"/>
                </a:solidFill>
                <a:latin typeface="Roboto"/>
                <a:ea typeface="Roboto"/>
                <a:cs typeface="Roboto"/>
              </a:rPr>
              <a:t/>
            </a:r>
            <a:r>
              <a:rPr lang="pt-BR" dirty="0" smtClean="0" sz="1300" b="0">
                <a:solidFill>
                  <a:srgbClr val="5F6468"/>
                </a:solidFill>
                <a:latin typeface="Roboto"/>
                <a:ea typeface="Roboto"/>
                <a:cs typeface="Roboto"/>
              </a:rPr>
              <a:t/>
            </a:r>
            <a:r>
              <a:rPr lang="pt-BR" dirty="0" err="1" smtClean="0" sz="1300" b="0">
                <a:solidFill>
                  <a:srgbClr val="5F6468"/>
                </a:solidFill>
                <a:latin typeface="Roboto"/>
                <a:ea typeface="Roboto"/>
                <a:cs typeface="Roboto"/>
              </a:rPr>
              <a:t/>
            </a:r>
            <a:r>
              <a:rPr lang="pt-BR" dirty="0" smtClean="0" sz="1300" b="0">
                <a:solidFill>
                  <a:srgbClr val="5F6468"/>
                </a:solidFill>
                <a:latin typeface="Roboto"/>
                <a:ea typeface="Roboto"/>
                <a:cs typeface="Roboto"/>
              </a:rPr>
              <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Níveis intermediários: solicitar terceira dosagem</a:t>
            </a:r>
            <a:r>
              <a:rPr lang="pt-BR" dirty="0" sz="1300" b="0">
                <a:solidFill>
                  <a:srgbClr val="5F6468"/>
                </a:solidFill>
                <a:latin typeface="Roboto"/>
                <a:ea typeface="Roboto"/>
                <a:cs typeface="Roboto"/>
              </a:rPr>
              <a:t>	</a:t>
            </a:r>
            <a:endParaRPr sz="2400" lang="pt-B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49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68608945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Tipos de IAM</a:t>
            </a:r>
            <a:endParaRPr lang="pt-BR" dirty="0" sz="3200"/>
          </a:p>
        </p:txBody>
      </p:sp>
      <p:sp>
        <p:nvSpPr>
          <p:cNvPr id="3" name="Espaço Reservado para Conteúdo 2"/>
          <p:cNvSpPr>
            <a:spLocks noGrp="1"/>
          </p:cNvSpPr>
          <p:nvPr>
            <p:ph idx="1"/>
          </p:nvPr>
        </p:nvSpPr>
        <p:spPr>
          <a:xfrm>
            <a:off x="711403" y="1417320"/>
            <a:ext cx="10771632" cy="4425696"/>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TIPO 1</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Oclusão coronariana por ruptura de placa ou êmbolo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TIPO 2</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Desequilíbrio entre oferta e demanda de oxigênio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TIPO 3</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Morte súbita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TIPO 4</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Angioplastia coronariana transluminal percutânea (ACTP)</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TIPO 5</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Cirurgia de revascularização do miocárdio (CRM)</a:t>
            </a:r>
            <a:endParaRPr lang="pt-BR" dirty="0" sz="2400"/>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50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283115489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pic>
        <p:nvPicPr>
          <p:cNvPr id="4" name="Espaço Reservado para Conteúdo 3"/>
          <p:cNvPicPr>
            <a:picLocks noGrp="1" noChangeAspect="1"/>
          </p:cNvPicPr>
          <p:nvPr>
            <p:ph idx="1"/>
          </p:nvPr>
        </p:nvPicPr>
        <p:blipFill>
          <a:blip r:embed="rId2"/>
          <a:stretch>
            <a:fillRect/>
          </a:stretch>
        </p:blipFill>
        <p:spPr>
          <a:xfrm>
            <a:off x="2793548" y="558698"/>
            <a:ext cx="6607341" cy="5284317"/>
          </a:xfrm>
          <a:prstGeom prst="rect">
            <a:avLst/>
          </a:prstGeom>
        </p:spPr>
      </p:pic>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51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15576948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Fluxos 0-1h e 0-2h – Troponina cardíaca de alta sensibilidade (TCas) (1/2)</a:t>
            </a:r>
            <a:endParaRPr lang="pt-BR" dirty="0" sz="3200"/>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52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Fim/Início"/>
          <p:cNvSpPr/>
          <p:nvPr/>
        </p:nvSpPr>
        <p:spPr>
          <a:xfrm>
            <a:off x="713232" y="1691640"/>
            <a:ext cx="2194560" cy="457200"/>
          </a:xfrm>
          <a:prstGeom prst="roundRect">
            <a:avLst>
              <a:gd name="adj" fmla="val 50000"/>
            </a:avLst>
          </a:prstGeom>
          <a:solidFill>
            <a:srgbClr val="4E7C8B"/>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PRIMEIRA ESCOLHA</a:t>
            </a:r>
          </a:p>
        </p:txBody>
      </p:sp>
      <p:sp>
        <p:nvSpPr>
          <p:cNvPr id="302" name="Etapa"/>
          <p:cNvSpPr/>
          <p:nvPr/>
        </p:nvSpPr>
        <p:spPr>
          <a:xfrm>
            <a:off x="5394960" y="1691640"/>
            <a:ext cx="3291840" cy="45720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Coletar na admissão (0h)</a:t>
            </a:r>
          </a:p>
        </p:txBody>
      </p:sp>
      <p:sp>
        <p:nvSpPr>
          <p:cNvPr id="303" name="Seta"/>
          <p:cNvSpPr/>
          <p:nvPr/>
        </p:nvSpPr>
        <p:spPr>
          <a:xfrm>
            <a:off x="7040880" y="2148840"/>
            <a:ext cx="1" cy="228600"/>
          </a:xfrm>
          <a:custGeom>
            <a:avLst/>
            <a:gdLst/>
            <a:ahLst/>
            <a:cxnLst/>
            <a:rect l="0" t="0" r="r" b="b"/>
            <a:pathLst>
              <a:path w="1" h="228600" fill="none">
                <a:moveTo>
                  <a:pt x="0" y="0"/>
                </a:moveTo>
                <a:lnTo>
                  <a:pt x="0" y="228600"/>
                </a:lnTo>
              </a:path>
            </a:pathLst>
          </a:custGeom>
          <a:noFill/>
          <a:ln w="19050">
            <a:solidFill>
              <a:srgbClr val="6B6E70"/>
            </a:solidFill>
            <a:round/>
            <a:tailEnd type="triangle" w="med" len="med"/>
          </a:ln>
          <a:effectLst/>
        </p:spPr>
      </p:sp>
      <p:sp>
        <p:nvSpPr>
          <p:cNvPr id="304" name="Decisão"/>
          <p:cNvSpPr/>
          <p:nvPr/>
        </p:nvSpPr>
        <p:spPr>
          <a:xfrm>
            <a:off x="5303520" y="2377440"/>
            <a:ext cx="3474720" cy="1097280"/>
          </a:xfrm>
          <a:prstGeom prst="diamond">
            <a:avLst/>
          </a:prstGeom>
          <a:solidFill>
            <a:srgbClr val="8EC4CB"/>
          </a:solidFill>
          <a:ln>
            <a:noFill/>
          </a:ln>
          <a:effectLst/>
        </p:spPr>
        <p:txBody>
          <a:bodyPr rtlCol="0" anchor="ctr" wrap="square" lIns="0" rIns="0" tIns="45720" bIns="45720"/>
          <a:lstStyle/>
          <a:p>
            <a:pPr algn="ctr"/>
            <a:r>
              <a:rPr lang="pt-BR" sz="1200" b="0" i="0" dirty="0">
                <a:solidFill>
                  <a:srgbClr val="1F3238"/>
                </a:solidFill>
                <a:latin typeface="Roboto Medium"/>
                <a:ea typeface="Roboto Medium"/>
                <a:cs typeface="Roboto Medium"/>
              </a:rPr>
              <a:t>Nível elevado</a:t>
            </a:r>
          </a:p>
          <a:p>
            <a:pPr algn="ctr"/>
            <a:r>
              <a:rPr lang="pt-BR" sz="1200" b="0" i="0" dirty="0">
                <a:solidFill>
                  <a:srgbClr val="1F3238"/>
                </a:solidFill>
                <a:latin typeface="Roboto Medium"/>
                <a:ea typeface="Roboto Medium"/>
                <a:cs typeface="Roboto Medium"/>
              </a:rPr>
              <a:t>(Tabela 26)?</a:t>
            </a:r>
          </a:p>
        </p:txBody>
      </p:sp>
      <p:sp>
        <p:nvSpPr>
          <p:cNvPr id="305" name="Status"/>
          <p:cNvSpPr/>
          <p:nvPr/>
        </p:nvSpPr>
        <p:spPr>
          <a:xfrm>
            <a:off x="9326880" y="2587752"/>
            <a:ext cx="2157984" cy="685800"/>
          </a:xfrm>
          <a:prstGeom prst="rect">
            <a:avLst/>
          </a:prstGeom>
          <a:solidFill>
            <a:srgbClr val="B5533C"/>
          </a:solidFill>
          <a:ln>
            <a:noFill/>
          </a:ln>
          <a:effectLst/>
        </p:spPr>
        <p:txBody>
          <a:bodyPr rtlCol="0" anchor="ctr" wrap="square" lIns="91440" rIns="91440" tIns="45720" bIns="45720"/>
          <a:lstStyle/>
          <a:p>
            <a:pPr algn="ctr">
              <a:buNone/>
            </a:pPr>
            <a:r>
              <a:rPr lang="pt-BR" sz="1200" b="0" i="0" dirty="0">
                <a:solidFill>
                  <a:srgbClr val="FBFCFC"/>
                </a:solidFill>
                <a:latin typeface="Roboto Medium"/>
                <a:ea typeface="Roboto Medium"/>
                <a:cs typeface="Roboto Medium"/>
              </a:rPr>
              <a:t>RULE IN – ADMISSÃO DO PACIENTE</a:t>
            </a:r>
          </a:p>
        </p:txBody>
      </p:sp>
      <p:sp>
        <p:nvSpPr>
          <p:cNvPr id="306" name="Texto"/>
          <p:cNvSpPr txBox="1"/>
          <p:nvPr/>
        </p:nvSpPr>
        <p:spPr>
          <a:xfrm>
            <a:off x="9326880" y="3364992"/>
            <a:ext cx="2157984" cy="777240"/>
          </a:xfrm>
          <a:prstGeom prst="rect">
            <a:avLst/>
          </a:prstGeom>
          <a:noFill/>
        </p:spPr>
        <p:txBody>
          <a:bodyPr wrap="square" lIns="0" rIns="0" tIns="0" bIns="0" anchor="t">
            <a:noAutofit/>
          </a:bodyPr>
          <a:lstStyle/>
          <a:p>
            <a:pPr algn="l">
              <a:buNone/>
            </a:pPr>
            <a:r>
              <a:rPr lang="pt-BR" sz="1200" b="0" i="0" dirty="0">
                <a:solidFill>
                  <a:srgbClr val="5F6468"/>
                </a:solidFill>
                <a:latin typeface="Roboto"/>
                <a:ea typeface="Roboto"/>
                <a:cs typeface="Roboto"/>
              </a:rPr>
              <a:t>Avaliar critérios de IAM e, na ausência de critérios de IAM, buscar ativamente a causa da injúria</a:t>
            </a:r>
          </a:p>
        </p:txBody>
      </p:sp>
      <p:sp>
        <p:nvSpPr>
          <p:cNvPr id="307" name="Seta"/>
          <p:cNvSpPr/>
          <p:nvPr/>
        </p:nvSpPr>
        <p:spPr>
          <a:xfrm>
            <a:off x="8778240" y="2926080"/>
            <a:ext cx="548640" cy="1"/>
          </a:xfrm>
          <a:custGeom>
            <a:avLst/>
            <a:gdLst/>
            <a:ahLst/>
            <a:cxnLst/>
            <a:rect l="0" t="0" r="r" b="b"/>
            <a:pathLst>
              <a:path w="548640" h="1" fill="none">
                <a:moveTo>
                  <a:pt x="0" y="0"/>
                </a:moveTo>
                <a:lnTo>
                  <a:pt x="548640" y="0"/>
                </a:lnTo>
              </a:path>
            </a:pathLst>
          </a:custGeom>
          <a:noFill/>
          <a:ln w="19050">
            <a:solidFill>
              <a:srgbClr val="6B6E70"/>
            </a:solidFill>
            <a:round/>
            <a:tailEnd type="triangle" w="med" len="med"/>
          </a:ln>
          <a:effectLst/>
        </p:spPr>
      </p:sp>
      <p:sp>
        <p:nvSpPr>
          <p:cNvPr id="308" name="Rótulo"/>
          <p:cNvSpPr txBox="1"/>
          <p:nvPr/>
        </p:nvSpPr>
        <p:spPr>
          <a:xfrm>
            <a:off x="8833104" y="2670048"/>
            <a:ext cx="41148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Sim</a:t>
            </a:r>
          </a:p>
        </p:txBody>
      </p:sp>
      <p:sp>
        <p:nvSpPr>
          <p:cNvPr id="309" name="Decisão"/>
          <p:cNvSpPr/>
          <p:nvPr/>
        </p:nvSpPr>
        <p:spPr>
          <a:xfrm>
            <a:off x="2743200" y="3611880"/>
            <a:ext cx="3657600" cy="1828800"/>
          </a:xfrm>
          <a:prstGeom prst="diamond">
            <a:avLst/>
          </a:prstGeom>
          <a:solidFill>
            <a:srgbClr val="8EC4CB"/>
          </a:solidFill>
          <a:ln>
            <a:noFill/>
          </a:ln>
          <a:effectLst/>
        </p:spPr>
        <p:txBody>
          <a:bodyPr rtlCol="0" anchor="ctr" wrap="square" lIns="0" rIns="0" tIns="45720" bIns="45720"/>
          <a:lstStyle/>
          <a:p>
            <a:pPr algn="ctr"/>
            <a:r>
              <a:rPr lang="pt-BR" sz="1200" b="0" i="0" dirty="0">
                <a:solidFill>
                  <a:srgbClr val="1F3238"/>
                </a:solidFill>
                <a:latin typeface="Roboto Medium"/>
                <a:ea typeface="Roboto Medium"/>
                <a:cs typeface="Roboto Medium"/>
              </a:rPr>
              <a:t>Tempo do sintoma</a:t>
            </a:r>
          </a:p>
          <a:p>
            <a:pPr algn="ctr"/>
            <a:r>
              <a:rPr lang="pt-BR" sz="1200" b="0" i="0" dirty="0">
                <a:solidFill>
                  <a:srgbClr val="1F3238"/>
                </a:solidFill>
                <a:latin typeface="Roboto Medium"/>
                <a:ea typeface="Roboto Medium"/>
                <a:cs typeface="Roboto Medium"/>
              </a:rPr>
              <a:t>&gt; 3h e valor</a:t>
            </a:r>
          </a:p>
          <a:p>
            <a:pPr algn="ctr"/>
            <a:r>
              <a:rPr lang="pt-BR" sz="1200" b="0" i="0" dirty="0">
                <a:solidFill>
                  <a:srgbClr val="1F3238"/>
                </a:solidFill>
                <a:latin typeface="Roboto Medium"/>
                <a:ea typeface="Roboto Medium"/>
                <a:cs typeface="Roboto Medium"/>
              </a:rPr>
              <a:t>muito baixo</a:t>
            </a:r>
          </a:p>
          <a:p>
            <a:pPr algn="ctr"/>
            <a:r>
              <a:rPr lang="pt-BR" sz="1200" b="0" i="0" dirty="0">
                <a:solidFill>
                  <a:srgbClr val="1F3238"/>
                </a:solidFill>
                <a:latin typeface="Roboto Medium"/>
                <a:ea typeface="Roboto Medium"/>
                <a:cs typeface="Roboto Medium"/>
              </a:rPr>
              <a:t>de TCas</a:t>
            </a:r>
          </a:p>
          <a:p>
            <a:pPr algn="ctr"/>
            <a:r>
              <a:rPr lang="pt-BR" sz="1200" b="0" i="0" dirty="0">
                <a:solidFill>
                  <a:srgbClr val="1F3238"/>
                </a:solidFill>
                <a:latin typeface="Roboto Medium"/>
                <a:ea typeface="Roboto Medium"/>
                <a:cs typeface="Roboto Medium"/>
              </a:rPr>
              <a:t>(indetectável)?</a:t>
            </a:r>
          </a:p>
        </p:txBody>
      </p:sp>
      <p:sp>
        <p:nvSpPr>
          <p:cNvPr id="310" name="Seta"/>
          <p:cNvSpPr/>
          <p:nvPr/>
        </p:nvSpPr>
        <p:spPr>
          <a:xfrm>
            <a:off x="4572000" y="2926080"/>
            <a:ext cx="731520" cy="685800"/>
          </a:xfrm>
          <a:custGeom>
            <a:avLst/>
            <a:gdLst/>
            <a:ahLst/>
            <a:cxnLst/>
            <a:rect l="0" t="0" r="r" b="b"/>
            <a:pathLst>
              <a:path w="731520" h="685800" fill="none">
                <a:moveTo>
                  <a:pt x="731520" y="0"/>
                </a:moveTo>
                <a:lnTo>
                  <a:pt x="0" y="0"/>
                </a:lnTo>
                <a:lnTo>
                  <a:pt x="0" y="685800"/>
                </a:lnTo>
              </a:path>
            </a:pathLst>
          </a:custGeom>
          <a:noFill/>
          <a:ln w="19050">
            <a:solidFill>
              <a:srgbClr val="6B6E70"/>
            </a:solidFill>
            <a:round/>
            <a:tailEnd type="triangle" w="med" len="med"/>
          </a:ln>
          <a:effectLst/>
        </p:spPr>
      </p:sp>
      <p:sp>
        <p:nvSpPr>
          <p:cNvPr id="311" name="Rótulo"/>
          <p:cNvSpPr txBox="1"/>
          <p:nvPr/>
        </p:nvSpPr>
        <p:spPr>
          <a:xfrm>
            <a:off x="4754880" y="2670048"/>
            <a:ext cx="457200" cy="201168"/>
          </a:xfrm>
          <a:prstGeom prst="rect">
            <a:avLst/>
          </a:prstGeom>
          <a:noFill/>
        </p:spPr>
        <p:txBody>
          <a:bodyPr wrap="square" lIns="0" rIns="0" tIns="0" bIns="0" anchor="t">
            <a:noAutofit/>
          </a:bodyPr>
          <a:lstStyle/>
          <a:p>
            <a:pPr algn="r"/>
            <a:r>
              <a:rPr lang="pt-BR" sz="1200" b="0" i="0" dirty="0">
                <a:solidFill>
                  <a:srgbClr val="4E7C8B"/>
                </a:solidFill>
                <a:latin typeface="Roboto Medium"/>
                <a:ea typeface="Roboto Medium"/>
                <a:cs typeface="Roboto Medium"/>
              </a:rPr>
              <a:t>Não</a:t>
            </a:r>
          </a:p>
        </p:txBody>
      </p:sp>
      <p:sp>
        <p:nvSpPr>
          <p:cNvPr id="312" name="Status"/>
          <p:cNvSpPr/>
          <p:nvPr/>
        </p:nvSpPr>
        <p:spPr>
          <a:xfrm>
            <a:off x="7040880" y="4160520"/>
            <a:ext cx="2194560" cy="731520"/>
          </a:xfrm>
          <a:prstGeom prst="rect">
            <a:avLst/>
          </a:prstGeom>
          <a:solidFill>
            <a:srgbClr val="3E8E68"/>
          </a:solidFill>
          <a:ln>
            <a:noFill/>
          </a:ln>
          <a:effectLst/>
        </p:spPr>
        <p:txBody>
          <a:bodyPr rtlCol="0" anchor="ctr" wrap="square" lIns="91440" rIns="91440" tIns="45720" bIns="45720"/>
          <a:lstStyle/>
          <a:p>
            <a:pPr algn="ctr">
              <a:buNone/>
            </a:pPr>
            <a:r>
              <a:rPr lang="pt-BR" sz="1200" b="0" i="0" dirty="0">
                <a:solidFill>
                  <a:srgbClr val="FBFCFC"/>
                </a:solidFill>
                <a:latin typeface="Roboto Medium"/>
                <a:ea typeface="Roboto Medium"/>
                <a:cs typeface="Roboto Medium"/>
              </a:rPr>
              <a:t>RULE OUT – DESCARTE DO DIAGNÓSTICO DE IAM</a:t>
            </a:r>
          </a:p>
        </p:txBody>
      </p:sp>
      <p:sp>
        <p:nvSpPr>
          <p:cNvPr id="313" name="Texto"/>
          <p:cNvSpPr txBox="1"/>
          <p:nvPr/>
        </p:nvSpPr>
        <p:spPr>
          <a:xfrm>
            <a:off x="9418320" y="4297680"/>
            <a:ext cx="2066544" cy="1371600"/>
          </a:xfrm>
          <a:prstGeom prst="rect">
            <a:avLst/>
          </a:prstGeom>
          <a:noFill/>
        </p:spPr>
        <p:txBody>
          <a:bodyPr wrap="square" lIns="0" rIns="0" tIns="0" bIns="0" anchor="t">
            <a:noAutofit/>
          </a:bodyPr>
          <a:lstStyle/>
          <a:p>
            <a:pPr algn="l">
              <a:buNone/>
            </a:pPr>
            <a:r>
              <a:rPr lang="pt-BR" sz="1200" b="0" i="0" dirty="0">
                <a:solidFill>
                  <a:srgbClr val="5F6468"/>
                </a:solidFill>
                <a:latin typeface="Roboto"/>
                <a:ea typeface="Roboto"/>
                <a:cs typeface="Roboto"/>
              </a:rPr>
              <a:t>Na ausência de diagnósticos alternativos para a causa da dor torácica, considerar alta para casa, especialmente se HEART score &lt;4 em paciente sem antecedente de doença coronária *</a:t>
            </a:r>
          </a:p>
        </p:txBody>
      </p:sp>
      <p:sp>
        <p:nvSpPr>
          <p:cNvPr id="314" name="Seta"/>
          <p:cNvSpPr/>
          <p:nvPr/>
        </p:nvSpPr>
        <p:spPr>
          <a:xfrm>
            <a:off x="6400800" y="4526280"/>
            <a:ext cx="640080" cy="1"/>
          </a:xfrm>
          <a:custGeom>
            <a:avLst/>
            <a:gdLst/>
            <a:ahLst/>
            <a:cxnLst/>
            <a:rect l="0" t="0" r="r" b="b"/>
            <a:pathLst>
              <a:path w="640080" h="1" fill="none">
                <a:moveTo>
                  <a:pt x="0" y="0"/>
                </a:moveTo>
                <a:lnTo>
                  <a:pt x="640080" y="0"/>
                </a:lnTo>
              </a:path>
            </a:pathLst>
          </a:custGeom>
          <a:noFill/>
          <a:ln w="19050">
            <a:solidFill>
              <a:srgbClr val="6B6E70"/>
            </a:solidFill>
            <a:round/>
            <a:tailEnd type="triangle" w="med" len="med"/>
          </a:ln>
          <a:effectLst/>
        </p:spPr>
      </p:sp>
      <p:sp>
        <p:nvSpPr>
          <p:cNvPr id="315" name="Rótulo"/>
          <p:cNvSpPr txBox="1"/>
          <p:nvPr/>
        </p:nvSpPr>
        <p:spPr>
          <a:xfrm>
            <a:off x="6446520" y="4270248"/>
            <a:ext cx="41148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Sim</a:t>
            </a:r>
          </a:p>
        </p:txBody>
      </p:sp>
      <p:sp>
        <p:nvSpPr>
          <p:cNvPr id="316" name="Etapa"/>
          <p:cNvSpPr/>
          <p:nvPr/>
        </p:nvSpPr>
        <p:spPr>
          <a:xfrm>
            <a:off x="713232" y="3886200"/>
            <a:ext cx="1371600" cy="128016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Realizar novas coletas em 1 ou 2 horas*</a:t>
            </a:r>
          </a:p>
        </p:txBody>
      </p:sp>
      <p:sp>
        <p:nvSpPr>
          <p:cNvPr id="317" name="Seta"/>
          <p:cNvSpPr/>
          <p:nvPr/>
        </p:nvSpPr>
        <p:spPr>
          <a:xfrm>
            <a:off x="2084832" y="4526280"/>
            <a:ext cx="658368" cy="1"/>
          </a:xfrm>
          <a:custGeom>
            <a:avLst/>
            <a:gdLst/>
            <a:ahLst/>
            <a:cxnLst/>
            <a:rect l="0" t="0" r="r" b="b"/>
            <a:pathLst>
              <a:path w="658368" h="1" fill="none">
                <a:moveTo>
                  <a:pt x="658368" y="0"/>
                </a:moveTo>
                <a:lnTo>
                  <a:pt x="0" y="0"/>
                </a:lnTo>
              </a:path>
            </a:pathLst>
          </a:custGeom>
          <a:noFill/>
          <a:ln w="19050">
            <a:solidFill>
              <a:srgbClr val="6B6E70"/>
            </a:solidFill>
            <a:round/>
            <a:tailEnd type="triangle" w="med" len="med"/>
          </a:ln>
          <a:effectLst/>
        </p:spPr>
      </p:sp>
      <p:sp>
        <p:nvSpPr>
          <p:cNvPr id="318" name="Rótulo"/>
          <p:cNvSpPr txBox="1"/>
          <p:nvPr/>
        </p:nvSpPr>
        <p:spPr>
          <a:xfrm>
            <a:off x="2121408" y="4270248"/>
            <a:ext cx="45720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Não</a:t>
            </a:r>
          </a:p>
        </p:txBody>
      </p:sp>
      <p:sp>
        <p:nvSpPr>
          <p:cNvPr id="319" name="Nota"/>
          <p:cNvSpPr txBox="1"/>
          <p:nvPr/>
        </p:nvSpPr>
        <p:spPr>
          <a:xfrm>
            <a:off x="713232" y="5715000"/>
            <a:ext cx="10771632" cy="384048"/>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*Se suspeita de SCA persistir, seguir fluxo de investigação não-invasiva (ver tópico 4.3.3 e figuras 13 e 14). Na impossibilidade de realizar coleta em 1 ou 2 horas, coletar em 3 horas (ver figura 11B).</a:t>
            </a:r>
          </a:p>
        </p:txBody>
      </p:sp>
    </p:spTree>
    <p:extLst>
      <p:ext uri="{BB962C8B-B14F-4D97-AF65-F5344CB8AC3E}">
        <p14:creationId xmlns:p14="http://schemas.microsoft.com/office/powerpoint/2010/main" val="174782340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Fluxo 0-3h – Troponina cardíaca de alta sensibilidade (TCas) (1/2)</a:t>
            </a:r>
            <a:endParaRPr lang="pt-BR" dirty="0" sz="3200"/>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54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Fim/Início"/>
          <p:cNvSpPr/>
          <p:nvPr/>
        </p:nvSpPr>
        <p:spPr>
          <a:xfrm>
            <a:off x="713232" y="1691640"/>
            <a:ext cx="2194560" cy="457200"/>
          </a:xfrm>
          <a:prstGeom prst="roundRect">
            <a:avLst>
              <a:gd name="adj" fmla="val 50000"/>
            </a:avLst>
          </a:prstGeom>
          <a:solidFill>
            <a:srgbClr val="4E7C8B"/>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SEGUNDA ESCOLHA</a:t>
            </a:r>
          </a:p>
        </p:txBody>
      </p:sp>
      <p:sp>
        <p:nvSpPr>
          <p:cNvPr id="302" name="Nota"/>
          <p:cNvSpPr txBox="1"/>
          <p:nvPr/>
        </p:nvSpPr>
        <p:spPr>
          <a:xfrm>
            <a:off x="713232" y="2286000"/>
            <a:ext cx="3291840" cy="731520"/>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Alternativa a ser considerada quando não for possível realizar algoritmos de 0/1h ou 0/2h</a:t>
            </a:r>
          </a:p>
        </p:txBody>
      </p:sp>
      <p:sp>
        <p:nvSpPr>
          <p:cNvPr id="303" name="Etapa"/>
          <p:cNvSpPr/>
          <p:nvPr/>
        </p:nvSpPr>
        <p:spPr>
          <a:xfrm>
            <a:off x="5394960" y="1691640"/>
            <a:ext cx="3291840" cy="45720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Coletar na admissão (0h)</a:t>
            </a:r>
          </a:p>
        </p:txBody>
      </p:sp>
      <p:sp>
        <p:nvSpPr>
          <p:cNvPr id="304" name="Seta"/>
          <p:cNvSpPr/>
          <p:nvPr/>
        </p:nvSpPr>
        <p:spPr>
          <a:xfrm>
            <a:off x="7040880" y="2148840"/>
            <a:ext cx="1" cy="228600"/>
          </a:xfrm>
          <a:custGeom>
            <a:avLst/>
            <a:gdLst/>
            <a:ahLst/>
            <a:cxnLst/>
            <a:rect l="0" t="0" r="r" b="b"/>
            <a:pathLst>
              <a:path w="1" h="228600" fill="none">
                <a:moveTo>
                  <a:pt x="0" y="0"/>
                </a:moveTo>
                <a:lnTo>
                  <a:pt x="0" y="228600"/>
                </a:lnTo>
              </a:path>
            </a:pathLst>
          </a:custGeom>
          <a:noFill/>
          <a:ln w="19050">
            <a:solidFill>
              <a:srgbClr val="6B6E70"/>
            </a:solidFill>
            <a:round/>
            <a:tailEnd type="triangle" w="med" len="med"/>
          </a:ln>
          <a:effectLst/>
        </p:spPr>
      </p:sp>
      <p:sp>
        <p:nvSpPr>
          <p:cNvPr id="305" name="Decisão"/>
          <p:cNvSpPr/>
          <p:nvPr/>
        </p:nvSpPr>
        <p:spPr>
          <a:xfrm>
            <a:off x="5303520" y="2377440"/>
            <a:ext cx="3474720" cy="1097280"/>
          </a:xfrm>
          <a:prstGeom prst="diamond">
            <a:avLst/>
          </a:prstGeom>
          <a:solidFill>
            <a:srgbClr val="8EC4CB"/>
          </a:solidFill>
          <a:ln>
            <a:noFill/>
          </a:ln>
          <a:effectLst/>
        </p:spPr>
        <p:txBody>
          <a:bodyPr rtlCol="0" anchor="ctr" wrap="square" lIns="0" rIns="0" tIns="45720" bIns="45720"/>
          <a:lstStyle/>
          <a:p>
            <a:pPr algn="ctr"/>
            <a:r>
              <a:rPr lang="pt-BR" sz="1200" b="0" i="0" dirty="0">
                <a:solidFill>
                  <a:srgbClr val="1F3238"/>
                </a:solidFill>
                <a:latin typeface="Roboto Medium"/>
                <a:ea typeface="Roboto Medium"/>
                <a:cs typeface="Roboto Medium"/>
              </a:rPr>
              <a:t>Valor &gt; 5x</a:t>
            </a:r>
          </a:p>
          <a:p>
            <a:pPr algn="ctr"/>
            <a:r>
              <a:rPr lang="pt-BR" sz="1200" b="0" i="0" dirty="0">
                <a:solidFill>
                  <a:srgbClr val="1F3238"/>
                </a:solidFill>
                <a:latin typeface="Roboto Medium"/>
                <a:ea typeface="Roboto Medium"/>
                <a:cs typeface="Roboto Medium"/>
              </a:rPr>
              <a:t>percentil 99?</a:t>
            </a:r>
          </a:p>
        </p:txBody>
      </p:sp>
      <p:sp>
        <p:nvSpPr>
          <p:cNvPr id="306" name="Status"/>
          <p:cNvSpPr/>
          <p:nvPr/>
        </p:nvSpPr>
        <p:spPr>
          <a:xfrm>
            <a:off x="9326880" y="2587752"/>
            <a:ext cx="2157984" cy="685800"/>
          </a:xfrm>
          <a:prstGeom prst="rect">
            <a:avLst/>
          </a:prstGeom>
          <a:solidFill>
            <a:srgbClr val="B5533C"/>
          </a:solidFill>
          <a:ln>
            <a:noFill/>
          </a:ln>
          <a:effectLst/>
        </p:spPr>
        <p:txBody>
          <a:bodyPr rtlCol="0" anchor="ctr" wrap="square" lIns="91440" rIns="91440" tIns="45720" bIns="45720"/>
          <a:lstStyle/>
          <a:p>
            <a:pPr algn="ctr">
              <a:buNone/>
            </a:pPr>
            <a:r>
              <a:rPr lang="pt-BR" sz="1200" b="0" i="0" dirty="0">
                <a:solidFill>
                  <a:srgbClr val="FBFCFC"/>
                </a:solidFill>
                <a:latin typeface="Roboto Medium"/>
                <a:ea typeface="Roboto Medium"/>
                <a:cs typeface="Roboto Medium"/>
              </a:rPr>
              <a:t>RULE IN – ADMISSÃO DO PACIENTE</a:t>
            </a:r>
          </a:p>
        </p:txBody>
      </p:sp>
      <p:sp>
        <p:nvSpPr>
          <p:cNvPr id="307" name="Texto"/>
          <p:cNvSpPr txBox="1"/>
          <p:nvPr/>
        </p:nvSpPr>
        <p:spPr>
          <a:xfrm>
            <a:off x="9326880" y="3364992"/>
            <a:ext cx="2157984" cy="777240"/>
          </a:xfrm>
          <a:prstGeom prst="rect">
            <a:avLst/>
          </a:prstGeom>
          <a:noFill/>
        </p:spPr>
        <p:txBody>
          <a:bodyPr wrap="square" lIns="0" rIns="0" tIns="0" bIns="0" anchor="t">
            <a:noAutofit/>
          </a:bodyPr>
          <a:lstStyle/>
          <a:p>
            <a:pPr algn="l">
              <a:buNone/>
            </a:pPr>
            <a:r>
              <a:rPr lang="pt-BR" sz="1200" b="0" i="0" dirty="0">
                <a:solidFill>
                  <a:srgbClr val="5F6468"/>
                </a:solidFill>
                <a:latin typeface="Roboto"/>
                <a:ea typeface="Roboto"/>
                <a:cs typeface="Roboto"/>
              </a:rPr>
              <a:t>Avaliar critérios de IAM e, na ausência de critérios de IAM, buscar ativamente a causa da injúria</a:t>
            </a:r>
          </a:p>
        </p:txBody>
      </p:sp>
      <p:sp>
        <p:nvSpPr>
          <p:cNvPr id="308" name="Seta"/>
          <p:cNvSpPr/>
          <p:nvPr/>
        </p:nvSpPr>
        <p:spPr>
          <a:xfrm>
            <a:off x="8778240" y="2926080"/>
            <a:ext cx="548640" cy="1"/>
          </a:xfrm>
          <a:custGeom>
            <a:avLst/>
            <a:gdLst/>
            <a:ahLst/>
            <a:cxnLst/>
            <a:rect l="0" t="0" r="r" b="b"/>
            <a:pathLst>
              <a:path w="548640" h="1" fill="none">
                <a:moveTo>
                  <a:pt x="0" y="0"/>
                </a:moveTo>
                <a:lnTo>
                  <a:pt x="548640" y="0"/>
                </a:lnTo>
              </a:path>
            </a:pathLst>
          </a:custGeom>
          <a:noFill/>
          <a:ln w="19050">
            <a:solidFill>
              <a:srgbClr val="6B6E70"/>
            </a:solidFill>
            <a:round/>
            <a:tailEnd type="triangle" w="med" len="med"/>
          </a:ln>
          <a:effectLst/>
        </p:spPr>
      </p:sp>
      <p:sp>
        <p:nvSpPr>
          <p:cNvPr id="309" name="Rótulo"/>
          <p:cNvSpPr txBox="1"/>
          <p:nvPr/>
        </p:nvSpPr>
        <p:spPr>
          <a:xfrm>
            <a:off x="8833104" y="2670048"/>
            <a:ext cx="41148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Sim</a:t>
            </a:r>
          </a:p>
        </p:txBody>
      </p:sp>
      <p:sp>
        <p:nvSpPr>
          <p:cNvPr id="310" name="Decisão"/>
          <p:cNvSpPr/>
          <p:nvPr/>
        </p:nvSpPr>
        <p:spPr>
          <a:xfrm>
            <a:off x="2743200" y="3611880"/>
            <a:ext cx="3657600" cy="1828800"/>
          </a:xfrm>
          <a:prstGeom prst="diamond">
            <a:avLst/>
          </a:prstGeom>
          <a:solidFill>
            <a:srgbClr val="8EC4CB"/>
          </a:solidFill>
          <a:ln>
            <a:noFill/>
          </a:ln>
          <a:effectLst/>
        </p:spPr>
        <p:txBody>
          <a:bodyPr rtlCol="0" anchor="ctr" wrap="square" lIns="0" rIns="0" tIns="45720" bIns="45720"/>
          <a:lstStyle/>
          <a:p>
            <a:pPr algn="ctr"/>
            <a:r>
              <a:rPr lang="pt-BR" sz="1200" b="0" i="0" dirty="0">
                <a:solidFill>
                  <a:srgbClr val="1F3238"/>
                </a:solidFill>
                <a:latin typeface="Roboto Medium"/>
                <a:ea typeface="Roboto Medium"/>
                <a:cs typeface="Roboto Medium"/>
              </a:rPr>
              <a:t>Tempo do sintoma</a:t>
            </a:r>
          </a:p>
          <a:p>
            <a:pPr algn="ctr"/>
            <a:r>
              <a:rPr lang="pt-BR" sz="1200" b="0" i="0" dirty="0">
                <a:solidFill>
                  <a:srgbClr val="1F3238"/>
                </a:solidFill>
                <a:latin typeface="Roboto Medium"/>
                <a:ea typeface="Roboto Medium"/>
                <a:cs typeface="Roboto Medium"/>
              </a:rPr>
              <a:t>&gt; 3h e valor</a:t>
            </a:r>
          </a:p>
          <a:p>
            <a:pPr algn="ctr"/>
            <a:r>
              <a:rPr lang="pt-BR" sz="1200" b="0" i="0" dirty="0">
                <a:solidFill>
                  <a:srgbClr val="1F3238"/>
                </a:solidFill>
                <a:latin typeface="Roboto Medium"/>
                <a:ea typeface="Roboto Medium"/>
                <a:cs typeface="Roboto Medium"/>
              </a:rPr>
              <a:t>muito baixo</a:t>
            </a:r>
          </a:p>
          <a:p>
            <a:pPr algn="ctr"/>
            <a:r>
              <a:rPr lang="pt-BR" sz="1200" b="0" i="0" dirty="0">
                <a:solidFill>
                  <a:srgbClr val="1F3238"/>
                </a:solidFill>
                <a:latin typeface="Roboto Medium"/>
                <a:ea typeface="Roboto Medium"/>
                <a:cs typeface="Roboto Medium"/>
              </a:rPr>
              <a:t>de TCas</a:t>
            </a:r>
          </a:p>
          <a:p>
            <a:pPr algn="ctr"/>
            <a:r>
              <a:rPr lang="pt-BR" sz="1200" b="0" i="0" dirty="0">
                <a:solidFill>
                  <a:srgbClr val="1F3238"/>
                </a:solidFill>
                <a:latin typeface="Roboto Medium"/>
                <a:ea typeface="Roboto Medium"/>
                <a:cs typeface="Roboto Medium"/>
              </a:rPr>
              <a:t>(indetectável)?</a:t>
            </a:r>
          </a:p>
        </p:txBody>
      </p:sp>
      <p:sp>
        <p:nvSpPr>
          <p:cNvPr id="311" name="Seta"/>
          <p:cNvSpPr/>
          <p:nvPr/>
        </p:nvSpPr>
        <p:spPr>
          <a:xfrm>
            <a:off x="4572000" y="2926080"/>
            <a:ext cx="731520" cy="685800"/>
          </a:xfrm>
          <a:custGeom>
            <a:avLst/>
            <a:gdLst/>
            <a:ahLst/>
            <a:cxnLst/>
            <a:rect l="0" t="0" r="r" b="b"/>
            <a:pathLst>
              <a:path w="731520" h="685800" fill="none">
                <a:moveTo>
                  <a:pt x="731520" y="0"/>
                </a:moveTo>
                <a:lnTo>
                  <a:pt x="0" y="0"/>
                </a:lnTo>
                <a:lnTo>
                  <a:pt x="0" y="685800"/>
                </a:lnTo>
              </a:path>
            </a:pathLst>
          </a:custGeom>
          <a:noFill/>
          <a:ln w="19050">
            <a:solidFill>
              <a:srgbClr val="6B6E70"/>
            </a:solidFill>
            <a:round/>
            <a:tailEnd type="triangle" w="med" len="med"/>
          </a:ln>
          <a:effectLst/>
        </p:spPr>
      </p:sp>
      <p:sp>
        <p:nvSpPr>
          <p:cNvPr id="312" name="Rótulo"/>
          <p:cNvSpPr txBox="1"/>
          <p:nvPr/>
        </p:nvSpPr>
        <p:spPr>
          <a:xfrm>
            <a:off x="4754880" y="2670048"/>
            <a:ext cx="457200" cy="201168"/>
          </a:xfrm>
          <a:prstGeom prst="rect">
            <a:avLst/>
          </a:prstGeom>
          <a:noFill/>
        </p:spPr>
        <p:txBody>
          <a:bodyPr wrap="square" lIns="0" rIns="0" tIns="0" bIns="0" anchor="t">
            <a:noAutofit/>
          </a:bodyPr>
          <a:lstStyle/>
          <a:p>
            <a:pPr algn="r"/>
            <a:r>
              <a:rPr lang="pt-BR" sz="1200" b="0" i="0" dirty="0">
                <a:solidFill>
                  <a:srgbClr val="4E7C8B"/>
                </a:solidFill>
                <a:latin typeface="Roboto Medium"/>
                <a:ea typeface="Roboto Medium"/>
                <a:cs typeface="Roboto Medium"/>
              </a:rPr>
              <a:t>Não</a:t>
            </a:r>
          </a:p>
        </p:txBody>
      </p:sp>
      <p:sp>
        <p:nvSpPr>
          <p:cNvPr id="313" name="Status"/>
          <p:cNvSpPr/>
          <p:nvPr/>
        </p:nvSpPr>
        <p:spPr>
          <a:xfrm>
            <a:off x="7040880" y="4160520"/>
            <a:ext cx="2194560" cy="731520"/>
          </a:xfrm>
          <a:prstGeom prst="rect">
            <a:avLst/>
          </a:prstGeom>
          <a:solidFill>
            <a:srgbClr val="3E8E68"/>
          </a:solidFill>
          <a:ln>
            <a:noFill/>
          </a:ln>
          <a:effectLst/>
        </p:spPr>
        <p:txBody>
          <a:bodyPr rtlCol="0" anchor="ctr" wrap="square" lIns="91440" rIns="91440" tIns="45720" bIns="45720"/>
          <a:lstStyle/>
          <a:p>
            <a:pPr algn="ctr">
              <a:buNone/>
            </a:pPr>
            <a:r>
              <a:rPr lang="pt-BR" sz="1200" b="0" i="0" dirty="0">
                <a:solidFill>
                  <a:srgbClr val="FBFCFC"/>
                </a:solidFill>
                <a:latin typeface="Roboto Medium"/>
                <a:ea typeface="Roboto Medium"/>
                <a:cs typeface="Roboto Medium"/>
              </a:rPr>
              <a:t>RULE OUT – DESCARTE DO DIAGNÓSTICO DE IAM</a:t>
            </a:r>
          </a:p>
        </p:txBody>
      </p:sp>
      <p:sp>
        <p:nvSpPr>
          <p:cNvPr id="314" name="Texto"/>
          <p:cNvSpPr txBox="1"/>
          <p:nvPr/>
        </p:nvSpPr>
        <p:spPr>
          <a:xfrm>
            <a:off x="9418320" y="4297680"/>
            <a:ext cx="2066544" cy="1371600"/>
          </a:xfrm>
          <a:prstGeom prst="rect">
            <a:avLst/>
          </a:prstGeom>
          <a:noFill/>
        </p:spPr>
        <p:txBody>
          <a:bodyPr wrap="square" lIns="0" rIns="0" tIns="0" bIns="0" anchor="t">
            <a:noAutofit/>
          </a:bodyPr>
          <a:lstStyle/>
          <a:p>
            <a:pPr algn="l">
              <a:buNone/>
            </a:pPr>
            <a:r>
              <a:rPr lang="pt-BR" sz="1200" b="0" i="0" dirty="0">
                <a:solidFill>
                  <a:srgbClr val="5F6468"/>
                </a:solidFill>
                <a:latin typeface="Roboto"/>
                <a:ea typeface="Roboto"/>
                <a:cs typeface="Roboto"/>
              </a:rPr>
              <a:t>Na ausência de diagnósticos alternativos para a causa da dor torácica, considerar alta para casa, especialmente se HEART score &lt;4 em paciente sem antecedente de doença coronária*</a:t>
            </a:r>
          </a:p>
        </p:txBody>
      </p:sp>
      <p:sp>
        <p:nvSpPr>
          <p:cNvPr id="315" name="Seta"/>
          <p:cNvSpPr/>
          <p:nvPr/>
        </p:nvSpPr>
        <p:spPr>
          <a:xfrm>
            <a:off x="6400800" y="4526280"/>
            <a:ext cx="640080" cy="1"/>
          </a:xfrm>
          <a:custGeom>
            <a:avLst/>
            <a:gdLst/>
            <a:ahLst/>
            <a:cxnLst/>
            <a:rect l="0" t="0" r="r" b="b"/>
            <a:pathLst>
              <a:path w="640080" h="1" fill="none">
                <a:moveTo>
                  <a:pt x="0" y="0"/>
                </a:moveTo>
                <a:lnTo>
                  <a:pt x="640080" y="0"/>
                </a:lnTo>
              </a:path>
            </a:pathLst>
          </a:custGeom>
          <a:noFill/>
          <a:ln w="19050">
            <a:solidFill>
              <a:srgbClr val="6B6E70"/>
            </a:solidFill>
            <a:round/>
            <a:tailEnd type="triangle" w="med" len="med"/>
          </a:ln>
          <a:effectLst/>
        </p:spPr>
      </p:sp>
      <p:sp>
        <p:nvSpPr>
          <p:cNvPr id="316" name="Rótulo"/>
          <p:cNvSpPr txBox="1"/>
          <p:nvPr/>
        </p:nvSpPr>
        <p:spPr>
          <a:xfrm>
            <a:off x="6446520" y="4270248"/>
            <a:ext cx="41148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Sim</a:t>
            </a:r>
          </a:p>
        </p:txBody>
      </p:sp>
      <p:sp>
        <p:nvSpPr>
          <p:cNvPr id="317" name="Etapa"/>
          <p:cNvSpPr/>
          <p:nvPr/>
        </p:nvSpPr>
        <p:spPr>
          <a:xfrm>
            <a:off x="713232" y="3886200"/>
            <a:ext cx="1371600" cy="128016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Realizar nova coleta em 3 horas</a:t>
            </a:r>
          </a:p>
        </p:txBody>
      </p:sp>
      <p:sp>
        <p:nvSpPr>
          <p:cNvPr id="318" name="Seta"/>
          <p:cNvSpPr/>
          <p:nvPr/>
        </p:nvSpPr>
        <p:spPr>
          <a:xfrm>
            <a:off x="2084832" y="4526280"/>
            <a:ext cx="658368" cy="1"/>
          </a:xfrm>
          <a:custGeom>
            <a:avLst/>
            <a:gdLst/>
            <a:ahLst/>
            <a:cxnLst/>
            <a:rect l="0" t="0" r="r" b="b"/>
            <a:pathLst>
              <a:path w="658368" h="1" fill="none">
                <a:moveTo>
                  <a:pt x="658368" y="0"/>
                </a:moveTo>
                <a:lnTo>
                  <a:pt x="0" y="0"/>
                </a:lnTo>
              </a:path>
            </a:pathLst>
          </a:custGeom>
          <a:noFill/>
          <a:ln w="19050">
            <a:solidFill>
              <a:srgbClr val="6B6E70"/>
            </a:solidFill>
            <a:round/>
            <a:tailEnd type="triangle" w="med" len="med"/>
          </a:ln>
          <a:effectLst/>
        </p:spPr>
      </p:sp>
      <p:sp>
        <p:nvSpPr>
          <p:cNvPr id="319" name="Rótulo"/>
          <p:cNvSpPr txBox="1"/>
          <p:nvPr/>
        </p:nvSpPr>
        <p:spPr>
          <a:xfrm>
            <a:off x="2121408" y="4270248"/>
            <a:ext cx="45720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Não</a:t>
            </a:r>
          </a:p>
        </p:txBody>
      </p:sp>
      <p:sp>
        <p:nvSpPr>
          <p:cNvPr id="320" name="Nota"/>
          <p:cNvSpPr txBox="1"/>
          <p:nvPr/>
        </p:nvSpPr>
        <p:spPr>
          <a:xfrm>
            <a:off x="713232" y="5715000"/>
            <a:ext cx="10771632" cy="384048"/>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*Se suspeita de SCA persistir, seguir fluxo de investigação não-invasiva (ver tópico 4.3.3 e figuras 13 e 14).</a:t>
            </a:r>
          </a:p>
        </p:txBody>
      </p:sp>
    </p:spTree>
    <p:extLst>
      <p:ext uri="{BB962C8B-B14F-4D97-AF65-F5344CB8AC3E}">
        <p14:creationId xmlns:p14="http://schemas.microsoft.com/office/powerpoint/2010/main" val="86276930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Figura Central – Atendimento na emergência (1/4)</a:t>
            </a:r>
            <a:endParaRPr lang="pt-BR" dirty="0" sz="3200"/>
          </a:p>
        </p:txBody>
      </p:sp>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56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Fim/Início"/>
          <p:cNvSpPr/>
          <p:nvPr/>
        </p:nvSpPr>
        <p:spPr>
          <a:xfrm>
            <a:off x="713232" y="1463040"/>
            <a:ext cx="4023360" cy="777240"/>
          </a:xfrm>
          <a:prstGeom prst="roundRect">
            <a:avLst>
              <a:gd name="adj" fmla="val 50000"/>
            </a:avLst>
          </a:prstGeom>
          <a:solidFill>
            <a:srgbClr val="4E7C8B"/>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SINTOMAS SUSPEITOS</a:t>
            </a:r>
          </a:p>
          <a:p>
            <a:pPr algn="ctr">
              <a:buNone/>
            </a:pPr>
            <a:r>
              <a:rPr lang="pt-BR" sz="1200" b="0" i="0" dirty="0">
                <a:solidFill>
                  <a:srgbClr val="E4EEF0"/>
                </a:solidFill>
                <a:latin typeface="Roboto"/>
                <a:ea typeface="Roboto"/>
                <a:cs typeface="Roboto"/>
              </a:rPr>
              <a:t>(BUSCAR ATENDIMENTO IMEDIATAMENTE)</a:t>
            </a:r>
          </a:p>
        </p:txBody>
      </p:sp>
      <p:pic>
        <p:nvPicPr>
          <p:cNvPr id="302" name="Figura" descr="Pessoa com dor no peito (ilustração recortada da figura original)"/>
          <p:cNvPicPr>
            <a:picLocks noChangeAspect="1"/>
          </p:cNvPicPr>
          <p:nvPr/>
        </p:nvPicPr>
        <p:blipFill>
          <a:blip r:embed="rId2"/>
          <a:stretch>
            <a:fillRect/>
          </a:stretch>
        </p:blipFill>
        <p:spPr>
          <a:xfrm>
            <a:off x="868680" y="1536192"/>
            <a:ext cx="359343" cy="640080"/>
          </a:xfrm>
          <a:prstGeom prst="rect">
            <a:avLst/>
          </a:prstGeom>
        </p:spPr>
      </p:pic>
      <p:sp>
        <p:nvSpPr>
          <p:cNvPr id="302" name="Fim/Início"/>
          <p:cNvSpPr/>
          <p:nvPr/>
        </p:nvSpPr>
        <p:spPr>
          <a:xfrm>
            <a:off x="5120640" y="1463040"/>
            <a:ext cx="4023360" cy="777240"/>
          </a:xfrm>
          <a:prstGeom prst="roundRect">
            <a:avLst>
              <a:gd name="adj" fmla="val 50000"/>
            </a:avLst>
          </a:prstGeom>
          <a:solidFill>
            <a:srgbClr val="4E7C8B"/>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Suspeita clínica confirmada</a:t>
            </a:r>
          </a:p>
          <a:p>
            <a:pPr algn="ctr">
              <a:buNone/>
            </a:pPr>
            <a:r>
              <a:rPr lang="pt-BR" sz="1200" b="0" i="0" dirty="0">
                <a:solidFill>
                  <a:srgbClr val="E4EEF0"/>
                </a:solidFill>
                <a:latin typeface="Roboto"/>
                <a:ea typeface="Roboto"/>
                <a:cs typeface="Roboto"/>
              </a:rPr>
              <a:t>(dor torácica ou sintoma equivalente)</a:t>
            </a:r>
          </a:p>
        </p:txBody>
      </p:sp>
      <p:sp>
        <p:nvSpPr>
          <p:cNvPr id="303" name="Seta"/>
          <p:cNvSpPr/>
          <p:nvPr/>
        </p:nvSpPr>
        <p:spPr>
          <a:xfrm>
            <a:off x="7132320" y="2240280"/>
            <a:ext cx="1" cy="274320"/>
          </a:xfrm>
          <a:custGeom>
            <a:avLst/>
            <a:gdLst/>
            <a:ahLst/>
            <a:cxnLst/>
            <a:rect l="0" t="0" r="r" b="b"/>
            <a:pathLst>
              <a:path w="1" h="274320" fill="none">
                <a:moveTo>
                  <a:pt x="0" y="0"/>
                </a:moveTo>
                <a:lnTo>
                  <a:pt x="0" y="274320"/>
                </a:lnTo>
              </a:path>
            </a:pathLst>
          </a:custGeom>
          <a:noFill/>
          <a:ln w="19050">
            <a:solidFill>
              <a:srgbClr val="6B6E70"/>
            </a:solidFill>
            <a:round/>
            <a:tailEnd type="triangle" w="med" len="med"/>
          </a:ln>
          <a:effectLst/>
        </p:spPr>
      </p:sp>
      <p:sp>
        <p:nvSpPr>
          <p:cNvPr id="304" name="Etapa"/>
          <p:cNvSpPr/>
          <p:nvPr/>
        </p:nvSpPr>
        <p:spPr>
          <a:xfrm>
            <a:off x="5120640" y="2514600"/>
            <a:ext cx="4023360" cy="73152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PASSO 1</a:t>
            </a:r>
          </a:p>
          <a:p>
            <a:pPr algn="ctr">
              <a:buNone/>
            </a:pPr>
            <a:r>
              <a:rPr lang="pt-BR" sz="1200" b="0" i="0" dirty="0">
                <a:solidFill>
                  <a:srgbClr val="5F6468"/>
                </a:solidFill>
                <a:latin typeface="Roboto"/>
                <a:ea typeface="Roboto"/>
                <a:cs typeface="Roboto"/>
              </a:rPr>
              <a:t>(Realizar ECG até 10 minutos)</a:t>
            </a:r>
          </a:p>
        </p:txBody>
      </p:sp>
      <p:pic>
        <p:nvPicPr>
          <p:cNvPr id="305" name="Figura" descr="Ícone de cronômetro"/>
          <p:cNvPicPr>
            <a:picLocks noChangeAspect="1"/>
          </p:cNvPicPr>
          <p:nvPr/>
        </p:nvPicPr>
        <p:blipFill>
          <a:blip r:embed="rId3"/>
          <a:stretch>
            <a:fillRect/>
          </a:stretch>
        </p:blipFill>
        <p:spPr>
          <a:xfrm>
            <a:off x="4434840" y="2606040"/>
            <a:ext cx="562021" cy="548640"/>
          </a:xfrm>
          <a:prstGeom prst="rect">
            <a:avLst/>
          </a:prstGeom>
        </p:spPr>
      </p:pic>
      <p:sp>
        <p:nvSpPr>
          <p:cNvPr id="305" name="Seta"/>
          <p:cNvSpPr/>
          <p:nvPr/>
        </p:nvSpPr>
        <p:spPr>
          <a:xfrm>
            <a:off x="7132320" y="3246120"/>
            <a:ext cx="1" cy="274320"/>
          </a:xfrm>
          <a:custGeom>
            <a:avLst/>
            <a:gdLst/>
            <a:ahLst/>
            <a:cxnLst/>
            <a:rect l="0" t="0" r="r" b="b"/>
            <a:pathLst>
              <a:path w="1" h="274320" fill="none">
                <a:moveTo>
                  <a:pt x="0" y="0"/>
                </a:moveTo>
                <a:lnTo>
                  <a:pt x="0" y="274320"/>
                </a:lnTo>
              </a:path>
            </a:pathLst>
          </a:custGeom>
          <a:noFill/>
          <a:ln w="19050">
            <a:solidFill>
              <a:srgbClr val="6B6E70"/>
            </a:solidFill>
            <a:round/>
            <a:tailEnd type="triangle" w="med" len="med"/>
          </a:ln>
          <a:effectLst/>
        </p:spPr>
      </p:sp>
      <p:sp>
        <p:nvSpPr>
          <p:cNvPr id="306" name="Decisão"/>
          <p:cNvSpPr/>
          <p:nvPr/>
        </p:nvSpPr>
        <p:spPr>
          <a:xfrm>
            <a:off x="5394960" y="3520440"/>
            <a:ext cx="3474720" cy="1417320"/>
          </a:xfrm>
          <a:prstGeom prst="diamond">
            <a:avLst/>
          </a:prstGeom>
          <a:solidFill>
            <a:srgbClr val="8EC4CB"/>
          </a:solidFill>
          <a:ln>
            <a:noFill/>
          </a:ln>
          <a:effectLst/>
        </p:spPr>
        <p:txBody>
          <a:bodyPr rtlCol="0" anchor="ctr" wrap="square" lIns="0" rIns="0" tIns="45720" bIns="45720"/>
          <a:lstStyle/>
          <a:p>
            <a:pPr algn="ctr"/>
            <a:r>
              <a:rPr lang="pt-BR" sz="1200" b="0" i="0" dirty="0">
                <a:solidFill>
                  <a:srgbClr val="1F3238"/>
                </a:solidFill>
                <a:latin typeface="Roboto Medium"/>
                <a:ea typeface="Roboto Medium"/>
                <a:cs typeface="Roboto Medium"/>
              </a:rPr>
              <a:t>ECG COM</a:t>
            </a:r>
          </a:p>
          <a:p>
            <a:pPr algn="ctr"/>
            <a:r>
              <a:rPr lang="pt-BR" sz="1200" b="0" i="0" dirty="0">
                <a:solidFill>
                  <a:srgbClr val="1F3238"/>
                </a:solidFill>
                <a:latin typeface="Roboto Medium"/>
                <a:ea typeface="Roboto Medium"/>
                <a:cs typeface="Roboto Medium"/>
              </a:rPr>
              <a:t>CRITÉRIOS</a:t>
            </a:r>
          </a:p>
          <a:p>
            <a:pPr algn="ctr"/>
            <a:r>
              <a:rPr lang="pt-BR" sz="1200" b="0" i="0" dirty="0">
                <a:solidFill>
                  <a:srgbClr val="1F3238"/>
                </a:solidFill>
                <a:latin typeface="Roboto Medium"/>
                <a:ea typeface="Roboto Medium"/>
                <a:cs typeface="Roboto Medium"/>
              </a:rPr>
              <a:t>DIAGNÓSTICOS?</a:t>
            </a:r>
          </a:p>
        </p:txBody>
      </p:sp>
      <p:sp>
        <p:nvSpPr>
          <p:cNvPr id="307" name="Etapa"/>
          <p:cNvSpPr/>
          <p:nvPr/>
        </p:nvSpPr>
        <p:spPr>
          <a:xfrm>
            <a:off x="9418320" y="3497580"/>
            <a:ext cx="2066544" cy="146304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SEGUIR ROTA TERAPÊUTICA</a:t>
            </a:r>
          </a:p>
          <a:p>
            <a:pPr algn="ctr">
              <a:buNone/>
            </a:pPr>
            <a:r>
              <a:rPr lang="pt-BR" sz="1200" b="0" i="0" dirty="0">
                <a:solidFill>
                  <a:srgbClr val="5F6468"/>
                </a:solidFill>
                <a:latin typeface="Roboto"/>
                <a:ea typeface="Roboto"/>
                <a:cs typeface="Roboto"/>
              </a:rPr>
              <a:t>(diretriz específica de acordo com o diagnóstico estabelecido)</a:t>
            </a:r>
          </a:p>
        </p:txBody>
      </p:sp>
      <p:sp>
        <p:nvSpPr>
          <p:cNvPr id="308" name="Seta"/>
          <p:cNvSpPr/>
          <p:nvPr/>
        </p:nvSpPr>
        <p:spPr>
          <a:xfrm>
            <a:off x="8869680" y="4229100"/>
            <a:ext cx="548640" cy="1"/>
          </a:xfrm>
          <a:custGeom>
            <a:avLst/>
            <a:gdLst/>
            <a:ahLst/>
            <a:cxnLst/>
            <a:rect l="0" t="0" r="r" b="b"/>
            <a:pathLst>
              <a:path w="548640" h="1" fill="none">
                <a:moveTo>
                  <a:pt x="0" y="0"/>
                </a:moveTo>
                <a:lnTo>
                  <a:pt x="548640" y="0"/>
                </a:lnTo>
              </a:path>
            </a:pathLst>
          </a:custGeom>
          <a:noFill/>
          <a:ln w="19050">
            <a:solidFill>
              <a:srgbClr val="6B6E70"/>
            </a:solidFill>
            <a:round/>
            <a:tailEnd type="triangle" w="med" len="med"/>
          </a:ln>
          <a:effectLst/>
        </p:spPr>
      </p:sp>
      <p:sp>
        <p:nvSpPr>
          <p:cNvPr id="309" name="Rótulo"/>
          <p:cNvSpPr txBox="1"/>
          <p:nvPr/>
        </p:nvSpPr>
        <p:spPr>
          <a:xfrm>
            <a:off x="8915400" y="3973068"/>
            <a:ext cx="41148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Sim</a:t>
            </a:r>
          </a:p>
        </p:txBody>
      </p:sp>
      <p:sp>
        <p:nvSpPr>
          <p:cNvPr id="310" name="Fim/Início"/>
          <p:cNvSpPr/>
          <p:nvPr/>
        </p:nvSpPr>
        <p:spPr>
          <a:xfrm>
            <a:off x="1097280" y="5257800"/>
            <a:ext cx="3291840" cy="603504"/>
          </a:xfrm>
          <a:prstGeom prst="roundRect">
            <a:avLst>
              <a:gd name="adj" fmla="val 50000"/>
            </a:avLst>
          </a:prstGeom>
          <a:solidFill>
            <a:srgbClr val="4E7C8B"/>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PASSO 2</a:t>
            </a:r>
          </a:p>
        </p:txBody>
      </p:sp>
      <p:sp>
        <p:nvSpPr>
          <p:cNvPr id="311" name="Seta"/>
          <p:cNvSpPr/>
          <p:nvPr/>
        </p:nvSpPr>
        <p:spPr>
          <a:xfrm>
            <a:off x="2743200" y="4229100"/>
            <a:ext cx="2651760" cy="1028700"/>
          </a:xfrm>
          <a:custGeom>
            <a:avLst/>
            <a:gdLst/>
            <a:ahLst/>
            <a:cxnLst/>
            <a:rect l="0" t="0" r="r" b="b"/>
            <a:pathLst>
              <a:path w="2651760" h="1028700" fill="none">
                <a:moveTo>
                  <a:pt x="2651760" y="0"/>
                </a:moveTo>
                <a:lnTo>
                  <a:pt x="0" y="0"/>
                </a:lnTo>
                <a:lnTo>
                  <a:pt x="0" y="1028700"/>
                </a:lnTo>
              </a:path>
            </a:pathLst>
          </a:custGeom>
          <a:noFill/>
          <a:ln w="19050">
            <a:solidFill>
              <a:srgbClr val="6B6E70"/>
            </a:solidFill>
            <a:round/>
            <a:tailEnd type="triangle" w="med" len="med"/>
          </a:ln>
          <a:effectLst/>
        </p:spPr>
      </p:sp>
      <p:sp>
        <p:nvSpPr>
          <p:cNvPr id="312" name="Rótulo"/>
          <p:cNvSpPr txBox="1"/>
          <p:nvPr/>
        </p:nvSpPr>
        <p:spPr>
          <a:xfrm>
            <a:off x="4846320" y="3973068"/>
            <a:ext cx="457200" cy="201168"/>
          </a:xfrm>
          <a:prstGeom prst="rect">
            <a:avLst/>
          </a:prstGeom>
          <a:noFill/>
        </p:spPr>
        <p:txBody>
          <a:bodyPr wrap="square" lIns="0" rIns="0" tIns="0" bIns="0" anchor="t">
            <a:noAutofit/>
          </a:bodyPr>
          <a:lstStyle/>
          <a:p>
            <a:pPr algn="r"/>
            <a:r>
              <a:rPr lang="pt-BR" sz="1200" b="0" i="0" dirty="0">
                <a:solidFill>
                  <a:srgbClr val="4E7C8B"/>
                </a:solidFill>
                <a:latin typeface="Roboto Medium"/>
                <a:ea typeface="Roboto Medium"/>
                <a:cs typeface="Roboto Medium"/>
              </a:rPr>
              <a:t>Não</a:t>
            </a:r>
          </a:p>
        </p:txBody>
      </p:sp>
    </p:spTree>
    <p:extLst>
      <p:ext uri="{BB962C8B-B14F-4D97-AF65-F5344CB8AC3E}">
        <p14:creationId xmlns:p14="http://schemas.microsoft.com/office/powerpoint/2010/main" val="354099084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14 – Escore HEART</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60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417320"/>
          <a:ext cx="10771632" cy="2516742"/>
        </p:xfrm>
        <a:graphic>
          <a:graphicData uri="http://schemas.openxmlformats.org/drawingml/2006/table">
            <a:tbl>
              <a:tblPr firstRow="1"/>
              <a:tblGrid>
                <a:gridCol w="2200000"/>
                <a:gridCol w="2900000"/>
                <a:gridCol w="2900000"/>
                <a:gridCol w="2771632"/>
              </a:tblGrid>
              <a:tr h="319010">
                <a:tc gridSpan="4">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Escore HEART</a:t>
                      </a:r>
                      <a:endParaRPr lang="pt-BR" sz="1300" dirty="0"/>
                    </a:p>
                  </a:txBody>
                  <a:tcPr marL="91440" marR="91440" marT="54864" marB="54864" anchor="ctr">
                    <a:lnL w="0">
                      <a:noFill/>
                    </a:lnL>
                    <a:lnR w="0">
                      <a:noFill/>
                    </a:lnR>
                    <a:lnT w="0">
                      <a:noFill/>
                    </a:lnT>
                    <a:lnB w="0">
                      <a:noFill/>
                    </a:lnB>
                    <a:solidFill>
                      <a:srgbClr val="4E7C8B"/>
                    </a:solidFill>
                  </a:tcPr>
                </a:tc>
                <a:tc hMerge="1">
                  <a:txBody>
                    <a:bodyPr/>
                    <a:lstStyle/>
                    <a:p>
                      <a:endParaRPr lang="pt-BR"/>
                    </a:p>
                  </a:txBody>
                  <a:tcPr/>
                </a:tc>
                <a:tc hMerge="1">
                  <a:txBody>
                    <a:bodyPr/>
                    <a:lstStyle/>
                    <a:p>
                      <a:endParaRPr lang="pt-BR"/>
                    </a:p>
                  </a:txBody>
                  <a:tcPr/>
                </a:tc>
                <a:tc hMerge="1">
                  <a:txBody>
                    <a:bodyPr/>
                    <a:lstStyle/>
                    <a:p>
                      <a:endParaRPr lang="pt-BR"/>
                    </a:p>
                  </a:txBody>
                  <a:tcPr/>
                </a:tc>
              </a:tr>
              <a:tr h="319010">
                <a:tc>
                  <a:txBody>
                    <a:bodyPr/>
                    <a:lstStyle/>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História</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2 = altamente suspeita</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1 = moderadamente suspeita</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0 = pouco/nada suspeita</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519904">
                <a:tc>
                  <a:txBody>
                    <a:bodyPr/>
                    <a:lstStyle/>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Eletrocardiograma</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2 = depressão significativa do segmento ST</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1 = distúrbios de repolarização inespecíficos</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0 = normal</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19010">
                <a:tc>
                  <a:txBody>
                    <a:bodyPr/>
                    <a:lstStyle/>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Anos (idade)</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2 = ≥ 65 anos</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1 = ≥ 45 anos e &lt; 65 anos</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0 = &lt; 45 anos</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519904">
                <a:tc>
                  <a:txBody>
                    <a:bodyPr/>
                    <a:lstStyle/>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Risco (fatores*)</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2 = ≥ 3 ou história de doença aterosclerótica</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1 = 1 ou 2</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0 = nenhum</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519904">
                <a:tc>
                  <a:txBody>
                    <a:bodyPr/>
                    <a:lstStyle/>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Troponina (convencional)**</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2 = ≥ 3x o limite superior</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1 = 1 – 3x o limite superior</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0 = ≤ limite superior</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bl>
          </a:graphicData>
        </a:graphic>
      </p:graphicFrame>
      <p:sp>
        <p:nvSpPr>
          <p:cNvPr id="7" name="Nota"/>
          <p:cNvSpPr txBox="1"/>
          <p:nvPr/>
        </p:nvSpPr>
        <p:spPr>
          <a:xfrm>
            <a:off x="711403" y="3994062"/>
            <a:ext cx="10771632" cy="733232"/>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ECG: eletrocardiograma. *Fatores de risco: Hipertensão, hipercolesterolemia, diabetes, obesidade (IMC &gt;30 kg/m²), tabagismo (atual ou cessação do tabagismo ≤3 meses), histórico familiar positivo precoce (primeiro grau). ** O escore HEART original utilizou troponina convencional; a sua versão modificada para troponina de alta sensibilidade, baseia-se no escore HEAR (História, Anos/Idade, Eletrocardiograma, Risco) e utiliza também pontos de corte específicos dos algoritmos de troponina de alta sensibilidade.</a:t>
            </a:r>
            <a:endParaRPr lang="pt-BR" sz="1200" dirty="0"/>
          </a:p>
        </p:txBody>
      </p:sp>
    </p:spTree>
    <p:extLst>
      <p:ext uri="{BB962C8B-B14F-4D97-AF65-F5344CB8AC3E}">
        <p14:creationId xmlns:p14="http://schemas.microsoft.com/office/powerpoint/2010/main" val="1686871518"/>
      </p:ext>
    </p:extLst>
  </p:cSld>
  <p:clrMapOvr>
    <a:masterClrMapping/>
  </p:clrMapOvr>
  <p:timing>
    <p:tnLst>
      <p:par>
        <p:cTn id="1" dur="indefinite" restart="never" nodeType="tmRoot"/>
      </p:par>
    </p:tn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Suspeita de Síndrome Coronariana Aguda (1/2)</a:t>
            </a:r>
          </a:p>
        </p:txBody>
      </p:sp>
      <p:sp>
        <p:nvSpPr>
          <p:cNvPr id="8" name="Rodapé 8"/>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61  ·  Dor torácica – Protocolo 2025 | Set 2026</a:t>
            </a:r>
          </a:p>
        </p:txBody>
      </p:sp>
      <p:sp>
        <p:nvSpPr>
          <p:cNvPr id="9" name="Rodapé 9"/>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graphicFrame>
        <p:nvGraphicFramePr>
          <p:cNvPr id="3" name="Tabela"/>
          <p:cNvGraphicFramePr>
            <a:graphicFrameLocks noGrp="1"/>
          </p:cNvGraphicFramePr>
          <p:nvPr/>
        </p:nvGraphicFramePr>
        <p:xfrm>
          <a:off x="711403" y="1417320"/>
          <a:ext cx="6600000" cy="3808881"/>
        </p:xfrm>
        <a:graphic>
          <a:graphicData uri="http://schemas.openxmlformats.org/drawingml/2006/table">
            <a:tbl>
              <a:tblPr firstRow="1"/>
              <a:tblGrid>
                <a:gridCol w="1750000"/>
                <a:gridCol w="4850000"/>
              </a:tblGrid>
              <a:tr h="299991">
                <a:tc gridSpan="2">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Escore HEART</a:t>
                      </a:r>
                      <a:endParaRPr lang="pt-BR" sz="1300" dirty="0"/>
                    </a:p>
                  </a:txBody>
                  <a:tcPr marL="91440" marR="91440" marT="45720" marB="45720" anchor="ctr">
                    <a:lnL w="0">
                      <a:noFill/>
                    </a:lnL>
                    <a:lnR w="0">
                      <a:noFill/>
                    </a:lnR>
                    <a:lnT w="0">
                      <a:noFill/>
                    </a:lnT>
                    <a:lnB w="0">
                      <a:noFill/>
                    </a:lnB>
                    <a:solidFill>
                      <a:srgbClr val="4E7C8B"/>
                    </a:solidFill>
                  </a:tcPr>
                </a:tc>
                <a:tc hMerge="1">
                  <a:txBody>
                    <a:bodyPr/>
                    <a:lstStyle/>
                    <a:p>
                      <a:endParaRPr lang="pt-BR"/>
                    </a:p>
                  </a:txBody>
                  <a:tcPr/>
                </a:tc>
              </a:tr>
              <a:tr h="701778">
                <a:tc>
                  <a:txBody>
                    <a:bodyPr/>
                    <a:lstStyle/>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História</a:t>
                      </a:r>
                      <a:endParaRPr lang="pt-BR" sz="1300" dirty="0"/>
                    </a:p>
                  </a:txBody>
                  <a:tcPr marL="91440" marR="91440" marT="45720" marB="45720"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2 = altamente suspeita</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1 = moderadamente suspeita</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0 = pouco/nada suspeita</a:t>
                      </a:r>
                      <a:endParaRPr lang="pt-BR" sz="1300" dirty="0"/>
                    </a:p>
                  </a:txBody>
                  <a:tcPr marL="91440" marR="91440" marT="45720" marB="45720" anchor="ctr">
                    <a:lnL w="0">
                      <a:noFill/>
                    </a:lnL>
                    <a:lnR w="0">
                      <a:noFill/>
                    </a:lnR>
                    <a:lnT w="0">
                      <a:noFill/>
                    </a:lnT>
                    <a:lnB w="12700">
                      <a:solidFill>
                        <a:srgbClr val="E4E6E7"/>
                      </a:solidFill>
                    </a:lnB>
                    <a:solidFill>
                      <a:srgbClr val="FBFCFC"/>
                    </a:solidFill>
                  </a:tcPr>
                </a:tc>
              </a:tr>
              <a:tr h="701778">
                <a:tc>
                  <a:txBody>
                    <a:bodyPr/>
                    <a:lstStyle/>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ECG</a:t>
                      </a:r>
                      <a:endParaRPr lang="pt-BR" sz="1300" dirty="0"/>
                    </a:p>
                  </a:txBody>
                  <a:tcPr marL="91440" marR="91440" marT="45720" marB="45720"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2 = depressão significativa do segmento ST</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1 = distúrbios de repolarização inespecíficos</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0 = normal</a:t>
                      </a:r>
                      <a:endParaRPr lang="pt-BR" sz="1300" dirty="0"/>
                    </a:p>
                  </a:txBody>
                  <a:tcPr marL="91440" marR="91440" marT="45720" marB="45720" anchor="ctr">
                    <a:lnL w="0">
                      <a:noFill/>
                    </a:lnL>
                    <a:lnR w="0">
                      <a:noFill/>
                    </a:lnR>
                    <a:lnT w="0">
                      <a:noFill/>
                    </a:lnT>
                    <a:lnB w="12700">
                      <a:solidFill>
                        <a:srgbClr val="E4E6E7"/>
                      </a:solidFill>
                    </a:lnB>
                    <a:solidFill>
                      <a:srgbClr val="F2F4F5"/>
                    </a:solidFill>
                  </a:tcPr>
                </a:tc>
              </a:tr>
              <a:tr h="701778">
                <a:tc>
                  <a:txBody>
                    <a:bodyPr/>
                    <a:lstStyle/>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Anos (idade)</a:t>
                      </a:r>
                      <a:endParaRPr lang="pt-BR" sz="1300" dirty="0"/>
                    </a:p>
                  </a:txBody>
                  <a:tcPr marL="91440" marR="91440" marT="45720" marB="45720"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2 = ≥ 65 anos</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1 = ≥ 45 anos e &lt; 65 anos</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0 = &lt; 45 anos</a:t>
                      </a:r>
                      <a:endParaRPr lang="pt-BR" sz="1300" dirty="0"/>
                    </a:p>
                  </a:txBody>
                  <a:tcPr marL="91440" marR="91440" marT="45720" marB="45720" anchor="ctr">
                    <a:lnL w="0">
                      <a:noFill/>
                    </a:lnL>
                    <a:lnR w="0">
                      <a:noFill/>
                    </a:lnR>
                    <a:lnT w="0">
                      <a:noFill/>
                    </a:lnT>
                    <a:lnB w="12700">
                      <a:solidFill>
                        <a:srgbClr val="E4E6E7"/>
                      </a:solidFill>
                    </a:lnB>
                    <a:solidFill>
                      <a:srgbClr val="FBFCFC"/>
                    </a:solidFill>
                  </a:tcPr>
                </a:tc>
              </a:tr>
              <a:tr h="701778">
                <a:tc>
                  <a:txBody>
                    <a:bodyPr/>
                    <a:lstStyle/>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Risco (fatores*)</a:t>
                      </a:r>
                      <a:endParaRPr lang="pt-BR" sz="1300" dirty="0"/>
                    </a:p>
                  </a:txBody>
                  <a:tcPr marL="91440" marR="91440" marT="45720" marB="45720"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2 = ≥ 3 ou história de doença aterosclerótica</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1 = 1 ou 2</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0 = nenhum</a:t>
                      </a:r>
                      <a:endParaRPr lang="pt-BR" sz="1300" dirty="0"/>
                    </a:p>
                  </a:txBody>
                  <a:tcPr marL="91440" marR="91440" marT="45720" marB="45720" anchor="ctr">
                    <a:lnL w="0">
                      <a:noFill/>
                    </a:lnL>
                    <a:lnR w="0">
                      <a:noFill/>
                    </a:lnR>
                    <a:lnT w="0">
                      <a:noFill/>
                    </a:lnT>
                    <a:lnB w="12700">
                      <a:solidFill>
                        <a:srgbClr val="E4E6E7"/>
                      </a:solidFill>
                    </a:lnB>
                    <a:solidFill>
                      <a:srgbClr val="F2F4F5"/>
                    </a:solidFill>
                  </a:tcPr>
                </a:tc>
              </a:tr>
              <a:tr h="701778">
                <a:tc>
                  <a:txBody>
                    <a:bodyPr/>
                    <a:lstStyle/>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Troponina</a:t>
                      </a:r>
                      <a:endParaRPr lang="pt-BR" sz="1300" dirty="0"/>
                    </a:p>
                  </a:txBody>
                  <a:tcPr marL="91440" marR="91440" marT="45720" marB="45720"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2 = ≥ 3x o limite superior</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1 = 1 – 3x o limite superior</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0 = ≤ limite superior</a:t>
                      </a:r>
                      <a:endParaRPr lang="pt-BR" sz="1300" dirty="0"/>
                    </a:p>
                  </a:txBody>
                  <a:tcPr marL="91440" marR="91440" marT="45720" marB="45720" anchor="ctr">
                    <a:lnL w="0">
                      <a:noFill/>
                    </a:lnL>
                    <a:lnR w="0">
                      <a:noFill/>
                    </a:lnR>
                    <a:lnT w="0">
                      <a:noFill/>
                    </a:lnT>
                    <a:lnB w="12700">
                      <a:solidFill>
                        <a:srgbClr val="E4E6E7"/>
                      </a:solidFill>
                    </a:lnB>
                    <a:solidFill>
                      <a:srgbClr val="FBFCFC"/>
                    </a:solidFill>
                  </a:tcPr>
                </a:tc>
              </a:tr>
            </a:tbl>
          </a:graphicData>
        </a:graphic>
      </p:graphicFrame>
      <p:sp>
        <p:nvSpPr>
          <p:cNvPr id="4" name="Nota"/>
          <p:cNvSpPr txBox="1"/>
          <p:nvPr/>
        </p:nvSpPr>
        <p:spPr>
          <a:xfrm>
            <a:off x="711403" y="5286201"/>
            <a:ext cx="6600000" cy="376616"/>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*hipercolesterolemia, diabetes, hipertensão, obesidade (IMC&gt;30kg/m²), tabagismo (atual ou interrupção há 3 meses), história familiar de DAC precoce</a:t>
            </a:r>
            <a:endParaRPr lang="pt-BR" sz="1200" dirty="0"/>
          </a:p>
        </p:txBody>
      </p:sp>
      <p:pic>
        <p:nvPicPr>
          <p:cNvPr id="10" name="Picture 9" descr="Eventos cardiovasculares maiores em 6 semanas por faixa de escore HEART (≤3, 4 a 6, ≥7), com VPN=98.3% e baixo risco = Escore HEART ≤ 3"/>
          <p:cNvPicPr>
            <a:picLocks noChangeAspect="1"/>
          </p:cNvPicPr>
          <p:nvPr/>
        </p:nvPicPr>
        <p:blipFill>
          <a:blip r:embed="rId2"/>
          <a:stretch>
            <a:fillRect/>
          </a:stretch>
        </p:blipFill>
        <p:spPr>
          <a:xfrm>
            <a:off x="7842616" y="1417320"/>
            <a:ext cx="3640419" cy="3800000"/>
          </a:xfrm>
          <a:prstGeom prst="rect">
            <a:avLst/>
          </a:prstGeom>
        </p:spPr>
      </p:pic>
      <p:sp>
        <p:nvSpPr>
          <p:cNvPr id="4" name="Legenda 4"/>
          <p:cNvSpPr txBox="1"/>
          <p:nvPr/>
        </p:nvSpPr>
        <p:spPr>
          <a:xfrm>
            <a:off x="7542616" y="5317320"/>
            <a:ext cx="3940419" cy="560000"/>
          </a:xfrm>
          <a:prstGeom prst="rect">
            <a:avLst/>
          </a:prstGeom>
          <a:noFill/>
        </p:spPr>
        <p:txBody>
          <a:bodyPr wrap="square" lIns="0" tIns="0" rIns="0" bIns="0" anchor="t">
            <a:noAutofit/>
          </a:bodyPr>
          <a:lstStyle/>
          <a:p>
            <a:pPr marL="0" indent="0" algn="l">
              <a:lnSpc>
                <a:spcPct val="125000"/>
              </a:lnSpc>
              <a:spcBef>
                <a:spcPts val="0"/>
              </a:spcBef>
              <a:spcAft>
                <a:spcPts val="0"/>
              </a:spcAft>
              <a:buNone/>
            </a:pPr>
            <a:r>
              <a:rPr lang="pt-BR" sz="1200" b="0" i="0" dirty="0">
                <a:solidFill>
                  <a:srgbClr val="737A7F"/>
                </a:solidFill>
                <a:latin typeface="Roboto"/>
                <a:ea typeface="Roboto"/>
                <a:cs typeface="Roboto"/>
              </a:rPr>
              <a:t>Backus BE et al. Chest pain in the emergency room: a multicenter validation of the HEART Score. Crit Pathw Cardiol. 2010;9(3):164-169.</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11"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Suspeita de Síndrome Coronariana Aguda (2/2)</a:t>
            </a:r>
          </a:p>
        </p:txBody>
      </p:sp>
      <p:sp>
        <p:nvSpPr>
          <p:cNvPr id="5" name="Caixa 5"/>
          <p:cNvSpPr txBox="1"/>
          <p:nvPr/>
        </p:nvSpPr>
        <p:spPr>
          <a:xfrm>
            <a:off x="711403" y="1500000"/>
            <a:ext cx="4700000" cy="2400000"/>
          </a:xfrm>
          <a:prstGeom prst="rect">
            <a:avLst/>
          </a:prstGeom>
          <a:solidFill>
            <a:srgbClr val="F2F4F5"/>
          </a:solidFill>
        </p:spPr>
        <p:txBody>
          <a:bodyPr wrap="square" lIns="200000" tIns="150000" rIns="200000" bIns="120000" anchor="t">
            <a:noAutofit/>
          </a:bodyPr>
          <a:lstStyle/>
          <a:p>
            <a:pPr marL="0" indent="0" algn="l">
              <a:lnSpc>
                <a:spcPct val="120000"/>
              </a:lnSpc>
              <a:spcBef>
                <a:spcPts val="0"/>
              </a:spcBef>
              <a:spcAft>
                <a:spcPts val="500"/>
              </a:spcAft>
              <a:buNone/>
            </a:pPr>
            <a:r>
              <a:rPr lang="pt-BR" sz="1500" b="0" i="0" dirty="0">
                <a:solidFill>
                  <a:srgbClr val="4E7C8B"/>
                </a:solidFill>
                <a:latin typeface="Roboto Medium"/>
                <a:ea typeface="Roboto Medium"/>
                <a:cs typeface="Roboto Medium"/>
              </a:rPr>
              <a:t>Baixo Risco - HEART Pathway =</a:t>
            </a:r>
          </a:p>
          <a:p>
            <a:pPr marL="285750" indent="-285750" algn="l">
              <a:lnSpc>
                <a:spcPct val="120000"/>
              </a:lnSpc>
              <a:spcBef>
                <a:spcPts val="0"/>
              </a:spcBef>
              <a:spcAft>
                <a:spcPts val="200"/>
              </a:spcAft>
              <a:buClr>
                <a:srgbClr val="4E7C8B"/>
              </a:buClr>
              <a:buFont typeface="Arial"/>
              <a:buChar char="•"/>
            </a:pPr>
            <a:r>
              <a:rPr lang="pt-BR" sz="1300" b="0" i="0" dirty="0">
                <a:solidFill>
                  <a:srgbClr val="5F6468"/>
                </a:solidFill>
                <a:latin typeface="Roboto"/>
                <a:ea typeface="Roboto"/>
                <a:cs typeface="Roboto"/>
              </a:rPr>
              <a:t>ECG sem alteração isquêmica</a:t>
            </a:r>
          </a:p>
          <a:p>
            <a:pPr marL="285750" indent="-285750" algn="l">
              <a:lnSpc>
                <a:spcPct val="120000"/>
              </a:lnSpc>
              <a:spcBef>
                <a:spcPts val="0"/>
              </a:spcBef>
              <a:spcAft>
                <a:spcPts val="200"/>
              </a:spcAft>
              <a:buClr>
                <a:srgbClr val="4E7C8B"/>
              </a:buClr>
              <a:buFont typeface="Arial"/>
              <a:buChar char="•"/>
            </a:pPr>
            <a:r>
              <a:rPr lang="pt-BR" sz="1300" b="0" i="0" dirty="0">
                <a:solidFill>
                  <a:srgbClr val="5F6468"/>
                </a:solidFill>
                <a:latin typeface="Roboto"/>
                <a:ea typeface="Roboto"/>
                <a:cs typeface="Roboto"/>
              </a:rPr>
              <a:t>Sem DAC prévia</a:t>
            </a:r>
          </a:p>
          <a:p>
            <a:pPr marL="285750" indent="-285750" algn="l">
              <a:lnSpc>
                <a:spcPct val="120000"/>
              </a:lnSpc>
              <a:spcBef>
                <a:spcPts val="0"/>
              </a:spcBef>
              <a:spcAft>
                <a:spcPts val="200"/>
              </a:spcAft>
              <a:buClr>
                <a:srgbClr val="4E7C8B"/>
              </a:buClr>
              <a:buFont typeface="Arial"/>
              <a:buChar char="•"/>
            </a:pPr>
            <a:r>
              <a:rPr lang="pt-BR" sz="1300" b="0" i="0" dirty="0">
                <a:solidFill>
                  <a:srgbClr val="5F6468"/>
                </a:solidFill>
                <a:latin typeface="Roboto"/>
                <a:ea typeface="Roboto"/>
                <a:cs typeface="Roboto"/>
              </a:rPr>
              <a:t>Escore HEART =0-3</a:t>
            </a:r>
          </a:p>
          <a:p>
            <a:pPr marL="285750" indent="-285750" algn="l">
              <a:lnSpc>
                <a:spcPct val="120000"/>
              </a:lnSpc>
              <a:spcBef>
                <a:spcPts val="0"/>
              </a:spcBef>
              <a:spcAft>
                <a:spcPts val="0"/>
              </a:spcAft>
              <a:buClr>
                <a:srgbClr val="B5533C"/>
              </a:buClr>
              <a:buFont typeface="Arial"/>
              <a:buChar char="•"/>
            </a:pPr>
            <a:r>
              <a:rPr lang="pt-BR" sz="1300" b="0" i="0" dirty="0">
                <a:solidFill>
                  <a:srgbClr val="B5533C"/>
                </a:solidFill>
                <a:latin typeface="Roboto"/>
                <a:ea typeface="Roboto"/>
                <a:cs typeface="Roboto"/>
              </a:rPr>
              <a:t>Troponina de alta sensibilidade seriada Negativa</a:t>
            </a:r>
          </a:p>
        </p:txBody>
      </p:sp>
      <p:sp>
        <p:nvSpPr>
          <p:cNvPr id="7" name="Legenda 7"/>
          <p:cNvSpPr txBox="1"/>
          <p:nvPr/>
        </p:nvSpPr>
        <p:spPr>
          <a:xfrm>
            <a:off x="5711403" y="5450000"/>
            <a:ext cx="5771632" cy="300000"/>
          </a:xfrm>
          <a:prstGeom prst="rect">
            <a:avLst/>
          </a:prstGeom>
          <a:noFill/>
        </p:spPr>
        <p:txBody>
          <a:bodyPr wrap="square" lIns="0" tIns="0" rIns="0" bIns="0" anchor="t">
            <a:noAutofit/>
          </a:bodyPr>
          <a:lstStyle/>
          <a:p>
            <a:pPr marL="0" indent="0" algn="l">
              <a:lnSpc>
                <a:spcPct val="125000"/>
              </a:lnSpc>
              <a:spcBef>
                <a:spcPts val="0"/>
              </a:spcBef>
              <a:spcAft>
                <a:spcPts val="0"/>
              </a:spcAft>
              <a:buNone/>
            </a:pPr>
            <a:r>
              <a:rPr lang="pt-BR" sz="1200" b="0" i="0" dirty="0">
                <a:solidFill>
                  <a:srgbClr val="737A7F"/>
                </a:solidFill>
                <a:latin typeface="Roboto"/>
                <a:ea typeface="Roboto"/>
                <a:cs typeface="Roboto"/>
              </a:rPr>
              <a:t>Circulation. 2018;138:2456–246</a:t>
            </a:r>
          </a:p>
        </p:txBody>
      </p:sp>
      <p:sp>
        <p:nvSpPr>
          <p:cNvPr id="8" name="Rodapé 8"/>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62  ·  Dor torácica – Protocolo 2025 | Set 2026</a:t>
            </a:r>
          </a:p>
        </p:txBody>
      </p:sp>
      <p:sp>
        <p:nvSpPr>
          <p:cNvPr id="9" name="Rodapé 9"/>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graphicFrame>
        <p:nvGraphicFramePr>
          <p:cNvPr id="10" name="Chart 9"/>
          <p:cNvGraphicFramePr>
            <a:graphicFrameLocks noGrp="1"/>
          </p:cNvGraphicFramePr>
          <p:nvPr/>
        </p:nvGraphicFramePr>
        <p:xfrm>
          <a:off x="5711403" y="1500000"/>
          <a:ext cx="5771632" cy="3900000"/>
        </p:xfrm>
        <a:graphic>
          <a:graphicData uri="http://schemas.openxmlformats.org/drawingml/2006/chart">
            <c:chart xmlns:c="http://schemas.openxmlformats.org/drawingml/2006/chart" r:id="rId4"/>
          </a:graphicData>
        </a:graphic>
      </p:graphicFrame>
      <p:sp>
        <p:nvSpPr>
          <p:cNvPr id="900" name="Subtítulo"/>
          <p:cNvSpPr txBox="1"/>
          <p:nvPr/>
        </p:nvSpPr>
        <p:spPr>
          <a:xfrm>
            <a:off x="711403" y="1040000"/>
            <a:ext cx="10771632" cy="213167"/>
          </a:xfrm>
          <a:prstGeom prst="rect">
            <a:avLst/>
          </a:prstGeom>
          <a:noFill/>
        </p:spPr>
        <p:txBody>
          <a:bodyPr wrap="square" lIns="0" rIns="0" tIns="0" bIns="0" anchor="t">
            <a:noAutofit/>
          </a:bodyPr>
          <a:lstStyle/>
          <a:p>
            <a:pPr algn="l" marL="0" indent="0">
              <a:buNone/>
            </a:pPr>
            <a:r>
              <a:rPr lang="pt-BR" sz="1300" b="0" i="0" dirty="0">
                <a:solidFill>
                  <a:srgbClr val="737A7F"/>
                </a:solidFill>
                <a:latin typeface="Roboto"/>
                <a:ea typeface="Roboto"/>
                <a:cs typeface="Roboto"/>
              </a:rPr>
              <a:t>Desfecho composto: 13,5% no High-Risk contra 0,4% no Low-Risk</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16 – Aortic dissection detection risk score (ADD-RS)</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63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417320"/>
          <a:ext cx="10771632" cy="1642489"/>
        </p:xfrm>
        <a:graphic>
          <a:graphicData uri="http://schemas.openxmlformats.org/drawingml/2006/table">
            <a:tbl>
              <a:tblPr firstRow="1"/>
              <a:tblGrid>
                <a:gridCol w="3890544"/>
                <a:gridCol w="3290544"/>
                <a:gridCol w="3590544"/>
              </a:tblGrid>
              <a:tr h="319010">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Condições clínicas predisponentes</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Características da dor</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Achados no exame clínico</a:t>
                      </a:r>
                      <a:endParaRPr lang="pt-BR" sz="1300" dirty="0"/>
                    </a:p>
                  </a:txBody>
                  <a:tcPr marL="91440" marR="91440" marT="54864" marB="54864" anchor="ctr">
                    <a:lnL w="0">
                      <a:noFill/>
                    </a:lnL>
                    <a:lnR w="0">
                      <a:noFill/>
                    </a:lnR>
                    <a:lnT w="0">
                      <a:noFill/>
                    </a:lnT>
                    <a:lnB w="0">
                      <a:noFill/>
                    </a:lnB>
                    <a:solidFill>
                      <a:srgbClr val="4E7C8B"/>
                    </a:solidFill>
                  </a:tcPr>
                </a:tc>
              </a:tr>
              <a:tr h="1323479">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Síndrome de Marfan ou outra doença do tecido conjuntivo</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História familiar de aortopatia</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História conhecida de valvopatia aórtica</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Manipulação aórtica recente</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Aneurisma de aorta torácico conhecido</a:t>
                      </a:r>
                      <a:endParaRPr lang="pt-BR" sz="1300" dirty="0"/>
                    </a:p>
                  </a:txBody>
                  <a:tcPr marL="91440" marR="91440" marT="54864" marB="54864" anchor="t">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Dor torácica ou abdominal descrita como:</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Início súbito;</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Intensidade severa;</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Caracterizada como “rasgando”</a:t>
                      </a:r>
                      <a:endParaRPr lang="pt-BR" sz="1300" dirty="0"/>
                    </a:p>
                  </a:txBody>
                  <a:tcPr marL="91440" marR="91440" marT="54864" marB="54864" anchor="t">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Déficit de pulso ou pressão arterial</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Déficit neurológico focal (associado a dor)</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Sopro de regurgitação aórtica (novo associado a dor)</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Hipotensão ou choque</a:t>
                      </a:r>
                      <a:endParaRPr lang="pt-BR" sz="1300" dirty="0"/>
                    </a:p>
                  </a:txBody>
                  <a:tcPr marL="91440" marR="91440" marT="54864" marB="54864" anchor="t">
                    <a:lnL w="0">
                      <a:noFill/>
                    </a:lnL>
                    <a:lnR w="0">
                      <a:noFill/>
                    </a:lnR>
                    <a:lnT w="0">
                      <a:noFill/>
                    </a:lnT>
                    <a:lnB w="12700">
                      <a:solidFill>
                        <a:srgbClr val="E4E6E7"/>
                      </a:solidFill>
                    </a:lnB>
                    <a:solidFill>
                      <a:srgbClr val="FBFCFC"/>
                    </a:solidFill>
                  </a:tcPr>
                </a:tc>
              </a:tr>
            </a:tbl>
          </a:graphicData>
        </a:graphic>
      </p:graphicFrame>
    </p:spTree>
    <p:extLst>
      <p:ext uri="{BB962C8B-B14F-4D97-AF65-F5344CB8AC3E}">
        <p14:creationId xmlns:p14="http://schemas.microsoft.com/office/powerpoint/2010/main" val="112014005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Escore de risco para detecção de dissecção de aorta (ADD-RS) (1/3)</a:t>
            </a:r>
            <a:endParaRPr lang="pt-BR" dirty="0" sz="3200"/>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64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Etapa"/>
          <p:cNvSpPr/>
          <p:nvPr/>
        </p:nvSpPr>
        <p:spPr>
          <a:xfrm>
            <a:off x="713232" y="1691640"/>
            <a:ext cx="3383280" cy="2103120"/>
          </a:xfrm>
          <a:prstGeom prst="rect">
            <a:avLst/>
          </a:prstGeom>
          <a:solidFill>
            <a:srgbClr val="F2F4F5"/>
          </a:solidFill>
          <a:ln w="12700">
            <a:solidFill>
              <a:srgbClr val="6E9DAB"/>
            </a:solidFill>
          </a:ln>
          <a:effectLst/>
        </p:spPr>
        <p:txBody>
          <a:bodyPr rtlCol="0" anchor="t" wrap="square" lIns="91440" rIns="91440" tIns="45720" bIns="45720"/>
          <a:lstStyle/>
          <a:p>
            <a:pPr algn="l">
              <a:buNone/>
            </a:pPr>
            <a:r>
              <a:rPr lang="pt-BR" sz="1300" b="0" i="0" dirty="0">
                <a:solidFill>
                  <a:srgbClr val="3B3F42"/>
                </a:solidFill>
                <a:latin typeface="Roboto Medium"/>
                <a:ea typeface="Roboto Medium"/>
                <a:cs typeface="Roboto Medium"/>
              </a:rPr>
              <a:t>CONDIÇÃO DE ALTO RISCO</a:t>
            </a:r>
          </a:p>
          <a:p>
            <a:pPr algn="l" marL="171450" indent="-171450">
              <a:buClr>
                <a:srgbClr val="4E7C8B"/>
              </a:buClr>
              <a:buFont typeface="Roboto"/>
              <a:buChar char="•"/>
            </a:pPr>
            <a:r>
              <a:rPr lang="pt-BR" sz="1200" b="0" i="0" dirty="0">
                <a:solidFill>
                  <a:srgbClr val="5F6468"/>
                </a:solidFill>
                <a:latin typeface="Roboto"/>
                <a:ea typeface="Roboto"/>
                <a:cs typeface="Roboto"/>
              </a:rPr>
              <a:t>Síndrome de Marfan ou outra doença do tecido conjuntivo</a:t>
            </a:r>
          </a:p>
          <a:p>
            <a:pPr algn="l" marL="171450" indent="-171450">
              <a:buClr>
                <a:srgbClr val="4E7C8B"/>
              </a:buClr>
              <a:buFont typeface="Roboto"/>
              <a:buChar char="•"/>
            </a:pPr>
            <a:r>
              <a:rPr lang="pt-BR" sz="1200" b="0" i="0" dirty="0">
                <a:solidFill>
                  <a:srgbClr val="5F6468"/>
                </a:solidFill>
                <a:latin typeface="Roboto"/>
                <a:ea typeface="Roboto"/>
                <a:cs typeface="Roboto"/>
              </a:rPr>
              <a:t>História familiar de doença de aorta</a:t>
            </a:r>
          </a:p>
          <a:p>
            <a:pPr algn="l" marL="171450" indent="-171450">
              <a:buClr>
                <a:srgbClr val="4E7C8B"/>
              </a:buClr>
              <a:buFont typeface="Roboto"/>
              <a:buChar char="•"/>
            </a:pPr>
            <a:r>
              <a:rPr lang="pt-BR" sz="1200" b="0" i="0" dirty="0">
                <a:solidFill>
                  <a:srgbClr val="5F6468"/>
                </a:solidFill>
                <a:latin typeface="Roboto"/>
                <a:ea typeface="Roboto"/>
                <a:cs typeface="Roboto"/>
              </a:rPr>
              <a:t>Doença valvar aórtica conhecida</a:t>
            </a:r>
          </a:p>
          <a:p>
            <a:pPr algn="l" marL="171450" indent="-171450">
              <a:buClr>
                <a:srgbClr val="4E7C8B"/>
              </a:buClr>
              <a:buFont typeface="Roboto"/>
              <a:buChar char="•"/>
            </a:pPr>
            <a:r>
              <a:rPr lang="pt-BR" sz="1200" b="0" i="0" dirty="0">
                <a:solidFill>
                  <a:srgbClr val="5F6468"/>
                </a:solidFill>
                <a:latin typeface="Roboto"/>
                <a:ea typeface="Roboto"/>
                <a:cs typeface="Roboto"/>
              </a:rPr>
              <a:t>Manipulação aórtica recente</a:t>
            </a:r>
          </a:p>
          <a:p>
            <a:pPr algn="l" marL="171450" indent="-171450">
              <a:buClr>
                <a:srgbClr val="4E7C8B"/>
              </a:buClr>
              <a:buFont typeface="Roboto"/>
              <a:buChar char="•"/>
            </a:pPr>
            <a:r>
              <a:rPr lang="pt-BR" sz="1200" b="0" i="0" dirty="0">
                <a:solidFill>
                  <a:srgbClr val="5F6468"/>
                </a:solidFill>
                <a:latin typeface="Roboto"/>
                <a:ea typeface="Roboto"/>
                <a:cs typeface="Roboto"/>
              </a:rPr>
              <a:t>Aneurisma de aorta torácica conhecido</a:t>
            </a:r>
          </a:p>
        </p:txBody>
      </p:sp>
      <p:sp>
        <p:nvSpPr>
          <p:cNvPr id="302" name="Etapa"/>
          <p:cNvSpPr/>
          <p:nvPr/>
        </p:nvSpPr>
        <p:spPr>
          <a:xfrm>
            <a:off x="4407408" y="1691640"/>
            <a:ext cx="3383280" cy="2103120"/>
          </a:xfrm>
          <a:prstGeom prst="rect">
            <a:avLst/>
          </a:prstGeom>
          <a:solidFill>
            <a:srgbClr val="F2F4F5"/>
          </a:solidFill>
          <a:ln w="12700">
            <a:solidFill>
              <a:srgbClr val="6E9DAB"/>
            </a:solidFill>
          </a:ln>
          <a:effectLst/>
        </p:spPr>
        <p:txBody>
          <a:bodyPr rtlCol="0" anchor="t" wrap="square" lIns="91440" rIns="91440" tIns="45720" bIns="45720"/>
          <a:lstStyle/>
          <a:p>
            <a:pPr algn="l">
              <a:buNone/>
            </a:pPr>
            <a:r>
              <a:rPr lang="pt-BR" sz="1300" b="0" i="0" dirty="0">
                <a:solidFill>
                  <a:srgbClr val="3B3F42"/>
                </a:solidFill>
                <a:latin typeface="Roboto Medium"/>
                <a:ea typeface="Roboto Medium"/>
                <a:cs typeface="Roboto Medium"/>
              </a:rPr>
              <a:t>CARACTERÍSTICAS DA DOR DE ALTO RISCO</a:t>
            </a:r>
          </a:p>
          <a:p>
            <a:pPr algn="l">
              <a:buNone/>
            </a:pPr>
            <a:r>
              <a:rPr lang="pt-BR" sz="1200" b="0" i="0" dirty="0">
                <a:solidFill>
                  <a:srgbClr val="5F6468"/>
                </a:solidFill>
                <a:latin typeface="Roboto"/>
                <a:ea typeface="Roboto"/>
                <a:cs typeface="Roboto"/>
              </a:rPr>
              <a:t>Dor torácica, em dorso ou abdominal conforme descrição a seguir:</a:t>
            </a:r>
          </a:p>
          <a:p>
            <a:pPr algn="l" marL="171450" indent="-171450">
              <a:buClr>
                <a:srgbClr val="4E7C8B"/>
              </a:buClr>
              <a:buFont typeface="Roboto"/>
              <a:buChar char="•"/>
            </a:pPr>
            <a:r>
              <a:rPr lang="pt-BR" sz="1200" b="0" i="0" dirty="0">
                <a:solidFill>
                  <a:srgbClr val="5F6468"/>
                </a:solidFill>
                <a:latin typeface="Roboto"/>
                <a:ea typeface="Roboto"/>
                <a:cs typeface="Roboto"/>
              </a:rPr>
              <a:t>Início abrupto</a:t>
            </a:r>
          </a:p>
          <a:p>
            <a:pPr algn="l" marL="171450" indent="-171450">
              <a:buClr>
                <a:srgbClr val="4E7C8B"/>
              </a:buClr>
              <a:buFont typeface="Roboto"/>
              <a:buChar char="•"/>
            </a:pPr>
            <a:r>
              <a:rPr lang="pt-BR" sz="1200" b="0" i="0" dirty="0">
                <a:solidFill>
                  <a:srgbClr val="5F6468"/>
                </a:solidFill>
                <a:latin typeface="Roboto"/>
                <a:ea typeface="Roboto"/>
                <a:cs typeface="Roboto"/>
              </a:rPr>
              <a:t>Intensa</a:t>
            </a:r>
          </a:p>
          <a:p>
            <a:pPr algn="l" marL="171450" indent="-171450">
              <a:buClr>
                <a:srgbClr val="4E7C8B"/>
              </a:buClr>
              <a:buFont typeface="Roboto"/>
              <a:buChar char="•"/>
            </a:pPr>
            <a:r>
              <a:rPr lang="pt-BR" sz="1200" b="0" i="0" dirty="0">
                <a:solidFill>
                  <a:srgbClr val="5F6468"/>
                </a:solidFill>
                <a:latin typeface="Roboto"/>
                <a:ea typeface="Roboto"/>
                <a:cs typeface="Roboto"/>
              </a:rPr>
              <a:t>Rasgante</a:t>
            </a:r>
          </a:p>
        </p:txBody>
      </p:sp>
      <p:sp>
        <p:nvSpPr>
          <p:cNvPr id="303" name="Etapa"/>
          <p:cNvSpPr/>
          <p:nvPr/>
        </p:nvSpPr>
        <p:spPr>
          <a:xfrm>
            <a:off x="8101584" y="1691640"/>
            <a:ext cx="3383280" cy="2103120"/>
          </a:xfrm>
          <a:prstGeom prst="rect">
            <a:avLst/>
          </a:prstGeom>
          <a:solidFill>
            <a:srgbClr val="F2F4F5"/>
          </a:solidFill>
          <a:ln w="12700">
            <a:solidFill>
              <a:srgbClr val="6E9DAB"/>
            </a:solidFill>
          </a:ln>
          <a:effectLst/>
        </p:spPr>
        <p:txBody>
          <a:bodyPr rtlCol="0" anchor="t" wrap="square" lIns="91440" rIns="91440" tIns="45720" bIns="45720"/>
          <a:lstStyle/>
          <a:p>
            <a:pPr algn="l">
              <a:buNone/>
            </a:pPr>
            <a:r>
              <a:rPr lang="pt-BR" sz="1300" b="0" i="0" dirty="0">
                <a:solidFill>
                  <a:srgbClr val="3B3F42"/>
                </a:solidFill>
                <a:latin typeface="Roboto Medium"/>
                <a:ea typeface="Roboto Medium"/>
                <a:cs typeface="Roboto Medium"/>
              </a:rPr>
              <a:t>ACHADOS DE ALTO RISCO EM EXAMES</a:t>
            </a:r>
          </a:p>
          <a:p>
            <a:pPr algn="l">
              <a:buNone/>
            </a:pPr>
            <a:r>
              <a:rPr lang="pt-BR" sz="1200" b="0" i="0" dirty="0">
                <a:solidFill>
                  <a:srgbClr val="5F6468"/>
                </a:solidFill>
                <a:latin typeface="Roboto"/>
                <a:ea typeface="Roboto"/>
                <a:cs typeface="Roboto"/>
              </a:rPr>
              <a:t>Sinais de má perfusão orgânica:</a:t>
            </a:r>
          </a:p>
          <a:p>
            <a:pPr algn="l" marL="171450" indent="-171450">
              <a:buClr>
                <a:srgbClr val="4E7C8B"/>
              </a:buClr>
              <a:buFont typeface="Roboto"/>
              <a:buChar char="•"/>
            </a:pPr>
            <a:r>
              <a:rPr lang="pt-BR" sz="1200" b="0" i="0" dirty="0">
                <a:solidFill>
                  <a:srgbClr val="5F6468"/>
                </a:solidFill>
                <a:latin typeface="Roboto"/>
                <a:ea typeface="Roboto"/>
                <a:cs typeface="Roboto"/>
              </a:rPr>
              <a:t>Assimetria de pulso</a:t>
            </a:r>
          </a:p>
          <a:p>
            <a:pPr algn="l" marL="171450" indent="-171450">
              <a:buClr>
                <a:srgbClr val="4E7C8B"/>
              </a:buClr>
              <a:buFont typeface="Roboto"/>
              <a:buChar char="•"/>
            </a:pPr>
            <a:r>
              <a:rPr lang="pt-BR" sz="1200" b="0" i="0" dirty="0">
                <a:solidFill>
                  <a:srgbClr val="5F6468"/>
                </a:solidFill>
                <a:latin typeface="Roboto"/>
                <a:ea typeface="Roboto"/>
                <a:cs typeface="Roboto"/>
              </a:rPr>
              <a:t>Assimetria de pressão arterial</a:t>
            </a:r>
          </a:p>
          <a:p>
            <a:pPr algn="l" marL="171450" indent="-171450">
              <a:buClr>
                <a:srgbClr val="4E7C8B"/>
              </a:buClr>
              <a:buFont typeface="Roboto"/>
              <a:buChar char="•"/>
            </a:pPr>
            <a:r>
              <a:rPr lang="pt-BR" sz="1200" b="0" i="0" dirty="0">
                <a:solidFill>
                  <a:srgbClr val="5F6468"/>
                </a:solidFill>
                <a:latin typeface="Roboto"/>
                <a:ea typeface="Roboto"/>
                <a:cs typeface="Roboto"/>
              </a:rPr>
              <a:t>Déficit neurológico focal</a:t>
            </a:r>
          </a:p>
          <a:p>
            <a:pPr algn="l">
              <a:buNone/>
            </a:pPr>
            <a:r>
              <a:rPr lang="pt-BR" sz="1200" b="0" i="0" dirty="0">
                <a:solidFill>
                  <a:srgbClr val="5F6468"/>
                </a:solidFill>
                <a:latin typeface="Roboto"/>
                <a:ea typeface="Roboto"/>
                <a:cs typeface="Roboto"/>
              </a:rPr>
              <a:t>Sopro de insuficiência aórtica (novo ou desconhecido)</a:t>
            </a:r>
          </a:p>
          <a:p>
            <a:pPr algn="l">
              <a:buNone/>
            </a:pPr>
            <a:r>
              <a:rPr lang="pt-BR" sz="1200" b="0" i="0" dirty="0">
                <a:solidFill>
                  <a:srgbClr val="5F6468"/>
                </a:solidFill>
                <a:latin typeface="Roboto"/>
                <a:ea typeface="Roboto"/>
                <a:cs typeface="Roboto"/>
              </a:rPr>
              <a:t>Hipotensão ou choque</a:t>
            </a:r>
          </a:p>
        </p:txBody>
      </p:sp>
      <p:sp>
        <p:nvSpPr>
          <p:cNvPr id="304" name="Etapa"/>
          <p:cNvSpPr/>
          <p:nvPr/>
        </p:nvSpPr>
        <p:spPr>
          <a:xfrm>
            <a:off x="713232" y="4023360"/>
            <a:ext cx="3017520" cy="1371600"/>
          </a:xfrm>
          <a:prstGeom prst="rect">
            <a:avLst/>
          </a:prstGeom>
          <a:solidFill>
            <a:srgbClr val="F2F4F5"/>
          </a:solidFill>
          <a:ln w="12700">
            <a:solidFill>
              <a:srgbClr val="6E9DAB"/>
            </a:solidFill>
          </a:ln>
          <a:effectLst/>
        </p:spPr>
        <p:txBody>
          <a:bodyPr rtlCol="0" anchor="t" wrap="square" lIns="91440" rIns="91440" tIns="45720" bIns="45720"/>
          <a:lstStyle/>
          <a:p>
            <a:pPr algn="l">
              <a:buNone/>
            </a:pPr>
            <a:r>
              <a:rPr lang="pt-BR" sz="1300" b="0" i="0" dirty="0">
                <a:solidFill>
                  <a:srgbClr val="3B3F42"/>
                </a:solidFill>
                <a:latin typeface="Roboto Medium"/>
                <a:ea typeface="Roboto Medium"/>
                <a:cs typeface="Roboto Medium"/>
              </a:rPr>
              <a:t>Avaliação pelo POCUS:</a:t>
            </a:r>
          </a:p>
          <a:p>
            <a:pPr algn="l">
              <a:buNone/>
            </a:pPr>
            <a:r>
              <a:rPr lang="pt-BR" sz="1200" b="0" i="0" dirty="0">
                <a:solidFill>
                  <a:srgbClr val="5F6468"/>
                </a:solidFill>
                <a:latin typeface="Roboto"/>
                <a:ea typeface="Roboto"/>
                <a:cs typeface="Roboto"/>
              </a:rPr>
              <a:t>Sinais diretos: Presença de Flap, hematoma ou úlcera</a:t>
            </a:r>
          </a:p>
          <a:p>
            <a:pPr algn="l">
              <a:buNone/>
            </a:pPr>
            <a:r>
              <a:rPr lang="pt-BR" sz="1200" b="0" i="0" dirty="0">
                <a:solidFill>
                  <a:srgbClr val="5F6468"/>
                </a:solidFill>
                <a:latin typeface="Roboto"/>
                <a:ea typeface="Roboto"/>
                <a:cs typeface="Roboto"/>
              </a:rPr>
              <a:t>Sinais indiretos: Dilatação de aorta, derrame pericárdico ou insuficiência valvar aórtica</a:t>
            </a:r>
          </a:p>
        </p:txBody>
      </p:sp>
      <p:sp>
        <p:nvSpPr>
          <p:cNvPr id="305" name="Etapa"/>
          <p:cNvSpPr/>
          <p:nvPr/>
        </p:nvSpPr>
        <p:spPr>
          <a:xfrm>
            <a:off x="4407408" y="4343400"/>
            <a:ext cx="3383280" cy="77724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Realizar ECG e POCUS/Radiografia de tórax*</a:t>
            </a:r>
          </a:p>
          <a:p>
            <a:pPr algn="ctr">
              <a:buNone/>
            </a:pPr>
            <a:r>
              <a:rPr lang="pt-BR" sz="1200" b="0" i="0" dirty="0">
                <a:solidFill>
                  <a:srgbClr val="5F6468"/>
                </a:solidFill>
                <a:latin typeface="Roboto"/>
                <a:ea typeface="Roboto"/>
                <a:cs typeface="Roboto"/>
              </a:rPr>
              <a:t>(quando disponível)</a:t>
            </a:r>
          </a:p>
        </p:txBody>
      </p:sp>
      <p:sp>
        <p:nvSpPr>
          <p:cNvPr id="306" name="Seta"/>
          <p:cNvSpPr/>
          <p:nvPr/>
        </p:nvSpPr>
        <p:spPr>
          <a:xfrm>
            <a:off x="6099048" y="3794760"/>
            <a:ext cx="1" cy="548640"/>
          </a:xfrm>
          <a:custGeom>
            <a:avLst/>
            <a:gdLst/>
            <a:ahLst/>
            <a:cxnLst/>
            <a:rect l="0" t="0" r="r" b="b"/>
            <a:pathLst>
              <a:path w="1" h="548640" fill="none">
                <a:moveTo>
                  <a:pt x="0" y="0"/>
                </a:moveTo>
                <a:lnTo>
                  <a:pt x="0" y="548640"/>
                </a:lnTo>
              </a:path>
            </a:pathLst>
          </a:custGeom>
          <a:noFill/>
          <a:ln w="19050">
            <a:solidFill>
              <a:srgbClr val="6B6E70"/>
            </a:solidFill>
            <a:round/>
            <a:tailEnd type="triangle" w="med" len="med"/>
          </a:ln>
          <a:effectLst/>
        </p:spPr>
      </p:sp>
      <p:sp>
        <p:nvSpPr>
          <p:cNvPr id="307" name="Seta"/>
          <p:cNvSpPr/>
          <p:nvPr/>
        </p:nvSpPr>
        <p:spPr>
          <a:xfrm>
            <a:off x="3931920" y="3794760"/>
            <a:ext cx="475488" cy="932688"/>
          </a:xfrm>
          <a:custGeom>
            <a:avLst/>
            <a:gdLst/>
            <a:ahLst/>
            <a:cxnLst/>
            <a:rect l="0" t="0" r="r" b="b"/>
            <a:pathLst>
              <a:path w="475488" h="932688" fill="none">
                <a:moveTo>
                  <a:pt x="0" y="0"/>
                </a:moveTo>
                <a:lnTo>
                  <a:pt x="0" y="932688"/>
                </a:lnTo>
                <a:lnTo>
                  <a:pt x="475488" y="932688"/>
                </a:lnTo>
              </a:path>
            </a:pathLst>
          </a:custGeom>
          <a:noFill/>
          <a:ln w="19050">
            <a:solidFill>
              <a:srgbClr val="6B6E70"/>
            </a:solidFill>
            <a:round/>
            <a:tailEnd type="triangle" w="med" len="med"/>
          </a:ln>
          <a:effectLst/>
        </p:spPr>
      </p:sp>
      <p:sp>
        <p:nvSpPr>
          <p:cNvPr id="308" name="Seta"/>
          <p:cNvSpPr/>
          <p:nvPr/>
        </p:nvSpPr>
        <p:spPr>
          <a:xfrm>
            <a:off x="7790688" y="3794760"/>
            <a:ext cx="1993392" cy="932688"/>
          </a:xfrm>
          <a:custGeom>
            <a:avLst/>
            <a:gdLst/>
            <a:ahLst/>
            <a:cxnLst/>
            <a:rect l="0" t="0" r="r" b="b"/>
            <a:pathLst>
              <a:path w="1993392" h="932688" fill="none">
                <a:moveTo>
                  <a:pt x="1993392" y="0"/>
                </a:moveTo>
                <a:lnTo>
                  <a:pt x="1993392" y="932688"/>
                </a:lnTo>
                <a:lnTo>
                  <a:pt x="0" y="932688"/>
                </a:lnTo>
              </a:path>
            </a:pathLst>
          </a:custGeom>
          <a:noFill/>
          <a:ln w="19050">
            <a:solidFill>
              <a:srgbClr val="6B6E70"/>
            </a:solidFill>
            <a:round/>
            <a:tailEnd type="triangle" w="med" len="med"/>
          </a:ln>
          <a:effectLst/>
        </p:spPr>
      </p:sp>
      <p:sp>
        <p:nvSpPr>
          <p:cNvPr id="309" name="Nota"/>
          <p:cNvSpPr txBox="1"/>
          <p:nvPr/>
        </p:nvSpPr>
        <p:spPr>
          <a:xfrm>
            <a:off x="713232" y="5486400"/>
            <a:ext cx="10771632" cy="228600"/>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*Casos suspeitos com sinais radiográficos sugestivos de dissecção de aorta (ex: alargamento de mediastino), seguir fluxo de alta probabilidade.</a:t>
            </a:r>
          </a:p>
        </p:txBody>
      </p:sp>
      <p:sp>
        <p:nvSpPr>
          <p:cNvPr id="310" name="Legenda"/>
          <p:cNvSpPr txBox="1"/>
          <p:nvPr/>
        </p:nvSpPr>
        <p:spPr>
          <a:xfrm>
            <a:off x="713232" y="5760720"/>
            <a:ext cx="10771632" cy="228600"/>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Figura 9 – Fluxograma para investigação de síndrome aórtica aguda.</a:t>
            </a:r>
          </a:p>
        </p:txBody>
      </p:sp>
    </p:spTree>
    <p:extLst>
      <p:ext uri="{BB962C8B-B14F-4D97-AF65-F5344CB8AC3E}">
        <p14:creationId xmlns:p14="http://schemas.microsoft.com/office/powerpoint/2010/main" val="272385289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19 – Escore de Wells: critérios e respectiva pontuação (1/2)</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67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417320"/>
          <a:ext cx="10771632" cy="1516125"/>
        </p:xfrm>
        <a:graphic>
          <a:graphicData uri="http://schemas.openxmlformats.org/drawingml/2006/table">
            <a:tbl>
              <a:tblPr firstRow="1"/>
              <a:tblGrid>
                <a:gridCol w="8971632"/>
                <a:gridCol w="1800000"/>
              </a:tblGrid>
              <a:tr h="303225">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Critérios</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Pontos</a:t>
                      </a:r>
                      <a:endParaRPr lang="pt-BR" sz="1300" dirty="0"/>
                    </a:p>
                  </a:txBody>
                  <a:tcPr marL="91440" marR="91440" marT="54864" marB="54864" anchor="ctr">
                    <a:lnL w="0">
                      <a:noFill/>
                    </a:lnL>
                    <a:lnR w="0">
                      <a:noFill/>
                    </a:lnR>
                    <a:lnT w="0">
                      <a:noFill/>
                    </a:lnT>
                    <a:lnB w="0">
                      <a:noFill/>
                    </a:lnB>
                    <a:solidFill>
                      <a:srgbClr val="4E7C8B"/>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Sinais clínicos de TVP</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r" marL="0" indent="0">
                        <a:lnSpc>
                          <a:spcPct val="100000"/>
                        </a:lnSpc>
                        <a:spcBef>
                          <a:spcPts val="0"/>
                        </a:spcBef>
                        <a:spcAft>
                          <a:spcPts val="0"/>
                        </a:spcAft>
                        <a:buNone/>
                      </a:pPr>
                      <a:r>
                        <a:rPr lang="pt-BR" sz="1300" b="0" i="0" dirty="0">
                          <a:solidFill>
                            <a:srgbClr val="5F6468"/>
                          </a:solidFill>
                          <a:latin typeface="Roboto"/>
                          <a:ea typeface="Roboto"/>
                          <a:cs typeface="Roboto"/>
                        </a:rPr>
                        <a:t>+3</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Ausência de diagnóstico alternativo mais provável que TEP</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r" marL="0" indent="0">
                        <a:lnSpc>
                          <a:spcPct val="100000"/>
                        </a:lnSpc>
                        <a:spcBef>
                          <a:spcPts val="0"/>
                        </a:spcBef>
                        <a:spcAft>
                          <a:spcPts val="0"/>
                        </a:spcAft>
                        <a:buNone/>
                      </a:pPr>
                      <a:r>
                        <a:rPr lang="pt-BR" sz="1300" b="0" i="0" dirty="0">
                          <a:solidFill>
                            <a:srgbClr val="5F6468"/>
                          </a:solidFill>
                          <a:latin typeface="Roboto"/>
                          <a:ea typeface="Roboto"/>
                          <a:cs typeface="Roboto"/>
                        </a:rPr>
                        <a:t>+3</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TVP ou TEP prévios</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r" marL="0" indent="0">
                        <a:lnSpc>
                          <a:spcPct val="100000"/>
                        </a:lnSpc>
                        <a:spcBef>
                          <a:spcPts val="0"/>
                        </a:spcBef>
                        <a:spcAft>
                          <a:spcPts val="0"/>
                        </a:spcAft>
                        <a:buNone/>
                      </a:pPr>
                      <a:r>
                        <a:rPr lang="pt-BR" sz="1300" b="0" i="0" dirty="0">
                          <a:solidFill>
                            <a:srgbClr val="5F6468"/>
                          </a:solidFill>
                          <a:latin typeface="Roboto"/>
                          <a:ea typeface="Roboto"/>
                          <a:cs typeface="Roboto"/>
                        </a:rPr>
                        <a:t>+1,5</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FC &gt; 100 bpm</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r" marL="0" indent="0">
                        <a:lnSpc>
                          <a:spcPct val="100000"/>
                        </a:lnSpc>
                        <a:spcBef>
                          <a:spcPts val="0"/>
                        </a:spcBef>
                        <a:spcAft>
                          <a:spcPts val="0"/>
                        </a:spcAft>
                        <a:buNone/>
                      </a:pPr>
                      <a:r>
                        <a:rPr lang="pt-BR" sz="1300" b="0" i="0" dirty="0">
                          <a:solidFill>
                            <a:srgbClr val="5F6468"/>
                          </a:solidFill>
                          <a:latin typeface="Roboto"/>
                          <a:ea typeface="Roboto"/>
                          <a:cs typeface="Roboto"/>
                        </a:rPr>
                        <a:t>+1,5</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bl>
          </a:graphicData>
        </a:graphic>
      </p:graphicFrame>
      <p:sp>
        <p:nvSpPr>
          <p:cNvPr id="7" name="Nota"/>
          <p:cNvSpPr txBox="1"/>
          <p:nvPr/>
        </p:nvSpPr>
        <p:spPr>
          <a:xfrm>
            <a:off x="711403" y="3003445"/>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TVP: trombose venosa profunda; TEP: tromboembolismo pulmonar; bpm: batimentos por minuto.</a:t>
            </a:r>
            <a:endParaRPr lang="pt-BR" sz="1200" dirty="0"/>
          </a:p>
        </p:txBody>
      </p:sp>
    </p:spTree>
    <p:extLst>
      <p:ext uri="{BB962C8B-B14F-4D97-AF65-F5344CB8AC3E}">
        <p14:creationId xmlns:p14="http://schemas.microsoft.com/office/powerpoint/2010/main" val="313329083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20 – Escore de Wells modificado e probabilidade/risco de tromboembolismo pulmonar, a depender da pontuação (1/2)</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69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640000"/>
          <a:ext cx="10771632" cy="1516125"/>
        </p:xfrm>
        <a:graphic>
          <a:graphicData uri="http://schemas.openxmlformats.org/drawingml/2006/table">
            <a:tbl>
              <a:tblPr firstRow="1"/>
              <a:tblGrid>
                <a:gridCol w="3000000"/>
                <a:gridCol w="3900000"/>
                <a:gridCol w="3871632"/>
              </a:tblGrid>
              <a:tr h="303225">
                <a:tc gridSpan="3">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3 níveis</a:t>
                      </a:r>
                      <a:endParaRPr lang="pt-BR" sz="1300" dirty="0"/>
                    </a:p>
                  </a:txBody>
                  <a:tcPr marL="91440" marR="91440" marT="54864" marB="54864" anchor="ctr">
                    <a:lnL w="0">
                      <a:noFill/>
                    </a:lnL>
                    <a:lnR w="0">
                      <a:noFill/>
                    </a:lnR>
                    <a:lnT w="0">
                      <a:noFill/>
                    </a:lnT>
                    <a:lnB w="0">
                      <a:noFill/>
                    </a:lnB>
                    <a:solidFill>
                      <a:srgbClr val="4E7C8B"/>
                    </a:solidFill>
                  </a:tcPr>
                </a:tc>
                <a:tc hMerge="1">
                  <a:txBody>
                    <a:bodyPr/>
                    <a:lstStyle/>
                    <a:p>
                      <a:endParaRPr lang="pt-BR"/>
                    </a:p>
                  </a:txBody>
                  <a:tcPr/>
                </a:tc>
                <a:tc hMerge="1">
                  <a:txBody>
                    <a:bodyPr/>
                    <a:lstStyle/>
                    <a:p>
                      <a:endParaRPr lang="pt-BR"/>
                    </a:p>
                  </a:txBody>
                  <a:tcPr/>
                </a:tc>
              </a:tr>
              <a:tr h="303225">
                <a:tc>
                  <a:txBody>
                    <a:bodyPr/>
                    <a:lstStyle/>
                    <a:p>
                      <a:pPr algn="l"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Pontuação</a:t>
                      </a:r>
                      <a:endParaRPr lang="pt-BR" sz="1300" dirty="0"/>
                    </a:p>
                  </a:txBody>
                  <a:tcPr marL="91440" marR="91440" marT="54864" marB="54864" anchor="ctr">
                    <a:lnL w="0">
                      <a:noFill/>
                    </a:lnL>
                    <a:lnR w="0">
                      <a:noFill/>
                    </a:lnR>
                    <a:lnT w="0">
                      <a:noFill/>
                    </a:lnT>
                    <a:lnB w="0">
                      <a:noFill/>
                    </a:lnB>
                    <a:solidFill>
                      <a:srgbClr val="6E9DA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Probabilidade de TEP</a:t>
                      </a:r>
                      <a:endParaRPr lang="pt-BR" sz="1300" dirty="0"/>
                    </a:p>
                  </a:txBody>
                  <a:tcPr marL="91440" marR="91440" marT="54864" marB="54864" anchor="ctr">
                    <a:lnL w="0">
                      <a:noFill/>
                    </a:lnL>
                    <a:lnR w="0">
                      <a:noFill/>
                    </a:lnR>
                    <a:lnT w="0">
                      <a:noFill/>
                    </a:lnT>
                    <a:lnB w="0">
                      <a:noFill/>
                    </a:lnB>
                    <a:solidFill>
                      <a:srgbClr val="6E9DA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Probabilidade pré-teste</a:t>
                      </a:r>
                      <a:endParaRPr lang="pt-BR" sz="1300" dirty="0"/>
                    </a:p>
                  </a:txBody>
                  <a:tcPr marL="91440" marR="91440" marT="54864" marB="54864" anchor="ctr">
                    <a:lnL w="0">
                      <a:noFill/>
                    </a:lnL>
                    <a:lnR w="0">
                      <a:noFill/>
                    </a:lnR>
                    <a:lnT w="0">
                      <a:noFill/>
                    </a:lnT>
                    <a:lnB w="0">
                      <a:noFill/>
                    </a:lnB>
                    <a:solidFill>
                      <a:srgbClr val="6E9DAB"/>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&lt; 2</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 a 3%</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Baixa</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2-6</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16 a 28%</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Intermediária</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&gt; 6</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&gt; 40 %</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Alta</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bl>
          </a:graphicData>
        </a:graphic>
      </p:graphicFrame>
      <p:sp>
        <p:nvSpPr>
          <p:cNvPr id="7" name="Nota"/>
          <p:cNvSpPr txBox="1"/>
          <p:nvPr/>
        </p:nvSpPr>
        <p:spPr>
          <a:xfrm>
            <a:off x="711403" y="3226125"/>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TEP: tromboembolismo pulmonar.</a:t>
            </a:r>
            <a:endParaRPr lang="pt-BR" sz="1200" dirty="0"/>
          </a:p>
        </p:txBody>
      </p:sp>
    </p:spTree>
    <p:extLst>
      <p:ext uri="{BB962C8B-B14F-4D97-AF65-F5344CB8AC3E}">
        <p14:creationId xmlns:p14="http://schemas.microsoft.com/office/powerpoint/2010/main" val="43929376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21 – Escore de Genebra (1/4)</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71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6" name="Subtítulo"/>
          <p:cNvSpPr txBox="1"/>
          <p:nvPr/>
        </p:nvSpPr>
        <p:spPr>
          <a:xfrm>
            <a:off x="711403" y="1040000"/>
            <a:ext cx="10771632" cy="213167"/>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300" b="0" i="0" dirty="0">
                <a:solidFill>
                  <a:srgbClr val="737A7F"/>
                </a:solidFill>
                <a:latin typeface="Roboto"/>
                <a:ea typeface="Roboto"/>
                <a:cs typeface="Roboto"/>
              </a:rPr>
              <a:t>Tabela 21 – Escore de Genebra revisado e simplificado e probabilidade e risco de tromboembolismo pulmonar, a depender da pontuação</a:t>
            </a:r>
            <a:endParaRPr lang="pt-BR" sz="1300" dirty="0"/>
          </a:p>
        </p:txBody>
      </p:sp>
      <p:graphicFrame>
        <p:nvGraphicFramePr>
          <p:cNvPr id="7" name="Tabela"/>
          <p:cNvGraphicFramePr>
            <a:graphicFrameLocks noGrp="1"/>
          </p:cNvGraphicFramePr>
          <p:nvPr/>
        </p:nvGraphicFramePr>
        <p:xfrm>
          <a:off x="711403" y="1640000"/>
          <a:ext cx="10771632" cy="1819350"/>
        </p:xfrm>
        <a:graphic>
          <a:graphicData uri="http://schemas.openxmlformats.org/drawingml/2006/table">
            <a:tbl>
              <a:tblPr firstRow="1"/>
              <a:tblGrid>
                <a:gridCol w="6614160"/>
                <a:gridCol w="1889760"/>
                <a:gridCol w="2267712"/>
              </a:tblGrid>
              <a:tr h="303225">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Escore Genebra (do inglês, Geneva)</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Revisado - pontos</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Simplificado - pontos</a:t>
                      </a:r>
                      <a:endParaRPr lang="pt-BR" sz="1300" dirty="0"/>
                    </a:p>
                  </a:txBody>
                  <a:tcPr marL="91440" marR="91440" marT="54864" marB="54864" anchor="ctr">
                    <a:lnL w="0">
                      <a:noFill/>
                    </a:lnL>
                    <a:lnR w="0">
                      <a:noFill/>
                    </a:lnR>
                    <a:lnT w="0">
                      <a:noFill/>
                    </a:lnT>
                    <a:lnB w="0">
                      <a:noFill/>
                    </a:lnB>
                    <a:solidFill>
                      <a:srgbClr val="4E7C8B"/>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Idade &gt; 65 anos</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TVP e TEP prévios</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3</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Cirurgia ou fratura no último mês</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2</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Neoplasia em atividade</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2</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Dor unilateral em membro inferior</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3</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bl>
          </a:graphicData>
        </a:graphic>
      </p:graphicFrame>
      <p:sp>
        <p:nvSpPr>
          <p:cNvPr id="10" name="Nota"/>
          <p:cNvSpPr txBox="1"/>
          <p:nvPr/>
        </p:nvSpPr>
        <p:spPr>
          <a:xfrm>
            <a:off x="711403" y="3529350"/>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TVP: trombose venosa profunda; TEP: tromboembolismo pulmonar; FC: frequência cardíaca; bpm: batimentos por minuto.</a:t>
            </a:r>
            <a:endParaRPr lang="pt-BR" sz="1200" dirty="0"/>
          </a:p>
        </p:txBody>
      </p:sp>
    </p:spTree>
    <p:extLst>
      <p:ext uri="{BB962C8B-B14F-4D97-AF65-F5344CB8AC3E}">
        <p14:creationId xmlns:p14="http://schemas.microsoft.com/office/powerpoint/2010/main" val="123887681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22 – Pulmonary embolism rule-out criteria (PERC) (1/2)</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75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417320"/>
          <a:ext cx="10771632" cy="1516125"/>
        </p:xfrm>
        <a:graphic>
          <a:graphicData uri="http://schemas.openxmlformats.org/drawingml/2006/table">
            <a:tbl>
              <a:tblPr firstRow="1"/>
              <a:tblGrid>
                <a:gridCol w="10771632"/>
              </a:tblGrid>
              <a:tr h="303225">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PERC</a:t>
                      </a:r>
                      <a:endParaRPr lang="pt-BR" sz="1300" dirty="0"/>
                    </a:p>
                  </a:txBody>
                  <a:tcPr marL="91440" marR="91440" marT="54864" marB="54864" anchor="ctr">
                    <a:lnL w="0">
                      <a:noFill/>
                    </a:lnL>
                    <a:lnR w="0">
                      <a:noFill/>
                    </a:lnR>
                    <a:lnT w="0">
                      <a:noFill/>
                    </a:lnT>
                    <a:lnB w="0">
                      <a:noFill/>
                    </a:lnB>
                    <a:solidFill>
                      <a:srgbClr val="4E7C8B"/>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Idade ≥ 50 anos</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Frequência cardíaca ≥ 100 bpm</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Saturação de O</a:t>
                      </a:r>
                      <a:r>
                        <a:rPr lang="pt-BR" sz="1300" b="0" i="0" baseline="-25000" dirty="0">
                          <a:solidFill>
                            <a:srgbClr val="5F6468"/>
                          </a:solidFill>
                          <a:latin typeface="Roboto"/>
                          <a:ea typeface="Roboto"/>
                          <a:cs typeface="Roboto"/>
                        </a:rPr>
                        <a:t>2</a:t>
                      </a:r>
                      <a:r>
                        <a:rPr lang="pt-BR" sz="1300" b="0" i="0" dirty="0">
                          <a:solidFill>
                            <a:srgbClr val="5F6468"/>
                          </a:solidFill>
                          <a:latin typeface="Roboto"/>
                          <a:ea typeface="Roboto"/>
                          <a:cs typeface="Roboto"/>
                        </a:rPr>
                        <a:t> &lt; 95% em ar ambiente</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Edema assimétrico dos membros inferiores</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bl>
          </a:graphicData>
        </a:graphic>
      </p:graphicFrame>
      <p:sp>
        <p:nvSpPr>
          <p:cNvPr id="7" name="Nota"/>
          <p:cNvSpPr txBox="1"/>
          <p:nvPr/>
        </p:nvSpPr>
        <p:spPr>
          <a:xfrm>
            <a:off x="711403" y="3003445"/>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PERC: pulmonary embolism rule-out criteria; TVP: trombose venosa profunda; TEP: tromboembolismo pulmonar.</a:t>
            </a:r>
            <a:endParaRPr lang="pt-BR" sz="1200" dirty="0"/>
          </a:p>
        </p:txBody>
      </p:sp>
    </p:spTree>
    <p:extLst>
      <p:ext uri="{BB962C8B-B14F-4D97-AF65-F5344CB8AC3E}">
        <p14:creationId xmlns:p14="http://schemas.microsoft.com/office/powerpoint/2010/main" val="373450672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Fluxograma TEP diagnóstico (1/3)</a:t>
            </a:r>
            <a:endParaRPr lang="pt-BR" dirty="0" sz="3200"/>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77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Fim/Início"/>
          <p:cNvSpPr/>
          <p:nvPr/>
        </p:nvSpPr>
        <p:spPr>
          <a:xfrm>
            <a:off x="4453128" y="1600200"/>
            <a:ext cx="3291840" cy="548640"/>
          </a:xfrm>
          <a:prstGeom prst="roundRect">
            <a:avLst>
              <a:gd name="adj" fmla="val 50000"/>
            </a:avLst>
          </a:prstGeom>
          <a:solidFill>
            <a:srgbClr val="4E7C8B"/>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SUSPEITA DE TEP</a:t>
            </a:r>
          </a:p>
        </p:txBody>
      </p:sp>
      <p:sp>
        <p:nvSpPr>
          <p:cNvPr id="302" name="Seta"/>
          <p:cNvSpPr/>
          <p:nvPr/>
        </p:nvSpPr>
        <p:spPr>
          <a:xfrm>
            <a:off x="6099048" y="2148840"/>
            <a:ext cx="1" cy="365760"/>
          </a:xfrm>
          <a:custGeom>
            <a:avLst/>
            <a:gdLst/>
            <a:ahLst/>
            <a:cxnLst/>
            <a:rect l="0" t="0" r="r" b="b"/>
            <a:pathLst>
              <a:path w="1" h="365760" fill="none">
                <a:moveTo>
                  <a:pt x="0" y="0"/>
                </a:moveTo>
                <a:lnTo>
                  <a:pt x="0" y="365760"/>
                </a:lnTo>
              </a:path>
            </a:pathLst>
          </a:custGeom>
          <a:noFill/>
          <a:ln w="19050">
            <a:solidFill>
              <a:srgbClr val="6B6E70"/>
            </a:solidFill>
            <a:round/>
            <a:tailEnd type="triangle" w="med" len="med"/>
          </a:ln>
          <a:effectLst/>
        </p:spPr>
      </p:sp>
      <p:sp>
        <p:nvSpPr>
          <p:cNvPr id="303" name="Decisão"/>
          <p:cNvSpPr/>
          <p:nvPr/>
        </p:nvSpPr>
        <p:spPr>
          <a:xfrm>
            <a:off x="4361688" y="2514600"/>
            <a:ext cx="3474720" cy="1371600"/>
          </a:xfrm>
          <a:prstGeom prst="diamond">
            <a:avLst/>
          </a:prstGeom>
          <a:solidFill>
            <a:srgbClr val="8EC4CB"/>
          </a:solidFill>
          <a:ln>
            <a:noFill/>
          </a:ln>
          <a:effectLst/>
        </p:spPr>
        <p:txBody>
          <a:bodyPr rtlCol="0" anchor="ctr" wrap="square" lIns="0" rIns="0" tIns="45720" bIns="45720"/>
          <a:lstStyle/>
          <a:p>
            <a:pPr algn="ctr"/>
            <a:r>
              <a:rPr lang="pt-BR" sz="1200" b="0" i="0" dirty="0">
                <a:solidFill>
                  <a:srgbClr val="1F3238"/>
                </a:solidFill>
                <a:latin typeface="Roboto Medium"/>
                <a:ea typeface="Roboto Medium"/>
                <a:cs typeface="Roboto Medium"/>
              </a:rPr>
              <a:t>CHOQUE OU</a:t>
            </a:r>
          </a:p>
          <a:p>
            <a:pPr algn="ctr"/>
            <a:r>
              <a:rPr lang="pt-BR" sz="1200" b="0" i="0" dirty="0">
                <a:solidFill>
                  <a:srgbClr val="1F3238"/>
                </a:solidFill>
                <a:latin typeface="Roboto Medium"/>
                <a:ea typeface="Roboto Medium"/>
                <a:cs typeface="Roboto Medium"/>
              </a:rPr>
              <a:t>HIPOTENSÃO?</a:t>
            </a:r>
          </a:p>
        </p:txBody>
      </p:sp>
      <p:sp>
        <p:nvSpPr>
          <p:cNvPr id="304" name="Etapa"/>
          <p:cNvSpPr/>
          <p:nvPr/>
        </p:nvSpPr>
        <p:spPr>
          <a:xfrm>
            <a:off x="8412480" y="1600200"/>
            <a:ext cx="3072384" cy="105156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200" b="0" i="0" dirty="0">
                <a:solidFill>
                  <a:srgbClr val="5F6468"/>
                </a:solidFill>
                <a:latin typeface="Roboto"/>
                <a:ea typeface="Roboto"/>
                <a:cs typeface="Roboto"/>
              </a:rPr>
              <a:t>PAS ≤ 90 mmHg ou queda ≥ 40 mmHg por &gt; 15’ não causada por arritmia aguda, sepse ou hipovolemia</a:t>
            </a:r>
          </a:p>
        </p:txBody>
      </p:sp>
      <p:sp>
        <p:nvSpPr>
          <p:cNvPr id="305" name="Seta"/>
          <p:cNvSpPr/>
          <p:nvPr/>
        </p:nvSpPr>
        <p:spPr>
          <a:xfrm>
            <a:off x="7973568" y="2121408"/>
            <a:ext cx="438912" cy="941832"/>
          </a:xfrm>
          <a:custGeom>
            <a:avLst/>
            <a:gdLst/>
            <a:ahLst/>
            <a:cxnLst/>
            <a:rect l="0" t="0" r="r" b="b"/>
            <a:pathLst>
              <a:path w="438912" h="941832" fill="none">
                <a:moveTo>
                  <a:pt x="438912" y="0"/>
                </a:moveTo>
                <a:lnTo>
                  <a:pt x="0" y="0"/>
                </a:lnTo>
                <a:lnTo>
                  <a:pt x="0" y="941832"/>
                </a:lnTo>
              </a:path>
            </a:pathLst>
          </a:custGeom>
          <a:noFill/>
          <a:ln w="19050">
            <a:solidFill>
              <a:srgbClr val="6B6E70"/>
            </a:solidFill>
            <a:prstDash val="dash"/>
            <a:round/>
            <a:tailEnd type="triangle" w="med" len="med"/>
          </a:ln>
          <a:effectLst/>
        </p:spPr>
      </p:sp>
      <p:sp>
        <p:nvSpPr>
          <p:cNvPr id="306" name="Seta"/>
          <p:cNvSpPr/>
          <p:nvPr/>
        </p:nvSpPr>
        <p:spPr>
          <a:xfrm>
            <a:off x="7836408" y="3337560"/>
            <a:ext cx="2130552" cy="777240"/>
          </a:xfrm>
          <a:custGeom>
            <a:avLst/>
            <a:gdLst/>
            <a:ahLst/>
            <a:cxnLst/>
            <a:rect l="0" t="0" r="r" b="b"/>
            <a:pathLst>
              <a:path w="2130552" h="777240" fill="none">
                <a:moveTo>
                  <a:pt x="0" y="0"/>
                </a:moveTo>
                <a:lnTo>
                  <a:pt x="2130552" y="0"/>
                </a:lnTo>
                <a:lnTo>
                  <a:pt x="2130552" y="777240"/>
                </a:lnTo>
              </a:path>
            </a:pathLst>
          </a:custGeom>
          <a:noFill/>
          <a:ln w="19050">
            <a:solidFill>
              <a:srgbClr val="6B6E70"/>
            </a:solidFill>
            <a:round/>
            <a:tailEnd type="triangle" w="med" len="med"/>
          </a:ln>
          <a:effectLst/>
        </p:spPr>
      </p:sp>
      <p:sp>
        <p:nvSpPr>
          <p:cNvPr id="307" name="Rótulo"/>
          <p:cNvSpPr txBox="1"/>
          <p:nvPr/>
        </p:nvSpPr>
        <p:spPr>
          <a:xfrm>
            <a:off x="7909560" y="3410712"/>
            <a:ext cx="41148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Sim</a:t>
            </a:r>
          </a:p>
        </p:txBody>
      </p:sp>
      <p:sp>
        <p:nvSpPr>
          <p:cNvPr id="308" name="Status"/>
          <p:cNvSpPr/>
          <p:nvPr/>
        </p:nvSpPr>
        <p:spPr>
          <a:xfrm>
            <a:off x="8595360" y="4114800"/>
            <a:ext cx="2743200" cy="731520"/>
          </a:xfrm>
          <a:prstGeom prst="rect">
            <a:avLst/>
          </a:prstGeom>
          <a:solidFill>
            <a:srgbClr val="B5533C"/>
          </a:solidFill>
          <a:ln>
            <a:noFill/>
          </a:ln>
          <a:effectLst/>
        </p:spPr>
        <p:txBody>
          <a:bodyPr rtlCol="0" anchor="ctr" wrap="square" lIns="91440" rIns="91440" tIns="45720" bIns="45720"/>
          <a:lstStyle/>
          <a:p>
            <a:pPr algn="ctr">
              <a:buNone/>
            </a:pPr>
            <a:r>
              <a:rPr lang="pt-BR" sz="1500" b="0" i="0" dirty="0">
                <a:solidFill>
                  <a:srgbClr val="FBFCFC"/>
                </a:solidFill>
                <a:latin typeface="Roboto Medium"/>
                <a:ea typeface="Roboto Medium"/>
                <a:cs typeface="Roboto Medium"/>
              </a:rPr>
              <a:t>ALTO RISCO</a:t>
            </a:r>
          </a:p>
        </p:txBody>
      </p:sp>
      <p:sp>
        <p:nvSpPr>
          <p:cNvPr id="309" name="Texto"/>
          <p:cNvSpPr txBox="1"/>
          <p:nvPr/>
        </p:nvSpPr>
        <p:spPr>
          <a:xfrm>
            <a:off x="8595360" y="4937760"/>
            <a:ext cx="2743200" cy="274320"/>
          </a:xfrm>
          <a:prstGeom prst="rect">
            <a:avLst/>
          </a:prstGeom>
          <a:noFill/>
        </p:spPr>
        <p:txBody>
          <a:bodyPr wrap="square" lIns="0" rIns="0" tIns="0" bIns="0" anchor="t">
            <a:noAutofit/>
          </a:bodyPr>
          <a:lstStyle/>
          <a:p>
            <a:pPr algn="ctr">
              <a:buNone/>
            </a:pPr>
            <a:r>
              <a:rPr lang="pt-BR" sz="1200" b="0" i="0" dirty="0">
                <a:solidFill>
                  <a:srgbClr val="5F6468"/>
                </a:solidFill>
                <a:latin typeface="Roboto"/>
                <a:ea typeface="Roboto"/>
                <a:cs typeface="Roboto"/>
              </a:rPr>
              <a:t>Acionar time de choque</a:t>
            </a:r>
          </a:p>
        </p:txBody>
      </p:sp>
      <p:sp>
        <p:nvSpPr>
          <p:cNvPr id="310" name="Seta"/>
          <p:cNvSpPr/>
          <p:nvPr/>
        </p:nvSpPr>
        <p:spPr>
          <a:xfrm>
            <a:off x="2651760" y="3200400"/>
            <a:ext cx="1709928" cy="914400"/>
          </a:xfrm>
          <a:custGeom>
            <a:avLst/>
            <a:gdLst/>
            <a:ahLst/>
            <a:cxnLst/>
            <a:rect l="0" t="0" r="r" b="b"/>
            <a:pathLst>
              <a:path w="1709928" h="914400" fill="none">
                <a:moveTo>
                  <a:pt x="1709928" y="0"/>
                </a:moveTo>
                <a:lnTo>
                  <a:pt x="0" y="0"/>
                </a:lnTo>
                <a:lnTo>
                  <a:pt x="0" y="914400"/>
                </a:lnTo>
              </a:path>
            </a:pathLst>
          </a:custGeom>
          <a:noFill/>
          <a:ln w="19050">
            <a:solidFill>
              <a:srgbClr val="6B6E70"/>
            </a:solidFill>
            <a:round/>
            <a:tailEnd type="triangle" w="med" len="med"/>
          </a:ln>
          <a:effectLst/>
        </p:spPr>
      </p:sp>
      <p:sp>
        <p:nvSpPr>
          <p:cNvPr id="311" name="Rótulo"/>
          <p:cNvSpPr txBox="1"/>
          <p:nvPr/>
        </p:nvSpPr>
        <p:spPr>
          <a:xfrm>
            <a:off x="3794760" y="2944368"/>
            <a:ext cx="457200" cy="201168"/>
          </a:xfrm>
          <a:prstGeom prst="rect">
            <a:avLst/>
          </a:prstGeom>
          <a:noFill/>
        </p:spPr>
        <p:txBody>
          <a:bodyPr wrap="square" lIns="0" rIns="0" tIns="0" bIns="0" anchor="t">
            <a:noAutofit/>
          </a:bodyPr>
          <a:lstStyle/>
          <a:p>
            <a:pPr algn="r"/>
            <a:r>
              <a:rPr lang="pt-BR" sz="1200" b="0" i="0" dirty="0">
                <a:solidFill>
                  <a:srgbClr val="4E7C8B"/>
                </a:solidFill>
                <a:latin typeface="Roboto Medium"/>
                <a:ea typeface="Roboto Medium"/>
                <a:cs typeface="Roboto Medium"/>
              </a:rPr>
              <a:t>Não</a:t>
            </a:r>
          </a:p>
        </p:txBody>
      </p:sp>
      <p:sp>
        <p:nvSpPr>
          <p:cNvPr id="312" name="Status"/>
          <p:cNvSpPr/>
          <p:nvPr/>
        </p:nvSpPr>
        <p:spPr>
          <a:xfrm>
            <a:off x="822960" y="4114800"/>
            <a:ext cx="3657600" cy="731520"/>
          </a:xfrm>
          <a:prstGeom prst="rect">
            <a:avLst/>
          </a:prstGeom>
          <a:solidFill>
            <a:srgbClr val="3E8E68"/>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CHECAR PROBABILIDADE DIAGNÓSTICA</a:t>
            </a:r>
          </a:p>
        </p:txBody>
      </p:sp>
      <p:sp>
        <p:nvSpPr>
          <p:cNvPr id="313" name="Texto"/>
          <p:cNvSpPr txBox="1"/>
          <p:nvPr/>
        </p:nvSpPr>
        <p:spPr>
          <a:xfrm>
            <a:off x="822960" y="4937760"/>
            <a:ext cx="3657600" cy="274320"/>
          </a:xfrm>
          <a:prstGeom prst="rect">
            <a:avLst/>
          </a:prstGeom>
          <a:noFill/>
        </p:spPr>
        <p:txBody>
          <a:bodyPr wrap="square" lIns="0" rIns="0" tIns="0" bIns="0" anchor="t">
            <a:noAutofit/>
          </a:bodyPr>
          <a:lstStyle/>
          <a:p>
            <a:pPr algn="ctr">
              <a:buNone/>
            </a:pPr>
            <a:r>
              <a:rPr lang="pt-BR" sz="1200" b="0" i="0" dirty="0">
                <a:solidFill>
                  <a:srgbClr val="5F6468"/>
                </a:solidFill>
                <a:latin typeface="Roboto"/>
                <a:ea typeface="Roboto"/>
                <a:cs typeface="Roboto"/>
              </a:rPr>
              <a:t>Wells, Genebra, PERC</a:t>
            </a:r>
          </a:p>
        </p:txBody>
      </p:sp>
      <p:sp>
        <p:nvSpPr>
          <p:cNvPr id="314" name="Legenda"/>
          <p:cNvSpPr txBox="1"/>
          <p:nvPr/>
        </p:nvSpPr>
        <p:spPr>
          <a:xfrm>
            <a:off x="713232" y="5623560"/>
            <a:ext cx="10771632" cy="365760"/>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TEP: tromboembolismo pulmonar; PAS: pressão arterial sistólica; ECOTT: ecocardiograma transtorácico; VD: ventrículo direito; TC: angiotomografia computadorizada (protocolo TEP).</a:t>
            </a:r>
          </a:p>
        </p:txBody>
      </p:sp>
    </p:spTree>
    <p:extLst>
      <p:ext uri="{BB962C8B-B14F-4D97-AF65-F5344CB8AC3E}">
        <p14:creationId xmlns:p14="http://schemas.microsoft.com/office/powerpoint/2010/main" val="242774868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pic>
        <p:nvPicPr>
          <p:cNvPr id="2" name="Imagem 1"/>
          <p:cNvPicPr>
            <a:picLocks noChangeAspect="1"/>
          </p:cNvPicPr>
          <p:nvPr/>
        </p:nvPicPr>
        <p:blipFill>
          <a:blip r:embed="rId3"/>
          <a:stretch>
            <a:fillRect/>
          </a:stretch>
        </p:blipFill>
        <p:spPr>
          <a:xfrm>
            <a:off x="2539803" y="558698"/>
            <a:ext cx="7114830" cy="5284317"/>
          </a:xfrm>
          <a:prstGeom prst="rect">
            <a:avLst/>
          </a:prstGeom>
        </p:spPr>
      </p:pic>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80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234476777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Top 10 mensagens-chave da Diretriz Brasileira de Atendimento à Dor Torácica na Unidade de Emergência</a:t>
            </a:r>
          </a:p>
        </p:txBody>
      </p:sp>
      <p:sp>
        <p:nvSpPr>
          <p:cNvPr id="3" name="Número 3"/>
          <p:cNvSpPr txBox="1"/>
          <p:nvPr/>
        </p:nvSpPr>
        <p:spPr>
          <a:xfrm>
            <a:off x="711403" y="1592500"/>
            <a:ext cx="470000" cy="470000"/>
          </a:xfrm>
          <a:prstGeom prst="rect">
            <a:avLst/>
          </a:prstGeom>
          <a:solidFill>
            <a:srgbClr val="4E7C8B"/>
          </a:solidFill>
        </p:spPr>
        <p:txBody>
          <a:bodyPr wrap="square" lIns="0" tIns="0" rIns="0" bIns="0" anchor="ctr">
            <a:noAutofit/>
          </a:bodyPr>
          <a:lstStyle/>
          <a:p>
            <a:pPr marL="0" indent="0" algn="ctr">
              <a:lnSpc>
                <a:spcPct val="100000"/>
              </a:lnSpc>
              <a:spcBef>
                <a:spcPts val="0"/>
              </a:spcBef>
              <a:spcAft>
                <a:spcPts val="0"/>
              </a:spcAft>
              <a:buNone/>
            </a:pPr>
            <a:r>
              <a:rPr lang="pt-BR" sz="1500" b="0" i="0" dirty="0">
                <a:solidFill>
                  <a:srgbClr val="FBFCFC"/>
                </a:solidFill>
                <a:latin typeface="Roboto Medium"/>
                <a:ea typeface="Roboto Medium"/>
                <a:cs typeface="Roboto Medium"/>
              </a:rPr>
              <a:t>1</a:t>
            </a:r>
          </a:p>
        </p:txBody>
      </p:sp>
      <p:sp>
        <p:nvSpPr>
          <p:cNvPr id="4" name="Mensagem 4"/>
          <p:cNvSpPr txBox="1"/>
          <p:nvPr/>
        </p:nvSpPr>
        <p:spPr>
          <a:xfrm>
            <a:off x="1361403" y="1480000"/>
            <a:ext cx="4535816" cy="735000"/>
          </a:xfrm>
          <a:prstGeom prst="rect">
            <a:avLst/>
          </a:prstGeom>
          <a:noFill/>
        </p:spPr>
        <p:txBody>
          <a:bodyPr wrap="square" lIns="0" tIns="0" rIns="0" bIns="0" anchor="ctr">
            <a:noAutofit/>
          </a:bodyPr>
          <a:lstStyle/>
          <a:p>
            <a:pPr marL="0" indent="0" algn="l">
              <a:lnSpc>
                <a:spcPct val="110000"/>
              </a:lnSpc>
              <a:spcBef>
                <a:spcPts val="0"/>
              </a:spcBef>
              <a:spcAft>
                <a:spcPts val="0"/>
              </a:spcAft>
              <a:buNone/>
            </a:pPr>
            <a:r>
              <a:rPr lang="pt-BR" sz="1200" b="0" i="0" dirty="0">
                <a:solidFill>
                  <a:srgbClr val="5F6468"/>
                </a:solidFill>
                <a:latin typeface="Roboto"/>
                <a:ea typeface="Roboto"/>
                <a:cs typeface="Roboto"/>
              </a:rPr>
              <a:t>Qualquer pessoa com dor torácica aguda (ou sintoma equivalente), deve procurar atendimento médico imediatamente (orientar população).</a:t>
            </a:r>
          </a:p>
        </p:txBody>
      </p:sp>
      <p:sp>
        <p:nvSpPr>
          <p:cNvPr id="5" name="Número 5"/>
          <p:cNvSpPr txBox="1"/>
          <p:nvPr/>
        </p:nvSpPr>
        <p:spPr>
          <a:xfrm>
            <a:off x="711403" y="2367500"/>
            <a:ext cx="470000" cy="470000"/>
          </a:xfrm>
          <a:prstGeom prst="rect">
            <a:avLst/>
          </a:prstGeom>
          <a:solidFill>
            <a:srgbClr val="6E9DAB"/>
          </a:solidFill>
        </p:spPr>
        <p:txBody>
          <a:bodyPr wrap="square" lIns="0" tIns="0" rIns="0" bIns="0" anchor="ctr">
            <a:noAutofit/>
          </a:bodyPr>
          <a:lstStyle/>
          <a:p>
            <a:pPr marL="0" indent="0" algn="ctr">
              <a:lnSpc>
                <a:spcPct val="100000"/>
              </a:lnSpc>
              <a:spcBef>
                <a:spcPts val="0"/>
              </a:spcBef>
              <a:spcAft>
                <a:spcPts val="0"/>
              </a:spcAft>
              <a:buNone/>
            </a:pPr>
            <a:r>
              <a:rPr lang="pt-BR" sz="1500" b="0" i="0" dirty="0">
                <a:solidFill>
                  <a:srgbClr val="1F3238"/>
                </a:solidFill>
                <a:latin typeface="Roboto Medium"/>
                <a:ea typeface="Roboto Medium"/>
                <a:cs typeface="Roboto Medium"/>
              </a:rPr>
              <a:t>2</a:t>
            </a:r>
          </a:p>
        </p:txBody>
      </p:sp>
      <p:sp>
        <p:nvSpPr>
          <p:cNvPr id="6" name="Mensagem 6"/>
          <p:cNvSpPr txBox="1"/>
          <p:nvPr/>
        </p:nvSpPr>
        <p:spPr>
          <a:xfrm>
            <a:off x="1361403" y="2255000"/>
            <a:ext cx="4535816" cy="735000"/>
          </a:xfrm>
          <a:prstGeom prst="rect">
            <a:avLst/>
          </a:prstGeom>
          <a:noFill/>
        </p:spPr>
        <p:txBody>
          <a:bodyPr wrap="square" lIns="0" tIns="0" rIns="0" bIns="0" anchor="ctr">
            <a:noAutofit/>
          </a:bodyPr>
          <a:lstStyle/>
          <a:p>
            <a:pPr marL="0" indent="0" algn="l">
              <a:lnSpc>
                <a:spcPct val="110000"/>
              </a:lnSpc>
              <a:spcBef>
                <a:spcPts val="0"/>
              </a:spcBef>
              <a:spcAft>
                <a:spcPts val="0"/>
              </a:spcAft>
              <a:buNone/>
            </a:pPr>
            <a:r>
              <a:rPr lang="pt-BR" sz="1200" b="0" i="0" dirty="0">
                <a:solidFill>
                  <a:srgbClr val="5F6468"/>
                </a:solidFill>
                <a:latin typeface="Roboto"/>
                <a:ea typeface="Roboto"/>
                <a:cs typeface="Roboto"/>
              </a:rPr>
              <a:t>Serviços de pronto-atendimento devem instituir métricas para conseguir realizar e interpretar o ECG dentro de 10 minutos do atendimento inicial.</a:t>
            </a:r>
          </a:p>
        </p:txBody>
      </p:sp>
      <p:sp>
        <p:nvSpPr>
          <p:cNvPr id="7" name="Número 7"/>
          <p:cNvSpPr txBox="1"/>
          <p:nvPr/>
        </p:nvSpPr>
        <p:spPr>
          <a:xfrm>
            <a:off x="711403" y="3142500"/>
            <a:ext cx="470000" cy="470000"/>
          </a:xfrm>
          <a:prstGeom prst="rect">
            <a:avLst/>
          </a:prstGeom>
          <a:solidFill>
            <a:srgbClr val="8EC4CB"/>
          </a:solidFill>
        </p:spPr>
        <p:txBody>
          <a:bodyPr wrap="square" lIns="0" tIns="0" rIns="0" bIns="0" anchor="ctr">
            <a:noAutofit/>
          </a:bodyPr>
          <a:lstStyle/>
          <a:p>
            <a:pPr marL="0" indent="0" algn="ctr">
              <a:lnSpc>
                <a:spcPct val="100000"/>
              </a:lnSpc>
              <a:spcBef>
                <a:spcPts val="0"/>
              </a:spcBef>
              <a:spcAft>
                <a:spcPts val="0"/>
              </a:spcAft>
              <a:buNone/>
            </a:pPr>
            <a:r>
              <a:rPr lang="pt-BR" sz="1500" b="0" i="0" dirty="0">
                <a:solidFill>
                  <a:srgbClr val="1F3238"/>
                </a:solidFill>
                <a:latin typeface="Roboto Medium"/>
                <a:ea typeface="Roboto Medium"/>
                <a:cs typeface="Roboto Medium"/>
              </a:rPr>
              <a:t>3</a:t>
            </a:r>
          </a:p>
        </p:txBody>
      </p:sp>
      <p:sp>
        <p:nvSpPr>
          <p:cNvPr id="8" name="Mensagem 8"/>
          <p:cNvSpPr txBox="1"/>
          <p:nvPr/>
        </p:nvSpPr>
        <p:spPr>
          <a:xfrm>
            <a:off x="1361403" y="3030000"/>
            <a:ext cx="4535816" cy="735000"/>
          </a:xfrm>
          <a:prstGeom prst="rect">
            <a:avLst/>
          </a:prstGeom>
          <a:noFill/>
        </p:spPr>
        <p:txBody>
          <a:bodyPr wrap="square" lIns="0" tIns="0" rIns="0" bIns="0" anchor="ctr">
            <a:noAutofit/>
          </a:bodyPr>
          <a:lstStyle/>
          <a:p>
            <a:pPr marL="0" indent="0" algn="l">
              <a:lnSpc>
                <a:spcPct val="110000"/>
              </a:lnSpc>
              <a:spcBef>
                <a:spcPts val="0"/>
              </a:spcBef>
              <a:spcAft>
                <a:spcPts val="0"/>
              </a:spcAft>
              <a:buNone/>
            </a:pPr>
            <a:r>
              <a:rPr lang="pt-BR" sz="1200" b="0" i="0" dirty="0">
                <a:solidFill>
                  <a:srgbClr val="5F6468"/>
                </a:solidFill>
                <a:latin typeface="Roboto"/>
                <a:ea typeface="Roboto"/>
                <a:cs typeface="Roboto"/>
              </a:rPr>
              <a:t>Avaliar achados de oclusão coronária no ECG (indo além dos critérios clássicos de SCA com elevação de ST).</a:t>
            </a:r>
          </a:p>
        </p:txBody>
      </p:sp>
      <p:sp>
        <p:nvSpPr>
          <p:cNvPr id="9" name="Número 9"/>
          <p:cNvSpPr txBox="1"/>
          <p:nvPr/>
        </p:nvSpPr>
        <p:spPr>
          <a:xfrm>
            <a:off x="711403" y="3917500"/>
            <a:ext cx="470000" cy="470000"/>
          </a:xfrm>
          <a:prstGeom prst="rect">
            <a:avLst/>
          </a:prstGeom>
          <a:solidFill>
            <a:srgbClr val="6B6E70"/>
          </a:solidFill>
        </p:spPr>
        <p:txBody>
          <a:bodyPr wrap="square" lIns="0" tIns="0" rIns="0" bIns="0" anchor="ctr">
            <a:noAutofit/>
          </a:bodyPr>
          <a:lstStyle/>
          <a:p>
            <a:pPr marL="0" indent="0" algn="ctr">
              <a:lnSpc>
                <a:spcPct val="100000"/>
              </a:lnSpc>
              <a:spcBef>
                <a:spcPts val="0"/>
              </a:spcBef>
              <a:spcAft>
                <a:spcPts val="0"/>
              </a:spcAft>
              <a:buNone/>
            </a:pPr>
            <a:r>
              <a:rPr lang="pt-BR" sz="1500" b="0" i="0" dirty="0">
                <a:solidFill>
                  <a:srgbClr val="FBFCFC"/>
                </a:solidFill>
                <a:latin typeface="Roboto Medium"/>
                <a:ea typeface="Roboto Medium"/>
                <a:cs typeface="Roboto Medium"/>
              </a:rPr>
              <a:t>4</a:t>
            </a:r>
          </a:p>
        </p:txBody>
      </p:sp>
      <p:sp>
        <p:nvSpPr>
          <p:cNvPr id="10" name="Mensagem 10"/>
          <p:cNvSpPr txBox="1"/>
          <p:nvPr/>
        </p:nvSpPr>
        <p:spPr>
          <a:xfrm>
            <a:off x="1361403" y="3805000"/>
            <a:ext cx="4535816" cy="735000"/>
          </a:xfrm>
          <a:prstGeom prst="rect">
            <a:avLst/>
          </a:prstGeom>
          <a:noFill/>
        </p:spPr>
        <p:txBody>
          <a:bodyPr wrap="square" lIns="0" tIns="0" rIns="0" bIns="0" anchor="ctr">
            <a:noAutofit/>
          </a:bodyPr>
          <a:lstStyle/>
          <a:p>
            <a:pPr marL="0" indent="0" algn="l">
              <a:lnSpc>
                <a:spcPct val="110000"/>
              </a:lnSpc>
              <a:spcBef>
                <a:spcPts val="0"/>
              </a:spcBef>
              <a:spcAft>
                <a:spcPts val="0"/>
              </a:spcAft>
              <a:buNone/>
            </a:pPr>
            <a:r>
              <a:rPr lang="pt-BR" sz="1200" b="0" i="0" dirty="0">
                <a:solidFill>
                  <a:srgbClr val="5F6468"/>
                </a:solidFill>
                <a:latin typeface="Roboto"/>
                <a:ea typeface="Roboto"/>
                <a:cs typeface="Roboto"/>
              </a:rPr>
              <a:t>Pedir ajuda imediata nos casos de ECG limítrofe ou de difícil interpretação.</a:t>
            </a:r>
          </a:p>
        </p:txBody>
      </p:sp>
      <p:sp>
        <p:nvSpPr>
          <p:cNvPr id="11" name="Número 11"/>
          <p:cNvSpPr txBox="1"/>
          <p:nvPr/>
        </p:nvSpPr>
        <p:spPr>
          <a:xfrm>
            <a:off x="711403" y="4780000"/>
            <a:ext cx="470000" cy="470000"/>
          </a:xfrm>
          <a:prstGeom prst="rect">
            <a:avLst/>
          </a:prstGeom>
          <a:solidFill>
            <a:srgbClr val="A3A6A8"/>
          </a:solidFill>
        </p:spPr>
        <p:txBody>
          <a:bodyPr wrap="square" lIns="0" tIns="0" rIns="0" bIns="0" anchor="ctr">
            <a:noAutofit/>
          </a:bodyPr>
          <a:lstStyle/>
          <a:p>
            <a:pPr marL="0" indent="0" algn="ctr">
              <a:lnSpc>
                <a:spcPct val="100000"/>
              </a:lnSpc>
              <a:spcBef>
                <a:spcPts val="0"/>
              </a:spcBef>
              <a:spcAft>
                <a:spcPts val="0"/>
              </a:spcAft>
              <a:buNone/>
            </a:pPr>
            <a:r>
              <a:rPr lang="pt-BR" sz="1500" b="0" i="0" dirty="0">
                <a:solidFill>
                  <a:srgbClr val="1F3238"/>
                </a:solidFill>
                <a:latin typeface="Roboto Medium"/>
                <a:ea typeface="Roboto Medium"/>
                <a:cs typeface="Roboto Medium"/>
              </a:rPr>
              <a:t>5</a:t>
            </a:r>
          </a:p>
        </p:txBody>
      </p:sp>
      <p:sp>
        <p:nvSpPr>
          <p:cNvPr id="12" name="Mensagem 12"/>
          <p:cNvSpPr txBox="1"/>
          <p:nvPr/>
        </p:nvSpPr>
        <p:spPr>
          <a:xfrm>
            <a:off x="1361403" y="4580000"/>
            <a:ext cx="4535816" cy="910000"/>
          </a:xfrm>
          <a:prstGeom prst="rect">
            <a:avLst/>
          </a:prstGeom>
          <a:noFill/>
        </p:spPr>
        <p:txBody>
          <a:bodyPr wrap="square" lIns="0" tIns="0" rIns="0" bIns="0" anchor="ctr">
            <a:noAutofit/>
          </a:bodyPr>
          <a:lstStyle/>
          <a:p>
            <a:pPr marL="0" indent="0" algn="l">
              <a:lnSpc>
                <a:spcPct val="110000"/>
              </a:lnSpc>
              <a:spcBef>
                <a:spcPts val="0"/>
              </a:spcBef>
              <a:spcAft>
                <a:spcPts val="0"/>
              </a:spcAft>
              <a:buNone/>
            </a:pPr>
            <a:r>
              <a:rPr lang="pt-BR" sz="1200" b="0" i="0" dirty="0">
                <a:solidFill>
                  <a:srgbClr val="5F6468"/>
                </a:solidFill>
                <a:latin typeface="Roboto"/>
                <a:ea typeface="Roboto"/>
                <a:cs typeface="Roboto"/>
              </a:rPr>
              <a:t>POCUS é ferramenta complementar útil, especialmente nos casos de instabilidade ou suspeitas específicas (ex: dissecção de aorta).</a:t>
            </a:r>
          </a:p>
        </p:txBody>
      </p:sp>
      <p:sp>
        <p:nvSpPr>
          <p:cNvPr id="13" name="Número 13"/>
          <p:cNvSpPr txBox="1"/>
          <p:nvPr/>
        </p:nvSpPr>
        <p:spPr>
          <a:xfrm>
            <a:off x="6297219" y="1592500"/>
            <a:ext cx="470000" cy="470000"/>
          </a:xfrm>
          <a:prstGeom prst="rect">
            <a:avLst/>
          </a:prstGeom>
          <a:solidFill>
            <a:srgbClr val="4E7C8B"/>
          </a:solidFill>
        </p:spPr>
        <p:txBody>
          <a:bodyPr wrap="square" lIns="0" tIns="0" rIns="0" bIns="0" anchor="ctr">
            <a:noAutofit/>
          </a:bodyPr>
          <a:lstStyle/>
          <a:p>
            <a:pPr marL="0" indent="0" algn="ctr">
              <a:lnSpc>
                <a:spcPct val="100000"/>
              </a:lnSpc>
              <a:spcBef>
                <a:spcPts val="0"/>
              </a:spcBef>
              <a:spcAft>
                <a:spcPts val="0"/>
              </a:spcAft>
              <a:buNone/>
            </a:pPr>
            <a:r>
              <a:rPr lang="pt-BR" sz="1500" b="0" i="0" dirty="0">
                <a:solidFill>
                  <a:srgbClr val="FBFCFC"/>
                </a:solidFill>
                <a:latin typeface="Roboto Medium"/>
                <a:ea typeface="Roboto Medium"/>
                <a:cs typeface="Roboto Medium"/>
              </a:rPr>
              <a:t>6</a:t>
            </a:r>
          </a:p>
        </p:txBody>
      </p:sp>
      <p:sp>
        <p:nvSpPr>
          <p:cNvPr id="14" name="Mensagem 14"/>
          <p:cNvSpPr txBox="1"/>
          <p:nvPr/>
        </p:nvSpPr>
        <p:spPr>
          <a:xfrm>
            <a:off x="6947219" y="1480000"/>
            <a:ext cx="4535816" cy="735000"/>
          </a:xfrm>
          <a:prstGeom prst="rect">
            <a:avLst/>
          </a:prstGeom>
          <a:noFill/>
        </p:spPr>
        <p:txBody>
          <a:bodyPr wrap="square" lIns="0" tIns="0" rIns="0" bIns="0" anchor="ctr">
            <a:noAutofit/>
          </a:bodyPr>
          <a:lstStyle/>
          <a:p>
            <a:pPr marL="0" indent="0" algn="l">
              <a:lnSpc>
                <a:spcPct val="110000"/>
              </a:lnSpc>
              <a:spcBef>
                <a:spcPts val="0"/>
              </a:spcBef>
              <a:spcAft>
                <a:spcPts val="0"/>
              </a:spcAft>
              <a:buNone/>
            </a:pPr>
            <a:r>
              <a:rPr lang="pt-BR" sz="1200" b="0" i="0" dirty="0">
                <a:solidFill>
                  <a:srgbClr val="5F6468"/>
                </a:solidFill>
                <a:latin typeface="Roboto"/>
                <a:ea typeface="Roboto"/>
                <a:cs typeface="Roboto"/>
              </a:rPr>
              <a:t>Utilizar escores de risco e probabilidade diagnóstica para investigação de dissecção de aorta e embolia pulmonar.</a:t>
            </a:r>
          </a:p>
        </p:txBody>
      </p:sp>
      <p:sp>
        <p:nvSpPr>
          <p:cNvPr id="15" name="Número 15"/>
          <p:cNvSpPr txBox="1"/>
          <p:nvPr/>
        </p:nvSpPr>
        <p:spPr>
          <a:xfrm>
            <a:off x="6297219" y="2367500"/>
            <a:ext cx="470000" cy="470000"/>
          </a:xfrm>
          <a:prstGeom prst="rect">
            <a:avLst/>
          </a:prstGeom>
          <a:solidFill>
            <a:srgbClr val="6E9DAB"/>
          </a:solidFill>
        </p:spPr>
        <p:txBody>
          <a:bodyPr wrap="square" lIns="0" tIns="0" rIns="0" bIns="0" anchor="ctr">
            <a:noAutofit/>
          </a:bodyPr>
          <a:lstStyle/>
          <a:p>
            <a:pPr marL="0" indent="0" algn="ctr">
              <a:lnSpc>
                <a:spcPct val="100000"/>
              </a:lnSpc>
              <a:spcBef>
                <a:spcPts val="0"/>
              </a:spcBef>
              <a:spcAft>
                <a:spcPts val="0"/>
              </a:spcAft>
              <a:buNone/>
            </a:pPr>
            <a:r>
              <a:rPr lang="pt-BR" sz="1500" b="0" i="0" dirty="0">
                <a:solidFill>
                  <a:srgbClr val="1F3238"/>
                </a:solidFill>
                <a:latin typeface="Roboto Medium"/>
                <a:ea typeface="Roboto Medium"/>
                <a:cs typeface="Roboto Medium"/>
              </a:rPr>
              <a:t>7</a:t>
            </a:r>
          </a:p>
        </p:txBody>
      </p:sp>
      <p:sp>
        <p:nvSpPr>
          <p:cNvPr id="16" name="Mensagem 16"/>
          <p:cNvSpPr txBox="1"/>
          <p:nvPr/>
        </p:nvSpPr>
        <p:spPr>
          <a:xfrm>
            <a:off x="6947219" y="2255000"/>
            <a:ext cx="4535816" cy="735000"/>
          </a:xfrm>
          <a:prstGeom prst="rect">
            <a:avLst/>
          </a:prstGeom>
          <a:noFill/>
        </p:spPr>
        <p:txBody>
          <a:bodyPr wrap="square" lIns="0" tIns="0" rIns="0" bIns="0" anchor="ctr">
            <a:noAutofit/>
          </a:bodyPr>
          <a:lstStyle/>
          <a:p>
            <a:pPr marL="0" indent="0" algn="l">
              <a:lnSpc>
                <a:spcPct val="110000"/>
              </a:lnSpc>
              <a:spcBef>
                <a:spcPts val="0"/>
              </a:spcBef>
              <a:spcAft>
                <a:spcPts val="0"/>
              </a:spcAft>
              <a:buNone/>
            </a:pPr>
            <a:r>
              <a:rPr lang="pt-BR" sz="1200" b="0" i="0" dirty="0">
                <a:solidFill>
                  <a:srgbClr val="5F6468"/>
                </a:solidFill>
                <a:latin typeface="Roboto"/>
                <a:ea typeface="Roboto"/>
                <a:cs typeface="Roboto"/>
              </a:rPr>
              <a:t>Na investigação de IAM, preferência por algoritmos de 0-1h ou 0-2h com troponina cardíaca de alta sensibilidade.</a:t>
            </a:r>
          </a:p>
        </p:txBody>
      </p:sp>
      <p:sp>
        <p:nvSpPr>
          <p:cNvPr id="17" name="Número 17"/>
          <p:cNvSpPr txBox="1"/>
          <p:nvPr/>
        </p:nvSpPr>
        <p:spPr>
          <a:xfrm>
            <a:off x="6297219" y="3142500"/>
            <a:ext cx="470000" cy="470000"/>
          </a:xfrm>
          <a:prstGeom prst="rect">
            <a:avLst/>
          </a:prstGeom>
          <a:solidFill>
            <a:srgbClr val="8EC4CB"/>
          </a:solidFill>
        </p:spPr>
        <p:txBody>
          <a:bodyPr wrap="square" lIns="0" tIns="0" rIns="0" bIns="0" anchor="ctr">
            <a:noAutofit/>
          </a:bodyPr>
          <a:lstStyle/>
          <a:p>
            <a:pPr marL="0" indent="0" algn="ctr">
              <a:lnSpc>
                <a:spcPct val="100000"/>
              </a:lnSpc>
              <a:spcBef>
                <a:spcPts val="0"/>
              </a:spcBef>
              <a:spcAft>
                <a:spcPts val="0"/>
              </a:spcAft>
              <a:buNone/>
            </a:pPr>
            <a:r>
              <a:rPr lang="pt-BR" sz="1500" b="0" i="0" dirty="0">
                <a:solidFill>
                  <a:srgbClr val="1F3238"/>
                </a:solidFill>
                <a:latin typeface="Roboto Medium"/>
                <a:ea typeface="Roboto Medium"/>
                <a:cs typeface="Roboto Medium"/>
              </a:rPr>
              <a:t>8</a:t>
            </a:r>
          </a:p>
        </p:txBody>
      </p:sp>
      <p:sp>
        <p:nvSpPr>
          <p:cNvPr id="18" name="Mensagem 18"/>
          <p:cNvSpPr txBox="1"/>
          <p:nvPr/>
        </p:nvSpPr>
        <p:spPr>
          <a:xfrm>
            <a:off x="6947219" y="3030000"/>
            <a:ext cx="4535816" cy="735000"/>
          </a:xfrm>
          <a:prstGeom prst="rect">
            <a:avLst/>
          </a:prstGeom>
          <a:noFill/>
        </p:spPr>
        <p:txBody>
          <a:bodyPr wrap="square" lIns="0" tIns="0" rIns="0" bIns="0" anchor="ctr">
            <a:noAutofit/>
          </a:bodyPr>
          <a:lstStyle/>
          <a:p>
            <a:pPr marL="0" indent="0" algn="l">
              <a:lnSpc>
                <a:spcPct val="110000"/>
              </a:lnSpc>
              <a:spcBef>
                <a:spcPts val="0"/>
              </a:spcBef>
              <a:spcAft>
                <a:spcPts val="0"/>
              </a:spcAft>
              <a:buNone/>
            </a:pPr>
            <a:r>
              <a:rPr lang="pt-BR" sz="1200" b="0" i="0" dirty="0">
                <a:solidFill>
                  <a:srgbClr val="5F6468"/>
                </a:solidFill>
                <a:latin typeface="Roboto"/>
                <a:ea typeface="Roboto"/>
                <a:cs typeface="Roboto"/>
              </a:rPr>
              <a:t>Pacientes classificados como “rule-out” podem ser liberados para investigação ambulatorial com segurança (especialmente na ausência de doença coronária conhecida e HEART score &lt;4).</a:t>
            </a:r>
          </a:p>
        </p:txBody>
      </p:sp>
      <p:sp>
        <p:nvSpPr>
          <p:cNvPr id="19" name="Número 19"/>
          <p:cNvSpPr txBox="1"/>
          <p:nvPr/>
        </p:nvSpPr>
        <p:spPr>
          <a:xfrm>
            <a:off x="6297219" y="3917500"/>
            <a:ext cx="470000" cy="470000"/>
          </a:xfrm>
          <a:prstGeom prst="rect">
            <a:avLst/>
          </a:prstGeom>
          <a:solidFill>
            <a:srgbClr val="6B6E70"/>
          </a:solidFill>
        </p:spPr>
        <p:txBody>
          <a:bodyPr wrap="square" lIns="0" tIns="0" rIns="0" bIns="0" anchor="ctr">
            <a:noAutofit/>
          </a:bodyPr>
          <a:lstStyle/>
          <a:p>
            <a:pPr marL="0" indent="0" algn="ctr">
              <a:lnSpc>
                <a:spcPct val="100000"/>
              </a:lnSpc>
              <a:spcBef>
                <a:spcPts val="0"/>
              </a:spcBef>
              <a:spcAft>
                <a:spcPts val="0"/>
              </a:spcAft>
              <a:buNone/>
            </a:pPr>
            <a:r>
              <a:rPr lang="pt-BR" sz="1500" b="0" i="0" dirty="0">
                <a:solidFill>
                  <a:srgbClr val="FBFCFC"/>
                </a:solidFill>
                <a:latin typeface="Roboto Medium"/>
                <a:ea typeface="Roboto Medium"/>
                <a:cs typeface="Roboto Medium"/>
              </a:rPr>
              <a:t>9</a:t>
            </a:r>
          </a:p>
        </p:txBody>
      </p:sp>
      <p:sp>
        <p:nvSpPr>
          <p:cNvPr id="20" name="Mensagem 20"/>
          <p:cNvSpPr txBox="1"/>
          <p:nvPr/>
        </p:nvSpPr>
        <p:spPr>
          <a:xfrm>
            <a:off x="6947219" y="3805000"/>
            <a:ext cx="4535816" cy="735000"/>
          </a:xfrm>
          <a:prstGeom prst="rect">
            <a:avLst/>
          </a:prstGeom>
          <a:noFill/>
        </p:spPr>
        <p:txBody>
          <a:bodyPr wrap="square" lIns="0" tIns="0" rIns="0" bIns="0" anchor="ctr">
            <a:noAutofit/>
          </a:bodyPr>
          <a:lstStyle/>
          <a:p>
            <a:pPr marL="0" indent="0" algn="l">
              <a:lnSpc>
                <a:spcPct val="110000"/>
              </a:lnSpc>
              <a:spcBef>
                <a:spcPts val="0"/>
              </a:spcBef>
              <a:spcAft>
                <a:spcPts val="0"/>
              </a:spcAft>
              <a:buNone/>
            </a:pPr>
            <a:r>
              <a:rPr lang="pt-BR" sz="1200" b="0" i="0" dirty="0">
                <a:solidFill>
                  <a:srgbClr val="5F6468"/>
                </a:solidFill>
                <a:latin typeface="Roboto"/>
                <a:ea typeface="Roboto"/>
                <a:cs typeface="Roboto"/>
              </a:rPr>
              <a:t>Classificação como “rule-in” (admissão) indica necessidade de definir se há diagnóstico de IAM ou investigar ativamente outra causa de injúria.</a:t>
            </a:r>
          </a:p>
        </p:txBody>
      </p:sp>
      <p:sp>
        <p:nvSpPr>
          <p:cNvPr id="21" name="Número 21"/>
          <p:cNvSpPr txBox="1"/>
          <p:nvPr/>
        </p:nvSpPr>
        <p:spPr>
          <a:xfrm>
            <a:off x="6297219" y="4780000"/>
            <a:ext cx="470000" cy="470000"/>
          </a:xfrm>
          <a:prstGeom prst="rect">
            <a:avLst/>
          </a:prstGeom>
          <a:solidFill>
            <a:srgbClr val="A3A6A8"/>
          </a:solidFill>
        </p:spPr>
        <p:txBody>
          <a:bodyPr wrap="square" lIns="0" tIns="0" rIns="0" bIns="0" anchor="ctr">
            <a:noAutofit/>
          </a:bodyPr>
          <a:lstStyle/>
          <a:p>
            <a:pPr marL="0" indent="0" algn="ctr">
              <a:lnSpc>
                <a:spcPct val="100000"/>
              </a:lnSpc>
              <a:spcBef>
                <a:spcPts val="0"/>
              </a:spcBef>
              <a:spcAft>
                <a:spcPts val="0"/>
              </a:spcAft>
              <a:buNone/>
            </a:pPr>
            <a:r>
              <a:rPr lang="pt-BR" sz="1500" b="0" i="0" dirty="0">
                <a:solidFill>
                  <a:srgbClr val="1F3238"/>
                </a:solidFill>
                <a:latin typeface="Roboto Medium"/>
                <a:ea typeface="Roboto Medium"/>
                <a:cs typeface="Roboto Medium"/>
              </a:rPr>
              <a:t>10</a:t>
            </a:r>
          </a:p>
        </p:txBody>
      </p:sp>
      <p:sp>
        <p:nvSpPr>
          <p:cNvPr id="22" name="Mensagem 22"/>
          <p:cNvSpPr txBox="1"/>
          <p:nvPr/>
        </p:nvSpPr>
        <p:spPr>
          <a:xfrm>
            <a:off x="6947219" y="4580000"/>
            <a:ext cx="4535816" cy="910000"/>
          </a:xfrm>
          <a:prstGeom prst="rect">
            <a:avLst/>
          </a:prstGeom>
          <a:noFill/>
        </p:spPr>
        <p:txBody>
          <a:bodyPr wrap="square" lIns="0" tIns="0" rIns="0" bIns="0" anchor="ctr">
            <a:noAutofit/>
          </a:bodyPr>
          <a:lstStyle/>
          <a:p>
            <a:pPr marL="0" indent="0" algn="l">
              <a:lnSpc>
                <a:spcPct val="110000"/>
              </a:lnSpc>
              <a:spcBef>
                <a:spcPts val="0"/>
              </a:spcBef>
              <a:spcAft>
                <a:spcPts val="0"/>
              </a:spcAft>
              <a:buNone/>
            </a:pPr>
            <a:r>
              <a:rPr lang="pt-BR" sz="1200" b="0" i="0" dirty="0">
                <a:solidFill>
                  <a:srgbClr val="5F6468"/>
                </a:solidFill>
                <a:latin typeface="Roboto"/>
                <a:ea typeface="Roboto"/>
                <a:cs typeface="Roboto"/>
              </a:rPr>
              <a:t>Exame de imagem deve ser indicado em casos de probabilidade intermediária (zona de observação) e a escolha do método se baseia principalmente na disponibilidade/experiência do serviço, antecedente de DAC conhecida e se paciente já realizou estes exames previamente.</a:t>
            </a:r>
          </a:p>
        </p:txBody>
      </p:sp>
      <p:sp>
        <p:nvSpPr>
          <p:cNvPr id="23" name="Legenda 23"/>
          <p:cNvSpPr txBox="1"/>
          <p:nvPr/>
        </p:nvSpPr>
        <p:spPr>
          <a:xfrm>
            <a:off x="711403" y="5660000"/>
            <a:ext cx="10771632" cy="450000"/>
          </a:xfrm>
          <a:prstGeom prst="rect">
            <a:avLst/>
          </a:prstGeom>
          <a:noFill/>
        </p:spPr>
        <p:txBody>
          <a:bodyPr wrap="square" lIns="0" tIns="0" rIns="0" bIns="0" anchor="t">
            <a:noAutofit/>
          </a:bodyPr>
          <a:lstStyle/>
          <a:p>
            <a:pPr marL="0" indent="0" algn="l">
              <a:lnSpc>
                <a:spcPct val="125000"/>
              </a:lnSpc>
              <a:spcBef>
                <a:spcPts val="0"/>
              </a:spcBef>
              <a:spcAft>
                <a:spcPts val="0"/>
              </a:spcAft>
              <a:buNone/>
            </a:pPr>
            <a:r>
              <a:rPr lang="pt-BR" sz="1200" b="0" i="0" dirty="0">
                <a:solidFill>
                  <a:srgbClr val="737A7F"/>
                </a:solidFill>
                <a:latin typeface="Roboto Medium"/>
                <a:ea typeface="Roboto Medium"/>
                <a:cs typeface="Roboto Medium"/>
              </a:rPr>
              <a:t>Figura 17 – </a:t>
            </a:r>
            <a:r>
              <a:rPr lang="pt-BR" sz="1200" b="0" i="0" dirty="0">
                <a:solidFill>
                  <a:srgbClr val="737A7F"/>
                </a:solidFill>
                <a:latin typeface="Roboto"/>
                <a:ea typeface="Roboto"/>
                <a:cs typeface="Roboto"/>
              </a:rPr>
              <a:t>10 Mensagens Principais da Diretriz de Atendimento à Dor Torácica na Unidade de Emergência. ECG: eletrocardiograma; SCA: síndrome coronariana aguda; POCUS: Ponint of Care Ultrasound; IAM: infarto agudo do miocárdio; DAC: doença arterial coronária.</a:t>
            </a:r>
          </a:p>
        </p:txBody>
      </p:sp>
      <p:sp>
        <p:nvSpPr>
          <p:cNvPr id="24" name="Rodapé 24"/>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81  ·  Dor torácica – Protocolo 2025 | Set 2026</a:t>
            </a:r>
          </a:p>
        </p:txBody>
      </p:sp>
      <p:sp>
        <p:nvSpPr>
          <p:cNvPr id="25" name="Rodapé 25"/>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extBox 1"/>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82  ·  Dor torácica – Protocolo 2025 | Set 2026</a:t>
            </a:r>
          </a:p>
        </p:txBody>
      </p:sp>
      <p:sp>
        <p:nvSpPr>
          <p:cNvPr id="3" name="TextBox 2"/>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405077353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Investigação não invasiva – Sem DAC conhecida (1/2)</a:t>
            </a:r>
            <a:endParaRPr lang="pt-BR" dirty="0" sz="3200"/>
          </a:p>
        </p:txBody>
      </p:sp>
      <p:sp>
        <p:nvSpPr>
          <p:cNvPr id="25" name="Nota"/>
          <p:cNvSpPr txBox="1"/>
          <p:nvPr/>
        </p:nvSpPr>
        <p:spPr>
          <a:xfrm>
            <a:off x="711403" y="4846320"/>
            <a:ext cx="10771632" cy="240000"/>
          </a:xfrm>
          <a:prstGeom prst="rect">
            <a:avLst/>
          </a:prstGeom>
          <a:noFill/>
        </p:spPr>
        <p:txBody>
          <a:bodyPr wrap="square" lIns="0" rIns="0" tIns="0" bIns="0" anchor="t">
            <a:spAutoFit/>
          </a:bodyPr>
          <a:lstStyle/>
          <a:p>
            <a:pPr algn="l"/>
            <a:r>
              <a:rPr sz="1200" b="0" i="0">
                <a:solidFill>
                  <a:srgbClr val="3B3F42"/>
                </a:solidFill>
                <a:latin typeface="Roboto Medium"/>
                <a:ea typeface="Roboto Medium"/>
                <a:cs typeface="Roboto Medium"/>
              </a:rPr>
              <a:t>*Escolha do teste deve ser guiada pela disponibilidade e expertise.</a:t>
            </a:r>
          </a:p>
        </p:txBody>
      </p:sp>
      <p:sp>
        <p:nvSpPr>
          <p:cNvPr id="26" name="Legenda"/>
          <p:cNvSpPr txBox="1"/>
          <p:nvPr/>
        </p:nvSpPr>
        <p:spPr>
          <a:xfrm>
            <a:off x="711403" y="5230368"/>
            <a:ext cx="10771632" cy="800000"/>
          </a:xfrm>
          <a:prstGeom prst="rect">
            <a:avLst/>
          </a:prstGeom>
          <a:noFill/>
        </p:spPr>
        <p:txBody>
          <a:bodyPr wrap="square" lIns="0" rIns="0" tIns="0" bIns="0" anchor="t">
            <a:spAutoFit/>
          </a:bodyPr>
          <a:lstStyle/>
          <a:p>
            <a:pPr algn="l">
              <a:lnSpc>
                <a:spcPct val="115000"/>
              </a:lnSpc>
            </a:pPr>
            <a:r>
              <a:rPr sz="1200" b="0" i="0">
                <a:solidFill>
                  <a:srgbClr val="4E7C8B"/>
                </a:solidFill>
                <a:latin typeface="Roboto Medium"/>
                <a:ea typeface="Roboto Medium"/>
                <a:cs typeface="Roboto Medium"/>
              </a:rPr>
              <a:t>Figura 13 – </a:t>
            </a:r>
            <a:r>
              <a:rPr sz="1200" b="0" i="1">
                <a:solidFill>
                  <a:srgbClr val="737A7F"/>
                </a:solidFill>
                <a:latin typeface="Roboto"/>
                <a:ea typeface="Roboto"/>
                <a:cs typeface="Roboto"/>
              </a:rPr>
              <a:t>Fluxograma de investigação não invasiva em paciente sem doença arterial coronariana conhecida. SCA: síndrome coronariana aguda; DAC: doença arterial coronariana; CATE: cateterismo cardíaco; PET: tomografia por emissão de pósitrons; SPECT: tomografia computadorizada por emissão de fóton único; Angio-TC: angiotomografia coronária por tomografia computadorizada; VPN: valor preditivo negativo.</a:t>
            </a: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83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Fim/Início"/>
          <p:cNvSpPr/>
          <p:nvPr/>
        </p:nvSpPr>
        <p:spPr>
          <a:xfrm>
            <a:off x="711403" y="2212848"/>
            <a:ext cx="2377440" cy="603504"/>
          </a:xfrm>
          <a:prstGeom prst="roundRect">
            <a:avLst>
              <a:gd name="adj" fmla="val 50000"/>
            </a:avLst>
          </a:prstGeom>
          <a:solidFill>
            <a:srgbClr val="4E7C8B"/>
          </a:solidFill>
          <a:ln>
            <a:noFill/>
          </a:ln>
          <a:effectLst/>
        </p:spPr>
        <p:txBody>
          <a:bodyPr rtlCol="0" anchor="ctr" wrap="square" lIns="91440" rIns="91440" tIns="45720" bIns="45720"/>
          <a:lstStyle/>
          <a:p>
            <a:pPr algn="ctr"/>
            <a:r>
              <a:rPr lang="pt-BR" sz="1300" b="0" i="0" dirty="0">
                <a:solidFill>
                  <a:srgbClr val="FBFCFC"/>
                </a:solidFill>
                <a:latin typeface="Roboto Medium"/>
                <a:ea typeface="Roboto Medium"/>
                <a:cs typeface="Roboto Medium"/>
              </a:rPr>
              <a:t>Sem DAC conhecida</a:t>
            </a:r>
          </a:p>
        </p:txBody>
      </p:sp>
      <p:sp>
        <p:nvSpPr>
          <p:cNvPr id="302" name="Seta"/>
          <p:cNvSpPr/>
          <p:nvPr/>
        </p:nvSpPr>
        <p:spPr>
          <a:xfrm>
            <a:off x="3088843" y="2514600"/>
            <a:ext cx="548640" cy="1"/>
          </a:xfrm>
          <a:custGeom>
            <a:avLst/>
            <a:gdLst/>
            <a:ahLst/>
            <a:cxnLst/>
            <a:rect l="0" t="0" r="r" b="b"/>
            <a:pathLst>
              <a:path w="548640" h="1" fill="none">
                <a:moveTo>
                  <a:pt x="0" y="0"/>
                </a:moveTo>
                <a:lnTo>
                  <a:pt x="548640" y="0"/>
                </a:lnTo>
              </a:path>
            </a:pathLst>
          </a:custGeom>
          <a:noFill/>
          <a:ln w="19050">
            <a:solidFill>
              <a:srgbClr val="6B6E70"/>
            </a:solidFill>
            <a:round/>
            <a:tailEnd type="triangle" w="med" len="med"/>
          </a:ln>
          <a:effectLst/>
        </p:spPr>
      </p:sp>
      <p:sp>
        <p:nvSpPr>
          <p:cNvPr id="303" name="Decisão"/>
          <p:cNvSpPr/>
          <p:nvPr/>
        </p:nvSpPr>
        <p:spPr>
          <a:xfrm>
            <a:off x="3637483" y="1920240"/>
            <a:ext cx="2377440" cy="1188720"/>
          </a:xfrm>
          <a:prstGeom prst="diamond">
            <a:avLst/>
          </a:prstGeom>
          <a:solidFill>
            <a:srgbClr val="8EC4CB"/>
          </a:solidFill>
          <a:ln>
            <a:noFill/>
          </a:ln>
          <a:effectLst/>
        </p:spPr>
        <p:txBody>
          <a:bodyPr rtlCol="0" anchor="ctr" wrap="square" lIns="0" rIns="0" tIns="45720" bIns="45720"/>
          <a:lstStyle/>
          <a:p>
            <a:pPr algn="ctr"/>
            <a:r>
              <a:rPr lang="pt-BR" sz="1200" b="0" i="0" dirty="0">
                <a:solidFill>
                  <a:srgbClr val="1F3238"/>
                </a:solidFill>
                <a:latin typeface="Roboto Medium"/>
                <a:ea typeface="Roboto Medium"/>
                <a:cs typeface="Roboto Medium"/>
              </a:rPr>
              <a:t>Teste prévio?</a:t>
            </a:r>
          </a:p>
        </p:txBody>
      </p:sp>
      <p:sp>
        <p:nvSpPr>
          <p:cNvPr id="304" name="Seta"/>
          <p:cNvSpPr/>
          <p:nvPr/>
        </p:nvSpPr>
        <p:spPr>
          <a:xfrm>
            <a:off x="6014923" y="2514600"/>
            <a:ext cx="548640" cy="1"/>
          </a:xfrm>
          <a:custGeom>
            <a:avLst/>
            <a:gdLst/>
            <a:ahLst/>
            <a:cxnLst/>
            <a:rect l="0" t="0" r="r" b="b"/>
            <a:pathLst>
              <a:path w="548640" h="1" fill="none">
                <a:moveTo>
                  <a:pt x="0" y="0"/>
                </a:moveTo>
                <a:lnTo>
                  <a:pt x="548640" y="0"/>
                </a:lnTo>
              </a:path>
            </a:pathLst>
          </a:custGeom>
          <a:noFill/>
          <a:ln w="19050">
            <a:solidFill>
              <a:srgbClr val="6B6E70"/>
            </a:solidFill>
            <a:round/>
            <a:tailEnd type="triangle" w="med" len="med"/>
          </a:ln>
          <a:effectLst/>
        </p:spPr>
      </p:sp>
      <p:sp>
        <p:nvSpPr>
          <p:cNvPr id="305" name="Rótulo"/>
          <p:cNvSpPr txBox="1"/>
          <p:nvPr/>
        </p:nvSpPr>
        <p:spPr>
          <a:xfrm>
            <a:off x="6088075" y="2240280"/>
            <a:ext cx="41148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Sim</a:t>
            </a:r>
          </a:p>
        </p:txBody>
      </p:sp>
      <p:sp>
        <p:nvSpPr>
          <p:cNvPr id="306" name="Etapa"/>
          <p:cNvSpPr/>
          <p:nvPr/>
        </p:nvSpPr>
        <p:spPr>
          <a:xfrm>
            <a:off x="6563563" y="2212848"/>
            <a:ext cx="2377440" cy="603504"/>
          </a:xfrm>
          <a:prstGeom prst="rect">
            <a:avLst/>
          </a:prstGeom>
          <a:solidFill>
            <a:srgbClr val="F2F4F5"/>
          </a:solidFill>
          <a:ln w="12700">
            <a:solidFill>
              <a:srgbClr val="6E9DAB"/>
            </a:solidFill>
          </a:ln>
          <a:effectLst/>
        </p:spPr>
        <p:txBody>
          <a:bodyPr rtlCol="0" anchor="ctr" wrap="square" lIns="91440" rIns="91440" tIns="45720" bIns="45720"/>
          <a:lstStyle/>
          <a:p>
            <a:pPr algn="ctr"/>
            <a:r>
              <a:rPr lang="pt-BR" sz="1300" b="0" i="0" dirty="0">
                <a:solidFill>
                  <a:srgbClr val="3B3F42"/>
                </a:solidFill>
                <a:latin typeface="Roboto Medium"/>
                <a:ea typeface="Roboto Medium"/>
                <a:cs typeface="Roboto Medium"/>
              </a:rPr>
              <a:t>Resultado do teste</a:t>
            </a:r>
          </a:p>
        </p:txBody>
      </p:sp>
      <p:sp>
        <p:nvSpPr>
          <p:cNvPr id="307" name="Fim/Início"/>
          <p:cNvSpPr/>
          <p:nvPr/>
        </p:nvSpPr>
        <p:spPr>
          <a:xfrm>
            <a:off x="6563563" y="3813048"/>
            <a:ext cx="2377440" cy="603504"/>
          </a:xfrm>
          <a:prstGeom prst="roundRect">
            <a:avLst>
              <a:gd name="adj" fmla="val 50000"/>
            </a:avLst>
          </a:prstGeom>
          <a:solidFill>
            <a:srgbClr val="4E7C8B"/>
          </a:solidFill>
          <a:ln>
            <a:noFill/>
          </a:ln>
          <a:effectLst/>
        </p:spPr>
        <p:txBody>
          <a:bodyPr rtlCol="0" anchor="ctr" wrap="square" lIns="91440" rIns="91440" tIns="45720" bIns="45720"/>
          <a:lstStyle/>
          <a:p>
            <a:pPr algn="ctr"/>
            <a:r>
              <a:rPr lang="pt-BR" sz="1300" b="0" i="0" dirty="0">
                <a:solidFill>
                  <a:srgbClr val="FBFCFC"/>
                </a:solidFill>
                <a:latin typeface="Roboto Medium"/>
                <a:ea typeface="Roboto Medium"/>
                <a:cs typeface="Roboto Medium"/>
              </a:rPr>
              <a:t>Angio-TC ou estresse*</a:t>
            </a:r>
          </a:p>
        </p:txBody>
      </p:sp>
      <p:sp>
        <p:nvSpPr>
          <p:cNvPr id="308" name="Seta"/>
          <p:cNvSpPr/>
          <p:nvPr/>
        </p:nvSpPr>
        <p:spPr>
          <a:xfrm>
            <a:off x="4826203" y="3108960"/>
            <a:ext cx="1737360" cy="1005840"/>
          </a:xfrm>
          <a:custGeom>
            <a:avLst/>
            <a:gdLst/>
            <a:ahLst/>
            <a:cxnLst/>
            <a:rect l="0" t="0" r="r" b="b"/>
            <a:pathLst>
              <a:path w="1737360" h="1005840" fill="none">
                <a:moveTo>
                  <a:pt x="0" y="0"/>
                </a:moveTo>
                <a:lnTo>
                  <a:pt x="0" y="1005840"/>
                </a:lnTo>
                <a:lnTo>
                  <a:pt x="1737360" y="1005840"/>
                </a:lnTo>
              </a:path>
            </a:pathLst>
          </a:custGeom>
          <a:noFill/>
          <a:ln w="19050">
            <a:solidFill>
              <a:srgbClr val="6B6E70"/>
            </a:solidFill>
            <a:round/>
            <a:tailEnd type="triangle" w="med" len="med"/>
          </a:ln>
          <a:effectLst/>
        </p:spPr>
      </p:sp>
      <p:sp>
        <p:nvSpPr>
          <p:cNvPr id="309" name="Rótulo"/>
          <p:cNvSpPr txBox="1"/>
          <p:nvPr/>
        </p:nvSpPr>
        <p:spPr>
          <a:xfrm>
            <a:off x="4917643" y="3163824"/>
            <a:ext cx="45720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Não</a:t>
            </a:r>
          </a:p>
        </p:txBody>
      </p:sp>
    </p:spTree>
    <p:extLst>
      <p:ext uri="{BB962C8B-B14F-4D97-AF65-F5344CB8AC3E}">
        <p14:creationId xmlns:p14="http://schemas.microsoft.com/office/powerpoint/2010/main" val="3260291603"/>
      </p:ext>
    </p:extLst>
  </p:cSld>
  <p:clrMapOvr>
    <a:masterClrMapping/>
  </p:clrMapOvr>
  <p:timing>
    <p:tnLst>
      <p:par>
        <p:cTn id="1" dur="indefinite" restart="never" nodeType="tmRoot"/>
      </p:par>
    </p:tnLst>
  </p:timing>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Investigação não invasiva – Definições (sem DAC)</a:t>
            </a:r>
            <a:endParaRPr lang="pt-BR" dirty="0" sz="3200"/>
          </a:p>
        </p:txBody>
      </p:sp>
      <p:sp>
        <p:nvSpPr>
          <p:cNvPr id="3" name="Card"/>
          <p:cNvSpPr/>
          <p:nvPr/>
        </p:nvSpPr>
        <p:spPr>
          <a:xfrm>
            <a:off x="711403" y="1600000"/>
            <a:ext cx="5300000" cy="3000000"/>
          </a:xfrm>
          <a:prstGeom prst="rect">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aixa"/>
          <p:cNvSpPr/>
          <p:nvPr/>
        </p:nvSpPr>
        <p:spPr>
          <a:xfrm>
            <a:off x="711403" y="1600000"/>
            <a:ext cx="5300000" cy="38100"/>
          </a:xfrm>
          <a:prstGeom prst="rect">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ítulo do card"/>
          <p:cNvSpPr txBox="1"/>
          <p:nvPr/>
        </p:nvSpPr>
        <p:spPr>
          <a:xfrm>
            <a:off x="940003" y="1800000"/>
            <a:ext cx="4842800" cy="260000"/>
          </a:xfrm>
          <a:prstGeom prst="rect">
            <a:avLst/>
          </a:prstGeom>
          <a:noFill/>
        </p:spPr>
        <p:txBody>
          <a:bodyPr wrap="square" lIns="0" rIns="0" tIns="0" bIns="0" anchor="t">
            <a:spAutoFit/>
          </a:bodyPr>
          <a:lstStyle/>
          <a:p>
            <a:pPr algn="l"/>
            <a:r>
              <a:rPr sz="1500" b="0" i="0">
                <a:solidFill>
                  <a:srgbClr val="3B3F42"/>
                </a:solidFill>
                <a:latin typeface="Roboto Medium"/>
                <a:ea typeface="Roboto Medium"/>
                <a:cs typeface="Roboto Medium"/>
              </a:rPr>
              <a:t>Exame negativo recente</a:t>
            </a:r>
          </a:p>
        </p:txBody>
      </p:sp>
      <p:sp>
        <p:nvSpPr>
          <p:cNvPr id="6" name="Corpo do card"/>
          <p:cNvSpPr txBox="1"/>
          <p:nvPr/>
        </p:nvSpPr>
        <p:spPr>
          <a:xfrm>
            <a:off x="940003" y="2200000"/>
            <a:ext cx="4842800" cy="2300000"/>
          </a:xfrm>
          <a:prstGeom prst="rect">
            <a:avLst/>
          </a:prstGeom>
          <a:noFill/>
        </p:spPr>
        <p:txBody>
          <a:bodyPr wrap="square" lIns="0" rIns="0" tIns="0" bIns="0" anchor="t">
            <a:spAutoFit/>
          </a:bodyPr>
          <a:lstStyle/>
          <a:p>
            <a:pPr algn="l">
              <a:lnSpc>
                <a:spcPct val="120000"/>
              </a:lnSpc>
              <a:spcAft>
                <a:spcPts val="600"/>
              </a:spcAft>
            </a:pPr>
            <a:r>
              <a:rPr sz="1300" b="0" i="0">
                <a:solidFill>
                  <a:srgbClr val="3B3F42"/>
                </a:solidFill>
                <a:latin typeface="Roboto Medium"/>
                <a:ea typeface="Roboto Medium"/>
                <a:cs typeface="Roboto Medium"/>
              </a:rPr>
              <a:t>Angiografia coronária invasiva ou não-invasiva</a:t>
            </a:r>
            <a:r>
              <a:rPr sz="1300" b="0" i="0">
                <a:solidFill>
                  <a:srgbClr val="5F6468"/>
                </a:solidFill>
                <a:latin typeface="Roboto"/>
                <a:ea typeface="Roboto"/>
                <a:cs typeface="Roboto"/>
              </a:rPr>
              <a:t> (angiotomografia) completamente normal (sem placa ou estenose) realizada dentro de </a:t>
            </a:r>
            <a:r>
              <a:rPr sz="1300" b="0" i="0">
                <a:solidFill>
                  <a:srgbClr val="3B3F42"/>
                </a:solidFill>
                <a:latin typeface="Roboto Medium"/>
                <a:ea typeface="Roboto Medium"/>
                <a:cs typeface="Roboto Medium"/>
              </a:rPr>
              <a:t>2 anos</a:t>
            </a:r>
          </a:p>
          <a:p>
            <a:pPr algn="l">
              <a:lnSpc>
                <a:spcPct val="120000"/>
              </a:lnSpc>
              <a:spcAft>
                <a:spcPts val="600"/>
              </a:spcAft>
            </a:pPr>
            <a:r>
              <a:rPr sz="1300" b="0" i="0">
                <a:solidFill>
                  <a:srgbClr val="5F6468"/>
                </a:solidFill>
                <a:latin typeface="Roboto"/>
                <a:ea typeface="Roboto"/>
                <a:cs typeface="Roboto"/>
              </a:rPr>
              <a:t>ou </a:t>
            </a:r>
            <a:r>
              <a:rPr sz="1300" b="0" i="0">
                <a:solidFill>
                  <a:srgbClr val="3B3F42"/>
                </a:solidFill>
                <a:latin typeface="Roboto Medium"/>
                <a:ea typeface="Roboto Medium"/>
                <a:cs typeface="Roboto Medium"/>
              </a:rPr>
              <a:t>Teste funcional com estresse adequado</a:t>
            </a:r>
            <a:r>
              <a:rPr sz="1300" b="0" i="0">
                <a:solidFill>
                  <a:srgbClr val="5F6468"/>
                </a:solidFill>
                <a:latin typeface="Roboto"/>
                <a:ea typeface="Roboto"/>
                <a:cs typeface="Roboto"/>
              </a:rPr>
              <a:t> e resultado normal realizado dentro de </a:t>
            </a:r>
            <a:r>
              <a:rPr sz="1300" b="0" i="0">
                <a:solidFill>
                  <a:srgbClr val="3B3F42"/>
                </a:solidFill>
                <a:latin typeface="Roboto Medium"/>
                <a:ea typeface="Roboto Medium"/>
                <a:cs typeface="Roboto Medium"/>
              </a:rPr>
              <a:t>1 ano</a:t>
            </a:r>
            <a:r>
              <a:rPr sz="1300" b="0" i="0">
                <a:solidFill>
                  <a:srgbClr val="5F6468"/>
                </a:solidFill>
                <a:latin typeface="Roboto"/>
                <a:ea typeface="Roboto"/>
                <a:cs typeface="Roboto"/>
              </a:rPr>
              <a:t> do quadro atual de dor torácica</a:t>
            </a:r>
          </a:p>
          <a:p>
            <a:pPr algn="l">
              <a:lnSpc>
                <a:spcPct val="120000"/>
              </a:lnSpc>
              <a:spcAft>
                <a:spcPts val="600"/>
              </a:spcAft>
            </a:pPr>
            <a:r>
              <a:rPr sz="1300" b="0" i="1">
                <a:solidFill>
                  <a:srgbClr val="5F6468"/>
                </a:solidFill>
                <a:latin typeface="Roboto"/>
                <a:ea typeface="Roboto"/>
                <a:cs typeface="Roboto"/>
              </a:rPr>
              <a:t>Obs: Improvável a presença de SCA e DAC significativa se exame negativo recente (a ausência de aterosclerose coronária na angiotomografia fornece o maior VPN para risco futuro de SCA)</a:t>
            </a:r>
          </a:p>
        </p:txBody>
      </p:sp>
      <p:sp>
        <p:nvSpPr>
          <p:cNvPr id="7" name="Card"/>
          <p:cNvSpPr/>
          <p:nvPr/>
        </p:nvSpPr>
        <p:spPr>
          <a:xfrm>
            <a:off x="6300000" y="1600000"/>
            <a:ext cx="5183035" cy="3000000"/>
          </a:xfrm>
          <a:prstGeom prst="rect">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ixa"/>
          <p:cNvSpPr/>
          <p:nvPr/>
        </p:nvSpPr>
        <p:spPr>
          <a:xfrm>
            <a:off x="6300000" y="1600000"/>
            <a:ext cx="5183035" cy="38100"/>
          </a:xfrm>
          <a:prstGeom prst="rect">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ítulo do card"/>
          <p:cNvSpPr txBox="1"/>
          <p:nvPr/>
        </p:nvSpPr>
        <p:spPr>
          <a:xfrm>
            <a:off x="6528600" y="1800000"/>
            <a:ext cx="4725835" cy="260000"/>
          </a:xfrm>
          <a:prstGeom prst="rect">
            <a:avLst/>
          </a:prstGeom>
          <a:noFill/>
        </p:spPr>
        <p:txBody>
          <a:bodyPr wrap="square" lIns="0" rIns="0" tIns="0" bIns="0" anchor="t">
            <a:spAutoFit/>
          </a:bodyPr>
          <a:lstStyle/>
          <a:p>
            <a:pPr algn="l"/>
            <a:r>
              <a:rPr sz="1500" b="0" i="0">
                <a:solidFill>
                  <a:srgbClr val="3B3F42"/>
                </a:solidFill>
                <a:latin typeface="Roboto Medium"/>
                <a:ea typeface="Roboto Medium"/>
                <a:cs typeface="Roboto Medium"/>
              </a:rPr>
              <a:t>Teste de estresse</a:t>
            </a:r>
          </a:p>
        </p:txBody>
      </p:sp>
      <p:sp>
        <p:nvSpPr>
          <p:cNvPr id="10" name="Corpo do card"/>
          <p:cNvSpPr txBox="1"/>
          <p:nvPr/>
        </p:nvSpPr>
        <p:spPr>
          <a:xfrm>
            <a:off x="6528600" y="2200000"/>
            <a:ext cx="4725835" cy="2300000"/>
          </a:xfrm>
          <a:prstGeom prst="rect">
            <a:avLst/>
          </a:prstGeom>
          <a:noFill/>
        </p:spPr>
        <p:txBody>
          <a:bodyPr wrap="square" lIns="0" rIns="0" tIns="0" bIns="0" anchor="t">
            <a:spAutoFit/>
          </a:bodyPr>
          <a:lstStyle/>
          <a:p>
            <a:pPr algn="l">
              <a:lnSpc>
                <a:spcPct val="120000"/>
              </a:lnSpc>
              <a:spcAft>
                <a:spcPts val="600"/>
              </a:spcAft>
            </a:pPr>
            <a:r>
              <a:rPr sz="1300" b="0" i="0">
                <a:solidFill>
                  <a:srgbClr val="5F6468"/>
                </a:solidFill>
                <a:latin typeface="Roboto"/>
                <a:ea typeface="Roboto"/>
                <a:cs typeface="Roboto"/>
              </a:rPr>
              <a:t>• Ecocardiograma com estresse</a:t>
            </a:r>
          </a:p>
          <a:p>
            <a:pPr algn="l">
              <a:lnSpc>
                <a:spcPct val="120000"/>
              </a:lnSpc>
              <a:spcAft>
                <a:spcPts val="600"/>
              </a:spcAft>
            </a:pPr>
            <a:r>
              <a:rPr sz="1300" b="0" i="0">
                <a:solidFill>
                  <a:srgbClr val="5F6468"/>
                </a:solidFill>
                <a:latin typeface="Roboto"/>
                <a:ea typeface="Roboto"/>
                <a:cs typeface="Roboto"/>
              </a:rPr>
              <a:t>• PET/SPECT com estresse</a:t>
            </a:r>
          </a:p>
          <a:p>
            <a:pPr algn="l">
              <a:lnSpc>
                <a:spcPct val="120000"/>
              </a:lnSpc>
              <a:spcAft>
                <a:spcPts val="600"/>
              </a:spcAft>
            </a:pPr>
            <a:r>
              <a:rPr sz="1300" b="0" i="0">
                <a:solidFill>
                  <a:srgbClr val="5F6468"/>
                </a:solidFill>
                <a:latin typeface="Roboto"/>
                <a:ea typeface="Roboto"/>
                <a:cs typeface="Roboto"/>
              </a:rPr>
              <a:t>• Ressonância de coração com estresse farmacológico</a:t>
            </a:r>
          </a:p>
          <a:p>
            <a:pPr algn="l">
              <a:lnSpc>
                <a:spcPct val="120000"/>
              </a:lnSpc>
              <a:spcAft>
                <a:spcPts val="600"/>
              </a:spcAft>
            </a:pPr>
            <a:r>
              <a:rPr sz="1300" b="0" i="0">
                <a:solidFill>
                  <a:srgbClr val="5F6468"/>
                </a:solidFill>
                <a:latin typeface="Roboto"/>
                <a:ea typeface="Roboto"/>
                <a:cs typeface="Roboto"/>
              </a:rPr>
              <a:t>• Teste de esforço (idealmente com avaliação de imagem associada)</a:t>
            </a: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85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Investigação não invasiva – DAC conhecida (1/2)</a:t>
            </a:r>
            <a:endParaRPr lang="pt-BR" dirty="0" sz="3200"/>
          </a:p>
        </p:txBody>
      </p:sp>
      <p:sp>
        <p:nvSpPr>
          <p:cNvPr id="21" name="Nota"/>
          <p:cNvSpPr txBox="1"/>
          <p:nvPr/>
        </p:nvSpPr>
        <p:spPr>
          <a:xfrm>
            <a:off x="711403" y="4846320"/>
            <a:ext cx="10771632" cy="240000"/>
          </a:xfrm>
          <a:prstGeom prst="rect">
            <a:avLst/>
          </a:prstGeom>
          <a:noFill/>
        </p:spPr>
        <p:txBody>
          <a:bodyPr wrap="square" lIns="0" rIns="0" tIns="0" bIns="0" anchor="t">
            <a:spAutoFit/>
          </a:bodyPr>
          <a:lstStyle/>
          <a:p>
            <a:pPr algn="l"/>
            <a:r>
              <a:rPr sz="1200" b="0" i="0">
                <a:solidFill>
                  <a:srgbClr val="3B3F42"/>
                </a:solidFill>
                <a:latin typeface="Roboto Medium"/>
                <a:ea typeface="Roboto Medium"/>
                <a:cs typeface="Roboto Medium"/>
              </a:rPr>
              <a:t>*Escolha do teste deve ser guiada pela disponibilidade e expertise.</a:t>
            </a:r>
          </a:p>
        </p:txBody>
      </p:sp>
      <p:sp>
        <p:nvSpPr>
          <p:cNvPr id="22" name="Legenda"/>
          <p:cNvSpPr txBox="1"/>
          <p:nvPr/>
        </p:nvSpPr>
        <p:spPr>
          <a:xfrm>
            <a:off x="711403" y="5230368"/>
            <a:ext cx="10771632" cy="900000"/>
          </a:xfrm>
          <a:prstGeom prst="rect">
            <a:avLst/>
          </a:prstGeom>
          <a:noFill/>
        </p:spPr>
        <p:txBody>
          <a:bodyPr wrap="square" lIns="0" rIns="0" tIns="0" bIns="0" anchor="t">
            <a:spAutoFit/>
          </a:bodyPr>
          <a:lstStyle/>
          <a:p>
            <a:pPr algn="l">
              <a:lnSpc>
                <a:spcPct val="115000"/>
              </a:lnSpc>
            </a:pPr>
            <a:r>
              <a:rPr sz="1200" b="0" i="0">
                <a:solidFill>
                  <a:srgbClr val="4E7C8B"/>
                </a:solidFill>
                <a:latin typeface="Roboto Medium"/>
                <a:ea typeface="Roboto Medium"/>
                <a:cs typeface="Roboto Medium"/>
              </a:rPr>
              <a:t>Figura 14 – </a:t>
            </a:r>
            <a:r>
              <a:rPr sz="1200" b="0" i="1">
                <a:solidFill>
                  <a:srgbClr val="737A7F"/>
                </a:solidFill>
                <a:latin typeface="Roboto"/>
                <a:ea typeface="Roboto"/>
                <a:cs typeface="Roboto"/>
              </a:rPr>
              <a:t>Fluxograma de investigação não invasiva em paciente com doença arterial coronariana conhecida. DAC: doença arterial coronariana; CATE: cateterismo cardíaco; ICP: intervenção coronariana percutânea; CRM: cirurgia de revascularização do miocárdio; Angio-TC: angiotomografia coronária por tomografia computadorizada; TCE: tronco da coronária esquerda; FFR-CT: reserva de fluxo fracionada obtida por tomografia computadorizada.</a:t>
            </a: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86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Fim/Início"/>
          <p:cNvSpPr/>
          <p:nvPr/>
        </p:nvSpPr>
        <p:spPr>
          <a:xfrm>
            <a:off x="711403" y="2212848"/>
            <a:ext cx="2377440" cy="603504"/>
          </a:xfrm>
          <a:prstGeom prst="roundRect">
            <a:avLst>
              <a:gd name="adj" fmla="val 50000"/>
            </a:avLst>
          </a:prstGeom>
          <a:solidFill>
            <a:srgbClr val="4E7C8B"/>
          </a:solidFill>
          <a:ln>
            <a:noFill/>
          </a:ln>
          <a:effectLst/>
        </p:spPr>
        <p:txBody>
          <a:bodyPr rtlCol="0" anchor="ctr" wrap="square" lIns="91440" rIns="91440" tIns="45720" bIns="45720"/>
          <a:lstStyle/>
          <a:p>
            <a:pPr algn="ctr"/>
            <a:r>
              <a:rPr lang="pt-BR" sz="1300" b="0" i="0" dirty="0">
                <a:solidFill>
                  <a:srgbClr val="FBFCFC"/>
                </a:solidFill>
                <a:latin typeface="Roboto Medium"/>
                <a:ea typeface="Roboto Medium"/>
                <a:cs typeface="Roboto Medium"/>
              </a:rPr>
              <a:t>DAC conhecida</a:t>
            </a:r>
          </a:p>
        </p:txBody>
      </p:sp>
      <p:sp>
        <p:nvSpPr>
          <p:cNvPr id="302" name="Seta"/>
          <p:cNvSpPr/>
          <p:nvPr/>
        </p:nvSpPr>
        <p:spPr>
          <a:xfrm>
            <a:off x="3088843" y="2514600"/>
            <a:ext cx="548640" cy="1"/>
          </a:xfrm>
          <a:custGeom>
            <a:avLst/>
            <a:gdLst/>
            <a:ahLst/>
            <a:cxnLst/>
            <a:rect l="0" t="0" r="r" b="b"/>
            <a:pathLst>
              <a:path w="548640" h="1" fill="none">
                <a:moveTo>
                  <a:pt x="0" y="0"/>
                </a:moveTo>
                <a:lnTo>
                  <a:pt x="548640" y="0"/>
                </a:lnTo>
              </a:path>
            </a:pathLst>
          </a:custGeom>
          <a:noFill/>
          <a:ln w="19050">
            <a:solidFill>
              <a:srgbClr val="6B6E70"/>
            </a:solidFill>
            <a:round/>
            <a:tailEnd type="triangle" w="med" len="med"/>
          </a:ln>
          <a:effectLst/>
        </p:spPr>
      </p:sp>
      <p:sp>
        <p:nvSpPr>
          <p:cNvPr id="303" name="Decisão"/>
          <p:cNvSpPr/>
          <p:nvPr/>
        </p:nvSpPr>
        <p:spPr>
          <a:xfrm>
            <a:off x="3637483" y="1920240"/>
            <a:ext cx="2377440" cy="1188720"/>
          </a:xfrm>
          <a:prstGeom prst="diamond">
            <a:avLst/>
          </a:prstGeom>
          <a:solidFill>
            <a:srgbClr val="8EC4CB"/>
          </a:solidFill>
          <a:ln>
            <a:noFill/>
          </a:ln>
          <a:effectLst/>
        </p:spPr>
        <p:txBody>
          <a:bodyPr rtlCol="0" anchor="ctr" wrap="square" lIns="0" rIns="0" tIns="45720" bIns="45720"/>
          <a:lstStyle/>
          <a:p>
            <a:pPr algn="ctr"/>
            <a:r>
              <a:rPr lang="pt-BR" sz="1200" b="0" i="0" dirty="0">
                <a:solidFill>
                  <a:srgbClr val="1F3238"/>
                </a:solidFill>
                <a:latin typeface="Roboto Medium"/>
                <a:ea typeface="Roboto Medium"/>
                <a:cs typeface="Roboto Medium"/>
              </a:rPr>
              <a:t>Obstrutiva?</a:t>
            </a:r>
          </a:p>
        </p:txBody>
      </p:sp>
      <p:sp>
        <p:nvSpPr>
          <p:cNvPr id="304" name="Seta"/>
          <p:cNvSpPr/>
          <p:nvPr/>
        </p:nvSpPr>
        <p:spPr>
          <a:xfrm>
            <a:off x="6014923" y="2514600"/>
            <a:ext cx="548640" cy="1"/>
          </a:xfrm>
          <a:custGeom>
            <a:avLst/>
            <a:gdLst/>
            <a:ahLst/>
            <a:cxnLst/>
            <a:rect l="0" t="0" r="r" b="b"/>
            <a:pathLst>
              <a:path w="548640" h="1" fill="none">
                <a:moveTo>
                  <a:pt x="0" y="0"/>
                </a:moveTo>
                <a:lnTo>
                  <a:pt x="548640" y="0"/>
                </a:lnTo>
              </a:path>
            </a:pathLst>
          </a:custGeom>
          <a:noFill/>
          <a:ln w="19050">
            <a:solidFill>
              <a:srgbClr val="6B6E70"/>
            </a:solidFill>
            <a:round/>
            <a:tailEnd type="triangle" w="med" len="med"/>
          </a:ln>
          <a:effectLst/>
        </p:spPr>
      </p:sp>
      <p:sp>
        <p:nvSpPr>
          <p:cNvPr id="305" name="Rótulo"/>
          <p:cNvSpPr txBox="1"/>
          <p:nvPr/>
        </p:nvSpPr>
        <p:spPr>
          <a:xfrm>
            <a:off x="6088075" y="2240280"/>
            <a:ext cx="41148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Sim</a:t>
            </a:r>
          </a:p>
        </p:txBody>
      </p:sp>
      <p:sp>
        <p:nvSpPr>
          <p:cNvPr id="306" name="Etapa"/>
          <p:cNvSpPr/>
          <p:nvPr/>
        </p:nvSpPr>
        <p:spPr>
          <a:xfrm>
            <a:off x="6563563" y="2212848"/>
            <a:ext cx="2377440" cy="603504"/>
          </a:xfrm>
          <a:prstGeom prst="rect">
            <a:avLst/>
          </a:prstGeom>
          <a:solidFill>
            <a:srgbClr val="F2F4F5"/>
          </a:solidFill>
          <a:ln w="12700">
            <a:solidFill>
              <a:srgbClr val="6E9DAB"/>
            </a:solidFill>
          </a:ln>
          <a:effectLst/>
        </p:spPr>
        <p:txBody>
          <a:bodyPr rtlCol="0" anchor="ctr" wrap="square" lIns="91440" rIns="91440" tIns="45720" bIns="45720"/>
          <a:lstStyle/>
          <a:p>
            <a:pPr algn="ctr"/>
            <a:r>
              <a:rPr lang="pt-BR" sz="1300" b="0" i="0" dirty="0">
                <a:solidFill>
                  <a:srgbClr val="3B3F42"/>
                </a:solidFill>
                <a:latin typeface="Roboto Medium"/>
                <a:ea typeface="Roboto Medium"/>
                <a:cs typeface="Roboto Medium"/>
              </a:rPr>
              <a:t>Critérios de risco</a:t>
            </a:r>
          </a:p>
        </p:txBody>
      </p:sp>
      <p:sp>
        <p:nvSpPr>
          <p:cNvPr id="307" name="Fim/Início"/>
          <p:cNvSpPr/>
          <p:nvPr/>
        </p:nvSpPr>
        <p:spPr>
          <a:xfrm>
            <a:off x="6563563" y="3813048"/>
            <a:ext cx="2377440" cy="603504"/>
          </a:xfrm>
          <a:prstGeom prst="roundRect">
            <a:avLst>
              <a:gd name="adj" fmla="val 50000"/>
            </a:avLst>
          </a:prstGeom>
          <a:solidFill>
            <a:srgbClr val="4E7C8B"/>
          </a:solidFill>
          <a:ln>
            <a:noFill/>
          </a:ln>
          <a:effectLst/>
        </p:spPr>
        <p:txBody>
          <a:bodyPr rtlCol="0" anchor="ctr" wrap="square" lIns="91440" rIns="91440" tIns="45720" bIns="45720"/>
          <a:lstStyle/>
          <a:p>
            <a:pPr algn="ctr"/>
            <a:r>
              <a:rPr lang="pt-BR" sz="1300" b="0" i="0" dirty="0">
                <a:solidFill>
                  <a:srgbClr val="FBFCFC"/>
                </a:solidFill>
                <a:latin typeface="Roboto Medium"/>
                <a:ea typeface="Roboto Medium"/>
                <a:cs typeface="Roboto Medium"/>
              </a:rPr>
              <a:t>Angio-TC (preferência)*</a:t>
            </a:r>
          </a:p>
        </p:txBody>
      </p:sp>
      <p:sp>
        <p:nvSpPr>
          <p:cNvPr id="308" name="Seta"/>
          <p:cNvSpPr/>
          <p:nvPr/>
        </p:nvSpPr>
        <p:spPr>
          <a:xfrm>
            <a:off x="4826203" y="3108960"/>
            <a:ext cx="1737360" cy="1005840"/>
          </a:xfrm>
          <a:custGeom>
            <a:avLst/>
            <a:gdLst/>
            <a:ahLst/>
            <a:cxnLst/>
            <a:rect l="0" t="0" r="r" b="b"/>
            <a:pathLst>
              <a:path w="1737360" h="1005840" fill="none">
                <a:moveTo>
                  <a:pt x="0" y="0"/>
                </a:moveTo>
                <a:lnTo>
                  <a:pt x="0" y="1005840"/>
                </a:lnTo>
                <a:lnTo>
                  <a:pt x="1737360" y="1005840"/>
                </a:lnTo>
              </a:path>
            </a:pathLst>
          </a:custGeom>
          <a:noFill/>
          <a:ln w="19050">
            <a:solidFill>
              <a:srgbClr val="6B6E70"/>
            </a:solidFill>
            <a:round/>
            <a:tailEnd type="triangle" w="med" len="med"/>
          </a:ln>
          <a:effectLst/>
        </p:spPr>
      </p:sp>
      <p:sp>
        <p:nvSpPr>
          <p:cNvPr id="309" name="Rótulo"/>
          <p:cNvSpPr txBox="1"/>
          <p:nvPr/>
        </p:nvSpPr>
        <p:spPr>
          <a:xfrm>
            <a:off x="4917643" y="3163824"/>
            <a:ext cx="45720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Não</a:t>
            </a:r>
          </a:p>
        </p:txBody>
      </p:sp>
    </p:spTree>
    <p:extLst>
      <p:ext uri="{BB962C8B-B14F-4D97-AF65-F5344CB8AC3E}">
        <p14:creationId xmlns:p14="http://schemas.microsoft.com/office/powerpoint/2010/main" val="4037054526"/>
      </p:ext>
    </p:extLst>
  </p:cSld>
  <p:clrMapOvr>
    <a:masterClrMapping/>
  </p:clrMapOvr>
  <p:timing>
    <p:tnLst>
      <p:par>
        <p:cTn id="1" dur="indefinite" restart="never" nodeType="tmRoot"/>
      </p:par>
    </p:tnLst>
  </p:timing>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Investigação não invasiva – Definições (DAC conhecida)</a:t>
            </a:r>
            <a:endParaRPr lang="pt-BR" dirty="0" sz="3200"/>
          </a:p>
        </p:txBody>
      </p:sp>
      <p:sp>
        <p:nvSpPr>
          <p:cNvPr id="3" name="Card"/>
          <p:cNvSpPr/>
          <p:nvPr/>
        </p:nvSpPr>
        <p:spPr>
          <a:xfrm>
            <a:off x="711403" y="1600000"/>
            <a:ext cx="5300000" cy="1900000"/>
          </a:xfrm>
          <a:prstGeom prst="rect">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aixa"/>
          <p:cNvSpPr/>
          <p:nvPr/>
        </p:nvSpPr>
        <p:spPr>
          <a:xfrm>
            <a:off x="711403" y="1600000"/>
            <a:ext cx="5300000" cy="38100"/>
          </a:xfrm>
          <a:prstGeom prst="rect">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ítulo do card"/>
          <p:cNvSpPr txBox="1"/>
          <p:nvPr/>
        </p:nvSpPr>
        <p:spPr>
          <a:xfrm>
            <a:off x="940003" y="1800000"/>
            <a:ext cx="4842800" cy="260000"/>
          </a:xfrm>
          <a:prstGeom prst="rect">
            <a:avLst/>
          </a:prstGeom>
          <a:noFill/>
        </p:spPr>
        <p:txBody>
          <a:bodyPr wrap="square" lIns="0" rIns="0" tIns="0" bIns="0" anchor="t">
            <a:spAutoFit/>
          </a:bodyPr>
          <a:lstStyle/>
          <a:p>
            <a:pPr algn="l"/>
            <a:r>
              <a:rPr sz="1500" b="0" i="0">
                <a:solidFill>
                  <a:srgbClr val="3B3F42"/>
                </a:solidFill>
                <a:latin typeface="Roboto Medium"/>
                <a:ea typeface="Roboto Medium"/>
                <a:cs typeface="Roboto Medium"/>
              </a:rPr>
              <a:t>DAC conhecida</a:t>
            </a:r>
          </a:p>
        </p:txBody>
      </p:sp>
      <p:sp>
        <p:nvSpPr>
          <p:cNvPr id="6" name="Corpo do card"/>
          <p:cNvSpPr txBox="1"/>
          <p:nvPr/>
        </p:nvSpPr>
        <p:spPr>
          <a:xfrm>
            <a:off x="940003" y="2200000"/>
            <a:ext cx="4842800" cy="1200000"/>
          </a:xfrm>
          <a:prstGeom prst="rect">
            <a:avLst/>
          </a:prstGeom>
          <a:noFill/>
        </p:spPr>
        <p:txBody>
          <a:bodyPr wrap="square" lIns="0" rIns="0" tIns="0" bIns="0" anchor="t">
            <a:spAutoFit/>
          </a:bodyPr>
          <a:lstStyle/>
          <a:p>
            <a:pPr algn="l">
              <a:lnSpc>
                <a:spcPct val="120000"/>
              </a:lnSpc>
              <a:spcAft>
                <a:spcPts val="600"/>
              </a:spcAft>
            </a:pPr>
            <a:r>
              <a:rPr sz="1300" b="0" i="0">
                <a:solidFill>
                  <a:srgbClr val="5F6468"/>
                </a:solidFill>
                <a:latin typeface="Roboto"/>
                <a:ea typeface="Roboto"/>
                <a:cs typeface="Roboto"/>
              </a:rPr>
              <a:t>• Obstrutiva (≥ 50%, ICP ou CRM prévia)</a:t>
            </a:r>
          </a:p>
          <a:p>
            <a:pPr algn="l">
              <a:lnSpc>
                <a:spcPct val="120000"/>
              </a:lnSpc>
              <a:spcAft>
                <a:spcPts val="600"/>
              </a:spcAft>
            </a:pPr>
            <a:r>
              <a:rPr sz="1300" b="0" i="0">
                <a:solidFill>
                  <a:srgbClr val="5F6468"/>
                </a:solidFill>
                <a:latin typeface="Roboto"/>
                <a:ea typeface="Roboto"/>
                <a:cs typeface="Roboto"/>
              </a:rPr>
              <a:t>• Não obstrutiva (DAC &lt; 50% em CATE ou angioTC e sem ICP ou CRM prévia)</a:t>
            </a:r>
          </a:p>
        </p:txBody>
      </p:sp>
      <p:sp>
        <p:nvSpPr>
          <p:cNvPr id="7" name="Card"/>
          <p:cNvSpPr/>
          <p:nvPr/>
        </p:nvSpPr>
        <p:spPr>
          <a:xfrm>
            <a:off x="6300000" y="1600000"/>
            <a:ext cx="5183035" cy="1900000"/>
          </a:xfrm>
          <a:prstGeom prst="rect">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ixa"/>
          <p:cNvSpPr/>
          <p:nvPr/>
        </p:nvSpPr>
        <p:spPr>
          <a:xfrm>
            <a:off x="6300000" y="1600000"/>
            <a:ext cx="5183035" cy="38100"/>
          </a:xfrm>
          <a:prstGeom prst="rect">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ítulo do card"/>
          <p:cNvSpPr txBox="1"/>
          <p:nvPr/>
        </p:nvSpPr>
        <p:spPr>
          <a:xfrm>
            <a:off x="6528600" y="1800000"/>
            <a:ext cx="4725835" cy="260000"/>
          </a:xfrm>
          <a:prstGeom prst="rect">
            <a:avLst/>
          </a:prstGeom>
          <a:noFill/>
        </p:spPr>
        <p:txBody>
          <a:bodyPr wrap="square" lIns="0" rIns="0" tIns="0" bIns="0" anchor="t">
            <a:spAutoFit/>
          </a:bodyPr>
          <a:lstStyle/>
          <a:p>
            <a:pPr algn="l"/>
            <a:r>
              <a:rPr sz="1500" b="0" i="0">
                <a:solidFill>
                  <a:srgbClr val="3B3F42"/>
                </a:solidFill>
                <a:latin typeface="Roboto Medium"/>
                <a:ea typeface="Roboto Medium"/>
                <a:cs typeface="Roboto Medium"/>
              </a:rPr>
              <a:t>Critérios de alto risco</a:t>
            </a:r>
          </a:p>
        </p:txBody>
      </p:sp>
      <p:sp>
        <p:nvSpPr>
          <p:cNvPr id="10" name="Corpo do card"/>
          <p:cNvSpPr txBox="1"/>
          <p:nvPr/>
        </p:nvSpPr>
        <p:spPr>
          <a:xfrm>
            <a:off x="6528600" y="2200000"/>
            <a:ext cx="4725835" cy="1200000"/>
          </a:xfrm>
          <a:prstGeom prst="rect">
            <a:avLst/>
          </a:prstGeom>
          <a:noFill/>
        </p:spPr>
        <p:txBody>
          <a:bodyPr wrap="square" lIns="0" rIns="0" tIns="0" bIns="0" anchor="t">
            <a:spAutoFit/>
          </a:bodyPr>
          <a:lstStyle/>
          <a:p>
            <a:pPr algn="l">
              <a:lnSpc>
                <a:spcPct val="120000"/>
              </a:lnSpc>
              <a:spcAft>
                <a:spcPts val="600"/>
              </a:spcAft>
            </a:pPr>
            <a:r>
              <a:rPr sz="1300" b="0" i="0">
                <a:solidFill>
                  <a:srgbClr val="5F6468"/>
                </a:solidFill>
                <a:latin typeface="Roboto"/>
                <a:ea typeface="Roboto"/>
                <a:cs typeface="Roboto"/>
              </a:rPr>
              <a:t>• TCE ≥ 50%, triarterial ≥ 70% ou FFR-CT ≤ 0.8 ou angina frequente ou isquemia moderada a importante</a:t>
            </a: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88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Diagnóstico – IAM com coronariografia normal (1/2)</a:t>
            </a:r>
            <a:endParaRPr lang="pt-BR" dirty="0" sz="3200"/>
          </a:p>
        </p:txBody>
      </p:sp>
      <p:sp>
        <p:nvSpPr>
          <p:cNvPr id="23" name="Legenda"/>
          <p:cNvSpPr txBox="1"/>
          <p:nvPr/>
        </p:nvSpPr>
        <p:spPr>
          <a:xfrm>
            <a:off x="711403" y="5029200"/>
            <a:ext cx="10771632" cy="420000"/>
          </a:xfrm>
          <a:prstGeom prst="rect">
            <a:avLst/>
          </a:prstGeom>
          <a:noFill/>
        </p:spPr>
        <p:txBody>
          <a:bodyPr wrap="square" lIns="0" rIns="0" tIns="0" bIns="0" anchor="t">
            <a:spAutoFit/>
          </a:bodyPr>
          <a:lstStyle/>
          <a:p>
            <a:pPr algn="l">
              <a:lnSpc>
                <a:spcPct val="110000"/>
              </a:lnSpc>
            </a:pPr>
            <a:r>
              <a:rPr sz="1200" b="0" i="0">
                <a:solidFill>
                  <a:srgbClr val="4E7C8B"/>
                </a:solidFill>
                <a:latin typeface="Roboto Medium"/>
                <a:ea typeface="Roboto Medium"/>
                <a:cs typeface="Roboto Medium"/>
              </a:rPr>
              <a:t>Figura 15 – </a:t>
            </a:r>
            <a:r>
              <a:rPr sz="1200" b="0" i="1">
                <a:solidFill>
                  <a:srgbClr val="737A7F"/>
                </a:solidFill>
                <a:latin typeface="Roboto"/>
                <a:ea typeface="Roboto"/>
                <a:cs typeface="Roboto"/>
              </a:rPr>
              <a:t>Fluxograma de diagnóstico em casos de infarto agudo do miocárdio com coronariografia normal. TEP: tromboembolismo pulmonar; DAC: doença arterial coronariana; RM: ressonância magnética; IVUS: ultrassonografia intravascular; OCT: tomografia de coerência óptica.</a:t>
            </a: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89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Fim/Início"/>
          <p:cNvSpPr/>
          <p:nvPr/>
        </p:nvSpPr>
        <p:spPr>
          <a:xfrm>
            <a:off x="4542739" y="1463040"/>
            <a:ext cx="3108960" cy="603504"/>
          </a:xfrm>
          <a:prstGeom prst="roundRect">
            <a:avLst>
              <a:gd name="adj" fmla="val 50000"/>
            </a:avLst>
          </a:prstGeom>
          <a:solidFill>
            <a:srgbClr val="4E7C8B"/>
          </a:solidFill>
          <a:ln>
            <a:noFill/>
          </a:ln>
          <a:effectLst/>
        </p:spPr>
        <p:txBody>
          <a:bodyPr rtlCol="0" anchor="ctr" wrap="square" lIns="91440" rIns="91440" tIns="45720" bIns="45720"/>
          <a:lstStyle/>
          <a:p>
            <a:pPr algn="ctr"/>
            <a:r>
              <a:rPr lang="pt-BR" sz="1300" b="0" i="0" dirty="0">
                <a:solidFill>
                  <a:srgbClr val="FBFCFC"/>
                </a:solidFill>
                <a:latin typeface="Roboto Medium"/>
                <a:ea typeface="Roboto Medium"/>
                <a:cs typeface="Roboto Medium"/>
              </a:rPr>
              <a:t>Troponina elevada</a:t>
            </a:r>
          </a:p>
        </p:txBody>
      </p:sp>
      <p:sp>
        <p:nvSpPr>
          <p:cNvPr id="302" name="Seta"/>
          <p:cNvSpPr/>
          <p:nvPr/>
        </p:nvSpPr>
        <p:spPr>
          <a:xfrm>
            <a:off x="6097219" y="2066544"/>
            <a:ext cx="1" cy="548640"/>
          </a:xfrm>
          <a:custGeom>
            <a:avLst/>
            <a:gdLst/>
            <a:ahLst/>
            <a:cxnLst/>
            <a:rect l="0" t="0" r="r" b="b"/>
            <a:pathLst>
              <a:path w="1" h="548640" fill="none">
                <a:moveTo>
                  <a:pt x="0" y="0"/>
                </a:moveTo>
                <a:lnTo>
                  <a:pt x="0" y="548640"/>
                </a:lnTo>
              </a:path>
            </a:pathLst>
          </a:custGeom>
          <a:noFill/>
          <a:ln w="19050">
            <a:solidFill>
              <a:srgbClr val="6B6E70"/>
            </a:solidFill>
            <a:round/>
            <a:tailEnd type="triangle" w="med" len="med"/>
          </a:ln>
          <a:effectLst/>
        </p:spPr>
      </p:sp>
      <p:sp>
        <p:nvSpPr>
          <p:cNvPr id="303" name="Etapa"/>
          <p:cNvSpPr/>
          <p:nvPr/>
        </p:nvSpPr>
        <p:spPr>
          <a:xfrm>
            <a:off x="4542739" y="2615184"/>
            <a:ext cx="3108960" cy="603504"/>
          </a:xfrm>
          <a:prstGeom prst="rect">
            <a:avLst/>
          </a:prstGeom>
          <a:solidFill>
            <a:srgbClr val="F2F4F5"/>
          </a:solidFill>
          <a:ln w="12700">
            <a:solidFill>
              <a:srgbClr val="6E9DAB"/>
            </a:solidFill>
          </a:ln>
          <a:effectLst/>
        </p:spPr>
        <p:txBody>
          <a:bodyPr rtlCol="0" anchor="ctr" wrap="square" lIns="91440" rIns="91440" tIns="45720" bIns="45720"/>
          <a:lstStyle/>
          <a:p>
            <a:pPr algn="ctr"/>
            <a:r>
              <a:rPr lang="pt-BR" sz="1300" b="0" i="0" dirty="0">
                <a:solidFill>
                  <a:srgbClr val="3B3F42"/>
                </a:solidFill>
                <a:latin typeface="Roboto Medium"/>
                <a:ea typeface="Roboto Medium"/>
                <a:cs typeface="Roboto Medium"/>
              </a:rPr>
              <a:t>Excluir alternativos</a:t>
            </a:r>
          </a:p>
        </p:txBody>
      </p:sp>
      <p:sp>
        <p:nvSpPr>
          <p:cNvPr id="304" name="Etapa"/>
          <p:cNvSpPr/>
          <p:nvPr/>
        </p:nvSpPr>
        <p:spPr>
          <a:xfrm>
            <a:off x="2622499" y="3995928"/>
            <a:ext cx="3108960" cy="603504"/>
          </a:xfrm>
          <a:prstGeom prst="rect">
            <a:avLst/>
          </a:prstGeom>
          <a:solidFill>
            <a:srgbClr val="F2F4F5"/>
          </a:solidFill>
          <a:ln w="12700">
            <a:solidFill>
              <a:srgbClr val="6E9DAB"/>
            </a:solidFill>
          </a:ln>
          <a:effectLst/>
        </p:spPr>
        <p:txBody>
          <a:bodyPr rtlCol="0" anchor="ctr" wrap="square" lIns="91440" rIns="91440" tIns="45720" bIns="45720"/>
          <a:lstStyle/>
          <a:p>
            <a:pPr algn="ctr"/>
            <a:r>
              <a:rPr lang="pt-BR" sz="1300" b="0" i="0" dirty="0">
                <a:solidFill>
                  <a:srgbClr val="3B3F42"/>
                </a:solidFill>
                <a:latin typeface="Roboto Medium"/>
                <a:ea typeface="Roboto Medium"/>
                <a:cs typeface="Roboto Medium"/>
              </a:rPr>
              <a:t>Rever angiografia</a:t>
            </a:r>
          </a:p>
        </p:txBody>
      </p:sp>
      <p:sp>
        <p:nvSpPr>
          <p:cNvPr id="305" name="Etapa"/>
          <p:cNvSpPr/>
          <p:nvPr/>
        </p:nvSpPr>
        <p:spPr>
          <a:xfrm>
            <a:off x="6462979" y="3995928"/>
            <a:ext cx="3108960" cy="603504"/>
          </a:xfrm>
          <a:prstGeom prst="rect">
            <a:avLst/>
          </a:prstGeom>
          <a:solidFill>
            <a:srgbClr val="F2F4F5"/>
          </a:solidFill>
          <a:ln w="12700">
            <a:solidFill>
              <a:srgbClr val="6E9DAB"/>
            </a:solidFill>
          </a:ln>
          <a:effectLst/>
        </p:spPr>
        <p:txBody>
          <a:bodyPr rtlCol="0" anchor="ctr" wrap="square" lIns="91440" rIns="91440" tIns="45720" bIns="45720"/>
          <a:lstStyle/>
          <a:p>
            <a:pPr algn="ctr"/>
            <a:r>
              <a:rPr lang="pt-BR" sz="1300" b="0" i="0" dirty="0">
                <a:solidFill>
                  <a:srgbClr val="3B3F42"/>
                </a:solidFill>
                <a:latin typeface="Roboto Medium"/>
                <a:ea typeface="Roboto Medium"/>
                <a:cs typeface="Roboto Medium"/>
              </a:rPr>
              <a:t>Rever função VE</a:t>
            </a:r>
          </a:p>
        </p:txBody>
      </p:sp>
      <p:sp>
        <p:nvSpPr>
          <p:cNvPr id="306" name="Seta"/>
          <p:cNvSpPr/>
          <p:nvPr/>
        </p:nvSpPr>
        <p:spPr>
          <a:xfrm>
            <a:off x="4176979" y="3218688"/>
            <a:ext cx="1920240" cy="777240"/>
          </a:xfrm>
          <a:custGeom>
            <a:avLst/>
            <a:gdLst/>
            <a:ahLst/>
            <a:cxnLst/>
            <a:rect l="0" t="0" r="r" b="b"/>
            <a:pathLst>
              <a:path w="1920240" h="777240" fill="none">
                <a:moveTo>
                  <a:pt x="1920240" y="0"/>
                </a:moveTo>
                <a:lnTo>
                  <a:pt x="1920240" y="384048"/>
                </a:lnTo>
                <a:lnTo>
                  <a:pt x="0" y="384048"/>
                </a:lnTo>
                <a:lnTo>
                  <a:pt x="0" y="777240"/>
                </a:lnTo>
              </a:path>
            </a:pathLst>
          </a:custGeom>
          <a:noFill/>
          <a:ln w="19050">
            <a:solidFill>
              <a:srgbClr val="6B6E70"/>
            </a:solidFill>
            <a:round/>
            <a:tailEnd type="triangle" w="med" len="med"/>
          </a:ln>
          <a:effectLst/>
        </p:spPr>
      </p:sp>
      <p:sp>
        <p:nvSpPr>
          <p:cNvPr id="307" name="Seta"/>
          <p:cNvSpPr/>
          <p:nvPr/>
        </p:nvSpPr>
        <p:spPr>
          <a:xfrm>
            <a:off x="6097219" y="3218688"/>
            <a:ext cx="1920240" cy="777240"/>
          </a:xfrm>
          <a:custGeom>
            <a:avLst/>
            <a:gdLst/>
            <a:ahLst/>
            <a:cxnLst/>
            <a:rect l="0" t="0" r="r" b="b"/>
            <a:pathLst>
              <a:path w="1920240" h="777240" fill="none">
                <a:moveTo>
                  <a:pt x="0" y="0"/>
                </a:moveTo>
                <a:lnTo>
                  <a:pt x="0" y="384048"/>
                </a:lnTo>
                <a:lnTo>
                  <a:pt x="1920240" y="384048"/>
                </a:lnTo>
                <a:lnTo>
                  <a:pt x="1920240" y="777240"/>
                </a:lnTo>
              </a:path>
            </a:pathLst>
          </a:custGeom>
          <a:noFill/>
          <a:ln w="19050">
            <a:solidFill>
              <a:srgbClr val="6B6E70"/>
            </a:solidFill>
            <a:round/>
            <a:tailEnd type="triangle" w="med" len="med"/>
          </a:ln>
          <a:effectLst/>
        </p:spPr>
      </p:sp>
      <p:sp>
        <p:nvSpPr>
          <p:cNvPr id="308" name="Rótulo"/>
          <p:cNvSpPr txBox="1"/>
          <p:nvPr/>
        </p:nvSpPr>
        <p:spPr>
          <a:xfrm>
            <a:off x="6225235" y="3291840"/>
            <a:ext cx="137160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Primeira etapa</a:t>
            </a:r>
          </a:p>
        </p:txBody>
      </p:sp>
    </p:spTree>
    <p:extLst>
      <p:ext uri="{BB962C8B-B14F-4D97-AF65-F5344CB8AC3E}">
        <p14:creationId xmlns:p14="http://schemas.microsoft.com/office/powerpoint/2010/main" val="306438942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29 – Investigação adicional de pacientes com injúria miocárdica e angiografia normal ou com lesões coronarianas &lt; 50%</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91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640000"/>
          <a:ext cx="10771632" cy="1760606"/>
        </p:xfrm>
        <a:graphic>
          <a:graphicData uri="http://schemas.openxmlformats.org/drawingml/2006/table">
            <a:tbl>
              <a:tblPr firstRow="1"/>
              <a:tblGrid>
                <a:gridCol w="7571632"/>
                <a:gridCol w="1700000"/>
                <a:gridCol w="1500000"/>
              </a:tblGrid>
              <a:tr h="519904">
                <a:tc>
                  <a:txBody>
                    <a:bodyPr/>
                    <a:lstStyle/>
                    <a:p>
                      <a:pPr algn="l" marL="0" indent="0">
                        <a:lnSpc>
                          <a:spcPct val="100000"/>
                        </a:lnSpc>
                        <a:spcBef>
                          <a:spcPts val="0"/>
                        </a:spcBef>
                        <a:spcAft>
                          <a:spcPts val="0"/>
                        </a:spcAft>
                        <a:buNone/>
                      </a:pP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Classe de recomendação</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Nível de evidência</a:t>
                      </a:r>
                      <a:endParaRPr lang="pt-BR" sz="1300" dirty="0"/>
                    </a:p>
                  </a:txBody>
                  <a:tcPr marL="91440" marR="91440" marT="54864" marB="54864" anchor="ctr">
                    <a:lnL w="0">
                      <a:noFill/>
                    </a:lnL>
                    <a:lnR w="0">
                      <a:noFill/>
                    </a:lnR>
                    <a:lnT w="0">
                      <a:noFill/>
                    </a:lnT>
                    <a:lnB w="0">
                      <a:noFill/>
                    </a:lnB>
                    <a:solidFill>
                      <a:srgbClr val="4E7C8B"/>
                    </a:solidFill>
                  </a:tcPr>
                </a:tc>
              </a:tr>
              <a:tr h="72079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Confirmar se, de fato, trata-se de caso de TINOCA (rever imagem da angiografia em busca de obstrução, dissecção, embolia, trombo coronário; checar outros exames em busca de diagnósticos diferenciais como Takotsubo).</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r>
              <a:tr h="519904">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Solicitar ressonância magnética cardíaca e outros exames adicionais conforme suspeita clínica (ex.: imagem intracoronária e/ou testes para avaliação de espasmo ou doença microvascular).</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IIa</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C</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r>
            </a:tbl>
          </a:graphicData>
        </a:graphic>
      </p:graphicFrame>
    </p:spTree>
    <p:extLst>
      <p:ext uri="{BB962C8B-B14F-4D97-AF65-F5344CB8AC3E}">
        <p14:creationId xmlns:p14="http://schemas.microsoft.com/office/powerpoint/2010/main" val="294536453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30 – Condições clínicas em que o teste de esforço não está indicado na unidade de emergência (1/2)</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92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640000"/>
          <a:ext cx="10771632" cy="1819350"/>
        </p:xfrm>
        <a:graphic>
          <a:graphicData uri="http://schemas.openxmlformats.org/drawingml/2006/table">
            <a:tbl>
              <a:tblPr firstRow="1"/>
              <a:tblGrid>
                <a:gridCol w="10771632"/>
              </a:tblGrid>
              <a:tr h="303225">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TE contraindicado nas seguintes situações:</a:t>
                      </a:r>
                      <a:endParaRPr lang="pt-BR" sz="1300" dirty="0"/>
                    </a:p>
                  </a:txBody>
                  <a:tcPr marL="91440" marR="91440" marT="54864" marB="54864" anchor="ctr">
                    <a:lnL w="0">
                      <a:noFill/>
                    </a:lnL>
                    <a:lnR w="0">
                      <a:noFill/>
                    </a:lnR>
                    <a:lnT w="0">
                      <a:noFill/>
                    </a:lnT>
                    <a:lnB w="0">
                      <a:noFill/>
                    </a:lnB>
                    <a:solidFill>
                      <a:srgbClr val="4E7C8B"/>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Dor torácica claramente de origem traumática</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Dissecção aguda da aorta</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Embolia pulmonar aguda</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Pericardites e miocardites</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Dor torácica associada a estado febril agudo</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bl>
          </a:graphicData>
        </a:graphic>
      </p:graphicFrame>
      <p:sp>
        <p:nvSpPr>
          <p:cNvPr id="7" name="Nota"/>
          <p:cNvSpPr txBox="1"/>
          <p:nvPr/>
        </p:nvSpPr>
        <p:spPr>
          <a:xfrm>
            <a:off x="711403" y="3529350"/>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HAS: hipertensão arterial sistêmica; PA: pressão arterial; TE: teste de esforço.</a:t>
            </a:r>
            <a:endParaRPr lang="pt-BR" sz="1200" dirty="0"/>
          </a:p>
        </p:txBody>
      </p:sp>
    </p:spTree>
    <p:extLst>
      <p:ext uri="{BB962C8B-B14F-4D97-AF65-F5344CB8AC3E}">
        <p14:creationId xmlns:p14="http://schemas.microsoft.com/office/powerpoint/2010/main" val="164090094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31 – Alterações no eletrocardiograma de base que limitam a acurácia diagnóstica do teste de esforço para isquemia miocárdica (1/2)</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94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2150000"/>
          <a:ext cx="10771632" cy="1516125"/>
        </p:xfrm>
        <a:graphic>
          <a:graphicData uri="http://schemas.openxmlformats.org/drawingml/2006/table">
            <a:tbl>
              <a:tblPr firstRow="1"/>
              <a:tblGrid>
                <a:gridCol w="10771632"/>
              </a:tblGrid>
              <a:tr h="303225">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Limitam a acurácia do TE:</a:t>
                      </a:r>
                      <a:endParaRPr lang="pt-BR" sz="1300" dirty="0"/>
                    </a:p>
                  </a:txBody>
                  <a:tcPr marL="91440" marR="91440" marT="54864" marB="54864" anchor="ctr">
                    <a:lnL w="0">
                      <a:noFill/>
                    </a:lnL>
                    <a:lnR w="0">
                      <a:noFill/>
                    </a:lnR>
                    <a:lnT w="0">
                      <a:noFill/>
                    </a:lnT>
                    <a:lnB w="0">
                      <a:noFill/>
                    </a:lnB>
                    <a:solidFill>
                      <a:srgbClr val="4E7C8B"/>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Bloqueio de ramo esquerdo</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Sobrecarga ventricular esquerda</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Sobrecarga ventricular direita</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Estimulação cardíaca artificial</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bl>
          </a:graphicData>
        </a:graphic>
      </p:graphicFrame>
      <p:sp>
        <p:nvSpPr>
          <p:cNvPr id="7" name="Nota"/>
          <p:cNvSpPr txBox="1"/>
          <p:nvPr/>
        </p:nvSpPr>
        <p:spPr>
          <a:xfrm>
            <a:off x="711403" y="3736125"/>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TE: teste de esforço.</a:t>
            </a:r>
            <a:endParaRPr lang="pt-BR" sz="1200" dirty="0"/>
          </a:p>
        </p:txBody>
      </p:sp>
    </p:spTree>
    <p:extLst>
      <p:ext uri="{BB962C8B-B14F-4D97-AF65-F5344CB8AC3E}">
        <p14:creationId xmlns:p14="http://schemas.microsoft.com/office/powerpoint/2010/main" val="120868161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32 – Indicações de teste ergométrico na dor torácica aguda</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96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417320"/>
          <a:ext cx="10771632" cy="3084084"/>
        </p:xfrm>
        <a:graphic>
          <a:graphicData uri="http://schemas.openxmlformats.org/drawingml/2006/table">
            <a:tbl>
              <a:tblPr firstRow="1"/>
              <a:tblGrid>
                <a:gridCol w="7571632"/>
                <a:gridCol w="1700000"/>
                <a:gridCol w="1500000"/>
              </a:tblGrid>
              <a:tr h="319010">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Indicações de teste ergométrico na dor torácica aguda</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endParaRPr lang="pt-BR" sz="1300" dirty="0"/>
                    </a:p>
                  </a:txBody>
                  <a:tcPr marL="91440" marR="91440" marT="54864" marB="54864" anchor="ctr">
                    <a:lnL w="0">
                      <a:noFill/>
                    </a:lnL>
                    <a:lnR w="0">
                      <a:noFill/>
                    </a:lnR>
                    <a:lnT w="0">
                      <a:noFill/>
                    </a:lnT>
                    <a:lnB w="0">
                      <a:noFill/>
                    </a:lnB>
                    <a:solidFill>
                      <a:srgbClr val="4E7C8B"/>
                    </a:solidFill>
                  </a:tcPr>
                </a:tc>
              </a:tr>
              <a:tr h="112258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O teste ergométrico pode ser recomendado para indivíduos com dor torácica aguda, em que haja suspeita clínica de isquemia miocárdica com probabilidade intermediária de DAC (ou seja, que não tenham sido classificados como baixa ou alta probabilidade de DAC), com ECG e biomarcadores de injúria miocárdica normais e que sejam elegíveis para a realização do esforço físico (idealmente associado a métodos de imagem).</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IIa</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r>
              <a:tr h="72079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O tempo para a realização do exame deve ser o tempo suficiente para afastar IAM com segurança (varia conforme o período de início da dor torácica e o tipo de biomarcador utilizado).</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IIa</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r>
              <a:tr h="921691">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Em pacientes com dor torácica aguda de suposta origem isquêmica e probabilidade intermediária, admitidos na unidade de emergência com um TE máximo negativo para isquemia realizado nos últimos 12 meses, priorizar outro exame conforme suspeita clínica (não repetir TE*).</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IIa</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r>
            </a:tbl>
          </a:graphicData>
        </a:graphic>
      </p:graphicFrame>
      <p:sp>
        <p:nvSpPr>
          <p:cNvPr id="7" name="Nota"/>
          <p:cNvSpPr txBox="1"/>
          <p:nvPr/>
        </p:nvSpPr>
        <p:spPr>
          <a:xfrm>
            <a:off x="711403" y="4561404"/>
            <a:ext cx="10771632" cy="376616"/>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DAC: doença arterial coronariana; ECG: eletrocardiograma; IAM: infarto agudo do miocárdio; TE: teste de esforço. *Desde que não haja mudança relevante em relação ao quadro clínico pregresso.</a:t>
            </a:r>
            <a:endParaRPr lang="pt-BR" sz="1200" dirty="0"/>
          </a:p>
        </p:txBody>
      </p:sp>
    </p:spTree>
    <p:extLst>
      <p:ext uri="{BB962C8B-B14F-4D97-AF65-F5344CB8AC3E}">
        <p14:creationId xmlns:p14="http://schemas.microsoft.com/office/powerpoint/2010/main" val="27135642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33 – Indicações de ecocardiograma na dor torácica aguda</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97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417320"/>
          <a:ext cx="10771632" cy="3485871"/>
        </p:xfrm>
        <a:graphic>
          <a:graphicData uri="http://schemas.openxmlformats.org/drawingml/2006/table">
            <a:tbl>
              <a:tblPr firstRow="1"/>
              <a:tblGrid>
                <a:gridCol w="7571632"/>
                <a:gridCol w="1700000"/>
                <a:gridCol w="1500000"/>
              </a:tblGrid>
              <a:tr h="519904">
                <a:tc>
                  <a:txBody>
                    <a:bodyPr/>
                    <a:lstStyle/>
                    <a:p>
                      <a:pPr algn="l" marL="0" indent="0">
                        <a:lnSpc>
                          <a:spcPct val="100000"/>
                        </a:lnSpc>
                        <a:spcBef>
                          <a:spcPts val="0"/>
                        </a:spcBef>
                        <a:spcAft>
                          <a:spcPts val="0"/>
                        </a:spcAft>
                        <a:buNone/>
                      </a:pP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Classe de recomendação</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Nível de evidência</a:t>
                      </a:r>
                      <a:endParaRPr lang="pt-BR" sz="1300" dirty="0"/>
                    </a:p>
                  </a:txBody>
                  <a:tcPr marL="91440" marR="91440" marT="54864" marB="54864" anchor="ctr">
                    <a:lnL w="0">
                      <a:noFill/>
                    </a:lnL>
                    <a:lnR w="0">
                      <a:noFill/>
                    </a:lnR>
                    <a:lnT w="0">
                      <a:noFill/>
                    </a:lnT>
                    <a:lnB w="0">
                      <a:noFill/>
                    </a:lnB>
                    <a:solidFill>
                      <a:srgbClr val="4E7C8B"/>
                    </a:solidFill>
                  </a:tcPr>
                </a:tc>
              </a:tr>
              <a:tr h="921691">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Nos pacientes com dor torácica na sala de emergência, nos quais o eletrocardiograma e a troponina sejam inconclusivos e persiste a suspeita, um ecocardiograma transtorácico em repouso, com ou sem agentes de realce miocárdico, deve ser recomendado em até 12 horas do início da dor, a fim avaliar a alterações isquêmicas.</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r>
              <a:tr h="112258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Nos pacientes com dor torácica na sala de emergência, nos quais já se exclui a possibilidade de necrose e de isquemia miocárdica de repouso, por ausência de sinais ecocardiográficos ou eletrocardiográficos de isquemia, um exame sob estresse indutor de isquemia miocárdica, farmacológico ou sob esforço pode ser utilizado antes da alta, quando não houver segurança para investigação ambulatorial.</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r>
              <a:tr h="921691">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Uso do ecocardiograma transtorácico para o diagnóstico de pericardite aguda naqueles pacientes com dor torácica na sala de emergência, associada a outros achados, como moléstia febril aguda, com ou sem queda do estado geral, e característica fásica respiratória dessa dor, com ou sem alterações características do segmento ST/T ao eletrocardiograma de repouso.</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r>
            </a:tbl>
          </a:graphicData>
        </a:graphic>
      </p:graphicFrame>
    </p:spTree>
    <p:extLst>
      <p:ext uri="{BB962C8B-B14F-4D97-AF65-F5344CB8AC3E}">
        <p14:creationId xmlns:p14="http://schemas.microsoft.com/office/powerpoint/2010/main" val="26525209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34 – Medicina nuclear em cardiologia</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98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6" name="Subtítulo"/>
          <p:cNvSpPr txBox="1"/>
          <p:nvPr/>
        </p:nvSpPr>
        <p:spPr>
          <a:xfrm>
            <a:off x="711403" y="1040000"/>
            <a:ext cx="10771632" cy="406334"/>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300" b="0" i="0" dirty="0">
                <a:solidFill>
                  <a:srgbClr val="737A7F"/>
                </a:solidFill>
                <a:latin typeface="Roboto"/>
                <a:ea typeface="Roboto"/>
                <a:cs typeface="Roboto"/>
              </a:rPr>
              <a:t>Tabela 34 – Recomendações para uso das técnicas de medicina nuclear em cardiologia em pacientes com dor torácica aguda na emergência</a:t>
            </a:r>
            <a:endParaRPr lang="pt-BR" sz="1300" dirty="0"/>
          </a:p>
        </p:txBody>
      </p:sp>
      <p:graphicFrame>
        <p:nvGraphicFramePr>
          <p:cNvPr id="7" name="Tabela"/>
          <p:cNvGraphicFramePr>
            <a:graphicFrameLocks noGrp="1"/>
          </p:cNvGraphicFramePr>
          <p:nvPr/>
        </p:nvGraphicFramePr>
        <p:xfrm>
          <a:off x="711403" y="1640000"/>
          <a:ext cx="10771632" cy="3403095"/>
        </p:xfrm>
        <a:graphic>
          <a:graphicData uri="http://schemas.openxmlformats.org/drawingml/2006/table">
            <a:tbl>
              <a:tblPr firstRow="1"/>
              <a:tblGrid>
                <a:gridCol w="7571632"/>
                <a:gridCol w="1700000"/>
                <a:gridCol w="1500000"/>
              </a:tblGrid>
              <a:tr h="519904">
                <a:tc>
                  <a:txBody>
                    <a:bodyPr/>
                    <a:lstStyle/>
                    <a:p>
                      <a:pPr algn="l" marL="0" indent="0">
                        <a:lnSpc>
                          <a:spcPct val="100000"/>
                        </a:lnSpc>
                        <a:spcBef>
                          <a:spcPts val="0"/>
                        </a:spcBef>
                        <a:spcAft>
                          <a:spcPts val="0"/>
                        </a:spcAft>
                        <a:buNone/>
                      </a:pP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Classe de recomendação</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Nível de evidência</a:t>
                      </a:r>
                      <a:endParaRPr lang="pt-BR" sz="1300" dirty="0"/>
                    </a:p>
                  </a:txBody>
                  <a:tcPr marL="91440" marR="91440" marT="54864" marB="54864" anchor="ctr">
                    <a:lnL w="0">
                      <a:noFill/>
                    </a:lnL>
                    <a:lnR w="0">
                      <a:noFill/>
                    </a:lnR>
                    <a:lnT w="0">
                      <a:noFill/>
                    </a:lnT>
                    <a:lnB w="0">
                      <a:noFill/>
                    </a:lnB>
                    <a:solidFill>
                      <a:srgbClr val="4E7C8B"/>
                    </a:solidFill>
                  </a:tcPr>
                </a:tc>
              </a:tr>
              <a:tr h="519904">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Para pacientes de risco intermediário com dor torácica aguda e sem DAC conhecida, o uso do PET/SPECT de estresse é útil para o diagnóstico de isquemia miocárdica.</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r>
              <a:tr h="921691">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Para pacientes com risco intermediário com dor torácica aguda presente ou até em 2 horas do desaparecimento da dor e com marcadores de injúria miocárdica iniciais negativos, é útil a realização de administração do radiotraçador durante a dor torácica para afastar isquemia miocárdica.</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r>
              <a:tr h="72079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Para pacientes de risco intermediário com dor torácica aguda e DAC conhecida, que apresentam novos sintomas ou piora dos sintomas, PET/SPECT de estresse pode ser considerada para avaliação de isquemia miocárdica.</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IIa</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r>
              <a:tr h="72079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Para pacientes de risco intermediário, com dor torácica aguda e sem DAC conhecida, com angiografia (invasiva ou não invasiva) inconclusiva, a realização de PET/SPECT de estresse pode ser útil para o diagnóstico de isquemia miocárdica.</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IIa</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C</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r>
            </a:tbl>
          </a:graphicData>
        </a:graphic>
      </p:graphicFrame>
      <p:sp>
        <p:nvSpPr>
          <p:cNvPr id="8" name="Nota"/>
          <p:cNvSpPr txBox="1"/>
          <p:nvPr/>
        </p:nvSpPr>
        <p:spPr>
          <a:xfrm>
            <a:off x="711403" y="5103095"/>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DAC: doença arterial coronariana.</a:t>
            </a:r>
            <a:endParaRPr lang="pt-BR" sz="1200" dirty="0"/>
          </a:p>
        </p:txBody>
      </p:sp>
    </p:spTree>
    <p:extLst>
      <p:ext uri="{BB962C8B-B14F-4D97-AF65-F5344CB8AC3E}">
        <p14:creationId xmlns:p14="http://schemas.microsoft.com/office/powerpoint/2010/main" val="2017624770"/>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36 – Recomendações da angiotomografia das artérias coronárias na suspeita de síndrome coronariana aguda</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99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640000"/>
          <a:ext cx="10771632" cy="2197732"/>
        </p:xfrm>
        <a:graphic>
          <a:graphicData uri="http://schemas.openxmlformats.org/drawingml/2006/table">
            <a:tbl>
              <a:tblPr firstRow="1"/>
              <a:tblGrid>
                <a:gridCol w="7571632"/>
                <a:gridCol w="1700000"/>
                <a:gridCol w="1500000"/>
              </a:tblGrid>
              <a:tr h="519904">
                <a:tc>
                  <a:txBody>
                    <a:bodyPr/>
                    <a:lstStyle/>
                    <a:p>
                      <a:pPr algn="l" marL="0" indent="0">
                        <a:lnSpc>
                          <a:spcPct val="100000"/>
                        </a:lnSpc>
                        <a:spcBef>
                          <a:spcPts val="0"/>
                        </a:spcBef>
                        <a:spcAft>
                          <a:spcPts val="0"/>
                        </a:spcAft>
                        <a:buNone/>
                      </a:pP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Classe de recomendação</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Nível de evidência</a:t>
                      </a:r>
                      <a:endParaRPr lang="pt-BR" sz="1300" dirty="0"/>
                    </a:p>
                  </a:txBody>
                  <a:tcPr marL="91440" marR="91440" marT="54864" marB="54864" anchor="ctr">
                    <a:lnL w="0">
                      <a:noFill/>
                    </a:lnL>
                    <a:lnR w="0">
                      <a:noFill/>
                    </a:lnR>
                    <a:lnT w="0">
                      <a:noFill/>
                    </a:lnT>
                    <a:lnB w="0">
                      <a:noFill/>
                    </a:lnB>
                    <a:solidFill>
                      <a:srgbClr val="4E7C8B"/>
                    </a:solidFill>
                  </a:tcPr>
                </a:tc>
              </a:tr>
              <a:tr h="72079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Avaliação de pacientes com suspeita de SCA de risco baixo ou intermediário com ECG normal ou não diagnóstico e marcadores de injúria miocárdica normais ou alterados, porém sem definição de infarto miocárdico*.</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A</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r>
              <a:tr h="319010">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Avaliação de pacientes com dor torácica aguda pela técnica do descarte triplo (</a:t>
                      </a:r>
                      <a:r>
                        <a:rPr lang="pt-BR" sz="1300" b="0" i="1" dirty="0">
                          <a:solidFill>
                            <a:srgbClr val="5F6468"/>
                          </a:solidFill>
                          <a:latin typeface="Roboto"/>
                          <a:ea typeface="Roboto"/>
                          <a:cs typeface="Roboto"/>
                        </a:rPr>
                        <a:t>triple rule-out</a:t>
                      </a:r>
                      <a:r>
                        <a:rPr lang="pt-BR" sz="1300" b="0" i="0" dirty="0">
                          <a:solidFill>
                            <a:srgbClr val="5F6468"/>
                          </a:solidFill>
                          <a:latin typeface="Roboto"/>
                          <a:ea typeface="Roboto"/>
                          <a:cs typeface="Roboto"/>
                        </a:rPr>
                        <a:t>).</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IIb</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r>
              <a:tr h="319010">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Avaliação de pacientes com suspeita de SCA e critérios de risco alto.</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III</a:t>
                      </a:r>
                      <a:endParaRPr lang="pt-BR" sz="1300" dirty="0"/>
                    </a:p>
                  </a:txBody>
                  <a:tcPr marL="91440" marR="91440" marT="54864" marB="54864" anchor="ctr">
                    <a:lnL w="0">
                      <a:noFill/>
                    </a:lnL>
                    <a:lnR w="0">
                      <a:noFill/>
                    </a:lnR>
                    <a:lnT w="0">
                      <a:noFill/>
                    </a:lnT>
                    <a:lnB w="12700">
                      <a:solidFill>
                        <a:srgbClr val="FBFCFC"/>
                      </a:solidFill>
                    </a:lnB>
                    <a:solidFill>
                      <a:srgbClr val="B5533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a:t>
                      </a:r>
                      <a:endParaRPr lang="pt-BR" sz="1300" dirty="0"/>
                    </a:p>
                  </a:txBody>
                  <a:tcPr marL="91440" marR="91440" marT="54864" marB="54864" anchor="ctr">
                    <a:lnL w="0">
                      <a:noFill/>
                    </a:lnL>
                    <a:lnR w="0">
                      <a:noFill/>
                    </a:lnR>
                    <a:lnT w="0">
                      <a:noFill/>
                    </a:lnT>
                    <a:lnB w="12700">
                      <a:solidFill>
                        <a:srgbClr val="FBFCFC"/>
                      </a:solidFill>
                    </a:lnB>
                    <a:solidFill>
                      <a:srgbClr val="B5533C"/>
                    </a:solidFill>
                  </a:tcPr>
                </a:tc>
              </a:tr>
              <a:tr h="319010">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Avaliação de pacientes com diagnóstico definitivo de infarto do miocárdio</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III</a:t>
                      </a:r>
                      <a:endParaRPr lang="pt-BR" sz="1300" dirty="0"/>
                    </a:p>
                  </a:txBody>
                  <a:tcPr marL="91440" marR="91440" marT="54864" marB="54864" anchor="ctr">
                    <a:lnL w="0">
                      <a:noFill/>
                    </a:lnL>
                    <a:lnR w="0">
                      <a:noFill/>
                    </a:lnR>
                    <a:lnT w="0">
                      <a:noFill/>
                    </a:lnT>
                    <a:lnB w="12700">
                      <a:solidFill>
                        <a:srgbClr val="FBFCFC"/>
                      </a:solidFill>
                    </a:lnB>
                    <a:solidFill>
                      <a:srgbClr val="B5533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a:t>
                      </a:r>
                      <a:endParaRPr lang="pt-BR" sz="1300" dirty="0"/>
                    </a:p>
                  </a:txBody>
                  <a:tcPr marL="91440" marR="91440" marT="54864" marB="54864" anchor="ctr">
                    <a:lnL w="0">
                      <a:noFill/>
                    </a:lnL>
                    <a:lnR w="0">
                      <a:noFill/>
                    </a:lnR>
                    <a:lnT w="0">
                      <a:noFill/>
                    </a:lnT>
                    <a:lnB w="12700">
                      <a:solidFill>
                        <a:srgbClr val="FBFCFC"/>
                      </a:solidFill>
                    </a:lnB>
                    <a:solidFill>
                      <a:srgbClr val="B5533C"/>
                    </a:solidFill>
                  </a:tcPr>
                </a:tc>
              </a:tr>
            </a:tbl>
          </a:graphicData>
        </a:graphic>
      </p:graphicFrame>
      <p:sp>
        <p:nvSpPr>
          <p:cNvPr id="7" name="Nota"/>
          <p:cNvSpPr txBox="1"/>
          <p:nvPr/>
        </p:nvSpPr>
        <p:spPr>
          <a:xfrm>
            <a:off x="711403" y="3897732"/>
            <a:ext cx="10771632" cy="733232"/>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SCA: síndrome coronariana aguda; ECG: eletrocardiograma. *Se kit disponível for a troponina convencional (sem critérios de alta sensibilidade), a aplicação da CTA nos casos negativos reduz a taxa e o tempo de internação; nos locais com troponina de alta sensibilidade, a CTA ajuda em casos sem definição diagnóstica, incluindo aqueles com elevações até níveis intermediários (reduz necessidade de cateterismo, sem aumento de eventos cardiovasculares após 1 ano de acompanhamento).</a:t>
            </a:r>
            <a:endParaRPr lang="pt-BR" sz="1200" dirty="0"/>
          </a:p>
        </p:txBody>
      </p:sp>
    </p:spTree>
    <p:extLst>
      <p:ext uri="{BB962C8B-B14F-4D97-AF65-F5344CB8AC3E}">
        <p14:creationId xmlns:p14="http://schemas.microsoft.com/office/powerpoint/2010/main" val="240966085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40 – Recomendações para implementação de unidades de dor torácica (1/2)</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100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640000"/>
          <a:ext cx="10771632" cy="2209290"/>
        </p:xfrm>
        <a:graphic>
          <a:graphicData uri="http://schemas.openxmlformats.org/drawingml/2006/table">
            <a:tbl>
              <a:tblPr firstRow="1"/>
              <a:tblGrid>
                <a:gridCol w="7571632"/>
                <a:gridCol w="1700000"/>
                <a:gridCol w="1500000"/>
              </a:tblGrid>
              <a:tr h="441858">
                <a:tc>
                  <a:txBody>
                    <a:bodyPr/>
                    <a:lstStyle/>
                    <a:p>
                      <a:pPr algn="l" marL="0" indent="0">
                        <a:lnSpc>
                          <a:spcPct val="100000"/>
                        </a:lnSpc>
                        <a:spcBef>
                          <a:spcPts val="0"/>
                        </a:spcBef>
                        <a:spcAft>
                          <a:spcPts val="0"/>
                        </a:spcAft>
                        <a:buNone/>
                      </a:pPr>
                      <a:endParaRPr lang="pt-BR" sz="1300" dirty="0"/>
                    </a:p>
                  </a:txBody>
                  <a:tcPr marL="91440" marR="91440" marT="27432" marB="27432"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Classe de recomendação</a:t>
                      </a:r>
                      <a:endParaRPr lang="pt-BR" sz="1300" dirty="0"/>
                    </a:p>
                  </a:txBody>
                  <a:tcPr marL="91440" marR="91440" marT="27432" marB="27432"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Nível de evidência</a:t>
                      </a:r>
                      <a:endParaRPr lang="pt-BR" sz="1300" dirty="0"/>
                    </a:p>
                  </a:txBody>
                  <a:tcPr marL="91440" marR="91440" marT="27432" marB="27432" anchor="ctr">
                    <a:lnL w="0">
                      <a:noFill/>
                    </a:lnL>
                    <a:lnR w="0">
                      <a:noFill/>
                    </a:lnR>
                    <a:lnT w="0">
                      <a:noFill/>
                    </a:lnT>
                    <a:lnB w="0">
                      <a:noFill/>
                    </a:lnB>
                    <a:solidFill>
                      <a:srgbClr val="4E7C8B"/>
                    </a:solidFill>
                  </a:tcPr>
                </a:tc>
              </a:tr>
              <a:tr h="44185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As UDTs devem ser implementadas em centros de emergência de alto volume e/ou de referência cardiovascular.</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27432" marB="27432" anchor="ctr">
                    <a:lnL w="0">
                      <a:noFill/>
                    </a:lnL>
                    <a:lnR w="0">
                      <a:noFill/>
                    </a:lnR>
                    <a:lnT w="0">
                      <a:noFill/>
                    </a:lnT>
                    <a:lnB w="12700">
                      <a:solidFill>
                        <a:srgbClr val="FBFCFC"/>
                      </a:solidFill>
                    </a:lnB>
                    <a:solidFill>
                      <a:srgbClr val="3E8E68"/>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A</a:t>
                      </a:r>
                      <a:endParaRPr lang="pt-BR" sz="1300" dirty="0"/>
                    </a:p>
                  </a:txBody>
                  <a:tcPr marL="91440" marR="91440" marT="27432" marB="27432" anchor="ctr">
                    <a:lnL w="0">
                      <a:noFill/>
                    </a:lnL>
                    <a:lnR w="0">
                      <a:noFill/>
                    </a:lnR>
                    <a:lnT w="0">
                      <a:noFill/>
                    </a:lnT>
                    <a:lnB w="12700">
                      <a:solidFill>
                        <a:srgbClr val="FBFCFC"/>
                      </a:solidFill>
                    </a:lnB>
                    <a:solidFill>
                      <a:srgbClr val="3E8E68"/>
                    </a:solidFill>
                  </a:tcPr>
                </a:tc>
              </a:tr>
              <a:tr h="44185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As UDTs devem coletar indicadores de qualidade de forma sistemática, com avaliação contínua de melhorias baseadas nas métricas identificadas.</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27432" marB="27432" anchor="ctr">
                    <a:lnL w="0">
                      <a:noFill/>
                    </a:lnL>
                    <a:lnR w="0">
                      <a:noFill/>
                    </a:lnR>
                    <a:lnT w="0">
                      <a:noFill/>
                    </a:lnT>
                    <a:lnB w="12700">
                      <a:solidFill>
                        <a:srgbClr val="FBFCFC"/>
                      </a:solidFill>
                    </a:lnB>
                    <a:solidFill>
                      <a:srgbClr val="3E8E68"/>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A</a:t>
                      </a:r>
                      <a:endParaRPr lang="pt-BR" sz="1300" dirty="0"/>
                    </a:p>
                  </a:txBody>
                  <a:tcPr marL="91440" marR="91440" marT="27432" marB="27432" anchor="ctr">
                    <a:lnL w="0">
                      <a:noFill/>
                    </a:lnL>
                    <a:lnR w="0">
                      <a:noFill/>
                    </a:lnR>
                    <a:lnT w="0">
                      <a:noFill/>
                    </a:lnT>
                    <a:lnB w="12700">
                      <a:solidFill>
                        <a:srgbClr val="FBFCFC"/>
                      </a:solidFill>
                    </a:lnB>
                    <a:solidFill>
                      <a:srgbClr val="3E8E68"/>
                    </a:solidFill>
                  </a:tcPr>
                </a:tc>
              </a:tr>
              <a:tr h="44185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As UDTs devem dispor de médicos e profissionais de apoio habilitados para execução dos protocolos e interpretação de ECG.</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27432" marB="27432" anchor="ctr">
                    <a:lnL w="0">
                      <a:noFill/>
                    </a:lnL>
                    <a:lnR w="0">
                      <a:noFill/>
                    </a:lnR>
                    <a:lnT w="0">
                      <a:noFill/>
                    </a:lnT>
                    <a:lnB w="12700">
                      <a:solidFill>
                        <a:srgbClr val="FBFCFC"/>
                      </a:solidFill>
                    </a:lnB>
                    <a:solidFill>
                      <a:srgbClr val="3E8E68"/>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a:t>
                      </a:r>
                      <a:endParaRPr lang="pt-BR" sz="1300" dirty="0"/>
                    </a:p>
                  </a:txBody>
                  <a:tcPr marL="91440" marR="91440" marT="27432" marB="27432" anchor="ctr">
                    <a:lnL w="0">
                      <a:noFill/>
                    </a:lnL>
                    <a:lnR w="0">
                      <a:noFill/>
                    </a:lnR>
                    <a:lnT w="0">
                      <a:noFill/>
                    </a:lnT>
                    <a:lnB w="12700">
                      <a:solidFill>
                        <a:srgbClr val="FBFCFC"/>
                      </a:solidFill>
                    </a:lnB>
                    <a:solidFill>
                      <a:srgbClr val="3E8E68"/>
                    </a:solidFill>
                  </a:tcPr>
                </a:tc>
              </a:tr>
              <a:tr h="44185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As UDTs devem dispor de ECG e marcadores de injúria miocárdica (preferencialmente troponina de alta sensibilidade).</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27432" marB="27432" anchor="ctr">
                    <a:lnL w="0">
                      <a:noFill/>
                    </a:lnL>
                    <a:lnR w="0">
                      <a:noFill/>
                    </a:lnR>
                    <a:lnT w="0">
                      <a:noFill/>
                    </a:lnT>
                    <a:lnB w="12700">
                      <a:solidFill>
                        <a:srgbClr val="FBFCFC"/>
                      </a:solidFill>
                    </a:lnB>
                    <a:solidFill>
                      <a:srgbClr val="3E8E68"/>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A</a:t>
                      </a:r>
                      <a:endParaRPr lang="pt-BR" sz="1300" dirty="0"/>
                    </a:p>
                  </a:txBody>
                  <a:tcPr marL="91440" marR="91440" marT="27432" marB="27432" anchor="ctr">
                    <a:lnL w="0">
                      <a:noFill/>
                    </a:lnL>
                    <a:lnR w="0">
                      <a:noFill/>
                    </a:lnR>
                    <a:lnT w="0">
                      <a:noFill/>
                    </a:lnT>
                    <a:lnB w="12700">
                      <a:solidFill>
                        <a:srgbClr val="FBFCFC"/>
                      </a:solidFill>
                    </a:lnB>
                    <a:solidFill>
                      <a:srgbClr val="3E8E68"/>
                    </a:solidFill>
                  </a:tcPr>
                </a:tc>
              </a:tr>
            </a:tbl>
          </a:graphicData>
        </a:graphic>
      </p:graphicFrame>
      <p:sp>
        <p:nvSpPr>
          <p:cNvPr id="7" name="Nota"/>
          <p:cNvSpPr txBox="1"/>
          <p:nvPr/>
        </p:nvSpPr>
        <p:spPr>
          <a:xfrm>
            <a:off x="711403" y="3919290"/>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UDT: unidade de dor torácica; ECG: eletrocardiograma.</a:t>
            </a:r>
            <a:endParaRPr lang="pt-BR" sz="1200" dirty="0"/>
          </a:p>
        </p:txBody>
      </p:sp>
    </p:spTree>
    <p:extLst>
      <p:ext uri="{BB962C8B-B14F-4D97-AF65-F5344CB8AC3E}">
        <p14:creationId xmlns:p14="http://schemas.microsoft.com/office/powerpoint/2010/main" val="360490222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Rota diagnóstica – ECG inicial não-diagnóstico (1/2)</a:t>
            </a:r>
            <a:endParaRPr lang="pt-BR" dirty="0" sz="3200"/>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102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900" name="Subtítulo"/>
          <p:cNvSpPr txBox="1"/>
          <p:nvPr/>
        </p:nvSpPr>
        <p:spPr>
          <a:xfrm>
            <a:off x="711403" y="1040000"/>
            <a:ext cx="10771632" cy="213167"/>
          </a:xfrm>
          <a:prstGeom prst="rect">
            <a:avLst/>
          </a:prstGeom>
          <a:noFill/>
        </p:spPr>
        <p:txBody>
          <a:bodyPr wrap="square" lIns="0" rIns="0" tIns="0" bIns="0" anchor="t">
            <a:noAutofit/>
          </a:bodyPr>
          <a:lstStyle/>
          <a:p>
            <a:pPr algn="l" marL="0" indent="0">
              <a:buNone/>
            </a:pPr>
            <a:r>
              <a:rPr lang="pt-BR" sz="1300" b="0" i="0" dirty="0">
                <a:solidFill>
                  <a:srgbClr val="737A7F"/>
                </a:solidFill>
                <a:latin typeface="Roboto"/>
                <a:ea typeface="Roboto"/>
                <a:cs typeface="Roboto"/>
              </a:rPr>
              <a:t>Figura 6 – Passo 2: avaliação inicial da rota diagnóstica.</a:t>
            </a:r>
          </a:p>
        </p:txBody>
      </p:sp>
      <p:pic>
        <p:nvPicPr>
          <p:cNvPr id="901" name="Figura" descr="Paciente com dor torácica (ilustração recortada da figura original)"/>
          <p:cNvPicPr>
            <a:picLocks noChangeAspect="1"/>
          </p:cNvPicPr>
          <p:nvPr/>
        </p:nvPicPr>
        <p:blipFill>
          <a:blip r:embed="rId2"/>
          <a:stretch>
            <a:fillRect/>
          </a:stretch>
        </p:blipFill>
        <p:spPr>
          <a:xfrm>
            <a:off x="896112" y="1463040"/>
            <a:ext cx="2743200" cy="2051636"/>
          </a:xfrm>
          <a:prstGeom prst="rect">
            <a:avLst/>
          </a:prstGeom>
        </p:spPr>
      </p:pic>
      <p:sp>
        <p:nvSpPr>
          <p:cNvPr id="301" name="Decisão"/>
          <p:cNvSpPr/>
          <p:nvPr/>
        </p:nvSpPr>
        <p:spPr>
          <a:xfrm>
            <a:off x="713232" y="3611880"/>
            <a:ext cx="4023360" cy="2286000"/>
          </a:xfrm>
          <a:prstGeom prst="diamond">
            <a:avLst/>
          </a:prstGeom>
          <a:solidFill>
            <a:srgbClr val="8EC4CB"/>
          </a:solidFill>
          <a:ln>
            <a:noFill/>
          </a:ln>
          <a:effectLst/>
        </p:spPr>
        <p:txBody>
          <a:bodyPr rtlCol="0" anchor="ctr" wrap="square" lIns="0" rIns="0" tIns="45720" bIns="45720"/>
          <a:lstStyle/>
          <a:p>
            <a:pPr algn="ctr"/>
            <a:r>
              <a:rPr lang="pt-BR" sz="1200" b="0" i="0" dirty="0">
                <a:solidFill>
                  <a:srgbClr val="1F3238"/>
                </a:solidFill>
                <a:latin typeface="Roboto Medium"/>
                <a:ea typeface="Roboto Medium"/>
                <a:cs typeface="Roboto Medium"/>
              </a:rPr>
              <a:t>ECG LIMÍTROFE/</a:t>
            </a:r>
          </a:p>
          <a:p>
            <a:pPr algn="ctr"/>
            <a:r>
              <a:rPr lang="pt-BR" sz="1200" b="0" i="0" dirty="0">
                <a:solidFill>
                  <a:srgbClr val="1F3238"/>
                </a:solidFill>
                <a:latin typeface="Roboto Medium"/>
                <a:ea typeface="Roboto Medium"/>
                <a:cs typeface="Roboto Medium"/>
              </a:rPr>
              <a:t>DUVIDOSO OU</a:t>
            </a:r>
          </a:p>
          <a:p>
            <a:pPr algn="ctr"/>
            <a:r>
              <a:rPr lang="pt-BR" sz="1200" b="0" i="0" dirty="0">
                <a:solidFill>
                  <a:srgbClr val="1F3238"/>
                </a:solidFill>
                <a:latin typeface="Roboto Medium"/>
                <a:ea typeface="Roboto Medium"/>
                <a:cs typeface="Roboto Medium"/>
              </a:rPr>
              <a:t>CRITÉRIOS DE</a:t>
            </a:r>
          </a:p>
          <a:p>
            <a:pPr algn="ctr"/>
            <a:r>
              <a:rPr lang="pt-BR" sz="1200" b="0" i="0" dirty="0">
                <a:solidFill>
                  <a:srgbClr val="1F3238"/>
                </a:solidFill>
                <a:latin typeface="Roboto Medium"/>
                <a:ea typeface="Roboto Medium"/>
                <a:cs typeface="Roboto Medium"/>
              </a:rPr>
              <a:t>INSTABILIDADE CLÍNICA</a:t>
            </a:r>
          </a:p>
          <a:p>
            <a:pPr algn="ctr"/>
            <a:r>
              <a:rPr lang="pt-BR" sz="1200" b="0" i="0" dirty="0">
                <a:solidFill>
                  <a:srgbClr val="1F3238"/>
                </a:solidFill>
                <a:latin typeface="Roboto Medium"/>
                <a:ea typeface="Roboto Medium"/>
                <a:cs typeface="Roboto Medium"/>
              </a:rPr>
              <a:t>(incluindo dor persistente)?</a:t>
            </a:r>
          </a:p>
        </p:txBody>
      </p:sp>
      <p:sp>
        <p:nvSpPr>
          <p:cNvPr id="302" name="Nota"/>
          <p:cNvSpPr txBox="1"/>
          <p:nvPr/>
        </p:nvSpPr>
        <p:spPr>
          <a:xfrm>
            <a:off x="5394960" y="5779008"/>
            <a:ext cx="6089904" cy="228600"/>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*Algoritmos de troponina conforme figuras 11A e 11B</a:t>
            </a:r>
          </a:p>
        </p:txBody>
      </p:sp>
      <p:pic>
        <p:nvPicPr>
          <p:cNvPr id="902" name="Figura" descr="Eletrodos de ECG no tórax (ilustração recortada)"/>
          <p:cNvPicPr>
            <a:picLocks noChangeAspect="1"/>
          </p:cNvPicPr>
          <p:nvPr/>
        </p:nvPicPr>
        <p:blipFill>
          <a:blip r:embed="rId4"/>
          <a:stretch>
            <a:fillRect/>
          </a:stretch>
        </p:blipFill>
        <p:spPr>
          <a:xfrm>
            <a:off x="5696712" y="1417320"/>
            <a:ext cx="1286359" cy="1143000"/>
          </a:xfrm>
          <a:prstGeom prst="rect">
            <a:avLst/>
          </a:prstGeom>
        </p:spPr>
      </p:pic>
      <p:pic>
        <p:nvPicPr>
          <p:cNvPr id="903" name="Figura" descr="Ecocardiograma no monitor (ilustração recortada)"/>
          <p:cNvPicPr>
            <a:picLocks noChangeAspect="1"/>
          </p:cNvPicPr>
          <p:nvPr/>
        </p:nvPicPr>
        <p:blipFill>
          <a:blip r:embed="rId5"/>
          <a:stretch>
            <a:fillRect/>
          </a:stretch>
        </p:blipFill>
        <p:spPr>
          <a:xfrm>
            <a:off x="7845552" y="1417320"/>
            <a:ext cx="1146874" cy="1143000"/>
          </a:xfrm>
          <a:prstGeom prst="rect">
            <a:avLst/>
          </a:prstGeom>
        </p:spPr>
      </p:pic>
      <p:pic>
        <p:nvPicPr>
          <p:cNvPr id="904" name="Figura" descr="Tubo de coleta de sangue (ilustração recortada)"/>
          <p:cNvPicPr>
            <a:picLocks noChangeAspect="1"/>
          </p:cNvPicPr>
          <p:nvPr/>
        </p:nvPicPr>
        <p:blipFill>
          <a:blip r:embed="rId6"/>
          <a:stretch>
            <a:fillRect/>
          </a:stretch>
        </p:blipFill>
        <p:spPr>
          <a:xfrm>
            <a:off x="9994392" y="1417320"/>
            <a:ext cx="1146874" cy="1143000"/>
          </a:xfrm>
          <a:prstGeom prst="rect">
            <a:avLst/>
          </a:prstGeom>
        </p:spPr>
      </p:pic>
      <p:sp>
        <p:nvSpPr>
          <p:cNvPr id="303" name="Etapa"/>
          <p:cNvSpPr/>
          <p:nvPr/>
        </p:nvSpPr>
        <p:spPr>
          <a:xfrm>
            <a:off x="5394960" y="2697480"/>
            <a:ext cx="1792224" cy="2971800"/>
          </a:xfrm>
          <a:prstGeom prst="rect">
            <a:avLst/>
          </a:prstGeom>
          <a:solidFill>
            <a:srgbClr val="F2F4F5"/>
          </a:solidFill>
          <a:ln w="12700">
            <a:solidFill>
              <a:srgbClr val="6E9DAB"/>
            </a:solidFill>
          </a:ln>
          <a:effectLst/>
        </p:spPr>
        <p:txBody>
          <a:bodyPr rtlCol="0" anchor="t" wrap="square" lIns="91440" rIns="91440" tIns="45720" bIns="45720"/>
          <a:lstStyle/>
          <a:p>
            <a:pPr algn="l">
              <a:buNone/>
            </a:pPr>
            <a:r>
              <a:rPr lang="pt-BR" sz="1300" b="0" i="0" dirty="0">
                <a:solidFill>
                  <a:srgbClr val="3B3F42"/>
                </a:solidFill>
                <a:latin typeface="Roboto Medium"/>
                <a:ea typeface="Roboto Medium"/>
                <a:cs typeface="Roboto Medium"/>
              </a:rPr>
              <a:t>REPETIR ECG A CADA 10-20 MINUTOS</a:t>
            </a:r>
          </a:p>
          <a:p>
            <a:pPr algn="l">
              <a:buNone/>
            </a:pPr>
            <a:r>
              <a:rPr lang="pt-BR" sz="1200" b="0" i="0" dirty="0">
                <a:solidFill>
                  <a:srgbClr val="5F6468"/>
                </a:solidFill>
                <a:latin typeface="Roboto"/>
                <a:ea typeface="Roboto"/>
                <a:cs typeface="Roboto"/>
              </a:rPr>
              <a:t>(apoio de médico experiente),</a:t>
            </a:r>
          </a:p>
          <a:p>
            <a:pPr algn="l">
              <a:buNone/>
            </a:pPr>
            <a:r>
              <a:rPr lang="pt-BR" sz="1300" b="0" i="0" dirty="0">
                <a:solidFill>
                  <a:srgbClr val="3B3F42"/>
                </a:solidFill>
                <a:latin typeface="Roboto Medium"/>
                <a:ea typeface="Roboto Medium"/>
                <a:cs typeface="Roboto Medium"/>
              </a:rPr>
              <a:t>MANTER MONITORIZAÇÃO E TRATAR CRITÉRIOS DE INSTABILIDADE</a:t>
            </a:r>
          </a:p>
          <a:p>
            <a:pPr algn="l">
              <a:buNone/>
            </a:pPr>
            <a:r>
              <a:rPr lang="pt-BR" sz="1200" b="0" i="0" dirty="0">
                <a:solidFill>
                  <a:srgbClr val="5F6468"/>
                </a:solidFill>
                <a:latin typeface="Roboto"/>
                <a:ea typeface="Roboto"/>
                <a:cs typeface="Roboto"/>
              </a:rPr>
              <a:t>(acionar time de choque se instabilidade hemodinâmica)</a:t>
            </a:r>
          </a:p>
        </p:txBody>
      </p:sp>
      <p:sp>
        <p:nvSpPr>
          <p:cNvPr id="304" name="Etapa"/>
          <p:cNvSpPr/>
          <p:nvPr/>
        </p:nvSpPr>
        <p:spPr>
          <a:xfrm>
            <a:off x="7543800" y="2697480"/>
            <a:ext cx="1792224" cy="2971800"/>
          </a:xfrm>
          <a:prstGeom prst="rect">
            <a:avLst/>
          </a:prstGeom>
          <a:solidFill>
            <a:srgbClr val="F2F4F5"/>
          </a:solidFill>
          <a:ln w="12700">
            <a:solidFill>
              <a:srgbClr val="6E9DAB"/>
            </a:solidFill>
          </a:ln>
          <a:effectLst/>
        </p:spPr>
        <p:txBody>
          <a:bodyPr rtlCol="0" anchor="t" wrap="square" lIns="91440" rIns="91440" tIns="45720" bIns="45720"/>
          <a:lstStyle/>
          <a:p>
            <a:pPr algn="l">
              <a:buNone/>
            </a:pPr>
            <a:r>
              <a:rPr lang="pt-BR" sz="1300" b="0" i="0" dirty="0">
                <a:solidFill>
                  <a:srgbClr val="3B3F42"/>
                </a:solidFill>
                <a:latin typeface="Roboto Medium"/>
                <a:ea typeface="Roboto Medium"/>
                <a:cs typeface="Roboto Medium"/>
              </a:rPr>
              <a:t>BUSCAR ATIVAMENTE OUTROS DIAGNÓSTICOS</a:t>
            </a:r>
          </a:p>
          <a:p>
            <a:pPr algn="l" marL="171450" indent="-171450">
              <a:buClr>
                <a:srgbClr val="4E7C8B"/>
              </a:buClr>
              <a:buFont typeface="Roboto"/>
              <a:buChar char="•"/>
            </a:pPr>
            <a:r>
              <a:rPr lang="pt-BR" sz="1200" b="0" i="0" dirty="0">
                <a:solidFill>
                  <a:srgbClr val="5F6468"/>
                </a:solidFill>
                <a:latin typeface="Roboto"/>
                <a:ea typeface="Roboto"/>
                <a:cs typeface="Roboto"/>
              </a:rPr>
              <a:t>avaliação clínica detalhada</a:t>
            </a:r>
          </a:p>
          <a:p>
            <a:pPr algn="l" marL="171450" indent="-171450">
              <a:buClr>
                <a:srgbClr val="4E7C8B"/>
              </a:buClr>
              <a:buFont typeface="Roboto"/>
              <a:buChar char="•"/>
            </a:pPr>
            <a:r>
              <a:rPr lang="pt-BR" sz="1200" b="0" i="0" dirty="0">
                <a:solidFill>
                  <a:srgbClr val="5F6468"/>
                </a:solidFill>
                <a:latin typeface="Roboto"/>
                <a:ea typeface="Roboto"/>
                <a:cs typeface="Roboto"/>
              </a:rPr>
              <a:t>uso de escores diagnósticos</a:t>
            </a:r>
          </a:p>
          <a:p>
            <a:pPr algn="l" marL="171450" indent="-171450">
              <a:buClr>
                <a:srgbClr val="4E7C8B"/>
              </a:buClr>
              <a:buFont typeface="Roboto"/>
              <a:buChar char="•"/>
            </a:pPr>
            <a:r>
              <a:rPr lang="pt-BR" sz="1200" b="0" i="0" dirty="0">
                <a:solidFill>
                  <a:srgbClr val="5F6468"/>
                </a:solidFill>
                <a:latin typeface="Roboto"/>
                <a:ea typeface="Roboto"/>
                <a:cs typeface="Roboto"/>
              </a:rPr>
              <a:t>RX</a:t>
            </a:r>
          </a:p>
          <a:p>
            <a:pPr algn="l" marL="171450" indent="-171450">
              <a:buClr>
                <a:srgbClr val="4E7C8B"/>
              </a:buClr>
              <a:buFont typeface="Roboto"/>
              <a:buChar char="•"/>
            </a:pPr>
            <a:r>
              <a:rPr lang="pt-BR" sz="1200" b="0" i="0" dirty="0">
                <a:solidFill>
                  <a:srgbClr val="5F6468"/>
                </a:solidFill>
                <a:latin typeface="Roboto"/>
                <a:ea typeface="Roboto"/>
                <a:cs typeface="Roboto"/>
              </a:rPr>
              <a:t>POCUS</a:t>
            </a:r>
          </a:p>
          <a:p>
            <a:pPr algn="l" marL="171450" indent="-171450">
              <a:buClr>
                <a:srgbClr val="4E7C8B"/>
              </a:buClr>
              <a:buFont typeface="Roboto"/>
              <a:buChar char="•"/>
            </a:pPr>
            <a:r>
              <a:rPr lang="pt-BR" sz="1200" b="0" i="0" dirty="0">
                <a:solidFill>
                  <a:srgbClr val="5F6468"/>
                </a:solidFill>
                <a:latin typeface="Roboto"/>
                <a:ea typeface="Roboto"/>
                <a:cs typeface="Roboto"/>
              </a:rPr>
              <a:t>outros exames conforme suspeita</a:t>
            </a:r>
          </a:p>
        </p:txBody>
      </p:sp>
      <p:sp>
        <p:nvSpPr>
          <p:cNvPr id="305" name="Etapa"/>
          <p:cNvSpPr/>
          <p:nvPr/>
        </p:nvSpPr>
        <p:spPr>
          <a:xfrm>
            <a:off x="9692640" y="2697480"/>
            <a:ext cx="1792224" cy="1280160"/>
          </a:xfrm>
          <a:prstGeom prst="rect">
            <a:avLst/>
          </a:prstGeom>
          <a:solidFill>
            <a:srgbClr val="F2F4F5"/>
          </a:solidFill>
          <a:ln w="12700">
            <a:solidFill>
              <a:srgbClr val="6E9DAB"/>
            </a:solidFill>
          </a:ln>
          <a:effectLst/>
        </p:spPr>
        <p:txBody>
          <a:bodyPr rtlCol="0" anchor="t" wrap="square" lIns="91440" rIns="91440" tIns="45720" bIns="45720"/>
          <a:lstStyle/>
          <a:p>
            <a:pPr algn="l">
              <a:buNone/>
            </a:pPr>
            <a:r>
              <a:rPr lang="pt-BR" sz="1300" b="0" i="0" dirty="0">
                <a:solidFill>
                  <a:srgbClr val="3B3F42"/>
                </a:solidFill>
                <a:latin typeface="Roboto Medium"/>
                <a:ea typeface="Roboto Medium"/>
                <a:cs typeface="Roboto Medium"/>
              </a:rPr>
              <a:t>ALGORITMOS DE TROPONINA*</a:t>
            </a:r>
          </a:p>
        </p:txBody>
      </p:sp>
      <p:sp>
        <p:nvSpPr>
          <p:cNvPr id="306" name="Rótulo"/>
          <p:cNvSpPr txBox="1"/>
          <p:nvPr/>
        </p:nvSpPr>
        <p:spPr>
          <a:xfrm>
            <a:off x="7251192" y="4023360"/>
            <a:ext cx="182880" cy="274320"/>
          </a:xfrm>
          <a:prstGeom prst="rect">
            <a:avLst/>
          </a:prstGeom>
          <a:noFill/>
        </p:spPr>
        <p:txBody>
          <a:bodyPr wrap="square" lIns="0" rIns="0" tIns="0" bIns="0" anchor="t">
            <a:noAutofit/>
          </a:bodyPr>
          <a:lstStyle/>
          <a:p>
            <a:pPr algn="ctr">
              <a:buNone/>
            </a:pPr>
            <a:r>
              <a:rPr lang="pt-BR" sz="1500" b="0" i="0" dirty="0">
                <a:solidFill>
                  <a:srgbClr val="4E7C8B"/>
                </a:solidFill>
                <a:latin typeface="Roboto Medium"/>
                <a:ea typeface="Roboto Medium"/>
                <a:cs typeface="Roboto Medium"/>
              </a:rPr>
              <a:t>+</a:t>
            </a:r>
          </a:p>
        </p:txBody>
      </p:sp>
      <p:sp>
        <p:nvSpPr>
          <p:cNvPr id="307" name="Rótulo"/>
          <p:cNvSpPr txBox="1"/>
          <p:nvPr/>
        </p:nvSpPr>
        <p:spPr>
          <a:xfrm>
            <a:off x="9400032" y="4023360"/>
            <a:ext cx="182880" cy="274320"/>
          </a:xfrm>
          <a:prstGeom prst="rect">
            <a:avLst/>
          </a:prstGeom>
          <a:noFill/>
        </p:spPr>
        <p:txBody>
          <a:bodyPr wrap="square" lIns="0" rIns="0" tIns="0" bIns="0" anchor="t">
            <a:noAutofit/>
          </a:bodyPr>
          <a:lstStyle/>
          <a:p>
            <a:pPr algn="ctr">
              <a:buNone/>
            </a:pPr>
            <a:r>
              <a:rPr lang="pt-BR" sz="1500" b="0" i="0" dirty="0">
                <a:solidFill>
                  <a:srgbClr val="4E7C8B"/>
                </a:solidFill>
                <a:latin typeface="Roboto Medium"/>
                <a:ea typeface="Roboto Medium"/>
                <a:cs typeface="Roboto Medium"/>
              </a:rPr>
              <a:t>+</a:t>
            </a:r>
          </a:p>
        </p:txBody>
      </p:sp>
      <p:sp>
        <p:nvSpPr>
          <p:cNvPr id="308" name="Seta"/>
          <p:cNvSpPr/>
          <p:nvPr/>
        </p:nvSpPr>
        <p:spPr>
          <a:xfrm>
            <a:off x="4736592" y="4114800"/>
            <a:ext cx="658368" cy="640080"/>
          </a:xfrm>
          <a:custGeom>
            <a:avLst/>
            <a:gdLst/>
            <a:ahLst/>
            <a:cxnLst/>
            <a:rect l="0" t="0" r="r" b="b"/>
            <a:pathLst>
              <a:path w="658368" h="640080" fill="none">
                <a:moveTo>
                  <a:pt x="0" y="640080"/>
                </a:moveTo>
                <a:lnTo>
                  <a:pt x="493776" y="640080"/>
                </a:lnTo>
                <a:lnTo>
                  <a:pt x="493776" y="0"/>
                </a:lnTo>
                <a:lnTo>
                  <a:pt x="658368" y="0"/>
                </a:lnTo>
              </a:path>
            </a:pathLst>
          </a:custGeom>
          <a:noFill/>
          <a:ln w="19050">
            <a:solidFill>
              <a:srgbClr val="6B6E70"/>
            </a:solidFill>
            <a:round/>
            <a:tailEnd type="triangle" w="med" len="med"/>
          </a:ln>
          <a:effectLst/>
        </p:spPr>
      </p:sp>
      <p:sp>
        <p:nvSpPr>
          <p:cNvPr id="309" name="Rótulo"/>
          <p:cNvSpPr txBox="1"/>
          <p:nvPr/>
        </p:nvSpPr>
        <p:spPr>
          <a:xfrm>
            <a:off x="4791456" y="4498848"/>
            <a:ext cx="36576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Sim</a:t>
            </a:r>
          </a:p>
        </p:txBody>
      </p:sp>
    </p:spTree>
    <p:extLst>
      <p:ext uri="{BB962C8B-B14F-4D97-AF65-F5344CB8AC3E}">
        <p14:creationId xmlns:p14="http://schemas.microsoft.com/office/powerpoint/2010/main" val="326840858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Paciente sem critérios de instabilidade</a:t>
            </a:r>
            <a:endParaRPr lang="pt-BR" dirty="0" sz="3200"/>
          </a:p>
        </p:txBody>
      </p:sp>
      <p:pic>
        <p:nvPicPr>
          <p:cNvPr id="3" name="Figura" descr="Ilustração: grupo de pessoas em três cores se dividindo em três setas"/>
          <p:cNvPicPr>
            <a:picLocks noChangeAspect="1"/>
          </p:cNvPicPr>
          <p:nvPr/>
        </p:nvPicPr>
        <p:blipFill>
          <a:blip r:embed="rId2"/>
          <a:stretch>
            <a:fillRect/>
          </a:stretch>
        </p:blipFill>
        <p:spPr>
          <a:xfrm>
            <a:off x="711403" y="3350000"/>
            <a:ext cx="2300000" cy="2208000"/>
          </a:xfrm>
          <a:prstGeom prst="rect">
            <a:avLst/>
          </a:prstGeom>
        </p:spPr>
      </p:pic>
      <p:sp>
        <p:nvSpPr>
          <p:cNvPr id="4" name="Definição"/>
          <p:cNvSpPr txBox="1"/>
          <p:nvPr/>
        </p:nvSpPr>
        <p:spPr>
          <a:xfrm>
            <a:off x="3900000" y="1480000"/>
            <a:ext cx="7583035" cy="1100000"/>
          </a:xfrm>
          <a:prstGeom prst="rect">
            <a:avLst/>
          </a:prstGeom>
          <a:noFill/>
        </p:spPr>
        <p:txBody>
          <a:bodyPr wrap="square" lIns="0" rIns="0" tIns="0" bIns="0" anchor="t">
            <a:spAutoFit/>
          </a:bodyPr>
          <a:lstStyle/>
          <a:p>
            <a:pPr algn="l">
              <a:lnSpc>
                <a:spcPct val="120000"/>
              </a:lnSpc>
            </a:pPr>
            <a:r>
              <a:rPr sz="1300" b="0" i="0">
                <a:solidFill>
                  <a:srgbClr val="5F6468"/>
                </a:solidFill>
                <a:latin typeface="Roboto"/>
                <a:ea typeface="Roboto"/>
                <a:cs typeface="Roboto"/>
              </a:rPr>
              <a:t>•  Definir a dor torácica:</a:t>
            </a:r>
          </a:p>
          <a:p>
            <a:pPr algn="l">
              <a:lnSpc>
                <a:spcPct val="120000"/>
              </a:lnSpc>
            </a:pPr>
            <a:r>
              <a:rPr sz="1300" b="0" i="0">
                <a:solidFill>
                  <a:srgbClr val="5F6468"/>
                </a:solidFill>
                <a:latin typeface="Roboto"/>
                <a:ea typeface="Roboto"/>
                <a:cs typeface="Roboto"/>
              </a:rPr>
              <a:t>1)  Sintoma altamente suspeito de SCA (por exemplo, dor isquêmica cardíaca),</a:t>
            </a:r>
          </a:p>
          <a:p>
            <a:pPr algn="l">
              <a:lnSpc>
                <a:spcPct val="120000"/>
              </a:lnSpc>
            </a:pPr>
            <a:r>
              <a:rPr sz="1300" b="0" i="0">
                <a:solidFill>
                  <a:srgbClr val="5F6468"/>
                </a:solidFill>
                <a:latin typeface="Roboto"/>
                <a:ea typeface="Roboto"/>
                <a:cs typeface="Roboto"/>
              </a:rPr>
              <a:t>2)  Sintoma moderadamente suspeito (por exemplo, dor possivelmente isquêmica</a:t>
            </a:r>
          </a:p>
          <a:p>
            <a:pPr algn="l">
              <a:lnSpc>
                <a:spcPct val="120000"/>
              </a:lnSpc>
            </a:pPr>
            <a:r>
              <a:rPr sz="1300" b="0" i="0">
                <a:solidFill>
                  <a:srgbClr val="5F6468"/>
                </a:solidFill>
                <a:latin typeface="Roboto"/>
                <a:ea typeface="Roboto"/>
                <a:cs typeface="Roboto"/>
              </a:rPr>
              <a:t>3)  Sintoma pouco/nada suspeito (por exemplo, dor torácica não cardíaca)</a:t>
            </a: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104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Seta"/>
          <p:cNvSpPr/>
          <p:nvPr/>
        </p:nvSpPr>
        <p:spPr>
          <a:xfrm>
            <a:off x="7699248" y="2624328"/>
            <a:ext cx="1" cy="274320"/>
          </a:xfrm>
          <a:custGeom>
            <a:avLst/>
            <a:gdLst/>
            <a:ahLst/>
            <a:cxnLst/>
            <a:rect l="0" t="0" r="r" b="b"/>
            <a:pathLst>
              <a:path w="1" h="274320" fill="none">
                <a:moveTo>
                  <a:pt x="0" y="0"/>
                </a:moveTo>
                <a:lnTo>
                  <a:pt x="0" y="274320"/>
                </a:lnTo>
              </a:path>
            </a:pathLst>
          </a:custGeom>
          <a:noFill/>
          <a:ln w="19050">
            <a:solidFill>
              <a:srgbClr val="6B6E70"/>
            </a:solidFill>
            <a:round/>
            <a:tailEnd type="triangle" w="med" len="med"/>
          </a:ln>
          <a:effectLst/>
        </p:spPr>
      </p:sp>
      <p:sp>
        <p:nvSpPr>
          <p:cNvPr id="302" name="Decisão"/>
          <p:cNvSpPr/>
          <p:nvPr/>
        </p:nvSpPr>
        <p:spPr>
          <a:xfrm>
            <a:off x="5550408" y="2898648"/>
            <a:ext cx="4297680" cy="1600200"/>
          </a:xfrm>
          <a:prstGeom prst="diamond">
            <a:avLst/>
          </a:prstGeom>
          <a:solidFill>
            <a:srgbClr val="8EC4CB"/>
          </a:solidFill>
          <a:ln>
            <a:noFill/>
          </a:ln>
          <a:effectLst/>
        </p:spPr>
        <p:txBody>
          <a:bodyPr rtlCol="0" anchor="ctr" wrap="square" lIns="0" rIns="0" tIns="45720" bIns="45720"/>
          <a:lstStyle/>
          <a:p>
            <a:pPr algn="ctr"/>
            <a:r>
              <a:rPr lang="pt-BR" sz="1200" b="0" i="0" dirty="0">
                <a:solidFill>
                  <a:srgbClr val="1F3238"/>
                </a:solidFill>
                <a:latin typeface="Roboto Medium"/>
                <a:ea typeface="Roboto Medium"/>
                <a:cs typeface="Roboto Medium"/>
              </a:rPr>
              <a:t>Suspeita de SCA</a:t>
            </a:r>
          </a:p>
          <a:p>
            <a:pPr algn="ctr"/>
            <a:r>
              <a:rPr lang="pt-BR" sz="1200" b="0" i="0" dirty="0">
                <a:solidFill>
                  <a:srgbClr val="1F3238"/>
                </a:solidFill>
                <a:latin typeface="Roboto Medium"/>
                <a:ea typeface="Roboto Medium"/>
                <a:cs typeface="Roboto Medium"/>
              </a:rPr>
              <a:t>ou Síndromes Aórticas</a:t>
            </a:r>
          </a:p>
          <a:p>
            <a:pPr algn="ctr"/>
            <a:r>
              <a:rPr lang="pt-BR" sz="1200" b="0" i="0" dirty="0">
                <a:solidFill>
                  <a:srgbClr val="1F3238"/>
                </a:solidFill>
                <a:latin typeface="Roboto Medium"/>
                <a:ea typeface="Roboto Medium"/>
                <a:cs typeface="Roboto Medium"/>
              </a:rPr>
              <a:t>Agudas ou TEP?</a:t>
            </a:r>
          </a:p>
        </p:txBody>
      </p:sp>
      <p:sp>
        <p:nvSpPr>
          <p:cNvPr id="303" name="Fim/Início"/>
          <p:cNvSpPr/>
          <p:nvPr/>
        </p:nvSpPr>
        <p:spPr>
          <a:xfrm>
            <a:off x="3392424" y="5230368"/>
            <a:ext cx="3017520" cy="603504"/>
          </a:xfrm>
          <a:prstGeom prst="roundRect">
            <a:avLst>
              <a:gd name="adj" fmla="val 50000"/>
            </a:avLst>
          </a:prstGeom>
          <a:solidFill>
            <a:srgbClr val="4E7C8B"/>
          </a:solidFill>
          <a:ln>
            <a:noFill/>
          </a:ln>
          <a:effectLst/>
        </p:spPr>
        <p:txBody>
          <a:bodyPr rtlCol="0" anchor="ctr" wrap="square" lIns="91440" rIns="91440" tIns="45720" bIns="45720"/>
          <a:lstStyle/>
          <a:p>
            <a:pPr algn="ctr"/>
            <a:r>
              <a:rPr lang="pt-BR" sz="1300" b="0" i="0" dirty="0">
                <a:solidFill>
                  <a:srgbClr val="FBFCFC"/>
                </a:solidFill>
                <a:latin typeface="Roboto Medium"/>
                <a:ea typeface="Roboto Medium"/>
                <a:cs typeface="Roboto Medium"/>
              </a:rPr>
              <a:t>Propedêutica Específica</a:t>
            </a:r>
          </a:p>
        </p:txBody>
      </p:sp>
      <p:sp>
        <p:nvSpPr>
          <p:cNvPr id="304" name="Fim/Início"/>
          <p:cNvSpPr/>
          <p:nvPr/>
        </p:nvSpPr>
        <p:spPr>
          <a:xfrm>
            <a:off x="8421624" y="5230368"/>
            <a:ext cx="3017520" cy="603504"/>
          </a:xfrm>
          <a:prstGeom prst="roundRect">
            <a:avLst>
              <a:gd name="adj" fmla="val 50000"/>
            </a:avLst>
          </a:prstGeom>
          <a:solidFill>
            <a:srgbClr val="4E7C8B"/>
          </a:solidFill>
          <a:ln>
            <a:noFill/>
          </a:ln>
          <a:effectLst/>
        </p:spPr>
        <p:txBody>
          <a:bodyPr rtlCol="0" anchor="ctr" wrap="square" lIns="91440" rIns="91440" tIns="45720" bIns="45720"/>
          <a:lstStyle/>
          <a:p>
            <a:pPr algn="ctr"/>
            <a:r>
              <a:rPr lang="pt-BR" sz="1300" b="0" i="0" dirty="0">
                <a:solidFill>
                  <a:srgbClr val="FBFCFC"/>
                </a:solidFill>
                <a:latin typeface="Roboto Medium"/>
                <a:ea typeface="Roboto Medium"/>
                <a:cs typeface="Roboto Medium"/>
              </a:rPr>
              <a:t>Escores de risco</a:t>
            </a:r>
          </a:p>
        </p:txBody>
      </p:sp>
      <p:sp>
        <p:nvSpPr>
          <p:cNvPr id="305" name="Seta"/>
          <p:cNvSpPr/>
          <p:nvPr/>
        </p:nvSpPr>
        <p:spPr>
          <a:xfrm>
            <a:off x="4901184" y="3698748"/>
            <a:ext cx="649224" cy="1531620"/>
          </a:xfrm>
          <a:custGeom>
            <a:avLst/>
            <a:gdLst/>
            <a:ahLst/>
            <a:cxnLst/>
            <a:rect l="0" t="0" r="r" b="b"/>
            <a:pathLst>
              <a:path w="649224" h="1531620" fill="none">
                <a:moveTo>
                  <a:pt x="649224" y="0"/>
                </a:moveTo>
                <a:lnTo>
                  <a:pt x="0" y="0"/>
                </a:lnTo>
                <a:lnTo>
                  <a:pt x="0" y="1531620"/>
                </a:lnTo>
              </a:path>
            </a:pathLst>
          </a:custGeom>
          <a:noFill/>
          <a:ln w="19050">
            <a:solidFill>
              <a:srgbClr val="6B6E70"/>
            </a:solidFill>
            <a:round/>
            <a:tailEnd type="triangle" w="med" len="med"/>
          </a:ln>
          <a:effectLst/>
        </p:spPr>
      </p:sp>
      <p:sp>
        <p:nvSpPr>
          <p:cNvPr id="306" name="Seta"/>
          <p:cNvSpPr/>
          <p:nvPr/>
        </p:nvSpPr>
        <p:spPr>
          <a:xfrm>
            <a:off x="9848088" y="3698748"/>
            <a:ext cx="82296" cy="1531620"/>
          </a:xfrm>
          <a:custGeom>
            <a:avLst/>
            <a:gdLst/>
            <a:ahLst/>
            <a:cxnLst/>
            <a:rect l="0" t="0" r="r" b="b"/>
            <a:pathLst>
              <a:path w="82296" h="1531620" fill="none">
                <a:moveTo>
                  <a:pt x="0" y="0"/>
                </a:moveTo>
                <a:lnTo>
                  <a:pt x="82296" y="0"/>
                </a:lnTo>
                <a:lnTo>
                  <a:pt x="82296" y="1531620"/>
                </a:lnTo>
              </a:path>
            </a:pathLst>
          </a:custGeom>
          <a:noFill/>
          <a:ln w="19050">
            <a:solidFill>
              <a:srgbClr val="6B6E70"/>
            </a:solidFill>
            <a:round/>
            <a:tailEnd type="triangle" w="med" len="med"/>
          </a:ln>
          <a:effectLst/>
        </p:spPr>
      </p:sp>
      <p:sp>
        <p:nvSpPr>
          <p:cNvPr id="307" name="Rótulo"/>
          <p:cNvSpPr txBox="1"/>
          <p:nvPr/>
        </p:nvSpPr>
        <p:spPr>
          <a:xfrm>
            <a:off x="5047488" y="3442716"/>
            <a:ext cx="457200" cy="201168"/>
          </a:xfrm>
          <a:prstGeom prst="rect">
            <a:avLst/>
          </a:prstGeom>
          <a:noFill/>
        </p:spPr>
        <p:txBody>
          <a:bodyPr wrap="square" lIns="0" rIns="0" tIns="0" bIns="0" anchor="t">
            <a:noAutofit/>
          </a:bodyPr>
          <a:lstStyle/>
          <a:p>
            <a:pPr algn="r"/>
            <a:r>
              <a:rPr lang="pt-BR" sz="1200" b="0" i="0" dirty="0">
                <a:solidFill>
                  <a:srgbClr val="4E7C8B"/>
                </a:solidFill>
                <a:latin typeface="Roboto Medium"/>
                <a:ea typeface="Roboto Medium"/>
                <a:cs typeface="Roboto Medium"/>
              </a:rPr>
              <a:t>Não</a:t>
            </a:r>
          </a:p>
        </p:txBody>
      </p:sp>
      <p:sp>
        <p:nvSpPr>
          <p:cNvPr id="308" name="Rótulo"/>
          <p:cNvSpPr txBox="1"/>
          <p:nvPr/>
        </p:nvSpPr>
        <p:spPr>
          <a:xfrm>
            <a:off x="9902952" y="3442716"/>
            <a:ext cx="45720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Sim</a:t>
            </a:r>
          </a:p>
        </p:txBody>
      </p:sp>
    </p:spTree>
    <p:extLst>
      <p:ext uri="{BB962C8B-B14F-4D97-AF65-F5344CB8AC3E}">
        <p14:creationId xmlns:p14="http://schemas.microsoft.com/office/powerpoint/2010/main" val="331618447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Suspeita de síndrome aórtica aguda- ADD-RS Risk Score (1/2)</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105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6" name="Legenda"/>
          <p:cNvSpPr txBox="1"/>
          <p:nvPr/>
        </p:nvSpPr>
        <p:spPr>
          <a:xfrm>
            <a:off x="711403" y="1417320"/>
            <a:ext cx="8300000"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0" dirty="0">
                <a:solidFill>
                  <a:srgbClr val="4E7C8B"/>
                </a:solidFill>
                <a:latin typeface="Roboto Medium"/>
                <a:ea typeface="Roboto Medium"/>
                <a:cs typeface="Roboto Medium"/>
              </a:rPr>
              <a:t>Tabela 16 – Aortic dissection detection risk score (ADD-RS)</a:t>
            </a:r>
            <a:endParaRPr lang="pt-BR" sz="1200" dirty="0"/>
          </a:p>
        </p:txBody>
      </p:sp>
      <p:graphicFrame>
        <p:nvGraphicFramePr>
          <p:cNvPr id="7" name="Tabela"/>
          <p:cNvGraphicFramePr>
            <a:graphicFrameLocks noGrp="1"/>
          </p:cNvGraphicFramePr>
          <p:nvPr/>
        </p:nvGraphicFramePr>
        <p:xfrm>
          <a:off x="711403" y="1655628"/>
          <a:ext cx="8300000" cy="1887777"/>
        </p:xfrm>
        <a:graphic>
          <a:graphicData uri="http://schemas.openxmlformats.org/drawingml/2006/table">
            <a:tbl>
              <a:tblPr firstRow="1"/>
              <a:tblGrid>
                <a:gridCol w="3100000"/>
                <a:gridCol w="2600000"/>
                <a:gridCol w="2600000"/>
              </a:tblGrid>
              <a:tr h="266649">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Condições clínicas predisponentes</a:t>
                      </a:r>
                      <a:endParaRPr lang="pt-BR" sz="1300" dirty="0"/>
                    </a:p>
                  </a:txBody>
                  <a:tcPr marL="91440" marR="91440" marT="36576" marB="36576" anchor="ctr">
                    <a:lnL w="0">
                      <a:noFill/>
                    </a:lnL>
                    <a:lnR w="0">
                      <a:noFill/>
                    </a:lnR>
                    <a:lnT w="0">
                      <a:noFill/>
                    </a:lnT>
                    <a:lnB w="0">
                      <a:noFill/>
                    </a:lnB>
                    <a:solidFill>
                      <a:srgbClr val="4E7C8B"/>
                    </a:solidFill>
                  </a:tcPr>
                </a:tc>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Características da dor</a:t>
                      </a:r>
                      <a:endParaRPr lang="pt-BR" sz="1300" dirty="0"/>
                    </a:p>
                  </a:txBody>
                  <a:tcPr marL="91440" marR="91440" marT="36576" marB="36576" anchor="ctr">
                    <a:lnL w="0">
                      <a:noFill/>
                    </a:lnL>
                    <a:lnR w="0">
                      <a:noFill/>
                    </a:lnR>
                    <a:lnT w="0">
                      <a:noFill/>
                    </a:lnT>
                    <a:lnB w="0">
                      <a:noFill/>
                    </a:lnB>
                    <a:solidFill>
                      <a:srgbClr val="4E7C8B"/>
                    </a:solidFill>
                  </a:tcPr>
                </a:tc>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Achados no exame clínico</a:t>
                      </a:r>
                      <a:endParaRPr lang="pt-BR" sz="1300" dirty="0"/>
                    </a:p>
                  </a:txBody>
                  <a:tcPr marL="91440" marR="91440" marT="36576" marB="36576" anchor="ctr">
                    <a:lnL w="0">
                      <a:noFill/>
                    </a:lnL>
                    <a:lnR w="0">
                      <a:noFill/>
                    </a:lnR>
                    <a:lnT w="0">
                      <a:noFill/>
                    </a:lnT>
                    <a:lnB w="0">
                      <a:noFill/>
                    </a:lnB>
                    <a:solidFill>
                      <a:srgbClr val="4E7C8B"/>
                    </a:solidFill>
                  </a:tcPr>
                </a:tc>
              </a:tr>
              <a:tr h="162112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Síndrome de Marfan ou outra doença do tecido conjuntivo</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História familiar de aortopatia</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História conhecida de valvopatia aórtica</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Manipulação aórtica recente</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Aneurisma de aorta torácico conhecido</a:t>
                      </a:r>
                      <a:endParaRPr lang="pt-BR" sz="1300" dirty="0"/>
                    </a:p>
                  </a:txBody>
                  <a:tcPr marL="91440" marR="91440" marT="36576" marB="36576" anchor="t">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Dor torácica ou abdominal descrita como:</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Início súbito;</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Intensidade severa;</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Caracterizada como “rasgando”</a:t>
                      </a:r>
                      <a:endParaRPr lang="pt-BR" sz="1300" dirty="0"/>
                    </a:p>
                  </a:txBody>
                  <a:tcPr marL="91440" marR="91440" marT="36576" marB="36576" anchor="t">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Déficit de pulso ou pressão arterial</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Déficit neurológico focal (associado a dor)</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Sopro de regurgitação aórtica (novo associado a dor)</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Hipotensão ou choque</a:t>
                      </a:r>
                      <a:endParaRPr lang="pt-BR" sz="1300" dirty="0"/>
                    </a:p>
                  </a:txBody>
                  <a:tcPr marL="91440" marR="91440" marT="36576" marB="36576" anchor="t">
                    <a:lnL w="0">
                      <a:noFill/>
                    </a:lnL>
                    <a:lnR w="0">
                      <a:noFill/>
                    </a:lnR>
                    <a:lnT w="0">
                      <a:noFill/>
                    </a:lnT>
                    <a:lnB w="12700">
                      <a:solidFill>
                        <a:srgbClr val="E4E6E7"/>
                      </a:solidFill>
                    </a:lnB>
                    <a:solidFill>
                      <a:srgbClr val="FBFCFC"/>
                    </a:solidFill>
                  </a:tcPr>
                </a:tc>
              </a:tr>
            </a:tbl>
          </a:graphicData>
        </a:graphic>
      </p:graphicFrame>
      <p:sp>
        <p:nvSpPr>
          <p:cNvPr id="8" name="Pontuação ADD-RS"/>
          <p:cNvSpPr/>
          <p:nvPr/>
        </p:nvSpPr>
        <p:spPr>
          <a:xfrm>
            <a:off x="9311403" y="1655628"/>
            <a:ext cx="2171632" cy="1887777"/>
          </a:xfrm>
          <a:prstGeom prst="rect">
            <a:avLst/>
          </a:prstGeom>
          <a:solidFill>
            <a:srgbClr val="F2F4F5"/>
          </a:solidFill>
          <a:ln w="12700">
            <a:solidFill>
              <a:srgbClr val="E4E6E7"/>
            </a:solidFill>
          </a:ln>
        </p:spPr>
        <p:txBody>
          <a:bodyPr wrap="square" lIns="91440" rIns="91440" tIns="45720" bIns="45720" anchor="ctr">
            <a:noAutofit/>
          </a:bodyPr>
          <a:lstStyle/>
          <a:p>
            <a:pPr algn="l" marL="0" indent="0">
              <a:lnSpc>
                <a:spcPct val="100000"/>
              </a:lnSpc>
              <a:spcBef>
                <a:spcPts val="0"/>
              </a:spcBef>
              <a:spcAft>
                <a:spcPts val="600"/>
              </a:spcAft>
              <a:buNone/>
            </a:pPr>
            <a:r>
              <a:rPr lang="pt-BR" sz="1300" b="0" i="0" dirty="0">
                <a:solidFill>
                  <a:srgbClr val="3B3F42"/>
                </a:solidFill>
                <a:latin typeface="Roboto Medium"/>
                <a:ea typeface="Roboto Medium"/>
                <a:cs typeface="Roboto Medium"/>
              </a:rPr>
              <a:t>Até 1 ponto - baixo risco</a:t>
            </a:r>
            <a:endParaRPr lang="pt-BR" sz="1300" dirty="0"/>
          </a:p>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2 ou 3 pontos - alto risco</a:t>
            </a:r>
            <a:endParaRPr lang="pt-BR" sz="1300" dirty="0"/>
          </a:p>
        </p:txBody>
      </p:sp>
    </p:spTree>
    <p:extLst>
      <p:ext uri="{BB962C8B-B14F-4D97-AF65-F5344CB8AC3E}">
        <p14:creationId xmlns:p14="http://schemas.microsoft.com/office/powerpoint/2010/main" val="272703281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Suspeita de Tromboembolismo Pulmonar- Escore de Wells (1/5)</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107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6" name="Legenda"/>
          <p:cNvSpPr txBox="1"/>
          <p:nvPr/>
        </p:nvSpPr>
        <p:spPr>
          <a:xfrm>
            <a:off x="711403" y="1417320"/>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0" dirty="0">
                <a:solidFill>
                  <a:srgbClr val="4E7C8B"/>
                </a:solidFill>
                <a:latin typeface="Roboto Medium"/>
                <a:ea typeface="Roboto Medium"/>
                <a:cs typeface="Roboto Medium"/>
              </a:rPr>
              <a:t>Tabela 19 – Escore de Wells: critérios e respectiva pontuação</a:t>
            </a:r>
            <a:endParaRPr lang="pt-BR" sz="1200" dirty="0"/>
          </a:p>
        </p:txBody>
      </p:sp>
      <p:graphicFrame>
        <p:nvGraphicFramePr>
          <p:cNvPr id="7" name="Tabela"/>
          <p:cNvGraphicFramePr>
            <a:graphicFrameLocks noGrp="1"/>
          </p:cNvGraphicFramePr>
          <p:nvPr/>
        </p:nvGraphicFramePr>
        <p:xfrm>
          <a:off x="711403" y="1655628"/>
          <a:ext cx="10771632" cy="1150365"/>
        </p:xfrm>
        <a:graphic>
          <a:graphicData uri="http://schemas.openxmlformats.org/drawingml/2006/table">
            <a:tbl>
              <a:tblPr firstRow="1"/>
              <a:tblGrid>
                <a:gridCol w="8907311"/>
                <a:gridCol w="1864321"/>
              </a:tblGrid>
              <a:tr h="230073">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Critérios</a:t>
                      </a:r>
                      <a:endParaRPr lang="pt-BR" sz="1300" dirty="0"/>
                    </a:p>
                  </a:txBody>
                  <a:tcPr marL="91440" marR="91440" marT="18288" marB="18288" anchor="ctr">
                    <a:lnL w="0">
                      <a:noFill/>
                    </a:lnL>
                    <a:lnR w="0">
                      <a:noFill/>
                    </a:lnR>
                    <a:lnT w="0">
                      <a:noFill/>
                    </a:lnT>
                    <a:lnB w="0">
                      <a:noFill/>
                    </a:lnB>
                    <a:solidFill>
                      <a:srgbClr val="4E7C8B"/>
                    </a:solidFill>
                  </a:tcPr>
                </a:tc>
                <a:tc>
                  <a:txBody>
                    <a:bodyPr/>
                    <a:lstStyle/>
                    <a:p>
                      <a:pPr algn="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Pontos</a:t>
                      </a:r>
                      <a:endParaRPr lang="pt-BR" sz="1300" dirty="0"/>
                    </a:p>
                  </a:txBody>
                  <a:tcPr marL="91440" marR="91440" marT="18288" marB="18288" anchor="ctr">
                    <a:lnL w="0">
                      <a:noFill/>
                    </a:lnL>
                    <a:lnR w="0">
                      <a:noFill/>
                    </a:lnR>
                    <a:lnT w="0">
                      <a:noFill/>
                    </a:lnT>
                    <a:lnB w="0">
                      <a:noFill/>
                    </a:lnB>
                    <a:solidFill>
                      <a:srgbClr val="4E7C8B"/>
                    </a:solidFill>
                  </a:tcPr>
                </a:tc>
              </a:tr>
              <a:tr h="230073">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Sinais clínicos de TVP</a:t>
                      </a:r>
                      <a:endParaRPr lang="pt-BR" sz="1300" dirty="0"/>
                    </a:p>
                  </a:txBody>
                  <a:tcPr marL="91440" marR="91440" marT="18288" marB="18288" anchor="ctr">
                    <a:lnL w="0">
                      <a:noFill/>
                    </a:lnL>
                    <a:lnR w="0">
                      <a:noFill/>
                    </a:lnR>
                    <a:lnT w="0">
                      <a:noFill/>
                    </a:lnT>
                    <a:lnB w="12700">
                      <a:solidFill>
                        <a:srgbClr val="E4E6E7"/>
                      </a:solidFill>
                    </a:lnB>
                    <a:solidFill>
                      <a:srgbClr val="FBFCFC"/>
                    </a:solidFill>
                  </a:tcPr>
                </a:tc>
                <a:tc>
                  <a:txBody>
                    <a:bodyPr/>
                    <a:lstStyle/>
                    <a:p>
                      <a:pPr algn="r" marL="0" indent="0">
                        <a:lnSpc>
                          <a:spcPct val="100000"/>
                        </a:lnSpc>
                        <a:spcBef>
                          <a:spcPts val="0"/>
                        </a:spcBef>
                        <a:spcAft>
                          <a:spcPts val="0"/>
                        </a:spcAft>
                        <a:buNone/>
                      </a:pPr>
                      <a:r>
                        <a:rPr lang="pt-BR" sz="1300" b="0" i="0" dirty="0">
                          <a:solidFill>
                            <a:srgbClr val="5F6468"/>
                          </a:solidFill>
                          <a:latin typeface="Roboto"/>
                          <a:ea typeface="Roboto"/>
                          <a:cs typeface="Roboto"/>
                        </a:rPr>
                        <a:t>+3</a:t>
                      </a:r>
                      <a:endParaRPr lang="pt-BR" sz="1300" dirty="0"/>
                    </a:p>
                  </a:txBody>
                  <a:tcPr marL="91440" marR="91440" marT="18288" marB="18288" anchor="ctr">
                    <a:lnL w="0">
                      <a:noFill/>
                    </a:lnL>
                    <a:lnR w="0">
                      <a:noFill/>
                    </a:lnR>
                    <a:lnT w="0">
                      <a:noFill/>
                    </a:lnT>
                    <a:lnB w="12700">
                      <a:solidFill>
                        <a:srgbClr val="E4E6E7"/>
                      </a:solidFill>
                    </a:lnB>
                    <a:solidFill>
                      <a:srgbClr val="FBFCFC"/>
                    </a:solidFill>
                  </a:tcPr>
                </a:tc>
              </a:tr>
              <a:tr h="230073">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Ausência de diagnóstico alternativo mais provável que TEP</a:t>
                      </a:r>
                      <a:endParaRPr lang="pt-BR" sz="1300" dirty="0"/>
                    </a:p>
                  </a:txBody>
                  <a:tcPr marL="91440" marR="91440" marT="18288" marB="18288" anchor="ctr">
                    <a:lnL w="0">
                      <a:noFill/>
                    </a:lnL>
                    <a:lnR w="0">
                      <a:noFill/>
                    </a:lnR>
                    <a:lnT w="0">
                      <a:noFill/>
                    </a:lnT>
                    <a:lnB w="12700">
                      <a:solidFill>
                        <a:srgbClr val="E4E6E7"/>
                      </a:solidFill>
                    </a:lnB>
                    <a:solidFill>
                      <a:srgbClr val="F2F4F5"/>
                    </a:solidFill>
                  </a:tcPr>
                </a:tc>
                <a:tc>
                  <a:txBody>
                    <a:bodyPr/>
                    <a:lstStyle/>
                    <a:p>
                      <a:pPr algn="r" marL="0" indent="0">
                        <a:lnSpc>
                          <a:spcPct val="100000"/>
                        </a:lnSpc>
                        <a:spcBef>
                          <a:spcPts val="0"/>
                        </a:spcBef>
                        <a:spcAft>
                          <a:spcPts val="0"/>
                        </a:spcAft>
                        <a:buNone/>
                      </a:pPr>
                      <a:r>
                        <a:rPr lang="pt-BR" sz="1300" b="0" i="0" dirty="0">
                          <a:solidFill>
                            <a:srgbClr val="5F6468"/>
                          </a:solidFill>
                          <a:latin typeface="Roboto"/>
                          <a:ea typeface="Roboto"/>
                          <a:cs typeface="Roboto"/>
                        </a:rPr>
                        <a:t>+3</a:t>
                      </a:r>
                      <a:endParaRPr lang="pt-BR" sz="1300" dirty="0"/>
                    </a:p>
                  </a:txBody>
                  <a:tcPr marL="91440" marR="91440" marT="18288" marB="18288" anchor="ctr">
                    <a:lnL w="0">
                      <a:noFill/>
                    </a:lnL>
                    <a:lnR w="0">
                      <a:noFill/>
                    </a:lnR>
                    <a:lnT w="0">
                      <a:noFill/>
                    </a:lnT>
                    <a:lnB w="12700">
                      <a:solidFill>
                        <a:srgbClr val="E4E6E7"/>
                      </a:solidFill>
                    </a:lnB>
                    <a:solidFill>
                      <a:srgbClr val="F2F4F5"/>
                    </a:solidFill>
                  </a:tcPr>
                </a:tc>
              </a:tr>
              <a:tr h="230073">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TVP ou TEP prévios</a:t>
                      </a:r>
                      <a:endParaRPr lang="pt-BR" sz="1300" dirty="0"/>
                    </a:p>
                  </a:txBody>
                  <a:tcPr marL="91440" marR="91440" marT="18288" marB="18288" anchor="ctr">
                    <a:lnL w="0">
                      <a:noFill/>
                    </a:lnL>
                    <a:lnR w="0">
                      <a:noFill/>
                    </a:lnR>
                    <a:lnT w="0">
                      <a:noFill/>
                    </a:lnT>
                    <a:lnB w="12700">
                      <a:solidFill>
                        <a:srgbClr val="E4E6E7"/>
                      </a:solidFill>
                    </a:lnB>
                    <a:solidFill>
                      <a:srgbClr val="FBFCFC"/>
                    </a:solidFill>
                  </a:tcPr>
                </a:tc>
                <a:tc>
                  <a:txBody>
                    <a:bodyPr/>
                    <a:lstStyle/>
                    <a:p>
                      <a:pPr algn="r" marL="0" indent="0">
                        <a:lnSpc>
                          <a:spcPct val="100000"/>
                        </a:lnSpc>
                        <a:spcBef>
                          <a:spcPts val="0"/>
                        </a:spcBef>
                        <a:spcAft>
                          <a:spcPts val="0"/>
                        </a:spcAft>
                        <a:buNone/>
                      </a:pPr>
                      <a:r>
                        <a:rPr lang="pt-BR" sz="1300" b="0" i="0" dirty="0">
                          <a:solidFill>
                            <a:srgbClr val="5F6468"/>
                          </a:solidFill>
                          <a:latin typeface="Roboto"/>
                          <a:ea typeface="Roboto"/>
                          <a:cs typeface="Roboto"/>
                        </a:rPr>
                        <a:t>+1,5</a:t>
                      </a:r>
                      <a:endParaRPr lang="pt-BR" sz="1300" dirty="0"/>
                    </a:p>
                  </a:txBody>
                  <a:tcPr marL="91440" marR="91440" marT="18288" marB="18288" anchor="ctr">
                    <a:lnL w="0">
                      <a:noFill/>
                    </a:lnL>
                    <a:lnR w="0">
                      <a:noFill/>
                    </a:lnR>
                    <a:lnT w="0">
                      <a:noFill/>
                    </a:lnT>
                    <a:lnB w="12700">
                      <a:solidFill>
                        <a:srgbClr val="E4E6E7"/>
                      </a:solidFill>
                    </a:lnB>
                    <a:solidFill>
                      <a:srgbClr val="FBFCFC"/>
                    </a:solidFill>
                  </a:tcPr>
                </a:tc>
              </a:tr>
              <a:tr h="230073">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FC &gt; 100 bpm</a:t>
                      </a:r>
                      <a:endParaRPr lang="pt-BR" sz="1300" dirty="0"/>
                    </a:p>
                  </a:txBody>
                  <a:tcPr marL="91440" marR="91440" marT="18288" marB="18288" anchor="ctr">
                    <a:lnL w="0">
                      <a:noFill/>
                    </a:lnL>
                    <a:lnR w="0">
                      <a:noFill/>
                    </a:lnR>
                    <a:lnT w="0">
                      <a:noFill/>
                    </a:lnT>
                    <a:lnB w="12700">
                      <a:solidFill>
                        <a:srgbClr val="E4E6E7"/>
                      </a:solidFill>
                    </a:lnB>
                    <a:solidFill>
                      <a:srgbClr val="F2F4F5"/>
                    </a:solidFill>
                  </a:tcPr>
                </a:tc>
                <a:tc>
                  <a:txBody>
                    <a:bodyPr/>
                    <a:lstStyle/>
                    <a:p>
                      <a:pPr algn="r" marL="0" indent="0">
                        <a:lnSpc>
                          <a:spcPct val="100000"/>
                        </a:lnSpc>
                        <a:spcBef>
                          <a:spcPts val="0"/>
                        </a:spcBef>
                        <a:spcAft>
                          <a:spcPts val="0"/>
                        </a:spcAft>
                        <a:buNone/>
                      </a:pPr>
                      <a:r>
                        <a:rPr lang="pt-BR" sz="1300" b="0" i="0" dirty="0">
                          <a:solidFill>
                            <a:srgbClr val="5F6468"/>
                          </a:solidFill>
                          <a:latin typeface="Roboto"/>
                          <a:ea typeface="Roboto"/>
                          <a:cs typeface="Roboto"/>
                        </a:rPr>
                        <a:t>+1,5</a:t>
                      </a:r>
                      <a:endParaRPr lang="pt-BR" sz="1300" dirty="0"/>
                    </a:p>
                  </a:txBody>
                  <a:tcPr marL="91440" marR="91440" marT="18288" marB="18288" anchor="ctr">
                    <a:lnL w="0">
                      <a:noFill/>
                    </a:lnL>
                    <a:lnR w="0">
                      <a:noFill/>
                    </a:lnR>
                    <a:lnT w="0">
                      <a:noFill/>
                    </a:lnT>
                    <a:lnB w="12700">
                      <a:solidFill>
                        <a:srgbClr val="E4E6E7"/>
                      </a:solidFill>
                    </a:lnB>
                    <a:solidFill>
                      <a:srgbClr val="F2F4F5"/>
                    </a:solidFill>
                  </a:tcPr>
                </a:tc>
              </a:tr>
            </a:tbl>
          </a:graphicData>
        </a:graphic>
      </p:graphicFrame>
      <p:sp>
        <p:nvSpPr>
          <p:cNvPr id="10" name="Nota"/>
          <p:cNvSpPr txBox="1"/>
          <p:nvPr/>
        </p:nvSpPr>
        <p:spPr>
          <a:xfrm>
            <a:off x="711403" y="2875993"/>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TVP: trombose venosa profunda; TEP: tromboembolismo pulmonar; bpm: batimentos por minuto.</a:t>
            </a:r>
            <a:endParaRPr lang="pt-BR" sz="1200" dirty="0"/>
          </a:p>
        </p:txBody>
      </p:sp>
    </p:spTree>
    <p:extLst>
      <p:ext uri="{BB962C8B-B14F-4D97-AF65-F5344CB8AC3E}">
        <p14:creationId xmlns:p14="http://schemas.microsoft.com/office/powerpoint/2010/main" val="3629954022"/>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Recomendações para AngioTC na Suspeita de SCA ou TEP/ SAA</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112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6" name="Legenda"/>
          <p:cNvSpPr txBox="1"/>
          <p:nvPr/>
        </p:nvSpPr>
        <p:spPr>
          <a:xfrm>
            <a:off x="711403" y="1417320"/>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0" dirty="0">
                <a:solidFill>
                  <a:srgbClr val="4E7C8B"/>
                </a:solidFill>
                <a:latin typeface="Roboto Medium"/>
                <a:ea typeface="Roboto Medium"/>
                <a:cs typeface="Roboto Medium"/>
              </a:rPr>
              <a:t>Tabela 36 – Recomendações da angiotomografia das artérias coronárias na suspeita de síndrome coronariana aguda</a:t>
            </a:r>
            <a:endParaRPr lang="pt-BR" sz="1200" dirty="0"/>
          </a:p>
        </p:txBody>
      </p:sp>
      <p:graphicFrame>
        <p:nvGraphicFramePr>
          <p:cNvPr id="7" name="Tabela"/>
          <p:cNvGraphicFramePr>
            <a:graphicFrameLocks noGrp="1"/>
          </p:cNvGraphicFramePr>
          <p:nvPr/>
        </p:nvGraphicFramePr>
        <p:xfrm>
          <a:off x="1271403" y="1655628"/>
          <a:ext cx="10211632" cy="2398626"/>
        </p:xfrm>
        <a:graphic>
          <a:graphicData uri="http://schemas.openxmlformats.org/drawingml/2006/table">
            <a:tbl>
              <a:tblPr firstRow="1"/>
              <a:tblGrid>
                <a:gridCol w="7011632"/>
                <a:gridCol w="1700000"/>
                <a:gridCol w="1500000"/>
              </a:tblGrid>
              <a:tr h="519904">
                <a:tc>
                  <a:txBody>
                    <a:bodyPr/>
                    <a:lstStyle/>
                    <a:p>
                      <a:pPr algn="l" marL="0" indent="0">
                        <a:lnSpc>
                          <a:spcPct val="100000"/>
                        </a:lnSpc>
                        <a:spcBef>
                          <a:spcPts val="0"/>
                        </a:spcBef>
                        <a:spcAft>
                          <a:spcPts val="0"/>
                        </a:spcAft>
                        <a:buNone/>
                      </a:pP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Classe de recomendação</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Nível de evidência</a:t>
                      </a:r>
                      <a:endParaRPr lang="pt-BR" sz="1300" dirty="0"/>
                    </a:p>
                  </a:txBody>
                  <a:tcPr marL="91440" marR="91440" marT="54864" marB="54864" anchor="ctr">
                    <a:lnL w="0">
                      <a:noFill/>
                    </a:lnL>
                    <a:lnR w="0">
                      <a:noFill/>
                    </a:lnR>
                    <a:lnT w="0">
                      <a:noFill/>
                    </a:lnT>
                    <a:lnB w="0">
                      <a:noFill/>
                    </a:lnB>
                    <a:solidFill>
                      <a:srgbClr val="4E7C8B"/>
                    </a:solidFill>
                  </a:tcPr>
                </a:tc>
              </a:tr>
              <a:tr h="72079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Avaliação de pacientes com suspeita de SCA de risco baixo ou intermediário com ECG normal ou não diagnóstico e marcadores de injúria miocárdica normais ou alterados, porém sem definição de infarto miocárdico*.</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A</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r>
              <a:tr h="519904">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Avaliação de pacientes com dor torácica aguda pela técnica do descarte triplo (</a:t>
                      </a:r>
                      <a:r>
                        <a:rPr lang="pt-BR" sz="1300" b="0" i="1" dirty="0">
                          <a:solidFill>
                            <a:srgbClr val="5F6468"/>
                          </a:solidFill>
                          <a:latin typeface="Roboto"/>
                          <a:ea typeface="Roboto"/>
                          <a:cs typeface="Roboto"/>
                        </a:rPr>
                        <a:t>triple rule-out</a:t>
                      </a:r>
                      <a:r>
                        <a:rPr lang="pt-BR" sz="1300" b="0" i="0" dirty="0">
                          <a:solidFill>
                            <a:srgbClr val="5F6468"/>
                          </a:solidFill>
                          <a:latin typeface="Roboto"/>
                          <a:ea typeface="Roboto"/>
                          <a:cs typeface="Roboto"/>
                        </a:rPr>
                        <a:t>).</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IIb</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r>
              <a:tr h="319010">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Avaliação de pacientes com suspeita de SCA e critérios de risco alto.</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III</a:t>
                      </a:r>
                      <a:endParaRPr lang="pt-BR" sz="1300" dirty="0"/>
                    </a:p>
                  </a:txBody>
                  <a:tcPr marL="91440" marR="91440" marT="54864" marB="54864" anchor="ctr">
                    <a:lnL w="0">
                      <a:noFill/>
                    </a:lnL>
                    <a:lnR w="0">
                      <a:noFill/>
                    </a:lnR>
                    <a:lnT w="0">
                      <a:noFill/>
                    </a:lnT>
                    <a:lnB w="12700">
                      <a:solidFill>
                        <a:srgbClr val="FBFCFC"/>
                      </a:solidFill>
                    </a:lnB>
                    <a:solidFill>
                      <a:srgbClr val="B5533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a:t>
                      </a:r>
                      <a:endParaRPr lang="pt-BR" sz="1300" dirty="0"/>
                    </a:p>
                  </a:txBody>
                  <a:tcPr marL="91440" marR="91440" marT="54864" marB="54864" anchor="ctr">
                    <a:lnL w="0">
                      <a:noFill/>
                    </a:lnL>
                    <a:lnR w="0">
                      <a:noFill/>
                    </a:lnR>
                    <a:lnT w="0">
                      <a:noFill/>
                    </a:lnT>
                    <a:lnB w="12700">
                      <a:solidFill>
                        <a:srgbClr val="FBFCFC"/>
                      </a:solidFill>
                    </a:lnB>
                    <a:solidFill>
                      <a:srgbClr val="B5533C"/>
                    </a:solidFill>
                  </a:tcPr>
                </a:tc>
              </a:tr>
              <a:tr h="319010">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Avaliação de pacientes com diagnóstico definitivo de infarto do miocárdio</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III</a:t>
                      </a:r>
                      <a:endParaRPr lang="pt-BR" sz="1300" dirty="0"/>
                    </a:p>
                  </a:txBody>
                  <a:tcPr marL="91440" marR="91440" marT="54864" marB="54864" anchor="ctr">
                    <a:lnL w="0">
                      <a:noFill/>
                    </a:lnL>
                    <a:lnR w="0">
                      <a:noFill/>
                    </a:lnR>
                    <a:lnT w="0">
                      <a:noFill/>
                    </a:lnT>
                    <a:lnB w="12700">
                      <a:solidFill>
                        <a:srgbClr val="FBFCFC"/>
                      </a:solidFill>
                    </a:lnB>
                    <a:solidFill>
                      <a:srgbClr val="B5533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a:t>
                      </a:r>
                      <a:endParaRPr lang="pt-BR" sz="1300" dirty="0"/>
                    </a:p>
                  </a:txBody>
                  <a:tcPr marL="91440" marR="91440" marT="54864" marB="54864" anchor="ctr">
                    <a:lnL w="0">
                      <a:noFill/>
                    </a:lnL>
                    <a:lnR w="0">
                      <a:noFill/>
                    </a:lnR>
                    <a:lnT w="0">
                      <a:noFill/>
                    </a:lnT>
                    <a:lnB w="12700">
                      <a:solidFill>
                        <a:srgbClr val="FBFCFC"/>
                      </a:solidFill>
                    </a:lnB>
                    <a:solidFill>
                      <a:srgbClr val="B5533C"/>
                    </a:solidFill>
                  </a:tcPr>
                </a:tc>
              </a:tr>
            </a:tbl>
          </a:graphicData>
        </a:graphic>
      </p:graphicFrame>
      <p:sp>
        <p:nvSpPr>
          <p:cNvPr id="8" name="Destaque da linha"/>
          <p:cNvSpPr/>
          <p:nvPr/>
        </p:nvSpPr>
        <p:spPr>
          <a:xfrm>
            <a:off x="1271403" y="2896330"/>
            <a:ext cx="10211632" cy="519904"/>
          </a:xfrm>
          <a:prstGeom prst="rect">
            <a:avLst/>
          </a:prstGeom>
          <a:noFill/>
          <a:ln w="38100">
            <a:solidFill>
              <a:srgbClr val="B5533C"/>
            </a:solidFill>
          </a:ln>
        </p:spPr>
        <p:txBody>
          <a:bodyPr wrap="square" lIns="91440" rIns="91440" tIns="45720" bIns="45720" anchor="ctr">
            <a:noAutofit/>
          </a:bodyPr>
          <a:lstStyle/>
          <a:p>
            <a:endParaRPr lang="pt-BR"/>
          </a:p>
        </p:txBody>
      </p:sp>
      <p:sp>
        <p:nvSpPr>
          <p:cNvPr id="9" name="Seta"/>
          <p:cNvSpPr/>
          <p:nvPr/>
        </p:nvSpPr>
        <p:spPr>
          <a:xfrm>
            <a:off x="711403" y="2996282"/>
            <a:ext cx="460000" cy="320000"/>
          </a:xfrm>
          <a:prstGeom prst="rightArrow">
            <a:avLst/>
          </a:prstGeom>
          <a:solidFill>
            <a:srgbClr val="4E7C8B"/>
          </a:solidFill>
          <a:ln>
            <a:noFill/>
          </a:ln>
        </p:spPr>
        <p:txBody>
          <a:bodyPr wrap="square" lIns="91440" rIns="91440" tIns="45720" bIns="45720" anchor="ctr">
            <a:noAutofit/>
          </a:bodyPr>
          <a:lstStyle/>
          <a:p>
            <a:endParaRPr lang="pt-BR"/>
          </a:p>
        </p:txBody>
      </p:sp>
      <p:sp>
        <p:nvSpPr>
          <p:cNvPr id="10" name="Nota"/>
          <p:cNvSpPr txBox="1"/>
          <p:nvPr/>
        </p:nvSpPr>
        <p:spPr>
          <a:xfrm>
            <a:off x="711403" y="4114254"/>
            <a:ext cx="10771632" cy="733232"/>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SCA: síndrome coronariana aguda; ECG: eletrocardiograma. *Se kit disponível for a troponina convencional (sem critérios de alta sensibilidade), a aplicação da CTA nos casos negativos reduz a taxa e o tempo de internação; nos locais com troponina de alta sensibilidade, a CTA ajuda em casos sem definição diagnóstica, incluindo aqueles com elevações até níveis intermediários (reduz necessidade de cateterismo, sem aumento de eventos cardiovasculares após 1 ano de acompanhamento).</a:t>
            </a:r>
            <a:endParaRPr lang="pt-BR" sz="1200" dirty="0"/>
          </a:p>
        </p:txBody>
      </p:sp>
    </p:spTree>
    <p:extLst>
      <p:ext uri="{BB962C8B-B14F-4D97-AF65-F5344CB8AC3E}">
        <p14:creationId xmlns:p14="http://schemas.microsoft.com/office/powerpoint/2010/main" val="1715900315"/>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Investigação não invasiva – Sem DAC conhecida (1/2)</a:t>
            </a:r>
            <a:endParaRPr lang="pt-BR" dirty="0" sz="3200"/>
          </a:p>
        </p:txBody>
      </p:sp>
      <p:sp>
        <p:nvSpPr>
          <p:cNvPr id="25" name="Nota"/>
          <p:cNvSpPr txBox="1"/>
          <p:nvPr/>
        </p:nvSpPr>
        <p:spPr>
          <a:xfrm>
            <a:off x="711403" y="4846320"/>
            <a:ext cx="10771632" cy="240000"/>
          </a:xfrm>
          <a:prstGeom prst="rect">
            <a:avLst/>
          </a:prstGeom>
          <a:noFill/>
        </p:spPr>
        <p:txBody>
          <a:bodyPr wrap="square" lIns="0" rIns="0" tIns="0" bIns="0" anchor="t">
            <a:spAutoFit/>
          </a:bodyPr>
          <a:lstStyle/>
          <a:p>
            <a:pPr algn="l"/>
            <a:r>
              <a:rPr sz="1200" b="0" i="0">
                <a:solidFill>
                  <a:srgbClr val="3B3F42"/>
                </a:solidFill>
                <a:latin typeface="Roboto Medium"/>
                <a:ea typeface="Roboto Medium"/>
                <a:cs typeface="Roboto Medium"/>
              </a:rPr>
              <a:t>*Escolha do teste deve ser guiada pela disponibilidade e expertise.</a:t>
            </a: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113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Fim/Início"/>
          <p:cNvSpPr/>
          <p:nvPr/>
        </p:nvSpPr>
        <p:spPr>
          <a:xfrm>
            <a:off x="711403" y="2212848"/>
            <a:ext cx="2377440" cy="603504"/>
          </a:xfrm>
          <a:prstGeom prst="roundRect">
            <a:avLst>
              <a:gd name="adj" fmla="val 50000"/>
            </a:avLst>
          </a:prstGeom>
          <a:solidFill>
            <a:srgbClr val="4E7C8B"/>
          </a:solidFill>
          <a:ln>
            <a:noFill/>
          </a:ln>
          <a:effectLst/>
        </p:spPr>
        <p:txBody>
          <a:bodyPr rtlCol="0" anchor="ctr" wrap="square" lIns="91440" rIns="91440" tIns="45720" bIns="45720"/>
          <a:lstStyle/>
          <a:p>
            <a:pPr algn="ctr"/>
            <a:r>
              <a:rPr lang="pt-BR" sz="1300" b="0" i="0" dirty="0">
                <a:solidFill>
                  <a:srgbClr val="FBFCFC"/>
                </a:solidFill>
                <a:latin typeface="Roboto Medium"/>
                <a:ea typeface="Roboto Medium"/>
                <a:cs typeface="Roboto Medium"/>
              </a:rPr>
              <a:t>Sem DAC conhecida</a:t>
            </a:r>
          </a:p>
        </p:txBody>
      </p:sp>
      <p:sp>
        <p:nvSpPr>
          <p:cNvPr id="302" name="Seta"/>
          <p:cNvSpPr/>
          <p:nvPr/>
        </p:nvSpPr>
        <p:spPr>
          <a:xfrm>
            <a:off x="3088843" y="2514600"/>
            <a:ext cx="548640" cy="1"/>
          </a:xfrm>
          <a:custGeom>
            <a:avLst/>
            <a:gdLst/>
            <a:ahLst/>
            <a:cxnLst/>
            <a:rect l="0" t="0" r="r" b="b"/>
            <a:pathLst>
              <a:path w="548640" h="1" fill="none">
                <a:moveTo>
                  <a:pt x="0" y="0"/>
                </a:moveTo>
                <a:lnTo>
                  <a:pt x="548640" y="0"/>
                </a:lnTo>
              </a:path>
            </a:pathLst>
          </a:custGeom>
          <a:noFill/>
          <a:ln w="19050">
            <a:solidFill>
              <a:srgbClr val="6B6E70"/>
            </a:solidFill>
            <a:round/>
            <a:tailEnd type="triangle" w="med" len="med"/>
          </a:ln>
          <a:effectLst/>
        </p:spPr>
      </p:sp>
      <p:sp>
        <p:nvSpPr>
          <p:cNvPr id="303" name="Decisão"/>
          <p:cNvSpPr/>
          <p:nvPr/>
        </p:nvSpPr>
        <p:spPr>
          <a:xfrm>
            <a:off x="3637483" y="1920240"/>
            <a:ext cx="2377440" cy="1188720"/>
          </a:xfrm>
          <a:prstGeom prst="diamond">
            <a:avLst/>
          </a:prstGeom>
          <a:solidFill>
            <a:srgbClr val="8EC4CB"/>
          </a:solidFill>
          <a:ln>
            <a:noFill/>
          </a:ln>
          <a:effectLst/>
        </p:spPr>
        <p:txBody>
          <a:bodyPr rtlCol="0" anchor="ctr" wrap="square" lIns="0" rIns="0" tIns="45720" bIns="45720"/>
          <a:lstStyle/>
          <a:p>
            <a:pPr algn="ctr"/>
            <a:r>
              <a:rPr lang="pt-BR" sz="1200" b="0" i="0" dirty="0">
                <a:solidFill>
                  <a:srgbClr val="1F3238"/>
                </a:solidFill>
                <a:latin typeface="Roboto Medium"/>
                <a:ea typeface="Roboto Medium"/>
                <a:cs typeface="Roboto Medium"/>
              </a:rPr>
              <a:t>Teste prévio?</a:t>
            </a:r>
          </a:p>
        </p:txBody>
      </p:sp>
      <p:sp>
        <p:nvSpPr>
          <p:cNvPr id="304" name="Seta"/>
          <p:cNvSpPr/>
          <p:nvPr/>
        </p:nvSpPr>
        <p:spPr>
          <a:xfrm>
            <a:off x="6014923" y="2514600"/>
            <a:ext cx="548640" cy="1"/>
          </a:xfrm>
          <a:custGeom>
            <a:avLst/>
            <a:gdLst/>
            <a:ahLst/>
            <a:cxnLst/>
            <a:rect l="0" t="0" r="r" b="b"/>
            <a:pathLst>
              <a:path w="548640" h="1" fill="none">
                <a:moveTo>
                  <a:pt x="0" y="0"/>
                </a:moveTo>
                <a:lnTo>
                  <a:pt x="548640" y="0"/>
                </a:lnTo>
              </a:path>
            </a:pathLst>
          </a:custGeom>
          <a:noFill/>
          <a:ln w="19050">
            <a:solidFill>
              <a:srgbClr val="6B6E70"/>
            </a:solidFill>
            <a:round/>
            <a:tailEnd type="triangle" w="med" len="med"/>
          </a:ln>
          <a:effectLst/>
        </p:spPr>
      </p:sp>
      <p:sp>
        <p:nvSpPr>
          <p:cNvPr id="305" name="Rótulo"/>
          <p:cNvSpPr txBox="1"/>
          <p:nvPr/>
        </p:nvSpPr>
        <p:spPr>
          <a:xfrm>
            <a:off x="6088075" y="2240280"/>
            <a:ext cx="41148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Sim</a:t>
            </a:r>
          </a:p>
        </p:txBody>
      </p:sp>
      <p:sp>
        <p:nvSpPr>
          <p:cNvPr id="306" name="Etapa"/>
          <p:cNvSpPr/>
          <p:nvPr/>
        </p:nvSpPr>
        <p:spPr>
          <a:xfrm>
            <a:off x="6563563" y="2212848"/>
            <a:ext cx="2377440" cy="603504"/>
          </a:xfrm>
          <a:prstGeom prst="rect">
            <a:avLst/>
          </a:prstGeom>
          <a:solidFill>
            <a:srgbClr val="F2F4F5"/>
          </a:solidFill>
          <a:ln w="12700">
            <a:solidFill>
              <a:srgbClr val="6E9DAB"/>
            </a:solidFill>
          </a:ln>
          <a:effectLst/>
        </p:spPr>
        <p:txBody>
          <a:bodyPr rtlCol="0" anchor="ctr" wrap="square" lIns="91440" rIns="91440" tIns="45720" bIns="45720"/>
          <a:lstStyle/>
          <a:p>
            <a:pPr algn="ctr"/>
            <a:r>
              <a:rPr lang="pt-BR" sz="1300" b="0" i="0" dirty="0">
                <a:solidFill>
                  <a:srgbClr val="3B3F42"/>
                </a:solidFill>
                <a:latin typeface="Roboto Medium"/>
                <a:ea typeface="Roboto Medium"/>
                <a:cs typeface="Roboto Medium"/>
              </a:rPr>
              <a:t>Resultado do teste</a:t>
            </a:r>
          </a:p>
        </p:txBody>
      </p:sp>
      <p:sp>
        <p:nvSpPr>
          <p:cNvPr id="307" name="Fim/Início"/>
          <p:cNvSpPr/>
          <p:nvPr/>
        </p:nvSpPr>
        <p:spPr>
          <a:xfrm>
            <a:off x="6563563" y="3813048"/>
            <a:ext cx="2377440" cy="603504"/>
          </a:xfrm>
          <a:prstGeom prst="roundRect">
            <a:avLst>
              <a:gd name="adj" fmla="val 50000"/>
            </a:avLst>
          </a:prstGeom>
          <a:solidFill>
            <a:srgbClr val="4E7C8B"/>
          </a:solidFill>
          <a:ln>
            <a:noFill/>
          </a:ln>
          <a:effectLst/>
        </p:spPr>
        <p:txBody>
          <a:bodyPr rtlCol="0" anchor="ctr" wrap="square" lIns="91440" rIns="91440" tIns="45720" bIns="45720"/>
          <a:lstStyle/>
          <a:p>
            <a:pPr algn="ctr"/>
            <a:r>
              <a:rPr lang="pt-BR" sz="1300" b="0" i="0" dirty="0">
                <a:solidFill>
                  <a:srgbClr val="FBFCFC"/>
                </a:solidFill>
                <a:latin typeface="Roboto Medium"/>
                <a:ea typeface="Roboto Medium"/>
                <a:cs typeface="Roboto Medium"/>
              </a:rPr>
              <a:t>Angio-TC ou estresse*</a:t>
            </a:r>
          </a:p>
        </p:txBody>
      </p:sp>
      <p:sp>
        <p:nvSpPr>
          <p:cNvPr id="308" name="Seta"/>
          <p:cNvSpPr/>
          <p:nvPr/>
        </p:nvSpPr>
        <p:spPr>
          <a:xfrm>
            <a:off x="4826203" y="3108960"/>
            <a:ext cx="1737360" cy="1005840"/>
          </a:xfrm>
          <a:custGeom>
            <a:avLst/>
            <a:gdLst/>
            <a:ahLst/>
            <a:cxnLst/>
            <a:rect l="0" t="0" r="r" b="b"/>
            <a:pathLst>
              <a:path w="1737360" h="1005840" fill="none">
                <a:moveTo>
                  <a:pt x="0" y="0"/>
                </a:moveTo>
                <a:lnTo>
                  <a:pt x="0" y="1005840"/>
                </a:lnTo>
                <a:lnTo>
                  <a:pt x="1737360" y="1005840"/>
                </a:lnTo>
              </a:path>
            </a:pathLst>
          </a:custGeom>
          <a:noFill/>
          <a:ln w="19050">
            <a:solidFill>
              <a:srgbClr val="6B6E70"/>
            </a:solidFill>
            <a:round/>
            <a:tailEnd type="triangle" w="med" len="med"/>
          </a:ln>
          <a:effectLst/>
        </p:spPr>
      </p:sp>
      <p:sp>
        <p:nvSpPr>
          <p:cNvPr id="309" name="Rótulo"/>
          <p:cNvSpPr txBox="1"/>
          <p:nvPr/>
        </p:nvSpPr>
        <p:spPr>
          <a:xfrm>
            <a:off x="4917643" y="3163824"/>
            <a:ext cx="45720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Não</a:t>
            </a:r>
          </a:p>
        </p:txBody>
      </p:sp>
    </p:spTree>
    <p:extLst>
      <p:ext uri="{BB962C8B-B14F-4D97-AF65-F5344CB8AC3E}">
        <p14:creationId xmlns:p14="http://schemas.microsoft.com/office/powerpoint/2010/main" val="4031354853"/>
      </p:ext>
    </p:extLst>
  </p:cSld>
  <p:clrMapOvr>
    <a:masterClrMapping/>
  </p:clrMapOvr>
  <p:timing>
    <p:tnLst>
      <p:par>
        <p:cTn id="1" dur="indefinite" restart="never" nodeType="tmRoot"/>
      </p:par>
    </p:tnLst>
  </p:timing>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Investigação não invasiva – Definições (sem DAC)</a:t>
            </a:r>
            <a:endParaRPr lang="pt-BR" dirty="0" sz="3200"/>
          </a:p>
        </p:txBody>
      </p:sp>
      <p:sp>
        <p:nvSpPr>
          <p:cNvPr id="3" name="Card"/>
          <p:cNvSpPr/>
          <p:nvPr/>
        </p:nvSpPr>
        <p:spPr>
          <a:xfrm>
            <a:off x="711403" y="1600000"/>
            <a:ext cx="5300000" cy="3000000"/>
          </a:xfrm>
          <a:prstGeom prst="rect">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aixa"/>
          <p:cNvSpPr/>
          <p:nvPr/>
        </p:nvSpPr>
        <p:spPr>
          <a:xfrm>
            <a:off x="711403" y="1600000"/>
            <a:ext cx="5300000" cy="38100"/>
          </a:xfrm>
          <a:prstGeom prst="rect">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ítulo do card"/>
          <p:cNvSpPr txBox="1"/>
          <p:nvPr/>
        </p:nvSpPr>
        <p:spPr>
          <a:xfrm>
            <a:off x="940003" y="1800000"/>
            <a:ext cx="4842800" cy="260000"/>
          </a:xfrm>
          <a:prstGeom prst="rect">
            <a:avLst/>
          </a:prstGeom>
          <a:noFill/>
        </p:spPr>
        <p:txBody>
          <a:bodyPr wrap="square" lIns="0" rIns="0" tIns="0" bIns="0" anchor="t">
            <a:spAutoFit/>
          </a:bodyPr>
          <a:lstStyle/>
          <a:p>
            <a:pPr algn="l"/>
            <a:r>
              <a:rPr sz="1500" b="0" i="0">
                <a:solidFill>
                  <a:srgbClr val="3B3F42"/>
                </a:solidFill>
                <a:latin typeface="Roboto Medium"/>
                <a:ea typeface="Roboto Medium"/>
                <a:cs typeface="Roboto Medium"/>
              </a:rPr>
              <a:t>Exame negativo recente</a:t>
            </a:r>
          </a:p>
        </p:txBody>
      </p:sp>
      <p:sp>
        <p:nvSpPr>
          <p:cNvPr id="6" name="Corpo do card"/>
          <p:cNvSpPr txBox="1"/>
          <p:nvPr/>
        </p:nvSpPr>
        <p:spPr>
          <a:xfrm>
            <a:off x="940003" y="2200000"/>
            <a:ext cx="4842800" cy="2300000"/>
          </a:xfrm>
          <a:prstGeom prst="rect">
            <a:avLst/>
          </a:prstGeom>
          <a:noFill/>
        </p:spPr>
        <p:txBody>
          <a:bodyPr wrap="square" lIns="0" rIns="0" tIns="0" bIns="0" anchor="t">
            <a:spAutoFit/>
          </a:bodyPr>
          <a:lstStyle/>
          <a:p>
            <a:pPr algn="l">
              <a:lnSpc>
                <a:spcPct val="120000"/>
              </a:lnSpc>
              <a:spcAft>
                <a:spcPts val="600"/>
              </a:spcAft>
            </a:pPr>
            <a:r>
              <a:rPr sz="1300" b="0" i="0">
                <a:solidFill>
                  <a:srgbClr val="3B3F42"/>
                </a:solidFill>
                <a:latin typeface="Roboto Medium"/>
                <a:ea typeface="Roboto Medium"/>
                <a:cs typeface="Roboto Medium"/>
              </a:rPr>
              <a:t>Angiografia coronária invasiva ou não-invasiva</a:t>
            </a:r>
            <a:r>
              <a:rPr sz="1300" b="0" i="0">
                <a:solidFill>
                  <a:srgbClr val="5F6468"/>
                </a:solidFill>
                <a:latin typeface="Roboto"/>
                <a:ea typeface="Roboto"/>
                <a:cs typeface="Roboto"/>
              </a:rPr>
              <a:t> (angiotomografia) completamente normal (sem placa ou estenose) realizada dentro de </a:t>
            </a:r>
            <a:r>
              <a:rPr sz="1300" b="0" i="0">
                <a:solidFill>
                  <a:srgbClr val="3B3F42"/>
                </a:solidFill>
                <a:latin typeface="Roboto Medium"/>
                <a:ea typeface="Roboto Medium"/>
                <a:cs typeface="Roboto Medium"/>
              </a:rPr>
              <a:t>2 anos</a:t>
            </a:r>
          </a:p>
          <a:p>
            <a:pPr algn="l">
              <a:lnSpc>
                <a:spcPct val="120000"/>
              </a:lnSpc>
              <a:spcAft>
                <a:spcPts val="600"/>
              </a:spcAft>
            </a:pPr>
            <a:r>
              <a:rPr sz="1300" b="0" i="0">
                <a:solidFill>
                  <a:srgbClr val="5F6468"/>
                </a:solidFill>
                <a:latin typeface="Roboto"/>
                <a:ea typeface="Roboto"/>
                <a:cs typeface="Roboto"/>
              </a:rPr>
              <a:t>ou </a:t>
            </a:r>
            <a:r>
              <a:rPr sz="1300" b="0" i="0">
                <a:solidFill>
                  <a:srgbClr val="3B3F42"/>
                </a:solidFill>
                <a:latin typeface="Roboto Medium"/>
                <a:ea typeface="Roboto Medium"/>
                <a:cs typeface="Roboto Medium"/>
              </a:rPr>
              <a:t>Teste funcional com estresse adequado</a:t>
            </a:r>
            <a:r>
              <a:rPr sz="1300" b="0" i="0">
                <a:solidFill>
                  <a:srgbClr val="5F6468"/>
                </a:solidFill>
                <a:latin typeface="Roboto"/>
                <a:ea typeface="Roboto"/>
                <a:cs typeface="Roboto"/>
              </a:rPr>
              <a:t> e resultado normal realizado dentro de </a:t>
            </a:r>
            <a:r>
              <a:rPr sz="1300" b="0" i="0">
                <a:solidFill>
                  <a:srgbClr val="3B3F42"/>
                </a:solidFill>
                <a:latin typeface="Roboto Medium"/>
                <a:ea typeface="Roboto Medium"/>
                <a:cs typeface="Roboto Medium"/>
              </a:rPr>
              <a:t>1 ano</a:t>
            </a:r>
            <a:r>
              <a:rPr sz="1300" b="0" i="0">
                <a:solidFill>
                  <a:srgbClr val="5F6468"/>
                </a:solidFill>
                <a:latin typeface="Roboto"/>
                <a:ea typeface="Roboto"/>
                <a:cs typeface="Roboto"/>
              </a:rPr>
              <a:t> do quadro atual de dor torácica</a:t>
            </a:r>
          </a:p>
          <a:p>
            <a:pPr algn="l">
              <a:lnSpc>
                <a:spcPct val="120000"/>
              </a:lnSpc>
              <a:spcAft>
                <a:spcPts val="600"/>
              </a:spcAft>
            </a:pPr>
            <a:r>
              <a:rPr sz="1300" b="0" i="1">
                <a:solidFill>
                  <a:srgbClr val="5F6468"/>
                </a:solidFill>
                <a:latin typeface="Roboto"/>
                <a:ea typeface="Roboto"/>
                <a:cs typeface="Roboto"/>
              </a:rPr>
              <a:t>Obs: Improvável a presença de SCA e DAC significativa se exame negativo recente (a ausência de aterosclerose coronária na angiotomografia fornece o maior VPN para risco futuro de SCA)</a:t>
            </a:r>
          </a:p>
        </p:txBody>
      </p:sp>
      <p:sp>
        <p:nvSpPr>
          <p:cNvPr id="7" name="Card"/>
          <p:cNvSpPr/>
          <p:nvPr/>
        </p:nvSpPr>
        <p:spPr>
          <a:xfrm>
            <a:off x="6300000" y="1600000"/>
            <a:ext cx="5183035" cy="3000000"/>
          </a:xfrm>
          <a:prstGeom prst="rect">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ixa"/>
          <p:cNvSpPr/>
          <p:nvPr/>
        </p:nvSpPr>
        <p:spPr>
          <a:xfrm>
            <a:off x="6300000" y="1600000"/>
            <a:ext cx="5183035" cy="38100"/>
          </a:xfrm>
          <a:prstGeom prst="rect">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ítulo do card"/>
          <p:cNvSpPr txBox="1"/>
          <p:nvPr/>
        </p:nvSpPr>
        <p:spPr>
          <a:xfrm>
            <a:off x="6528600" y="1800000"/>
            <a:ext cx="4725835" cy="260000"/>
          </a:xfrm>
          <a:prstGeom prst="rect">
            <a:avLst/>
          </a:prstGeom>
          <a:noFill/>
        </p:spPr>
        <p:txBody>
          <a:bodyPr wrap="square" lIns="0" rIns="0" tIns="0" bIns="0" anchor="t">
            <a:spAutoFit/>
          </a:bodyPr>
          <a:lstStyle/>
          <a:p>
            <a:pPr algn="l"/>
            <a:r>
              <a:rPr sz="1500" b="0" i="0">
                <a:solidFill>
                  <a:srgbClr val="3B3F42"/>
                </a:solidFill>
                <a:latin typeface="Roboto Medium"/>
                <a:ea typeface="Roboto Medium"/>
                <a:cs typeface="Roboto Medium"/>
              </a:rPr>
              <a:t>Teste de estresse</a:t>
            </a:r>
          </a:p>
        </p:txBody>
      </p:sp>
      <p:sp>
        <p:nvSpPr>
          <p:cNvPr id="10" name="Corpo do card"/>
          <p:cNvSpPr txBox="1"/>
          <p:nvPr/>
        </p:nvSpPr>
        <p:spPr>
          <a:xfrm>
            <a:off x="6528600" y="2200000"/>
            <a:ext cx="4725835" cy="2300000"/>
          </a:xfrm>
          <a:prstGeom prst="rect">
            <a:avLst/>
          </a:prstGeom>
          <a:noFill/>
        </p:spPr>
        <p:txBody>
          <a:bodyPr wrap="square" lIns="0" rIns="0" tIns="0" bIns="0" anchor="t">
            <a:spAutoFit/>
          </a:bodyPr>
          <a:lstStyle/>
          <a:p>
            <a:pPr algn="l">
              <a:lnSpc>
                <a:spcPct val="120000"/>
              </a:lnSpc>
              <a:spcAft>
                <a:spcPts val="600"/>
              </a:spcAft>
            </a:pPr>
            <a:r>
              <a:rPr sz="1300" b="0" i="0">
                <a:solidFill>
                  <a:srgbClr val="5F6468"/>
                </a:solidFill>
                <a:latin typeface="Roboto"/>
                <a:ea typeface="Roboto"/>
                <a:cs typeface="Roboto"/>
              </a:rPr>
              <a:t>• Ecocardiograma com estresse</a:t>
            </a:r>
          </a:p>
          <a:p>
            <a:pPr algn="l">
              <a:lnSpc>
                <a:spcPct val="120000"/>
              </a:lnSpc>
              <a:spcAft>
                <a:spcPts val="600"/>
              </a:spcAft>
            </a:pPr>
            <a:r>
              <a:rPr sz="1300" b="0" i="0">
                <a:solidFill>
                  <a:srgbClr val="5F6468"/>
                </a:solidFill>
                <a:latin typeface="Roboto"/>
                <a:ea typeface="Roboto"/>
                <a:cs typeface="Roboto"/>
              </a:rPr>
              <a:t>• PET/SPECT com estresse</a:t>
            </a:r>
          </a:p>
          <a:p>
            <a:pPr algn="l">
              <a:lnSpc>
                <a:spcPct val="120000"/>
              </a:lnSpc>
              <a:spcAft>
                <a:spcPts val="600"/>
              </a:spcAft>
            </a:pPr>
            <a:r>
              <a:rPr sz="1300" b="0" i="0">
                <a:solidFill>
                  <a:srgbClr val="5F6468"/>
                </a:solidFill>
                <a:latin typeface="Roboto"/>
                <a:ea typeface="Roboto"/>
                <a:cs typeface="Roboto"/>
              </a:rPr>
              <a:t>• Ressonância de coração com estresse farmacológico</a:t>
            </a:r>
          </a:p>
          <a:p>
            <a:pPr algn="l">
              <a:lnSpc>
                <a:spcPct val="120000"/>
              </a:lnSpc>
              <a:spcAft>
                <a:spcPts val="600"/>
              </a:spcAft>
            </a:pPr>
            <a:r>
              <a:rPr sz="1300" b="0" i="0">
                <a:solidFill>
                  <a:srgbClr val="5F6468"/>
                </a:solidFill>
                <a:latin typeface="Roboto"/>
                <a:ea typeface="Roboto"/>
                <a:cs typeface="Roboto"/>
              </a:rPr>
              <a:t>• Teste de esforço (idealmente com avaliação de imagem associada)</a:t>
            </a: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115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Troponina e ECG normais não é sempre = Baixo Risco e alta precoce em todos... Valorize a Angina Instável !</a:t>
            </a:r>
          </a:p>
        </p:txBody>
      </p:sp>
      <p:sp>
        <p:nvSpPr>
          <p:cNvPr id="3" name="Caixa 3"/>
          <p:cNvSpPr txBox="1"/>
          <p:nvPr/>
        </p:nvSpPr>
        <p:spPr>
          <a:xfrm>
            <a:off x="711403" y="2100000"/>
            <a:ext cx="4500000" cy="3000000"/>
          </a:xfrm>
          <a:prstGeom prst="rect">
            <a:avLst/>
          </a:prstGeom>
          <a:solidFill>
            <a:srgbClr val="F2F4F5"/>
          </a:solidFill>
        </p:spPr>
        <p:txBody>
          <a:bodyPr wrap="square" lIns="240000" tIns="200000" rIns="240000" bIns="200000" anchor="ctr">
            <a:noAutofit/>
          </a:bodyPr>
          <a:lstStyle/>
          <a:p>
            <a:pPr marL="0" indent="0" algn="l">
              <a:lnSpc>
                <a:spcPct val="120000"/>
              </a:lnSpc>
              <a:spcBef>
                <a:spcPts val="0"/>
              </a:spcBef>
              <a:spcAft>
                <a:spcPts val="1200"/>
              </a:spcAft>
              <a:buNone/>
            </a:pPr>
            <a:r>
              <a:rPr lang="pt-BR" sz="1300" b="0" i="0" dirty="0">
                <a:solidFill>
                  <a:srgbClr val="5F6468"/>
                </a:solidFill>
                <a:latin typeface="Roboto"/>
                <a:ea typeface="Roboto"/>
                <a:cs typeface="Roboto"/>
              </a:rPr>
              <a:t>Paciente masc, 52 anos</a:t>
            </a:r>
          </a:p>
          <a:p>
            <a:pPr marL="0" indent="0" algn="l">
              <a:lnSpc>
                <a:spcPct val="120000"/>
              </a:lnSpc>
              <a:spcBef>
                <a:spcPts val="0"/>
              </a:spcBef>
              <a:spcAft>
                <a:spcPts val="1200"/>
              </a:spcAft>
              <a:buNone/>
            </a:pPr>
            <a:r>
              <a:rPr lang="pt-BR" sz="1300" b="0" i="0" dirty="0">
                <a:solidFill>
                  <a:srgbClr val="5F6468"/>
                </a:solidFill>
                <a:latin typeface="Roboto"/>
                <a:ea typeface="Roboto"/>
                <a:cs typeface="Roboto"/>
              </a:rPr>
              <a:t>Sem fatores de risco tradicionais</a:t>
            </a:r>
          </a:p>
          <a:p>
            <a:pPr marL="0" indent="0" algn="l">
              <a:lnSpc>
                <a:spcPct val="120000"/>
              </a:lnSpc>
              <a:spcBef>
                <a:spcPts val="0"/>
              </a:spcBef>
              <a:spcAft>
                <a:spcPts val="1200"/>
              </a:spcAft>
              <a:buNone/>
            </a:pPr>
            <a:r>
              <a:rPr lang="pt-BR" sz="1300" b="0" i="0" dirty="0">
                <a:solidFill>
                  <a:srgbClr val="B5533C"/>
                </a:solidFill>
                <a:latin typeface="Roboto Medium"/>
                <a:ea typeface="Roboto Medium"/>
                <a:cs typeface="Roboto Medium"/>
              </a:rPr>
              <a:t>Dor torácica típicamente anginosa</a:t>
            </a:r>
          </a:p>
          <a:p>
            <a:pPr marL="0" indent="0" algn="l">
              <a:lnSpc>
                <a:spcPct val="120000"/>
              </a:lnSpc>
              <a:spcBef>
                <a:spcPts val="0"/>
              </a:spcBef>
              <a:spcAft>
                <a:spcPts val="1200"/>
              </a:spcAft>
              <a:buNone/>
            </a:pPr>
            <a:r>
              <a:rPr lang="pt-BR" sz="1300" b="0" i="0" dirty="0">
                <a:solidFill>
                  <a:srgbClr val="5F6468"/>
                </a:solidFill>
                <a:latin typeface="Roboto"/>
                <a:ea typeface="Roboto"/>
                <a:cs typeface="Roboto"/>
              </a:rPr>
              <a:t>Curva de Troponina de alta sensibilidade e ECG normais ...</a:t>
            </a:r>
          </a:p>
          <a:p>
            <a:pPr marL="0" indent="0" algn="l">
              <a:lnSpc>
                <a:spcPct val="120000"/>
              </a:lnSpc>
              <a:spcBef>
                <a:spcPts val="0"/>
              </a:spcBef>
              <a:spcAft>
                <a:spcPts val="0"/>
              </a:spcAft>
              <a:buNone/>
            </a:pPr>
            <a:r>
              <a:rPr lang="pt-BR" sz="1300" b="0" i="0" dirty="0">
                <a:solidFill>
                  <a:srgbClr val="5F6468"/>
                </a:solidFill>
                <a:latin typeface="Roboto"/>
                <a:ea typeface="Roboto"/>
                <a:cs typeface="Roboto"/>
              </a:rPr>
              <a:t>Angiotomografia com lesões obstrutivas ACX e ACD</a:t>
            </a:r>
          </a:p>
        </p:txBody>
      </p:sp>
      <p:pic>
        <p:nvPicPr>
          <p:cNvPr id="4" name="Figura 4" descr="Coronariografias CAT e ICP"/>
          <p:cNvPicPr>
            <a:picLocks noChangeAspect="1"/>
          </p:cNvPicPr>
          <p:nvPr/>
        </p:nvPicPr>
        <p:blipFill>
          <a:blip r:embed="rId10"/>
          <a:stretch>
            <a:fillRect/>
          </a:stretch>
        </p:blipFill>
        <p:spPr>
          <a:xfrm>
            <a:off x="5762087" y="1650000"/>
            <a:ext cx="5470263" cy="3900000"/>
          </a:xfrm>
          <a:prstGeom prst="rect">
            <a:avLst/>
          </a:prstGeom>
        </p:spPr>
      </p:pic>
      <p:sp>
        <p:nvSpPr>
          <p:cNvPr id="5" name="Rodapé 5"/>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116  ·  Dor torácica – Protocolo 2025 | Set 2026</a:t>
            </a:r>
          </a:p>
        </p:txBody>
      </p:sp>
      <p:sp>
        <p:nvSpPr>
          <p:cNvPr id="6" name="Rodapé 6"/>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Pontos importantes na condução da DT com ECG não diagnóstico</a:t>
            </a:r>
          </a:p>
        </p:txBody>
      </p:sp>
      <p:sp>
        <p:nvSpPr>
          <p:cNvPr id="3" name="Caixa 3"/>
          <p:cNvSpPr txBox="1"/>
          <p:nvPr/>
        </p:nvSpPr>
        <p:spPr>
          <a:xfrm>
            <a:off x="711403" y="1417320"/>
            <a:ext cx="7800000" cy="2700000"/>
          </a:xfrm>
          <a:prstGeom prst="rect">
            <a:avLst/>
          </a:prstGeom>
          <a:solidFill>
            <a:srgbClr val="F2F4F5"/>
          </a:solidFill>
        </p:spPr>
        <p:txBody>
          <a:bodyPr wrap="square" lIns="240000" tIns="150000" rIns="240000" bIns="150000" anchor="ctr">
            <a:noAutofit/>
          </a:bodyPr>
          <a:lstStyle/>
          <a:p>
            <a:pPr marL="285750" indent="-285750" algn="l">
              <a:lnSpc>
                <a:spcPct val="125000"/>
              </a:lnSpc>
              <a:spcBef>
                <a:spcPts val="0"/>
              </a:spcBef>
              <a:spcAft>
                <a:spcPts val="900"/>
              </a:spcAft>
              <a:buClr>
                <a:srgbClr val="4E7C8B"/>
              </a:buClr>
              <a:buFont typeface="Arial"/>
              <a:buChar char="•"/>
            </a:pPr>
            <a:r>
              <a:rPr lang="pt-BR" sz="1300" b="0" i="0" dirty="0">
                <a:solidFill>
                  <a:srgbClr val="5F6468"/>
                </a:solidFill>
                <a:latin typeface="Roboto"/>
                <a:ea typeface="Roboto"/>
                <a:cs typeface="Roboto"/>
              </a:rPr>
              <a:t>ECG é realmente normal?</a:t>
            </a:r>
          </a:p>
          <a:p>
            <a:pPr marL="285750" indent="-285750" algn="l">
              <a:lnSpc>
                <a:spcPct val="125000"/>
              </a:lnSpc>
              <a:spcBef>
                <a:spcPts val="0"/>
              </a:spcBef>
              <a:spcAft>
                <a:spcPts val="900"/>
              </a:spcAft>
              <a:buClr>
                <a:srgbClr val="4E7C8B"/>
              </a:buClr>
              <a:buFont typeface="Arial"/>
              <a:buChar char="•"/>
            </a:pPr>
            <a:r>
              <a:rPr lang="pt-BR" sz="1300" b="0" i="0" dirty="0">
                <a:solidFill>
                  <a:srgbClr val="5F6468"/>
                </a:solidFill>
                <a:latin typeface="Roboto"/>
                <a:ea typeface="Roboto"/>
                <a:cs typeface="Roboto"/>
              </a:rPr>
              <a:t>Fundamental valorizar ainda mais os sintomas</a:t>
            </a:r>
          </a:p>
          <a:p>
            <a:pPr marL="285750" indent="-285750" algn="l">
              <a:lnSpc>
                <a:spcPct val="125000"/>
              </a:lnSpc>
              <a:spcBef>
                <a:spcPts val="0"/>
              </a:spcBef>
              <a:spcAft>
                <a:spcPts val="900"/>
              </a:spcAft>
              <a:buClr>
                <a:srgbClr val="4E7C8B"/>
              </a:buClr>
              <a:buFont typeface="Arial"/>
              <a:buChar char="•"/>
            </a:pPr>
            <a:r>
              <a:rPr lang="pt-BR" sz="1300" b="0" i="0" dirty="0">
                <a:solidFill>
                  <a:srgbClr val="5F6468"/>
                </a:solidFill>
                <a:latin typeface="Roboto"/>
                <a:ea typeface="Roboto"/>
                <a:cs typeface="Roboto"/>
              </a:rPr>
              <a:t>Utilização dos escores de Risco para sistematização e auxílio na conduta</a:t>
            </a:r>
          </a:p>
          <a:p>
            <a:pPr marL="285750" indent="-285750" algn="l">
              <a:lnSpc>
                <a:spcPct val="125000"/>
              </a:lnSpc>
              <a:spcBef>
                <a:spcPts val="0"/>
              </a:spcBef>
              <a:spcAft>
                <a:spcPts val="900"/>
              </a:spcAft>
              <a:buClr>
                <a:srgbClr val="4E7C8B"/>
              </a:buClr>
              <a:buFont typeface="Arial"/>
              <a:buChar char="•"/>
            </a:pPr>
            <a:r>
              <a:rPr lang="pt-BR" sz="1300" b="0" i="0" dirty="0">
                <a:solidFill>
                  <a:srgbClr val="5F6468"/>
                </a:solidFill>
                <a:latin typeface="Roboto"/>
                <a:ea typeface="Roboto"/>
                <a:cs typeface="Roboto"/>
              </a:rPr>
              <a:t>Saber aplicar e interpretar dosagens de troponina</a:t>
            </a:r>
          </a:p>
          <a:p>
            <a:pPr marL="285750" indent="-285750" algn="l">
              <a:lnSpc>
                <a:spcPct val="125000"/>
              </a:lnSpc>
              <a:spcBef>
                <a:spcPts val="0"/>
              </a:spcBef>
              <a:spcAft>
                <a:spcPts val="0"/>
              </a:spcAft>
              <a:buClr>
                <a:srgbClr val="4E7C8B"/>
              </a:buClr>
              <a:buFont typeface="Arial"/>
              <a:buChar char="•"/>
            </a:pPr>
            <a:r>
              <a:rPr lang="pt-BR" sz="1300" b="0" i="0" dirty="0">
                <a:solidFill>
                  <a:srgbClr val="5F6468"/>
                </a:solidFill>
                <a:latin typeface="Roboto"/>
                <a:ea typeface="Roboto"/>
                <a:cs typeface="Roboto"/>
              </a:rPr>
              <a:t>Utilização de rotas de investigação e exames complementares</a:t>
            </a:r>
          </a:p>
        </p:txBody>
      </p:sp>
      <p:pic>
        <p:nvPicPr>
          <p:cNvPr id="4" name="Figura 4" descr="Ilustração de uma unidade hospitalar"/>
          <p:cNvPicPr>
            <a:picLocks noChangeAspect="1"/>
          </p:cNvPicPr>
          <p:nvPr/>
        </p:nvPicPr>
        <p:blipFill>
          <a:blip r:embed="rId10"/>
          <a:stretch>
            <a:fillRect/>
          </a:stretch>
        </p:blipFill>
        <p:spPr>
          <a:xfrm>
            <a:off x="8850000" y="1417320"/>
            <a:ext cx="2633035" cy="3187821"/>
          </a:xfrm>
          <a:prstGeom prst="rect">
            <a:avLst/>
          </a:prstGeom>
        </p:spPr>
      </p:pic>
      <p:sp>
        <p:nvSpPr>
          <p:cNvPr id="5" name="Seta 5"/>
          <p:cNvSpPr/>
          <p:nvPr/>
        </p:nvSpPr>
        <p:spPr>
          <a:xfrm>
            <a:off x="4211403" y="4200000"/>
            <a:ext cx="400000" cy="520000"/>
          </a:xfrm>
          <a:prstGeom prst="downArrow">
            <a:avLst/>
          </a:prstGeom>
          <a:solidFill>
            <a:srgbClr val="A3A6A8"/>
          </a:solidFill>
          <a:ln>
            <a:noFill/>
          </a:ln>
        </p:spPr>
        <p:txBody>
          <a:bodyPr/>
          <a:lstStyle/>
          <a:p>
            <a:endParaRPr lang="pt-BR"/>
          </a:p>
        </p:txBody>
      </p:sp>
      <p:sp>
        <p:nvSpPr>
          <p:cNvPr id="6" name="Caixa 6"/>
          <p:cNvSpPr txBox="1"/>
          <p:nvPr/>
        </p:nvSpPr>
        <p:spPr>
          <a:xfrm>
            <a:off x="711403" y="4850000"/>
            <a:ext cx="4300000" cy="950000"/>
          </a:xfrm>
          <a:prstGeom prst="rect">
            <a:avLst/>
          </a:prstGeom>
          <a:solidFill>
            <a:srgbClr val="F2F4F5"/>
          </a:solidFill>
        </p:spPr>
        <p:txBody>
          <a:bodyPr wrap="square" lIns="200000" tIns="100000" rIns="200000" bIns="100000" anchor="ctr">
            <a:noAutofit/>
          </a:bodyPr>
          <a:lstStyle/>
          <a:p>
            <a:pPr marL="285750" indent="-285750" algn="l">
              <a:lnSpc>
                <a:spcPct val="120000"/>
              </a:lnSpc>
              <a:spcBef>
                <a:spcPts val="0"/>
              </a:spcBef>
              <a:spcAft>
                <a:spcPts val="300"/>
              </a:spcAft>
              <a:buClr>
                <a:srgbClr val="4E7C8B"/>
              </a:buClr>
              <a:buFont typeface="Arial"/>
              <a:buChar char="•"/>
            </a:pPr>
            <a:r>
              <a:rPr lang="pt-BR" sz="1300" b="0" i="0" dirty="0">
                <a:solidFill>
                  <a:srgbClr val="5F6468"/>
                </a:solidFill>
                <a:latin typeface="Roboto"/>
                <a:ea typeface="Roboto"/>
                <a:cs typeface="Roboto"/>
              </a:rPr>
              <a:t>Diagnóstico Final ou Sindrômico</a:t>
            </a:r>
          </a:p>
          <a:p>
            <a:pPr marL="285750" indent="-285750" algn="l">
              <a:lnSpc>
                <a:spcPct val="120000"/>
              </a:lnSpc>
              <a:spcBef>
                <a:spcPts val="0"/>
              </a:spcBef>
              <a:spcAft>
                <a:spcPts val="0"/>
              </a:spcAft>
              <a:buClr>
                <a:srgbClr val="4E7C8B"/>
              </a:buClr>
              <a:buFont typeface="Arial"/>
              <a:buChar char="•"/>
            </a:pPr>
            <a:r>
              <a:rPr lang="pt-BR" sz="1300" b="0" i="0" dirty="0">
                <a:solidFill>
                  <a:srgbClr val="5F6468"/>
                </a:solidFill>
                <a:latin typeface="Roboto"/>
                <a:ea typeface="Roboto"/>
                <a:cs typeface="Roboto"/>
              </a:rPr>
              <a:t>Decisão de internação ou Alta</a:t>
            </a:r>
          </a:p>
        </p:txBody>
      </p:sp>
      <p:sp>
        <p:nvSpPr>
          <p:cNvPr id="7" name="Seta 7"/>
          <p:cNvSpPr/>
          <p:nvPr/>
        </p:nvSpPr>
        <p:spPr>
          <a:xfrm>
            <a:off x="5161403" y="5165000"/>
            <a:ext cx="560000" cy="320000"/>
          </a:xfrm>
          <a:prstGeom prst="rightArrow">
            <a:avLst/>
          </a:prstGeom>
          <a:solidFill>
            <a:srgbClr val="A3A6A8"/>
          </a:solidFill>
          <a:ln>
            <a:noFill/>
          </a:ln>
        </p:spPr>
        <p:txBody>
          <a:bodyPr/>
          <a:lstStyle/>
          <a:p>
            <a:endParaRPr lang="pt-BR"/>
          </a:p>
        </p:txBody>
      </p:sp>
      <p:sp>
        <p:nvSpPr>
          <p:cNvPr id="8" name="Caixa 8"/>
          <p:cNvSpPr txBox="1"/>
          <p:nvPr/>
        </p:nvSpPr>
        <p:spPr>
          <a:xfrm>
            <a:off x="5871403" y="4850000"/>
            <a:ext cx="4700000" cy="950000"/>
          </a:xfrm>
          <a:prstGeom prst="rect">
            <a:avLst/>
          </a:prstGeom>
          <a:solidFill>
            <a:srgbClr val="F2F4F5"/>
          </a:solidFill>
        </p:spPr>
        <p:txBody>
          <a:bodyPr wrap="square" lIns="200000" tIns="100000" rIns="200000" bIns="100000" anchor="ctr">
            <a:noAutofit/>
          </a:bodyPr>
          <a:lstStyle/>
          <a:p>
            <a:pPr marL="285750" indent="-285750" algn="l">
              <a:lnSpc>
                <a:spcPct val="120000"/>
              </a:lnSpc>
              <a:spcBef>
                <a:spcPts val="0"/>
              </a:spcBef>
              <a:spcAft>
                <a:spcPts val="300"/>
              </a:spcAft>
              <a:buClr>
                <a:srgbClr val="4E7C8B"/>
              </a:buClr>
              <a:buFont typeface="Arial"/>
              <a:buChar char="•"/>
            </a:pPr>
            <a:r>
              <a:rPr lang="pt-BR" sz="1300" b="0" i="0" dirty="0">
                <a:solidFill>
                  <a:srgbClr val="5F6468"/>
                </a:solidFill>
                <a:latin typeface="Roboto"/>
                <a:ea typeface="Roboto"/>
                <a:cs typeface="Roboto"/>
              </a:rPr>
              <a:t>Melhor gestão de recursos</a:t>
            </a:r>
          </a:p>
          <a:p>
            <a:pPr marL="285750" indent="-285750" algn="l">
              <a:lnSpc>
                <a:spcPct val="120000"/>
              </a:lnSpc>
              <a:spcBef>
                <a:spcPts val="0"/>
              </a:spcBef>
              <a:spcAft>
                <a:spcPts val="0"/>
              </a:spcAft>
              <a:buClr>
                <a:srgbClr val="4E7C8B"/>
              </a:buClr>
              <a:buFont typeface="Arial"/>
              <a:buChar char="•"/>
            </a:pPr>
            <a:r>
              <a:rPr lang="pt-BR" sz="1300" b="0" i="0" dirty="0">
                <a:solidFill>
                  <a:srgbClr val="5F6468"/>
                </a:solidFill>
                <a:latin typeface="Roboto"/>
                <a:ea typeface="Roboto"/>
                <a:cs typeface="Roboto"/>
              </a:rPr>
              <a:t>Redução de Mortalidade e Sequelas Graves</a:t>
            </a:r>
          </a:p>
        </p:txBody>
      </p:sp>
      <p:sp>
        <p:nvSpPr>
          <p:cNvPr id="9" name="Rodapé 9"/>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117  ·  Dor torácica – Protocolo 2025 | Set 2026</a:t>
            </a:r>
          </a:p>
        </p:txBody>
      </p:sp>
      <p:sp>
        <p:nvSpPr>
          <p:cNvPr id="10" name="Rodapé 10"/>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extBox 1"/>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118  ·  Dor torácica – Protocolo 2025 | Set 2026</a:t>
            </a:r>
          </a:p>
        </p:txBody>
      </p:sp>
      <p:sp>
        <p:nvSpPr>
          <p:cNvPr id="3" name="TextBox 2"/>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4093608529"/>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bg>
      <p:bgPr>
        <a:gradFill rotWithShape="1">
          <a:gsLst>
            <a:gs pos="0">
              <a:srgbClr val="5B8A99"/>
            </a:gs>
            <a:gs pos="100000">
              <a:srgbClr val="4E7C8B"/>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2834640"/>
            <a:ext cx="10771632" cy="822960"/>
          </a:xfrm>
        </p:spPr>
        <p:txBody>
          <a:bodyPr wrap="square" anchor="t"/>
          <a:lstStyle/>
          <a:p>
            <a:pPr algn="ctr">
              <a:lnSpc>
                <a:spcPct val="110000"/>
              </a:lnSpc>
            </a:pPr>
            <a:r>
              <a:rPr sz="4400" b="1" spc="100">
                <a:solidFill>
                  <a:srgbClr val="FBFCFC"/>
                </a:solidFill>
                <a:latin typeface="Roboto"/>
                <a:ea typeface="Roboto"/>
                <a:cs typeface="Roboto"/>
              </a:rPr>
              <a:t>NUANCES DO ECG</a:t>
            </a:r>
            <a:endParaRPr lang="pt-BR" dirty="0" sz="3200"/>
          </a:p>
        </p:txBody>
      </p:sp>
      <p:sp>
        <p:nvSpPr>
          <p:cNvPr id="3" name="Oval 2"/>
          <p:cNvSpPr/>
          <p:nvPr/>
        </p:nvSpPr>
        <p:spPr>
          <a:xfrm>
            <a:off x="5537149" y="1417320"/>
            <a:ext cx="1117396" cy="1117396"/>
          </a:xfrm>
          <a:prstGeom prst="ellipse">
            <a:avLst/>
          </a:prstGeom>
          <a:noFill/>
          <a:ln w="19050">
            <a:solidFill>
              <a:srgbClr val="C9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5816498" y="1836343"/>
            <a:ext cx="558698" cy="335219"/>
          </a:xfrm>
          <a:custGeom>
            <a:avLst/>
            <a:gdLst/>
            <a:ahLst/>
            <a:cxnLst/>
            <a:rect l="l" t="t" r="r" b="b"/>
            <a:pathLst>
              <a:path w="558698" h="335219">
                <a:moveTo>
                  <a:pt x="0" y="167610"/>
                </a:moveTo>
                <a:lnTo>
                  <a:pt x="156435" y="167610"/>
                </a:lnTo>
                <a:lnTo>
                  <a:pt x="212305" y="0"/>
                </a:lnTo>
                <a:lnTo>
                  <a:pt x="279349" y="335219"/>
                </a:lnTo>
                <a:lnTo>
                  <a:pt x="335219" y="83805"/>
                </a:lnTo>
                <a:lnTo>
                  <a:pt x="379915" y="167610"/>
                </a:lnTo>
                <a:lnTo>
                  <a:pt x="558698" y="167610"/>
                </a:lnTo>
              </a:path>
            </a:pathLst>
          </a:custGeom>
          <a:noFill/>
          <a:ln w="28575">
            <a:solidFill>
              <a:srgbClr val="FBF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1403" y="3794760"/>
            <a:ext cx="10771632" cy="365760"/>
          </a:xfrm>
          <a:prstGeom prst="rect">
            <a:avLst/>
          </a:prstGeom>
          <a:noFill/>
        </p:spPr>
        <p:txBody>
          <a:bodyPr wrap="square" lIns="0" rIns="0" tIns="0" bIns="0" anchor="t">
            <a:spAutoFit/>
          </a:bodyPr>
          <a:lstStyle/>
          <a:p>
            <a:pPr algn="ctr"/>
            <a:r>
              <a:rPr sz="1200" spc="300">
                <a:solidFill>
                  <a:srgbClr val="C9E3E6"/>
                </a:solidFill>
                <a:latin typeface="Roboto Medium"/>
                <a:ea typeface="Roboto Medium"/>
                <a:cs typeface="Roboto Medium"/>
              </a:rPr>
              <a:t>SEÇÃO 01 · ECG</a:t>
            </a:r>
          </a:p>
        </p:txBody>
      </p:sp>
      <p:sp>
        <p:nvSpPr>
          <p:cNvPr id="6" name="TextBox 5"/>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C9E3E6"/>
                </a:solidFill>
                <a:latin typeface="Roboto"/>
                <a:ea typeface="Roboto"/>
                <a:cs typeface="Roboto"/>
              </a:rPr>
              <a:t>119  ·  Dor torácica – Protocolo 2025 | Set 2026</a:t>
            </a:r>
          </a:p>
        </p:txBody>
      </p:sp>
    </p:spTree>
    <p:extLst>
      <p:ext uri="{BB962C8B-B14F-4D97-AF65-F5344CB8AC3E}">
        <p14:creationId xmlns:p14="http://schemas.microsoft.com/office/powerpoint/2010/main" val="186368564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Wellens</a:t>
            </a:r>
          </a:p>
        </p:txBody>
      </p:sp>
      <p:pic>
        <p:nvPicPr>
          <p:cNvPr id="3" name="Figura 3" descr="ECG de 12 derivações sem dor (a) e com dor (b) – padrão de Wellens"/>
          <p:cNvPicPr>
            <a:picLocks noChangeAspect="1"/>
          </p:cNvPicPr>
          <p:nvPr/>
        </p:nvPicPr>
        <p:blipFill>
          <a:blip r:embed="rId10"/>
          <a:stretch>
            <a:fillRect/>
          </a:stretch>
        </p:blipFill>
        <p:spPr>
          <a:xfrm>
            <a:off x="2517522" y="1400000"/>
            <a:ext cx="7159392" cy="3850000"/>
          </a:xfrm>
          <a:prstGeom prst="rect">
            <a:avLst/>
          </a:prstGeom>
        </p:spPr>
      </p:pic>
      <p:sp>
        <p:nvSpPr>
          <p:cNvPr id="4" name="Legenda 4"/>
          <p:cNvSpPr txBox="1"/>
          <p:nvPr/>
        </p:nvSpPr>
        <p:spPr>
          <a:xfrm>
            <a:off x="711403" y="5350000"/>
            <a:ext cx="10771632" cy="600000"/>
          </a:xfrm>
          <a:prstGeom prst="rect">
            <a:avLst/>
          </a:prstGeom>
          <a:noFill/>
        </p:spPr>
        <p:txBody>
          <a:bodyPr wrap="square" lIns="0" tIns="0" rIns="0" bIns="0" anchor="t">
            <a:noAutofit/>
          </a:bodyPr>
          <a:lstStyle/>
          <a:p>
            <a:pPr marL="0" indent="0" algn="l">
              <a:lnSpc>
                <a:spcPct val="125000"/>
              </a:lnSpc>
              <a:spcBef>
                <a:spcPts val="0"/>
              </a:spcBef>
              <a:spcAft>
                <a:spcPts val="0"/>
              </a:spcAft>
              <a:buNone/>
            </a:pPr>
            <a:r>
              <a:rPr lang="pt-BR" sz="1200" b="0" i="0" dirty="0">
                <a:solidFill>
                  <a:srgbClr val="737A7F"/>
                </a:solidFill>
                <a:latin typeface="Roboto"/>
                <a:ea typeface="Roboto"/>
                <a:cs typeface="Roboto"/>
              </a:rPr>
              <a:t>Sub oclusão de artéria descendente anterior (DA) em seu terço proximal com (a) ECG sem dor apresentando ondas T com padrão </a:t>
            </a:r>
            <a:r>
              <a:rPr lang="pt-BR" sz="1200" b="0" i="1" dirty="0">
                <a:solidFill>
                  <a:srgbClr val="737A7F"/>
                </a:solidFill>
                <a:latin typeface="Roboto"/>
                <a:ea typeface="Roboto"/>
                <a:cs typeface="Roboto"/>
              </a:rPr>
              <a:t>plus/minus</a:t>
            </a:r>
            <a:r>
              <a:rPr lang="pt-BR" sz="1200" b="0" i="0" dirty="0">
                <a:solidFill>
                  <a:srgbClr val="737A7F"/>
                </a:solidFill>
                <a:latin typeface="Roboto"/>
                <a:ea typeface="Roboto"/>
                <a:cs typeface="Roboto"/>
              </a:rPr>
              <a:t> em precordiais (V1 a V6), que (b) pseudo normalizam quando na presença de sintomas. Este é o estágio de transição entre o padrão basal e o surgimento do supradesnível ST quando da oclusão completa da artéria. (Padrão de Wellens).</a:t>
            </a:r>
          </a:p>
        </p:txBody>
      </p:sp>
      <p:sp>
        <p:nvSpPr>
          <p:cNvPr id="5" name="Rodapé 5"/>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120  ·  Dor torácica – Protocolo 2025 | Set 2026</a:t>
            </a:r>
          </a:p>
        </p:txBody>
      </p:sp>
      <p:sp>
        <p:nvSpPr>
          <p:cNvPr id="6" name="Rodapé 6"/>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DeWinter</a:t>
            </a:r>
          </a:p>
        </p:txBody>
      </p:sp>
      <p:pic>
        <p:nvPicPr>
          <p:cNvPr id="3" name="Figura 3" descr="ECG com padrão de DeWinter e coronariografias A e B"/>
          <p:cNvPicPr>
            <a:picLocks noChangeAspect="1"/>
          </p:cNvPicPr>
          <p:nvPr/>
        </p:nvPicPr>
        <p:blipFill>
          <a:blip r:embed="rId10"/>
          <a:stretch>
            <a:fillRect/>
          </a:stretch>
        </p:blipFill>
        <p:spPr>
          <a:xfrm>
            <a:off x="1039406" y="1400000"/>
            <a:ext cx="10115625" cy="3900000"/>
          </a:xfrm>
          <a:prstGeom prst="rect">
            <a:avLst/>
          </a:prstGeom>
        </p:spPr>
      </p:pic>
      <p:sp>
        <p:nvSpPr>
          <p:cNvPr id="4" name="Legenda 4"/>
          <p:cNvSpPr txBox="1"/>
          <p:nvPr/>
        </p:nvSpPr>
        <p:spPr>
          <a:xfrm>
            <a:off x="711403" y="5400000"/>
            <a:ext cx="10771632" cy="600000"/>
          </a:xfrm>
          <a:prstGeom prst="rect">
            <a:avLst/>
          </a:prstGeom>
          <a:noFill/>
        </p:spPr>
        <p:txBody>
          <a:bodyPr wrap="square" lIns="0" tIns="0" rIns="0" bIns="0" anchor="t">
            <a:noAutofit/>
          </a:bodyPr>
          <a:lstStyle/>
          <a:p>
            <a:pPr marL="0" indent="0" algn="l">
              <a:lnSpc>
                <a:spcPct val="125000"/>
              </a:lnSpc>
              <a:spcBef>
                <a:spcPts val="0"/>
              </a:spcBef>
              <a:spcAft>
                <a:spcPts val="0"/>
              </a:spcAft>
              <a:buNone/>
            </a:pPr>
            <a:r>
              <a:rPr lang="pt-BR" sz="1200" b="0" i="0" dirty="0">
                <a:solidFill>
                  <a:srgbClr val="737A7F"/>
                </a:solidFill>
                <a:latin typeface="Roboto"/>
                <a:ea typeface="Roboto"/>
                <a:cs typeface="Roboto"/>
              </a:rPr>
              <a:t>Oclusão aguda de artéria descendente anterior (DA) em seu terço proximal com ECG apresentando infradesnível ST ascendente nas derivação precordiais (V1 a V6), seguido de ondas T hiperagudas associado a supradesnível ST em aVR (Padrão de DeWinter). A) DA oclusão pré septal. B) DA pós angioplastia.</a:t>
            </a:r>
          </a:p>
        </p:txBody>
      </p:sp>
      <p:sp>
        <p:nvSpPr>
          <p:cNvPr id="5" name="Rodapé 5"/>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121  ·  Dor torácica – Protocolo 2025 | Set 2026</a:t>
            </a:r>
          </a:p>
        </p:txBody>
      </p:sp>
      <p:sp>
        <p:nvSpPr>
          <p:cNvPr id="6" name="Rodapé 6"/>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Como identificamos a oclusão coronária hoje?</a:t>
            </a:r>
          </a:p>
        </p:txBody>
      </p:sp>
      <p:sp>
        <p:nvSpPr>
          <p:cNvPr id="3" name="Texto 3"/>
          <p:cNvSpPr txBox="1"/>
          <p:nvPr/>
        </p:nvSpPr>
        <p:spPr>
          <a:xfrm>
            <a:off x="711403" y="1417320"/>
            <a:ext cx="4600000" cy="350000"/>
          </a:xfrm>
          <a:prstGeom prst="rect">
            <a:avLst/>
          </a:prstGeom>
          <a:noFill/>
        </p:spPr>
        <p:txBody>
          <a:bodyPr wrap="square" lIns="0" tIns="0" rIns="0" bIns="0" anchor="t">
            <a:noAutofit/>
          </a:bodyPr>
          <a:lstStyle/>
          <a:p>
            <a:pPr marL="0" indent="0" algn="l">
              <a:lnSpc>
                <a:spcPct val="120000"/>
              </a:lnSpc>
              <a:spcBef>
                <a:spcPts val="0"/>
              </a:spcBef>
              <a:spcAft>
                <a:spcPts val="0"/>
              </a:spcAft>
              <a:buNone/>
            </a:pPr>
            <a:r>
              <a:rPr lang="pt-BR" sz="1500" b="0" i="0" dirty="0">
                <a:solidFill>
                  <a:srgbClr val="B5533C"/>
                </a:solidFill>
                <a:latin typeface="Roboto Medium"/>
                <a:ea typeface="Roboto Medium"/>
                <a:cs typeface="Roboto Medium"/>
              </a:rPr>
              <a:t>Paradigma OMI/NOMI (OCA/NOCA)</a:t>
            </a:r>
          </a:p>
        </p:txBody>
      </p:sp>
      <p:sp>
        <p:nvSpPr>
          <p:cNvPr id="4" name="Texto 4"/>
          <p:cNvSpPr txBox="1"/>
          <p:nvPr/>
        </p:nvSpPr>
        <p:spPr>
          <a:xfrm>
            <a:off x="711403" y="1850000"/>
            <a:ext cx="4600000" cy="350000"/>
          </a:xfrm>
          <a:prstGeom prst="rect">
            <a:avLst/>
          </a:prstGeom>
          <a:noFill/>
        </p:spPr>
        <p:txBody>
          <a:bodyPr wrap="square" lIns="0" tIns="0" rIns="0" bIns="0" anchor="t">
            <a:noAutofit/>
          </a:bodyPr>
          <a:lstStyle/>
          <a:p>
            <a:pPr marL="0" indent="0" algn="l">
              <a:lnSpc>
                <a:spcPct val="120000"/>
              </a:lnSpc>
              <a:spcBef>
                <a:spcPts val="0"/>
              </a:spcBef>
              <a:spcAft>
                <a:spcPts val="0"/>
              </a:spcAft>
              <a:buNone/>
            </a:pPr>
            <a:r>
              <a:rPr lang="pt-BR" sz="1300" b="1" i="0" dirty="0">
                <a:solidFill>
                  <a:srgbClr val="3B3F42"/>
                </a:solidFill>
                <a:latin typeface="Roboto"/>
                <a:ea typeface="Roboto"/>
                <a:cs typeface="Roboto"/>
              </a:rPr>
              <a:t>“Padrão de Aslanger”</a:t>
            </a:r>
          </a:p>
        </p:txBody>
      </p:sp>
      <p:sp>
        <p:nvSpPr>
          <p:cNvPr id="5" name="Caixa 5"/>
          <p:cNvSpPr txBox="1"/>
          <p:nvPr/>
        </p:nvSpPr>
        <p:spPr>
          <a:xfrm>
            <a:off x="711403" y="2350000"/>
            <a:ext cx="4600000" cy="1550000"/>
          </a:xfrm>
          <a:prstGeom prst="rect">
            <a:avLst/>
          </a:prstGeom>
          <a:solidFill>
            <a:srgbClr val="4E7C8B"/>
          </a:solidFill>
        </p:spPr>
        <p:txBody>
          <a:bodyPr wrap="square" lIns="180000" tIns="120000" rIns="180000" bIns="120000" anchor="ctr">
            <a:noAutofit/>
          </a:bodyPr>
          <a:lstStyle/>
          <a:p>
            <a:pPr marL="285750" indent="-285750" algn="l">
              <a:lnSpc>
                <a:spcPct val="125000"/>
              </a:lnSpc>
              <a:spcBef>
                <a:spcPts val="0"/>
              </a:spcBef>
              <a:spcAft>
                <a:spcPts val="400"/>
              </a:spcAft>
              <a:buClr>
                <a:srgbClr val="FBFCFC"/>
              </a:buClr>
              <a:buFont typeface="Arial"/>
              <a:buChar char="•"/>
            </a:pPr>
            <a:r>
              <a:rPr lang="pt-BR" sz="1300" b="0" i="0" dirty="0">
                <a:solidFill>
                  <a:srgbClr val="FBFCFC"/>
                </a:solidFill>
                <a:latin typeface="Roboto"/>
                <a:ea typeface="Roboto"/>
                <a:cs typeface="Roboto"/>
              </a:rPr>
              <a:t>Supradesnível ST em DIII</a:t>
            </a:r>
          </a:p>
          <a:p>
            <a:pPr marL="285750" indent="-285750" algn="l">
              <a:lnSpc>
                <a:spcPct val="125000"/>
              </a:lnSpc>
              <a:spcBef>
                <a:spcPts val="0"/>
              </a:spcBef>
              <a:spcAft>
                <a:spcPts val="400"/>
              </a:spcAft>
              <a:buClr>
                <a:srgbClr val="FBFCFC"/>
              </a:buClr>
              <a:buFont typeface="Arial"/>
              <a:buChar char="•"/>
            </a:pPr>
            <a:r>
              <a:rPr lang="pt-BR" sz="1300" b="0" i="0" dirty="0">
                <a:solidFill>
                  <a:srgbClr val="FBFCFC"/>
                </a:solidFill>
                <a:latin typeface="Roboto"/>
                <a:ea typeface="Roboto"/>
                <a:cs typeface="Roboto"/>
              </a:rPr>
              <a:t>ST &gt; em V1 que V2</a:t>
            </a:r>
          </a:p>
          <a:p>
            <a:pPr marL="285750" indent="-285750" algn="l">
              <a:lnSpc>
                <a:spcPct val="125000"/>
              </a:lnSpc>
              <a:spcBef>
                <a:spcPts val="0"/>
              </a:spcBef>
              <a:spcAft>
                <a:spcPts val="400"/>
              </a:spcAft>
              <a:buClr>
                <a:srgbClr val="FBFCFC"/>
              </a:buClr>
              <a:buFont typeface="Arial"/>
              <a:buChar char="•"/>
            </a:pPr>
            <a:r>
              <a:rPr lang="pt-BR" sz="1300" b="0" i="0" dirty="0">
                <a:solidFill>
                  <a:srgbClr val="FBFCFC"/>
                </a:solidFill>
                <a:latin typeface="Roboto"/>
                <a:ea typeface="Roboto"/>
                <a:cs typeface="Roboto"/>
              </a:rPr>
              <a:t>Infradesnível ST em V4 e/ou V5 e/ou V6, mas não em V2</a:t>
            </a:r>
          </a:p>
        </p:txBody>
      </p:sp>
      <p:sp>
        <p:nvSpPr>
          <p:cNvPr id="6" name="Texto 6"/>
          <p:cNvSpPr txBox="1"/>
          <p:nvPr/>
        </p:nvSpPr>
        <p:spPr>
          <a:xfrm>
            <a:off x="711403" y="4200000"/>
            <a:ext cx="4600000" cy="700000"/>
          </a:xfrm>
          <a:prstGeom prst="rect">
            <a:avLst/>
          </a:prstGeom>
          <a:noFill/>
        </p:spPr>
        <p:txBody>
          <a:bodyPr wrap="square" lIns="0" tIns="0" rIns="0" bIns="0" anchor="t">
            <a:noAutofit/>
          </a:bodyPr>
          <a:lstStyle/>
          <a:p>
            <a:pPr marL="0" indent="0" algn="l">
              <a:lnSpc>
                <a:spcPct val="120000"/>
              </a:lnSpc>
              <a:spcBef>
                <a:spcPts val="0"/>
              </a:spcBef>
              <a:spcAft>
                <a:spcPts val="0"/>
              </a:spcAft>
              <a:buNone/>
            </a:pPr>
            <a:r>
              <a:rPr lang="pt-BR" sz="1500" b="0" i="0" dirty="0">
                <a:solidFill>
                  <a:srgbClr val="B5533C"/>
                </a:solidFill>
                <a:latin typeface="Roboto Medium"/>
                <a:ea typeface="Roboto Medium"/>
                <a:cs typeface="Roboto Medium"/>
              </a:rPr>
              <a:t>IAM inferior associado a lesão multiarterial</a:t>
            </a:r>
          </a:p>
        </p:txBody>
      </p:sp>
      <p:pic>
        <p:nvPicPr>
          <p:cNvPr id="7" name="Figura 7" descr="ECG de 12 derivações com padrão de Aslanger (alterações circuladas)"/>
          <p:cNvPicPr>
            <a:picLocks noChangeAspect="1"/>
          </p:cNvPicPr>
          <p:nvPr/>
        </p:nvPicPr>
        <p:blipFill>
          <a:blip r:embed="rId10"/>
          <a:stretch>
            <a:fillRect/>
          </a:stretch>
        </p:blipFill>
        <p:spPr>
          <a:xfrm>
            <a:off x="6905295" y="1417320"/>
            <a:ext cx="4577739" cy="4100000"/>
          </a:xfrm>
          <a:prstGeom prst="rect">
            <a:avLst/>
          </a:prstGeom>
        </p:spPr>
      </p:pic>
      <p:sp>
        <p:nvSpPr>
          <p:cNvPr id="8" name="Legenda 8"/>
          <p:cNvSpPr txBox="1"/>
          <p:nvPr/>
        </p:nvSpPr>
        <p:spPr>
          <a:xfrm>
            <a:off x="711403" y="5620000"/>
            <a:ext cx="10771632" cy="450000"/>
          </a:xfrm>
          <a:prstGeom prst="rect">
            <a:avLst/>
          </a:prstGeom>
          <a:noFill/>
        </p:spPr>
        <p:txBody>
          <a:bodyPr wrap="square" lIns="0" tIns="0" rIns="0" bIns="0" anchor="t">
            <a:noAutofit/>
          </a:bodyPr>
          <a:lstStyle/>
          <a:p>
            <a:pPr marL="0" indent="0" algn="l">
              <a:lnSpc>
                <a:spcPct val="125000"/>
              </a:lnSpc>
              <a:spcBef>
                <a:spcPts val="0"/>
              </a:spcBef>
              <a:spcAft>
                <a:spcPts val="0"/>
              </a:spcAft>
              <a:buNone/>
            </a:pPr>
            <a:r>
              <a:rPr lang="pt-BR" sz="1200" b="0" i="0" dirty="0">
                <a:solidFill>
                  <a:srgbClr val="737A7F"/>
                </a:solidFill>
                <a:latin typeface="Roboto"/>
                <a:ea typeface="Roboto"/>
                <a:cs typeface="Roboto"/>
              </a:rPr>
              <a:t>Aslanger E, Yıldırımtürk Ö, Şimşek B, Sungur A, Cabbar AT, Bozbeyoğlu E, et al. A New Electrocardiographic Pattern Indicating Inferior Myocardial Infarction. J Electrocardiol. 2020;61:41-6. doi: 10.1016/j.jelectrocard.2020.04.008.</a:t>
            </a:r>
          </a:p>
        </p:txBody>
      </p:sp>
      <p:sp>
        <p:nvSpPr>
          <p:cNvPr id="9" name="Rodapé 9"/>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122  ·  Dor torácica – Protocolo 2025 | Set 2026</a:t>
            </a:r>
          </a:p>
        </p:txBody>
      </p:sp>
      <p:sp>
        <p:nvSpPr>
          <p:cNvPr id="10" name="Rodapé 10"/>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Como identificamos a oclusão coronária hoje?</a:t>
            </a:r>
          </a:p>
        </p:txBody>
      </p:sp>
      <p:sp>
        <p:nvSpPr>
          <p:cNvPr id="3" name="Texto 3"/>
          <p:cNvSpPr txBox="1"/>
          <p:nvPr/>
        </p:nvSpPr>
        <p:spPr>
          <a:xfrm>
            <a:off x="711403" y="1417320"/>
            <a:ext cx="4600000" cy="350000"/>
          </a:xfrm>
          <a:prstGeom prst="rect">
            <a:avLst/>
          </a:prstGeom>
          <a:noFill/>
        </p:spPr>
        <p:txBody>
          <a:bodyPr wrap="square" lIns="0" tIns="0" rIns="0" bIns="0" anchor="t">
            <a:noAutofit/>
          </a:bodyPr>
          <a:lstStyle/>
          <a:p>
            <a:pPr marL="0" indent="0" algn="l">
              <a:lnSpc>
                <a:spcPct val="120000"/>
              </a:lnSpc>
              <a:spcBef>
                <a:spcPts val="0"/>
              </a:spcBef>
              <a:spcAft>
                <a:spcPts val="0"/>
              </a:spcAft>
              <a:buNone/>
            </a:pPr>
            <a:r>
              <a:rPr lang="pt-BR" sz="1500" b="0" i="0" dirty="0">
                <a:solidFill>
                  <a:srgbClr val="B5533C"/>
                </a:solidFill>
                <a:latin typeface="Roboto Medium"/>
                <a:ea typeface="Roboto Medium"/>
                <a:cs typeface="Roboto Medium"/>
              </a:rPr>
              <a:t>Paradigma OMI/NOMI (OCA/NOCA)</a:t>
            </a:r>
          </a:p>
        </p:txBody>
      </p:sp>
      <p:sp>
        <p:nvSpPr>
          <p:cNvPr id="4" name="Texto 4"/>
          <p:cNvSpPr txBox="1"/>
          <p:nvPr/>
        </p:nvSpPr>
        <p:spPr>
          <a:xfrm>
            <a:off x="711403" y="1850000"/>
            <a:ext cx="4900000" cy="350000"/>
          </a:xfrm>
          <a:prstGeom prst="rect">
            <a:avLst/>
          </a:prstGeom>
          <a:noFill/>
        </p:spPr>
        <p:txBody>
          <a:bodyPr wrap="square" lIns="0" tIns="0" rIns="0" bIns="0" anchor="t">
            <a:noAutofit/>
          </a:bodyPr>
          <a:lstStyle/>
          <a:p>
            <a:pPr marL="0" indent="0" algn="l">
              <a:lnSpc>
                <a:spcPct val="120000"/>
              </a:lnSpc>
              <a:spcBef>
                <a:spcPts val="0"/>
              </a:spcBef>
              <a:spcAft>
                <a:spcPts val="0"/>
              </a:spcAft>
              <a:buNone/>
            </a:pPr>
            <a:r>
              <a:rPr lang="pt-BR" sz="1300" b="1" i="0" dirty="0">
                <a:solidFill>
                  <a:srgbClr val="3B3F42"/>
                </a:solidFill>
                <a:latin typeface="Roboto"/>
                <a:ea typeface="Roboto"/>
                <a:cs typeface="Roboto"/>
              </a:rPr>
              <a:t>Ondas T hiperagudas</a:t>
            </a:r>
          </a:p>
        </p:txBody>
      </p:sp>
      <p:sp>
        <p:nvSpPr>
          <p:cNvPr id="5" name="Texto 5"/>
          <p:cNvSpPr txBox="1"/>
          <p:nvPr/>
        </p:nvSpPr>
        <p:spPr>
          <a:xfrm>
            <a:off x="711403" y="2350000"/>
            <a:ext cx="4900000" cy="900000"/>
          </a:xfrm>
          <a:prstGeom prst="rect">
            <a:avLst/>
          </a:prstGeom>
          <a:noFill/>
        </p:spPr>
        <p:txBody>
          <a:bodyPr wrap="square" lIns="0" tIns="0" rIns="0" bIns="0" anchor="t">
            <a:noAutofit/>
          </a:bodyPr>
          <a:lstStyle/>
          <a:p>
            <a:pPr marL="0" indent="0" algn="l">
              <a:lnSpc>
                <a:spcPct val="130000"/>
              </a:lnSpc>
              <a:spcBef>
                <a:spcPts val="0"/>
              </a:spcBef>
              <a:spcAft>
                <a:spcPts val="0"/>
              </a:spcAft>
              <a:buNone/>
            </a:pPr>
            <a:r>
              <a:rPr lang="pt-BR" sz="1300" b="0" i="0" dirty="0">
                <a:solidFill>
                  <a:srgbClr val="B5533C"/>
                </a:solidFill>
                <a:latin typeface="Roboto"/>
                <a:ea typeface="Roboto"/>
                <a:cs typeface="Roboto"/>
              </a:rPr>
              <a:t>Ondas T convexas que se alargam em direção ao QRS e além do QRS</a:t>
            </a:r>
          </a:p>
        </p:txBody>
      </p:sp>
      <p:sp>
        <p:nvSpPr>
          <p:cNvPr id="6" name="Lista 6"/>
          <p:cNvSpPr txBox="1"/>
          <p:nvPr/>
        </p:nvSpPr>
        <p:spPr>
          <a:xfrm>
            <a:off x="711403" y="3500000"/>
            <a:ext cx="4900000" cy="1600000"/>
          </a:xfrm>
          <a:prstGeom prst="rect">
            <a:avLst/>
          </a:prstGeom>
          <a:noFill/>
        </p:spPr>
        <p:txBody>
          <a:bodyPr wrap="square" lIns="0" tIns="0" rIns="0" bIns="0" anchor="t">
            <a:noAutofit/>
          </a:bodyPr>
          <a:lstStyle/>
          <a:p>
            <a:pPr marL="285750" indent="-285750" algn="l">
              <a:lnSpc>
                <a:spcPct val="120000"/>
              </a:lnSpc>
              <a:spcBef>
                <a:spcPts val="0"/>
              </a:spcBef>
              <a:spcAft>
                <a:spcPts val="1200"/>
              </a:spcAft>
              <a:buClr>
                <a:srgbClr val="4E7C8B"/>
              </a:buClr>
              <a:buFont typeface="Arial"/>
              <a:buChar char="•"/>
            </a:pPr>
            <a:r>
              <a:rPr lang="pt-BR" sz="1500" b="0" i="0" dirty="0">
                <a:solidFill>
                  <a:srgbClr val="4E7C8B"/>
                </a:solidFill>
                <a:latin typeface="Roboto Medium"/>
                <a:ea typeface="Roboto Medium"/>
                <a:cs typeface="Roboto Medium"/>
              </a:rPr>
              <a:t>1ª manifestação OCA</a:t>
            </a:r>
          </a:p>
          <a:p>
            <a:pPr marL="285750" indent="-285750" algn="l">
              <a:lnSpc>
                <a:spcPct val="120000"/>
              </a:lnSpc>
              <a:spcBef>
                <a:spcPts val="0"/>
              </a:spcBef>
              <a:spcAft>
                <a:spcPts val="1200"/>
              </a:spcAft>
              <a:buClr>
                <a:srgbClr val="4E7C8B"/>
              </a:buClr>
              <a:buFont typeface="Arial"/>
              <a:buChar char="•"/>
            </a:pPr>
            <a:r>
              <a:rPr lang="pt-BR" sz="1500" b="0" i="0" dirty="0">
                <a:solidFill>
                  <a:srgbClr val="4E7C8B"/>
                </a:solidFill>
                <a:latin typeface="Roboto Medium"/>
                <a:ea typeface="Roboto Medium"/>
                <a:cs typeface="Roboto Medium"/>
              </a:rPr>
              <a:t>Prolongam o QTi</a:t>
            </a:r>
          </a:p>
          <a:p>
            <a:pPr marL="285750" indent="-285750" algn="l">
              <a:lnSpc>
                <a:spcPct val="120000"/>
              </a:lnSpc>
              <a:spcBef>
                <a:spcPts val="0"/>
              </a:spcBef>
              <a:spcAft>
                <a:spcPts val="1200"/>
              </a:spcAft>
              <a:buClr>
                <a:srgbClr val="4E7C8B"/>
              </a:buClr>
              <a:buFont typeface="Arial"/>
              <a:buChar char="•"/>
            </a:pPr>
            <a:r>
              <a:rPr lang="pt-BR" sz="1500" b="0" i="0" dirty="0">
                <a:solidFill>
                  <a:srgbClr val="4E7C8B"/>
                </a:solidFill>
                <a:latin typeface="Roboto Medium"/>
                <a:ea typeface="Roboto Medium"/>
                <a:cs typeface="Roboto Medium"/>
              </a:rPr>
              <a:t>Infradesnível recíproco</a:t>
            </a:r>
          </a:p>
        </p:txBody>
      </p:sp>
      <p:pic>
        <p:nvPicPr>
          <p:cNvPr id="7" name="Figura 7" descr="ECG em V4, V5 e aVF com ondas T hiperagudas e alteração recíproca inferior"/>
          <p:cNvPicPr>
            <a:picLocks noChangeAspect="1"/>
          </p:cNvPicPr>
          <p:nvPr/>
        </p:nvPicPr>
        <p:blipFill>
          <a:blip r:embed="rId10"/>
          <a:stretch>
            <a:fillRect/>
          </a:stretch>
        </p:blipFill>
        <p:spPr>
          <a:xfrm>
            <a:off x="7634244" y="1417320"/>
            <a:ext cx="3848790" cy="4150000"/>
          </a:xfrm>
          <a:prstGeom prst="rect">
            <a:avLst/>
          </a:prstGeom>
        </p:spPr>
      </p:pic>
      <p:sp>
        <p:nvSpPr>
          <p:cNvPr id="8" name="Legenda 8"/>
          <p:cNvSpPr txBox="1"/>
          <p:nvPr/>
        </p:nvSpPr>
        <p:spPr>
          <a:xfrm>
            <a:off x="711403" y="5620000"/>
            <a:ext cx="10771632" cy="450000"/>
          </a:xfrm>
          <a:prstGeom prst="rect">
            <a:avLst/>
          </a:prstGeom>
          <a:noFill/>
        </p:spPr>
        <p:txBody>
          <a:bodyPr wrap="square" lIns="0" tIns="0" rIns="0" bIns="0" anchor="t">
            <a:noAutofit/>
          </a:bodyPr>
          <a:lstStyle/>
          <a:p>
            <a:pPr marL="0" indent="0" algn="l">
              <a:lnSpc>
                <a:spcPct val="125000"/>
              </a:lnSpc>
              <a:spcBef>
                <a:spcPts val="0"/>
              </a:spcBef>
              <a:spcAft>
                <a:spcPts val="0"/>
              </a:spcAft>
              <a:buNone/>
            </a:pPr>
            <a:r>
              <a:rPr lang="pt-BR" sz="1200" b="0" i="0" dirty="0">
                <a:solidFill>
                  <a:srgbClr val="737A7F"/>
                </a:solidFill>
                <a:latin typeface="Roboto"/>
                <a:ea typeface="Roboto"/>
                <a:cs typeface="Roboto"/>
              </a:rPr>
              <a:t>OMI: Occluded Myocardial Infarction (OCA: Oclusão Coronária Aguda); NOMI: Non Occluded Myocardial Infarction (NOCA: Não Oclusão Coronária Aguda)</a:t>
            </a:r>
          </a:p>
        </p:txBody>
      </p:sp>
      <p:sp>
        <p:nvSpPr>
          <p:cNvPr id="9" name="Rodapé 9"/>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123  ·  Dor torácica – Protocolo 2025 | Set 2026</a:t>
            </a:r>
          </a:p>
        </p:txBody>
      </p:sp>
      <p:sp>
        <p:nvSpPr>
          <p:cNvPr id="10" name="Rodapé 10"/>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Como identificamos a oclusão coronária hoje?</a:t>
            </a:r>
          </a:p>
        </p:txBody>
      </p:sp>
      <p:sp>
        <p:nvSpPr>
          <p:cNvPr id="3" name="Texto 3"/>
          <p:cNvSpPr txBox="1"/>
          <p:nvPr/>
        </p:nvSpPr>
        <p:spPr>
          <a:xfrm>
            <a:off x="711403" y="1417320"/>
            <a:ext cx="4600000" cy="350000"/>
          </a:xfrm>
          <a:prstGeom prst="rect">
            <a:avLst/>
          </a:prstGeom>
          <a:noFill/>
        </p:spPr>
        <p:txBody>
          <a:bodyPr wrap="square" lIns="0" tIns="0" rIns="0" bIns="0" anchor="t">
            <a:noAutofit/>
          </a:bodyPr>
          <a:lstStyle/>
          <a:p>
            <a:pPr marL="0" indent="0" algn="l">
              <a:lnSpc>
                <a:spcPct val="120000"/>
              </a:lnSpc>
              <a:spcBef>
                <a:spcPts val="0"/>
              </a:spcBef>
              <a:spcAft>
                <a:spcPts val="0"/>
              </a:spcAft>
              <a:buNone/>
            </a:pPr>
            <a:r>
              <a:rPr lang="pt-BR" sz="1500" b="0" i="0" dirty="0">
                <a:solidFill>
                  <a:srgbClr val="B5533C"/>
                </a:solidFill>
                <a:latin typeface="Roboto Medium"/>
                <a:ea typeface="Roboto Medium"/>
                <a:cs typeface="Roboto Medium"/>
              </a:rPr>
              <a:t>Paradigma OMI/NOMI (OCA/NOCA)</a:t>
            </a:r>
          </a:p>
        </p:txBody>
      </p:sp>
      <p:sp>
        <p:nvSpPr>
          <p:cNvPr id="4" name="Texto 4"/>
          <p:cNvSpPr txBox="1"/>
          <p:nvPr/>
        </p:nvSpPr>
        <p:spPr>
          <a:xfrm>
            <a:off x="711403" y="1850000"/>
            <a:ext cx="4300000" cy="350000"/>
          </a:xfrm>
          <a:prstGeom prst="rect">
            <a:avLst/>
          </a:prstGeom>
          <a:noFill/>
        </p:spPr>
        <p:txBody>
          <a:bodyPr wrap="square" lIns="0" tIns="0" rIns="0" bIns="0" anchor="t">
            <a:noAutofit/>
          </a:bodyPr>
          <a:lstStyle/>
          <a:p>
            <a:pPr marL="0" indent="0" algn="l">
              <a:lnSpc>
                <a:spcPct val="120000"/>
              </a:lnSpc>
              <a:spcBef>
                <a:spcPts val="0"/>
              </a:spcBef>
              <a:spcAft>
                <a:spcPts val="0"/>
              </a:spcAft>
              <a:buNone/>
            </a:pPr>
            <a:r>
              <a:rPr lang="pt-BR" sz="1300" b="1" i="0" dirty="0">
                <a:solidFill>
                  <a:srgbClr val="3B3F42"/>
                </a:solidFill>
                <a:latin typeface="Roboto"/>
                <a:ea typeface="Roboto"/>
                <a:cs typeface="Roboto"/>
              </a:rPr>
              <a:t>“Oclusão de Ramo Diagonal”</a:t>
            </a:r>
          </a:p>
        </p:txBody>
      </p:sp>
      <p:sp>
        <p:nvSpPr>
          <p:cNvPr id="5" name="Caixa 5"/>
          <p:cNvSpPr txBox="1"/>
          <p:nvPr/>
        </p:nvSpPr>
        <p:spPr>
          <a:xfrm>
            <a:off x="711403" y="2350000"/>
            <a:ext cx="4300000" cy="1550000"/>
          </a:xfrm>
          <a:prstGeom prst="rect">
            <a:avLst/>
          </a:prstGeom>
          <a:solidFill>
            <a:srgbClr val="4E7C8B"/>
          </a:solidFill>
        </p:spPr>
        <p:txBody>
          <a:bodyPr wrap="square" lIns="180000" tIns="120000" rIns="180000" bIns="120000" anchor="ctr">
            <a:noAutofit/>
          </a:bodyPr>
          <a:lstStyle/>
          <a:p>
            <a:pPr marL="285750" indent="-285750" algn="l">
              <a:lnSpc>
                <a:spcPct val="125000"/>
              </a:lnSpc>
              <a:spcBef>
                <a:spcPts val="0"/>
              </a:spcBef>
              <a:spcAft>
                <a:spcPts val="400"/>
              </a:spcAft>
              <a:buClr>
                <a:srgbClr val="FBFCFC"/>
              </a:buClr>
              <a:buFont typeface="Arial"/>
              <a:buChar char="•"/>
            </a:pPr>
            <a:r>
              <a:rPr lang="pt-BR" sz="1300" b="0" i="0" dirty="0">
                <a:solidFill>
                  <a:srgbClr val="FBFCFC"/>
                </a:solidFill>
                <a:latin typeface="Roboto"/>
                <a:ea typeface="Roboto"/>
                <a:cs typeface="Roboto"/>
              </a:rPr>
              <a:t>Supradesnível ST em (DI), aVL e V2</a:t>
            </a:r>
          </a:p>
          <a:p>
            <a:pPr marL="285750" indent="-285750" algn="l">
              <a:lnSpc>
                <a:spcPct val="125000"/>
              </a:lnSpc>
              <a:spcBef>
                <a:spcPts val="0"/>
              </a:spcBef>
              <a:spcAft>
                <a:spcPts val="400"/>
              </a:spcAft>
              <a:buClr>
                <a:srgbClr val="FBFCFC"/>
              </a:buClr>
              <a:buFont typeface="Arial"/>
              <a:buChar char="•"/>
            </a:pPr>
            <a:r>
              <a:rPr lang="pt-BR" sz="1300" b="0" i="0" dirty="0">
                <a:solidFill>
                  <a:srgbClr val="FBFCFC"/>
                </a:solidFill>
                <a:latin typeface="Roboto"/>
                <a:ea typeface="Roboto"/>
                <a:cs typeface="Roboto"/>
              </a:rPr>
              <a:t>Infradesnível ST em DIII</a:t>
            </a:r>
          </a:p>
          <a:p>
            <a:pPr marL="285750" indent="-285750" algn="l">
              <a:lnSpc>
                <a:spcPct val="125000"/>
              </a:lnSpc>
              <a:spcBef>
                <a:spcPts val="0"/>
              </a:spcBef>
              <a:spcAft>
                <a:spcPts val="400"/>
              </a:spcAft>
              <a:buClr>
                <a:srgbClr val="FBFCFC"/>
              </a:buClr>
              <a:buFont typeface="Arial"/>
              <a:buChar char="•"/>
            </a:pPr>
            <a:r>
              <a:rPr lang="pt-BR" sz="1300" b="0" i="0" dirty="0">
                <a:solidFill>
                  <a:srgbClr val="FBFCFC"/>
                </a:solidFill>
                <a:latin typeface="Roboto"/>
                <a:ea typeface="Roboto"/>
                <a:cs typeface="Roboto"/>
              </a:rPr>
              <a:t>Padrão da “Bandeira da África do Sul”</a:t>
            </a:r>
          </a:p>
        </p:txBody>
      </p:sp>
      <p:sp>
        <p:nvSpPr>
          <p:cNvPr id="6" name="Texto 6"/>
          <p:cNvSpPr txBox="1"/>
          <p:nvPr/>
        </p:nvSpPr>
        <p:spPr>
          <a:xfrm>
            <a:off x="711403" y="4300000"/>
            <a:ext cx="4300000" cy="500000"/>
          </a:xfrm>
          <a:prstGeom prst="rect">
            <a:avLst/>
          </a:prstGeom>
          <a:noFill/>
        </p:spPr>
        <p:txBody>
          <a:bodyPr wrap="square" lIns="0" tIns="0" rIns="0" bIns="0" anchor="t">
            <a:noAutofit/>
          </a:bodyPr>
          <a:lstStyle/>
          <a:p>
            <a:pPr marL="0" indent="0" algn="l">
              <a:lnSpc>
                <a:spcPct val="120000"/>
              </a:lnSpc>
              <a:spcBef>
                <a:spcPts val="0"/>
              </a:spcBef>
              <a:spcAft>
                <a:spcPts val="0"/>
              </a:spcAft>
              <a:buNone/>
            </a:pPr>
            <a:r>
              <a:rPr lang="pt-BR" sz="1500" b="0" i="0" dirty="0">
                <a:solidFill>
                  <a:srgbClr val="B5533C"/>
                </a:solidFill>
                <a:latin typeface="Roboto Medium"/>
                <a:ea typeface="Roboto Medium"/>
                <a:cs typeface="Roboto Medium"/>
              </a:rPr>
              <a:t>Oclusão de Ramo Diagonal</a:t>
            </a:r>
          </a:p>
        </p:txBody>
      </p:sp>
      <p:pic>
        <p:nvPicPr>
          <p:cNvPr id="7" name="Figura 7" descr="ECG com o padrão da bandeira da África do Sul (STE em I, aVL e V2; STD em III)"/>
          <p:cNvPicPr>
            <a:picLocks noChangeAspect="1"/>
          </p:cNvPicPr>
          <p:nvPr/>
        </p:nvPicPr>
        <p:blipFill>
          <a:blip r:embed="rId10"/>
          <a:stretch>
            <a:fillRect/>
          </a:stretch>
        </p:blipFill>
        <p:spPr>
          <a:xfrm>
            <a:off x="5300000" y="1700000"/>
            <a:ext cx="6183035" cy="3778521"/>
          </a:xfrm>
          <a:prstGeom prst="rect">
            <a:avLst/>
          </a:prstGeom>
        </p:spPr>
      </p:pic>
      <p:sp>
        <p:nvSpPr>
          <p:cNvPr id="8" name="Rodapé 8"/>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124  ·  Dor torácica – Protocolo 2025 | Set 2026</a:t>
            </a:r>
          </a:p>
        </p:txBody>
      </p:sp>
      <p:sp>
        <p:nvSpPr>
          <p:cNvPr id="9" name="Rodapé 9"/>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Normal para o BRE</a:t>
            </a:r>
          </a:p>
        </p:txBody>
      </p:sp>
      <p:sp>
        <p:nvSpPr>
          <p:cNvPr id="3" name="Subtítulo 3"/>
          <p:cNvSpPr txBox="1"/>
          <p:nvPr/>
        </p:nvSpPr>
        <p:spPr>
          <a:xfrm>
            <a:off x="711403" y="1010000"/>
            <a:ext cx="10771632" cy="300000"/>
          </a:xfrm>
          <a:prstGeom prst="rect">
            <a:avLst/>
          </a:prstGeom>
          <a:noFill/>
        </p:spPr>
        <p:txBody>
          <a:bodyPr wrap="square" lIns="0" tIns="0" rIns="0" bIns="0" anchor="t">
            <a:noAutofit/>
          </a:bodyPr>
          <a:lstStyle/>
          <a:p>
            <a:pPr marL="0" indent="0" algn="l">
              <a:lnSpc>
                <a:spcPct val="130000"/>
              </a:lnSpc>
              <a:spcBef>
                <a:spcPts val="0"/>
              </a:spcBef>
              <a:spcAft>
                <a:spcPts val="0"/>
              </a:spcAft>
              <a:buNone/>
            </a:pPr>
            <a:r>
              <a:rPr lang="pt-BR" sz="1300" b="0" i="0" dirty="0">
                <a:solidFill>
                  <a:srgbClr val="737A7F"/>
                </a:solidFill>
                <a:latin typeface="Roboto"/>
                <a:ea typeface="Roboto"/>
                <a:cs typeface="Roboto"/>
              </a:rPr>
              <a:t>Discordância apropriada do segmento ST e onda T em todas as derivações</a:t>
            </a:r>
          </a:p>
        </p:txBody>
      </p:sp>
      <p:pic>
        <p:nvPicPr>
          <p:cNvPr id="4" name="Figura 4" descr="Esquema do QRS, ST e onda T no BRE (A e B)"/>
          <p:cNvPicPr>
            <a:picLocks noChangeAspect="1"/>
          </p:cNvPicPr>
          <p:nvPr/>
        </p:nvPicPr>
        <p:blipFill>
          <a:blip r:embed="rId10"/>
          <a:stretch>
            <a:fillRect/>
          </a:stretch>
        </p:blipFill>
        <p:spPr>
          <a:xfrm>
            <a:off x="2900895" y="1550000"/>
            <a:ext cx="6392647" cy="3450000"/>
          </a:xfrm>
          <a:prstGeom prst="rect">
            <a:avLst/>
          </a:prstGeom>
        </p:spPr>
      </p:pic>
      <p:sp>
        <p:nvSpPr>
          <p:cNvPr id="5" name="Legenda 5"/>
          <p:cNvSpPr txBox="1"/>
          <p:nvPr/>
        </p:nvSpPr>
        <p:spPr>
          <a:xfrm>
            <a:off x="711403" y="5150000"/>
            <a:ext cx="10771632" cy="600000"/>
          </a:xfrm>
          <a:prstGeom prst="rect">
            <a:avLst/>
          </a:prstGeom>
          <a:noFill/>
        </p:spPr>
        <p:txBody>
          <a:bodyPr wrap="square" lIns="0" tIns="0" rIns="0" bIns="0" anchor="t">
            <a:noAutofit/>
          </a:bodyPr>
          <a:lstStyle/>
          <a:p>
            <a:pPr marL="0" indent="0" algn="l">
              <a:lnSpc>
                <a:spcPct val="125000"/>
              </a:lnSpc>
              <a:spcBef>
                <a:spcPts val="0"/>
              </a:spcBef>
              <a:spcAft>
                <a:spcPts val="0"/>
              </a:spcAft>
              <a:buNone/>
            </a:pPr>
            <a:r>
              <a:rPr lang="pt-BR" sz="1200" b="0" i="0" dirty="0">
                <a:solidFill>
                  <a:srgbClr val="737A7F"/>
                </a:solidFill>
                <a:latin typeface="Roboto"/>
                <a:ea typeface="Roboto"/>
                <a:cs typeface="Roboto"/>
              </a:rPr>
              <a:t>No Bloqueio de Ramo Esquerdo (BRE), toda a despolarização do VE se inicia a partir do septo interventricular. Desta maneira a repolarização do VE se dá de maneira inversa ao normal se iniciando também a partir do septo, alterando toda a polaridade da onda T associada a um desvio discordante do segmento ST em relação ao QRS precedente.</a:t>
            </a:r>
          </a:p>
        </p:txBody>
      </p:sp>
      <p:sp>
        <p:nvSpPr>
          <p:cNvPr id="6" name="Rodapé 6"/>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125  ·  Dor torácica – Protocolo 2025 | Set 2026</a:t>
            </a:r>
          </a:p>
        </p:txBody>
      </p:sp>
      <p:sp>
        <p:nvSpPr>
          <p:cNvPr id="7" name="Rodapé 7"/>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Oclusão coronária no BRE</a:t>
            </a:r>
          </a:p>
        </p:txBody>
      </p:sp>
      <p:sp>
        <p:nvSpPr>
          <p:cNvPr id="3" name="Texto 3"/>
          <p:cNvSpPr txBox="1"/>
          <p:nvPr/>
        </p:nvSpPr>
        <p:spPr>
          <a:xfrm>
            <a:off x="711403" y="1417320"/>
            <a:ext cx="3423877" cy="520000"/>
          </a:xfrm>
          <a:prstGeom prst="rect">
            <a:avLst/>
          </a:prstGeom>
          <a:noFill/>
        </p:spPr>
        <p:txBody>
          <a:bodyPr wrap="square" lIns="0" tIns="0" rIns="0" bIns="0" anchor="t">
            <a:noAutofit/>
          </a:bodyPr>
          <a:lstStyle/>
          <a:p>
            <a:pPr marL="0" indent="0" algn="l">
              <a:lnSpc>
                <a:spcPct val="115000"/>
              </a:lnSpc>
              <a:spcBef>
                <a:spcPts val="0"/>
              </a:spcBef>
              <a:spcAft>
                <a:spcPts val="0"/>
              </a:spcAft>
              <a:buNone/>
            </a:pPr>
            <a:r>
              <a:rPr lang="pt-BR" sz="1200" b="0" i="0" dirty="0">
                <a:solidFill>
                  <a:srgbClr val="3B3F42"/>
                </a:solidFill>
                <a:latin typeface="Roboto Medium"/>
                <a:ea typeface="Roboto Medium"/>
                <a:cs typeface="Roboto Medium"/>
              </a:rPr>
              <a:t>Concordância inadequada no BRE -&gt; oclusão coronária</a:t>
            </a:r>
          </a:p>
        </p:txBody>
      </p:sp>
      <p:pic>
        <p:nvPicPr>
          <p:cNvPr id="4" name="Figura 4" descr="Esquema 1: Concordância inadequada no BRE -&gt; oclusão coronária"/>
          <p:cNvPicPr>
            <a:picLocks noChangeAspect="1"/>
          </p:cNvPicPr>
          <p:nvPr/>
        </p:nvPicPr>
        <p:blipFill>
          <a:blip r:embed="rId10"/>
          <a:stretch>
            <a:fillRect/>
          </a:stretch>
        </p:blipFill>
        <p:spPr>
          <a:xfrm>
            <a:off x="813047" y="2000000"/>
            <a:ext cx="3220588" cy="3000000"/>
          </a:xfrm>
          <a:prstGeom prst="rect">
            <a:avLst/>
          </a:prstGeom>
        </p:spPr>
      </p:pic>
      <p:sp>
        <p:nvSpPr>
          <p:cNvPr id="5" name="Texto 5"/>
          <p:cNvSpPr txBox="1"/>
          <p:nvPr/>
        </p:nvSpPr>
        <p:spPr>
          <a:xfrm>
            <a:off x="4385280" y="1417320"/>
            <a:ext cx="3423877" cy="520000"/>
          </a:xfrm>
          <a:prstGeom prst="rect">
            <a:avLst/>
          </a:prstGeom>
          <a:noFill/>
        </p:spPr>
        <p:txBody>
          <a:bodyPr wrap="square" lIns="0" tIns="0" rIns="0" bIns="0" anchor="t">
            <a:noAutofit/>
          </a:bodyPr>
          <a:lstStyle/>
          <a:p>
            <a:pPr marL="0" indent="0" algn="l">
              <a:lnSpc>
                <a:spcPct val="115000"/>
              </a:lnSpc>
              <a:spcBef>
                <a:spcPts val="0"/>
              </a:spcBef>
              <a:spcAft>
                <a:spcPts val="0"/>
              </a:spcAft>
              <a:buNone/>
            </a:pPr>
            <a:r>
              <a:rPr lang="pt-BR" sz="1200" b="0" i="0" dirty="0">
                <a:solidFill>
                  <a:srgbClr val="3B3F42"/>
                </a:solidFill>
                <a:latin typeface="Roboto Medium"/>
                <a:ea typeface="Roboto Medium"/>
                <a:cs typeface="Roboto Medium"/>
              </a:rPr>
              <a:t>Concordância inadequada no BRE -&gt; oclusão coronária</a:t>
            </a:r>
          </a:p>
        </p:txBody>
      </p:sp>
      <p:pic>
        <p:nvPicPr>
          <p:cNvPr id="6" name="Figura 6" descr="Esquema 2: Concordância inadequada no BRE -&gt; oclusão coronária"/>
          <p:cNvPicPr>
            <a:picLocks noChangeAspect="1"/>
          </p:cNvPicPr>
          <p:nvPr/>
        </p:nvPicPr>
        <p:blipFill>
          <a:blip r:embed="rId11"/>
          <a:stretch>
            <a:fillRect/>
          </a:stretch>
        </p:blipFill>
        <p:spPr>
          <a:xfrm>
            <a:off x="4385280" y="2000000"/>
            <a:ext cx="3423877" cy="2947134"/>
          </a:xfrm>
          <a:prstGeom prst="rect">
            <a:avLst/>
          </a:prstGeom>
        </p:spPr>
      </p:pic>
      <p:sp>
        <p:nvSpPr>
          <p:cNvPr id="7" name="Texto 7"/>
          <p:cNvSpPr txBox="1"/>
          <p:nvPr/>
        </p:nvSpPr>
        <p:spPr>
          <a:xfrm>
            <a:off x="8059157" y="1417320"/>
            <a:ext cx="3423877" cy="520000"/>
          </a:xfrm>
          <a:prstGeom prst="rect">
            <a:avLst/>
          </a:prstGeom>
          <a:noFill/>
        </p:spPr>
        <p:txBody>
          <a:bodyPr wrap="square" lIns="0" tIns="0" rIns="0" bIns="0" anchor="t">
            <a:noAutofit/>
          </a:bodyPr>
          <a:lstStyle/>
          <a:p>
            <a:pPr marL="0" indent="0" algn="l">
              <a:lnSpc>
                <a:spcPct val="115000"/>
              </a:lnSpc>
              <a:spcBef>
                <a:spcPts val="0"/>
              </a:spcBef>
              <a:spcAft>
                <a:spcPts val="0"/>
              </a:spcAft>
              <a:buNone/>
            </a:pPr>
            <a:r>
              <a:rPr lang="pt-BR" sz="1200" b="0" i="0" dirty="0">
                <a:solidFill>
                  <a:srgbClr val="3B3F42"/>
                </a:solidFill>
                <a:latin typeface="Roboto Medium"/>
                <a:ea typeface="Roboto Medium"/>
                <a:cs typeface="Roboto Medium"/>
              </a:rPr>
              <a:t>Discordância excessiva no BRE -&gt; oclusão coronária</a:t>
            </a:r>
          </a:p>
        </p:txBody>
      </p:sp>
      <p:pic>
        <p:nvPicPr>
          <p:cNvPr id="8" name="Figura 8" descr="Esquema 3: Discordância excessiva no BRE -&gt; oclusão coronária"/>
          <p:cNvPicPr>
            <a:picLocks noChangeAspect="1"/>
          </p:cNvPicPr>
          <p:nvPr/>
        </p:nvPicPr>
        <p:blipFill>
          <a:blip r:embed="rId12"/>
          <a:stretch>
            <a:fillRect/>
          </a:stretch>
        </p:blipFill>
        <p:spPr>
          <a:xfrm>
            <a:off x="8059157" y="2000000"/>
            <a:ext cx="3423877" cy="2910295"/>
          </a:xfrm>
          <a:prstGeom prst="rect">
            <a:avLst/>
          </a:prstGeom>
        </p:spPr>
      </p:pic>
      <p:sp>
        <p:nvSpPr>
          <p:cNvPr id="9" name="Legenda 9"/>
          <p:cNvSpPr txBox="1"/>
          <p:nvPr/>
        </p:nvSpPr>
        <p:spPr>
          <a:xfrm>
            <a:off x="711403" y="5150000"/>
            <a:ext cx="10771632" cy="800000"/>
          </a:xfrm>
          <a:prstGeom prst="rect">
            <a:avLst/>
          </a:prstGeom>
          <a:noFill/>
        </p:spPr>
        <p:txBody>
          <a:bodyPr wrap="square" lIns="0" tIns="0" rIns="0" bIns="0" anchor="t">
            <a:noAutofit/>
          </a:bodyPr>
          <a:lstStyle/>
          <a:p>
            <a:pPr marL="0" indent="0" algn="l">
              <a:lnSpc>
                <a:spcPct val="125000"/>
              </a:lnSpc>
              <a:spcBef>
                <a:spcPts val="0"/>
              </a:spcBef>
              <a:spcAft>
                <a:spcPts val="0"/>
              </a:spcAft>
              <a:buNone/>
            </a:pPr>
            <a:r>
              <a:rPr lang="pt-BR" sz="1200" b="0" i="0" dirty="0">
                <a:solidFill>
                  <a:srgbClr val="737A7F"/>
                </a:solidFill>
                <a:latin typeface="Roboto"/>
                <a:ea typeface="Roboto"/>
                <a:cs typeface="Roboto"/>
              </a:rPr>
              <a:t>1) e 2) Concordância do segmento ST/ onda T com QRS. 3) Discordância excessiva da repolarização em relação ao QRS precedente. Em todos os casos indicando alteração primária da repolarização. Qualquer um dos critérios isoladamente apontam para oclusão coronária aguda, mesmo que em uma derivação apenas. http://hqmeded-ecg.blogspot.com.br</a:t>
            </a:r>
          </a:p>
        </p:txBody>
      </p:sp>
      <p:sp>
        <p:nvSpPr>
          <p:cNvPr id="10" name="Rodapé 10"/>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126  ·  Dor torácica – Protocolo 2025 | Set 2026</a:t>
            </a:r>
          </a:p>
        </p:txBody>
      </p:sp>
      <p:sp>
        <p:nvSpPr>
          <p:cNvPr id="11" name="Rodapé 11"/>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7"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BRE – SCACSST e equivalentes</a:t>
            </a:r>
          </a:p>
        </p:txBody>
      </p:sp>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127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8" name="Tabela"/>
          <p:cNvGraphicFramePr>
            <a:graphicFrameLocks noGrp="1"/>
          </p:cNvGraphicFramePr>
          <p:nvPr/>
        </p:nvGraphicFramePr>
        <p:xfrm>
          <a:off x="711403" y="1417320"/>
          <a:ext cx="10771632" cy="4059363"/>
        </p:xfrm>
        <a:graphic>
          <a:graphicData uri="http://schemas.openxmlformats.org/drawingml/2006/table">
            <a:tbl>
              <a:tblPr firstRow="1"/>
              <a:tblGrid>
                <a:gridCol w="10771632"/>
              </a:tblGrid>
              <a:tr h="319010">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Síndrome coronariana aguda com elevação persistente de ST (SCACSST) em paciente com bloqueio de ramo esquerdo*</a:t>
                      </a:r>
                      <a:endParaRPr lang="pt-BR" sz="1300" dirty="0"/>
                    </a:p>
                  </a:txBody>
                  <a:tcPr marL="91440" marR="91440" marT="54864" marB="54864" anchor="ctr">
                    <a:lnL w="0">
                      <a:noFill/>
                    </a:lnL>
                    <a:lnR w="0">
                      <a:noFill/>
                    </a:lnR>
                    <a:lnT w="0">
                      <a:noFill/>
                    </a:lnT>
                    <a:lnB w="0">
                      <a:noFill/>
                    </a:lnB>
                    <a:solidFill>
                      <a:srgbClr val="4E7C8B"/>
                    </a:solidFill>
                  </a:tcPr>
                </a:tc>
              </a:tr>
              <a:tr h="184413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Elevação concordante do segmento ST ≥ 1 mm em derivações com complexo QRS positivo</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Depressão concordante do segmento ST ≥ 1 mm (Sgarbossa em V1-V3)</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Elevação discordante do segmento ST ≥ 5 mm em derivações com complexo QRS negativo e/ou relação ST/S com amplitude do desvio do segmento ST de pelo menos 25% da onda S anterior**</a:t>
                      </a:r>
                      <a:endParaRPr lang="pt-BR" sz="1300" dirty="0"/>
                    </a:p>
                    <a:p>
                      <a:pPr algn="l" marL="0" indent="0">
                        <a:lnSpc>
                          <a:spcPct val="100000"/>
                        </a:lnSpc>
                        <a:spcBef>
                          <a:spcPts val="600"/>
                        </a:spcBef>
                        <a:spcAft>
                          <a:spcPts val="0"/>
                        </a:spcAft>
                        <a:buNone/>
                      </a:pPr>
                      <a:r>
                        <a:rPr lang="pt-BR" sz="1300" b="0" i="1" dirty="0">
                          <a:solidFill>
                            <a:srgbClr val="5F6468"/>
                          </a:solidFill>
                          <a:latin typeface="Roboto"/>
                          <a:ea typeface="Roboto"/>
                          <a:cs typeface="Roboto"/>
                        </a:rPr>
                        <a:t>*Bloqueio de ramo esquerdo novo isoladamente não é mais considerado necessariamente critério diagnóstico para SCACSST, embora indique situação de maior risco (correlacionar clínica).</a:t>
                      </a:r>
                      <a:endParaRPr lang="pt-BR" sz="1300" dirty="0"/>
                    </a:p>
                    <a:p>
                      <a:pPr algn="l" marL="0" indent="0">
                        <a:lnSpc>
                          <a:spcPct val="100000"/>
                        </a:lnSpc>
                        <a:spcBef>
                          <a:spcPts val="300"/>
                        </a:spcBef>
                        <a:spcAft>
                          <a:spcPts val="0"/>
                        </a:spcAft>
                        <a:buNone/>
                      </a:pPr>
                      <a:r>
                        <a:rPr lang="pt-BR" sz="1300" b="0" i="1" dirty="0">
                          <a:solidFill>
                            <a:srgbClr val="5F6468"/>
                          </a:solidFill>
                          <a:latin typeface="Roboto"/>
                          <a:ea typeface="Roboto"/>
                          <a:cs typeface="Roboto"/>
                        </a:rPr>
                        <a:t>**Valorizar também razão de ST/R discordante quando infradesnivelamento for pelo menos 25% da onda R anterior. No critério de Barcelona, desvio ≥ 1 mm discordante pode ser considerado em derivação com voltagem máxima (R/S) ≤ 6 mm.</a:t>
                      </a:r>
                      <a:endParaRPr lang="pt-BR" sz="1300" dirty="0"/>
                    </a:p>
                  </a:txBody>
                  <a:tcPr marL="91440" marR="91440" marT="54864" marB="54864" anchor="t">
                    <a:lnL w="0">
                      <a:noFill/>
                    </a:lnL>
                    <a:lnR w="0">
                      <a:noFill/>
                    </a:lnR>
                    <a:lnT w="0">
                      <a:noFill/>
                    </a:lnT>
                    <a:lnB w="12700">
                      <a:solidFill>
                        <a:srgbClr val="E4E6E7"/>
                      </a:solidFill>
                    </a:lnB>
                    <a:solidFill>
                      <a:srgbClr val="F2F4F5"/>
                    </a:solidFill>
                  </a:tcPr>
                </a:tc>
              </a:tr>
              <a:tr h="519904">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Achados compatíveis com oclusão coronária, ou seja, equivalentes à síndrome coronariana aguda com elevação persistente de ST (SCACSST)</a:t>
                      </a:r>
                      <a:endParaRPr lang="pt-BR" sz="1300" dirty="0"/>
                    </a:p>
                  </a:txBody>
                  <a:tcPr marL="91440" marR="91440" marT="54864" marB="54864" anchor="ctr">
                    <a:lnL w="0">
                      <a:noFill/>
                    </a:lnL>
                    <a:lnR w="0">
                      <a:noFill/>
                    </a:lnR>
                    <a:lnT w="0">
                      <a:noFill/>
                    </a:lnT>
                    <a:lnB w="0">
                      <a:noFill/>
                    </a:lnB>
                    <a:solidFill>
                      <a:srgbClr val="4E7C8B"/>
                    </a:solidFill>
                  </a:tcPr>
                </a:tc>
              </a:tr>
              <a:tr h="1376311">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Infarto “posterior” (ínfero-lateral).</a:t>
                      </a:r>
                      <a:endParaRPr lang="pt-BR" sz="1300" dirty="0"/>
                    </a:p>
                    <a:p>
                      <a:pPr algn="l" marL="0" indent="0">
                        <a:lnSpc>
                          <a:spcPct val="100000"/>
                        </a:lnSpc>
                        <a:spcBef>
                          <a:spcPts val="400"/>
                        </a:spcBef>
                        <a:spcAft>
                          <a:spcPts val="0"/>
                        </a:spcAft>
                        <a:buNone/>
                      </a:pPr>
                      <a:r>
                        <a:rPr lang="pt-BR" sz="1300" b="0" i="0" dirty="0">
                          <a:solidFill>
                            <a:srgbClr val="5F6468"/>
                          </a:solidFill>
                          <a:latin typeface="Roboto"/>
                          <a:ea typeface="Roboto"/>
                          <a:cs typeface="Roboto"/>
                        </a:rPr>
                        <a:t>- Critérios a serem avaliados em V1-V3 (habitualmente há um ou mais dos critérios abaixo):</a:t>
                      </a:r>
                      <a:endParaRPr lang="pt-BR" sz="1300" dirty="0"/>
                    </a:p>
                    <a:p>
                      <a:pPr algn="l" marL="182880" indent="0">
                        <a:lnSpc>
                          <a:spcPct val="100000"/>
                        </a:lnSpc>
                        <a:spcBef>
                          <a:spcPts val="0"/>
                        </a:spcBef>
                        <a:spcAft>
                          <a:spcPts val="0"/>
                        </a:spcAft>
                        <a:buNone/>
                      </a:pPr>
                      <a:r>
                        <a:rPr lang="pt-BR" sz="1300" b="0" i="0" dirty="0">
                          <a:solidFill>
                            <a:srgbClr val="5F6468"/>
                          </a:solidFill>
                          <a:latin typeface="Roboto"/>
                          <a:ea typeface="Roboto"/>
                          <a:cs typeface="Roboto"/>
                        </a:rPr>
                        <a:t>Depressão do segmento ST</a:t>
                      </a:r>
                      <a:endParaRPr lang="pt-BR" sz="1300" dirty="0"/>
                    </a:p>
                    <a:p>
                      <a:pPr algn="l" marL="182880" indent="0">
                        <a:lnSpc>
                          <a:spcPct val="100000"/>
                        </a:lnSpc>
                        <a:spcBef>
                          <a:spcPts val="0"/>
                        </a:spcBef>
                        <a:spcAft>
                          <a:spcPts val="0"/>
                        </a:spcAft>
                        <a:buNone/>
                      </a:pPr>
                      <a:r>
                        <a:rPr lang="pt-BR" sz="1300" b="0" i="0" dirty="0">
                          <a:solidFill>
                            <a:srgbClr val="5F6468"/>
                          </a:solidFill>
                          <a:latin typeface="Roboto"/>
                          <a:ea typeface="Roboto"/>
                          <a:cs typeface="Roboto"/>
                        </a:rPr>
                        <a:t>Onda R dominante (ou pelo menos maior que o habitual)</a:t>
                      </a:r>
                      <a:endParaRPr lang="pt-BR" sz="1300" dirty="0"/>
                    </a:p>
                    <a:p>
                      <a:pPr algn="l" marL="182880" indent="0">
                        <a:lnSpc>
                          <a:spcPct val="100000"/>
                        </a:lnSpc>
                        <a:spcBef>
                          <a:spcPts val="0"/>
                        </a:spcBef>
                        <a:spcAft>
                          <a:spcPts val="0"/>
                        </a:spcAft>
                        <a:buNone/>
                      </a:pPr>
                      <a:r>
                        <a:rPr lang="pt-BR" sz="1300" b="0" i="0" dirty="0">
                          <a:solidFill>
                            <a:srgbClr val="5F6468"/>
                          </a:solidFill>
                          <a:latin typeface="Roboto"/>
                          <a:ea typeface="Roboto"/>
                          <a:cs typeface="Roboto"/>
                        </a:rPr>
                        <a:t>Onda T positiva (terminal) nas derivações anteriores</a:t>
                      </a:r>
                      <a:endParaRPr lang="pt-BR" sz="1300" dirty="0"/>
                    </a:p>
                    <a:p>
                      <a:pPr algn="l" marL="182880" indent="0">
                        <a:lnSpc>
                          <a:spcPct val="100000"/>
                        </a:lnSpc>
                        <a:spcBef>
                          <a:spcPts val="0"/>
                        </a:spcBef>
                        <a:spcAft>
                          <a:spcPts val="0"/>
                        </a:spcAft>
                        <a:buNone/>
                      </a:pPr>
                      <a:r>
                        <a:rPr lang="pt-BR" sz="1300" b="0" i="0" dirty="0">
                          <a:solidFill>
                            <a:srgbClr val="5F6468"/>
                          </a:solidFill>
                          <a:latin typeface="Roboto"/>
                          <a:ea typeface="Roboto"/>
                          <a:cs typeface="Roboto"/>
                        </a:rPr>
                        <a:t>Onda R proeminente e ampla (&gt; 30 ms)</a:t>
                      </a:r>
                      <a:endParaRPr lang="pt-BR" sz="1300" dirty="0"/>
                    </a:p>
                  </a:txBody>
                  <a:tcPr marL="91440" marR="91440" marT="54864" marB="54864" anchor="t">
                    <a:lnL w="0">
                      <a:noFill/>
                    </a:lnL>
                    <a:lnR w="0">
                      <a:noFill/>
                    </a:lnR>
                    <a:lnT w="0">
                      <a:noFill/>
                    </a:lnT>
                    <a:lnB w="12700">
                      <a:solidFill>
                        <a:srgbClr val="E4E6E7"/>
                      </a:solidFill>
                    </a:lnB>
                    <a:solidFill>
                      <a:srgbClr val="FBFCFC"/>
                    </a:solidFill>
                  </a:tcPr>
                </a:tc>
              </a:tr>
            </a:tbl>
          </a:graphicData>
        </a:graphic>
      </p:graphicFrame>
    </p:spTree>
    <p:extLst>
      <p:ext uri="{BB962C8B-B14F-4D97-AF65-F5344CB8AC3E}">
        <p14:creationId xmlns:p14="http://schemas.microsoft.com/office/powerpoint/2010/main" val="3569226715"/>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E o BRE sem concordância inapropriada? → ST/S &gt; 0,25?</a:t>
            </a:r>
          </a:p>
        </p:txBody>
      </p:sp>
      <p:pic>
        <p:nvPicPr>
          <p:cNvPr id="3" name="Figura 3" descr="ECG A e B com BRE – relação ST/S (derivações V2/V3 destacadas)"/>
          <p:cNvPicPr>
            <a:picLocks noChangeAspect="1"/>
          </p:cNvPicPr>
          <p:nvPr/>
        </p:nvPicPr>
        <p:blipFill>
          <a:blip r:embed="rId10"/>
          <a:stretch>
            <a:fillRect/>
          </a:stretch>
        </p:blipFill>
        <p:spPr>
          <a:xfrm>
            <a:off x="711403" y="1450000"/>
            <a:ext cx="5482764" cy="4450000"/>
          </a:xfrm>
          <a:prstGeom prst="rect">
            <a:avLst/>
          </a:prstGeom>
        </p:spPr>
      </p:pic>
      <p:sp>
        <p:nvSpPr>
          <p:cNvPr id="4" name="Valor 4"/>
          <p:cNvSpPr txBox="1"/>
          <p:nvPr/>
        </p:nvSpPr>
        <p:spPr>
          <a:xfrm>
            <a:off x="6694167" y="2046672"/>
            <a:ext cx="4788867" cy="1100000"/>
          </a:xfrm>
          <a:prstGeom prst="rect">
            <a:avLst/>
          </a:prstGeom>
          <a:noFill/>
        </p:spPr>
        <p:txBody>
          <a:bodyPr wrap="square" lIns="0" tIns="0" rIns="0" bIns="0" anchor="ctr">
            <a:noAutofit/>
          </a:bodyPr>
          <a:lstStyle/>
          <a:p>
            <a:pPr marL="0" indent="0" algn="l">
              <a:lnSpc>
                <a:spcPct val="125000"/>
              </a:lnSpc>
              <a:spcBef>
                <a:spcPts val="0"/>
              </a:spcBef>
              <a:spcAft>
                <a:spcPts val="0"/>
              </a:spcAft>
              <a:buNone/>
            </a:pPr>
            <a:r>
              <a:rPr lang="pt-BR" sz="1500" b="0" i="0" dirty="0">
                <a:solidFill>
                  <a:srgbClr val="B5533C"/>
                </a:solidFill>
                <a:latin typeface="Roboto Medium"/>
                <a:ea typeface="Roboto Medium"/>
                <a:cs typeface="Roboto Medium"/>
              </a:rPr>
              <a:t>ST/S =</a:t>
            </a:r>
          </a:p>
          <a:p>
            <a:pPr marL="0" indent="0" algn="l">
              <a:lnSpc>
                <a:spcPct val="125000"/>
              </a:lnSpc>
              <a:spcBef>
                <a:spcPts val="0"/>
              </a:spcBef>
              <a:spcAft>
                <a:spcPts val="0"/>
              </a:spcAft>
              <a:buNone/>
            </a:pPr>
            <a:r>
              <a:rPr lang="pt-BR" sz="1500" b="0" i="0" dirty="0">
                <a:solidFill>
                  <a:srgbClr val="B5533C"/>
                </a:solidFill>
                <a:latin typeface="Roboto Medium"/>
                <a:ea typeface="Roboto Medium"/>
                <a:cs typeface="Roboto Medium"/>
              </a:rPr>
              <a:t>2/23</a:t>
            </a:r>
          </a:p>
          <a:p>
            <a:pPr marL="0" indent="0" algn="l">
              <a:lnSpc>
                <a:spcPct val="125000"/>
              </a:lnSpc>
              <a:spcBef>
                <a:spcPts val="0"/>
              </a:spcBef>
              <a:spcAft>
                <a:spcPts val="0"/>
              </a:spcAft>
              <a:buNone/>
            </a:pPr>
            <a:r>
              <a:rPr lang="pt-BR" sz="1500" b="0" i="0" dirty="0">
                <a:solidFill>
                  <a:srgbClr val="B5533C"/>
                </a:solidFill>
                <a:latin typeface="Roboto Medium"/>
                <a:ea typeface="Roboto Medium"/>
                <a:cs typeface="Roboto Medium"/>
              </a:rPr>
              <a:t>(0,085)</a:t>
            </a:r>
          </a:p>
        </p:txBody>
      </p:sp>
      <p:sp>
        <p:nvSpPr>
          <p:cNvPr id="5" name="Valor 5"/>
          <p:cNvSpPr txBox="1"/>
          <p:nvPr/>
        </p:nvSpPr>
        <p:spPr>
          <a:xfrm>
            <a:off x="6694167" y="4347610"/>
            <a:ext cx="4788867" cy="1100000"/>
          </a:xfrm>
          <a:prstGeom prst="rect">
            <a:avLst/>
          </a:prstGeom>
          <a:noFill/>
        </p:spPr>
        <p:txBody>
          <a:bodyPr wrap="square" lIns="0" tIns="0" rIns="0" bIns="0" anchor="ctr">
            <a:noAutofit/>
          </a:bodyPr>
          <a:lstStyle/>
          <a:p>
            <a:pPr marL="0" indent="0" algn="l">
              <a:lnSpc>
                <a:spcPct val="125000"/>
              </a:lnSpc>
              <a:spcBef>
                <a:spcPts val="0"/>
              </a:spcBef>
              <a:spcAft>
                <a:spcPts val="0"/>
              </a:spcAft>
              <a:buNone/>
            </a:pPr>
            <a:r>
              <a:rPr lang="pt-BR" sz="1500" b="0" i="0" dirty="0">
                <a:solidFill>
                  <a:srgbClr val="B5533C"/>
                </a:solidFill>
                <a:latin typeface="Roboto Medium"/>
                <a:ea typeface="Roboto Medium"/>
                <a:cs typeface="Roboto Medium"/>
              </a:rPr>
              <a:t>ST/S =</a:t>
            </a:r>
          </a:p>
          <a:p>
            <a:pPr marL="0" indent="0" algn="l">
              <a:lnSpc>
                <a:spcPct val="125000"/>
              </a:lnSpc>
              <a:spcBef>
                <a:spcPts val="0"/>
              </a:spcBef>
              <a:spcAft>
                <a:spcPts val="0"/>
              </a:spcAft>
              <a:buNone/>
            </a:pPr>
            <a:r>
              <a:rPr lang="pt-BR" sz="1500" b="0" i="0" dirty="0">
                <a:solidFill>
                  <a:srgbClr val="B5533C"/>
                </a:solidFill>
                <a:latin typeface="Roboto Medium"/>
                <a:ea typeface="Roboto Medium"/>
                <a:cs typeface="Roboto Medium"/>
              </a:rPr>
              <a:t>4,5/12</a:t>
            </a:r>
          </a:p>
          <a:p>
            <a:pPr marL="0" indent="0" algn="l">
              <a:lnSpc>
                <a:spcPct val="125000"/>
              </a:lnSpc>
              <a:spcBef>
                <a:spcPts val="0"/>
              </a:spcBef>
              <a:spcAft>
                <a:spcPts val="0"/>
              </a:spcAft>
              <a:buNone/>
            </a:pPr>
            <a:r>
              <a:rPr lang="pt-BR" sz="1500" b="0" i="0" dirty="0">
                <a:solidFill>
                  <a:srgbClr val="B5533C"/>
                </a:solidFill>
                <a:latin typeface="Roboto Medium"/>
                <a:ea typeface="Roboto Medium"/>
                <a:cs typeface="Roboto Medium"/>
              </a:rPr>
              <a:t>(0,38)</a:t>
            </a:r>
          </a:p>
        </p:txBody>
      </p:sp>
      <p:sp>
        <p:nvSpPr>
          <p:cNvPr id="6" name="Rodapé 6"/>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128  ·  Dor torácica – Protocolo 2025 | Set 2026</a:t>
            </a:r>
          </a:p>
        </p:txBody>
      </p:sp>
      <p:sp>
        <p:nvSpPr>
          <p:cNvPr id="7" name="Rodapé 7"/>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Normal para o BRD</a:t>
            </a:r>
          </a:p>
        </p:txBody>
      </p:sp>
      <p:sp>
        <p:nvSpPr>
          <p:cNvPr id="3" name="Subtítulo 3"/>
          <p:cNvSpPr txBox="1"/>
          <p:nvPr/>
        </p:nvSpPr>
        <p:spPr>
          <a:xfrm>
            <a:off x="711403" y="1010000"/>
            <a:ext cx="10771632" cy="600000"/>
          </a:xfrm>
          <a:prstGeom prst="rect">
            <a:avLst/>
          </a:prstGeom>
          <a:noFill/>
        </p:spPr>
        <p:txBody>
          <a:bodyPr wrap="square" lIns="0" tIns="0" rIns="0" bIns="0" anchor="t">
            <a:noAutofit/>
          </a:bodyPr>
          <a:lstStyle/>
          <a:p>
            <a:pPr marL="0" indent="0" algn="l">
              <a:lnSpc>
                <a:spcPct val="130000"/>
              </a:lnSpc>
              <a:spcBef>
                <a:spcPts val="0"/>
              </a:spcBef>
              <a:spcAft>
                <a:spcPts val="0"/>
              </a:spcAft>
              <a:buNone/>
            </a:pPr>
            <a:r>
              <a:rPr lang="pt-BR" sz="1300" b="0" i="0" dirty="0">
                <a:solidFill>
                  <a:srgbClr val="737A7F"/>
                </a:solidFill>
                <a:latin typeface="Roboto"/>
                <a:ea typeface="Roboto"/>
                <a:cs typeface="Roboto"/>
              </a:rPr>
              <a:t>Discordância apropriada do segmento ST e onda T apenas em V1-V3</a:t>
            </a:r>
          </a:p>
          <a:p>
            <a:pPr marL="0" indent="0" algn="l">
              <a:lnSpc>
                <a:spcPct val="130000"/>
              </a:lnSpc>
              <a:spcBef>
                <a:spcPts val="0"/>
              </a:spcBef>
              <a:spcAft>
                <a:spcPts val="0"/>
              </a:spcAft>
              <a:buNone/>
            </a:pPr>
            <a:r>
              <a:rPr lang="pt-BR" sz="1300" b="0" i="0" dirty="0">
                <a:solidFill>
                  <a:srgbClr val="737A7F"/>
                </a:solidFill>
                <a:latin typeface="Roboto"/>
                <a:ea typeface="Roboto"/>
                <a:cs typeface="Roboto"/>
              </a:rPr>
              <a:t>Ponto J na linha de base ou INFRA ST e onda T invertida</a:t>
            </a:r>
          </a:p>
        </p:txBody>
      </p:sp>
      <p:pic>
        <p:nvPicPr>
          <p:cNvPr id="4" name="Figura 4" descr="ECG de 12 derivações com BRD; V1–V3 destacadas"/>
          <p:cNvPicPr>
            <a:picLocks noChangeAspect="1"/>
          </p:cNvPicPr>
          <p:nvPr/>
        </p:nvPicPr>
        <p:blipFill>
          <a:blip r:embed="rId10"/>
          <a:stretch>
            <a:fillRect/>
          </a:stretch>
        </p:blipFill>
        <p:spPr>
          <a:xfrm>
            <a:off x="1740150" y="1650000"/>
            <a:ext cx="8714136" cy="3649999"/>
          </a:xfrm>
          <a:prstGeom prst="rect">
            <a:avLst/>
          </a:prstGeom>
        </p:spPr>
      </p:pic>
      <p:sp>
        <p:nvSpPr>
          <p:cNvPr id="5" name="Legenda 5"/>
          <p:cNvSpPr txBox="1"/>
          <p:nvPr/>
        </p:nvSpPr>
        <p:spPr>
          <a:xfrm>
            <a:off x="711403" y="5400000"/>
            <a:ext cx="10771632" cy="600000"/>
          </a:xfrm>
          <a:prstGeom prst="rect">
            <a:avLst/>
          </a:prstGeom>
          <a:noFill/>
        </p:spPr>
        <p:txBody>
          <a:bodyPr wrap="square" lIns="0" tIns="0" rIns="0" bIns="0" anchor="t">
            <a:noAutofit/>
          </a:bodyPr>
          <a:lstStyle/>
          <a:p>
            <a:pPr marL="0" indent="0" algn="l">
              <a:lnSpc>
                <a:spcPct val="125000"/>
              </a:lnSpc>
              <a:spcBef>
                <a:spcPts val="0"/>
              </a:spcBef>
              <a:spcAft>
                <a:spcPts val="0"/>
              </a:spcAft>
              <a:buNone/>
            </a:pPr>
            <a:r>
              <a:rPr lang="pt-BR" sz="1200" b="0" i="0" dirty="0">
                <a:solidFill>
                  <a:srgbClr val="737A7F"/>
                </a:solidFill>
                <a:latin typeface="Roboto"/>
                <a:ea typeface="Roboto"/>
                <a:cs typeface="Roboto"/>
              </a:rPr>
              <a:t>Alteração secundária da repolarização em precordiais direitas devido ao BRD provocando discordância adequada do segmento ST-T em relação ao QRS precedente.</a:t>
            </a:r>
          </a:p>
        </p:txBody>
      </p:sp>
      <p:sp>
        <p:nvSpPr>
          <p:cNvPr id="6" name="Rodapé 6"/>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129  ·  Dor torácica – Protocolo 2025 | Set 2026</a:t>
            </a:r>
          </a:p>
        </p:txBody>
      </p:sp>
      <p:sp>
        <p:nvSpPr>
          <p:cNvPr id="7" name="Rodapé 7"/>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Quando o infra ST é pior que o Supra ST</a:t>
            </a:r>
          </a:p>
        </p:txBody>
      </p:sp>
      <p:sp>
        <p:nvSpPr>
          <p:cNvPr id="3" name="Rótulo 3"/>
          <p:cNvSpPr txBox="1"/>
          <p:nvPr/>
        </p:nvSpPr>
        <p:spPr>
          <a:xfrm>
            <a:off x="711403" y="1417320"/>
            <a:ext cx="5300000" cy="250000"/>
          </a:xfrm>
          <a:prstGeom prst="rect">
            <a:avLst/>
          </a:prstGeom>
          <a:noFill/>
        </p:spPr>
        <p:txBody>
          <a:bodyPr wrap="square" lIns="0" tIns="0" rIns="0" bIns="0" anchor="t">
            <a:noAutofit/>
          </a:bodyPr>
          <a:lstStyle/>
          <a:p>
            <a:pPr marL="0" indent="0" algn="l">
              <a:lnSpc>
                <a:spcPct val="120000"/>
              </a:lnSpc>
              <a:spcBef>
                <a:spcPts val="0"/>
              </a:spcBef>
              <a:spcAft>
                <a:spcPts val="0"/>
              </a:spcAft>
              <a:buNone/>
            </a:pPr>
            <a:r>
              <a:rPr lang="pt-BR" sz="1300" b="0" i="0" dirty="0">
                <a:solidFill>
                  <a:srgbClr val="3B3F42"/>
                </a:solidFill>
                <a:latin typeface="Roboto Medium"/>
                <a:ea typeface="Roboto Medium"/>
                <a:cs typeface="Roboto Medium"/>
              </a:rPr>
              <a:t>Sem dor</a:t>
            </a:r>
          </a:p>
        </p:txBody>
      </p:sp>
      <p:pic>
        <p:nvPicPr>
          <p:cNvPr id="4" name="Figura 4" descr="ECG de 12 derivações – Sem dor"/>
          <p:cNvPicPr>
            <a:picLocks noChangeAspect="1"/>
          </p:cNvPicPr>
          <p:nvPr/>
        </p:nvPicPr>
        <p:blipFill>
          <a:blip r:embed="rId10"/>
          <a:stretch>
            <a:fillRect/>
          </a:stretch>
        </p:blipFill>
        <p:spPr>
          <a:xfrm>
            <a:off x="711403" y="1687320"/>
            <a:ext cx="4524385" cy="1850000"/>
          </a:xfrm>
          <a:prstGeom prst="rect">
            <a:avLst/>
          </a:prstGeom>
        </p:spPr>
      </p:pic>
      <p:sp>
        <p:nvSpPr>
          <p:cNvPr id="5" name="Rótulo 5"/>
          <p:cNvSpPr txBox="1"/>
          <p:nvPr/>
        </p:nvSpPr>
        <p:spPr>
          <a:xfrm>
            <a:off x="711403" y="3647320"/>
            <a:ext cx="5300000" cy="250000"/>
          </a:xfrm>
          <a:prstGeom prst="rect">
            <a:avLst/>
          </a:prstGeom>
          <a:noFill/>
        </p:spPr>
        <p:txBody>
          <a:bodyPr wrap="square" lIns="0" tIns="0" rIns="0" bIns="0" anchor="t">
            <a:noAutofit/>
          </a:bodyPr>
          <a:lstStyle/>
          <a:p>
            <a:pPr marL="0" indent="0" algn="l">
              <a:lnSpc>
                <a:spcPct val="120000"/>
              </a:lnSpc>
              <a:spcBef>
                <a:spcPts val="0"/>
              </a:spcBef>
              <a:spcAft>
                <a:spcPts val="0"/>
              </a:spcAft>
              <a:buNone/>
            </a:pPr>
            <a:r>
              <a:rPr lang="pt-BR" sz="1300" b="0" i="0" dirty="0">
                <a:solidFill>
                  <a:srgbClr val="3B3F42"/>
                </a:solidFill>
                <a:latin typeface="Roboto Medium"/>
                <a:ea typeface="Roboto Medium"/>
                <a:cs typeface="Roboto Medium"/>
              </a:rPr>
              <a:t>Com dor</a:t>
            </a:r>
          </a:p>
        </p:txBody>
      </p:sp>
      <p:pic>
        <p:nvPicPr>
          <p:cNvPr id="6" name="Figura 6" descr="ECG de 12 derivações – Com dor"/>
          <p:cNvPicPr>
            <a:picLocks noChangeAspect="1"/>
          </p:cNvPicPr>
          <p:nvPr/>
        </p:nvPicPr>
        <p:blipFill>
          <a:blip r:embed="rId11"/>
          <a:stretch>
            <a:fillRect/>
          </a:stretch>
        </p:blipFill>
        <p:spPr>
          <a:xfrm>
            <a:off x="711403" y="3917320"/>
            <a:ext cx="4477256" cy="1850000"/>
          </a:xfrm>
          <a:prstGeom prst="rect">
            <a:avLst/>
          </a:prstGeom>
        </p:spPr>
      </p:pic>
      <p:sp>
        <p:nvSpPr>
          <p:cNvPr id="7" name="Texto 7"/>
          <p:cNvSpPr txBox="1"/>
          <p:nvPr/>
        </p:nvSpPr>
        <p:spPr>
          <a:xfrm>
            <a:off x="6461403" y="1700000"/>
            <a:ext cx="5021632" cy="1300000"/>
          </a:xfrm>
          <a:prstGeom prst="rect">
            <a:avLst/>
          </a:prstGeom>
          <a:noFill/>
        </p:spPr>
        <p:txBody>
          <a:bodyPr wrap="square" lIns="0" tIns="0" rIns="0" bIns="0" anchor="ctr">
            <a:noAutofit/>
          </a:bodyPr>
          <a:lstStyle/>
          <a:p>
            <a:pPr marL="0" indent="0" algn="l">
              <a:lnSpc>
                <a:spcPct val="130000"/>
              </a:lnSpc>
              <a:spcBef>
                <a:spcPts val="0"/>
              </a:spcBef>
              <a:spcAft>
                <a:spcPts val="0"/>
              </a:spcAft>
              <a:buNone/>
            </a:pPr>
            <a:r>
              <a:rPr lang="pt-BR" sz="1500" b="0" i="0" dirty="0">
                <a:solidFill>
                  <a:srgbClr val="B5533C"/>
                </a:solidFill>
                <a:latin typeface="Roboto Medium"/>
                <a:ea typeface="Roboto Medium"/>
                <a:cs typeface="Roboto Medium"/>
              </a:rPr>
              <a:t>Infra ST &gt; 6 derivações (máximo em V4) associado a Supra ST em aVR &gt; V1</a:t>
            </a:r>
          </a:p>
        </p:txBody>
      </p:sp>
      <p:sp>
        <p:nvSpPr>
          <p:cNvPr id="8" name="Texto 8"/>
          <p:cNvSpPr txBox="1"/>
          <p:nvPr/>
        </p:nvSpPr>
        <p:spPr>
          <a:xfrm>
            <a:off x="6461403" y="3900000"/>
            <a:ext cx="5021632" cy="1000000"/>
          </a:xfrm>
          <a:prstGeom prst="rect">
            <a:avLst/>
          </a:prstGeom>
          <a:noFill/>
        </p:spPr>
        <p:txBody>
          <a:bodyPr wrap="square" lIns="0" tIns="0" rIns="0" bIns="0" anchor="ctr">
            <a:noAutofit/>
          </a:bodyPr>
          <a:lstStyle/>
          <a:p>
            <a:pPr marL="0" indent="0" algn="l">
              <a:lnSpc>
                <a:spcPct val="130000"/>
              </a:lnSpc>
              <a:spcBef>
                <a:spcPts val="0"/>
              </a:spcBef>
              <a:spcAft>
                <a:spcPts val="0"/>
              </a:spcAft>
              <a:buNone/>
            </a:pPr>
            <a:r>
              <a:rPr lang="pt-BR" sz="1500" b="0" i="0" dirty="0">
                <a:solidFill>
                  <a:srgbClr val="B5533C"/>
                </a:solidFill>
                <a:latin typeface="Roboto Medium"/>
                <a:ea typeface="Roboto Medium"/>
                <a:cs typeface="Roboto Medium"/>
              </a:rPr>
              <a:t>Suboclusão de TCE</a:t>
            </a:r>
          </a:p>
        </p:txBody>
      </p:sp>
      <p:sp>
        <p:nvSpPr>
          <p:cNvPr id="9" name="Rodapé 9"/>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130  ·  Dor torácica – Protocolo 2025 | Set 2026</a:t>
            </a:r>
          </a:p>
        </p:txBody>
      </p:sp>
      <p:sp>
        <p:nvSpPr>
          <p:cNvPr id="10" name="Rodapé 10"/>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Oclusão coronária aguda (OCA)</a:t>
            </a:r>
          </a:p>
        </p:txBody>
      </p:sp>
      <p:sp>
        <p:nvSpPr>
          <p:cNvPr id="3" name="Subtítulo 3"/>
          <p:cNvSpPr txBox="1"/>
          <p:nvPr/>
        </p:nvSpPr>
        <p:spPr>
          <a:xfrm>
            <a:off x="711403" y="1010000"/>
            <a:ext cx="10771632" cy="300000"/>
          </a:xfrm>
          <a:prstGeom prst="rect">
            <a:avLst/>
          </a:prstGeom>
          <a:noFill/>
        </p:spPr>
        <p:txBody>
          <a:bodyPr wrap="square" lIns="0" tIns="0" rIns="0" bIns="0" anchor="t">
            <a:noAutofit/>
          </a:bodyPr>
          <a:lstStyle/>
          <a:p>
            <a:pPr marL="0" indent="0" algn="l">
              <a:lnSpc>
                <a:spcPct val="130000"/>
              </a:lnSpc>
              <a:spcBef>
                <a:spcPts val="0"/>
              </a:spcBef>
              <a:spcAft>
                <a:spcPts val="0"/>
              </a:spcAft>
              <a:buNone/>
            </a:pPr>
            <a:r>
              <a:rPr lang="pt-BR" sz="1300" b="0" i="0" dirty="0">
                <a:solidFill>
                  <a:srgbClr val="737A7F"/>
                </a:solidFill>
                <a:latin typeface="Roboto"/>
                <a:ea typeface="Roboto"/>
                <a:cs typeface="Roboto"/>
              </a:rPr>
              <a:t>devem ser submetidos a abertura imediata da artéria</a:t>
            </a:r>
          </a:p>
        </p:txBody>
      </p:sp>
      <p:graphicFrame>
        <p:nvGraphicFramePr>
          <p:cNvPr id="4" name="Tabela 4"/>
          <p:cNvGraphicFramePr>
            <a:graphicFrameLocks noGrp="1"/>
          </p:cNvGraphicFramePr>
          <p:nvPr/>
        </p:nvGraphicFramePr>
        <p:xfrm>
          <a:off x="711403" y="1500000"/>
          <a:ext cx="10771632" cy="4450000"/>
        </p:xfrm>
        <a:graphic>
          <a:graphicData uri="http://schemas.openxmlformats.org/drawingml/2006/table">
            <a:tbl>
              <a:tblPr firstRow="1"/>
              <a:tblGrid>
                <a:gridCol w="1900000"/>
                <a:gridCol w="4150000"/>
                <a:gridCol w="2450000"/>
                <a:gridCol w="2271632"/>
              </a:tblGrid>
              <a:tr h="400000">
                <a:tc>
                  <a:txBody>
                    <a:bodyPr/>
                    <a:lstStyle/>
                    <a:p>
                      <a:pPr algn="l"/>
                      <a:r>
                        <a:rPr lang="pt-BR" sz="1300" b="0" i="0" dirty="0">
                          <a:solidFill>
                            <a:srgbClr val="FBFCFC"/>
                          </a:solidFill>
                          <a:latin typeface="Roboto Medium"/>
                          <a:ea typeface="Roboto Medium"/>
                          <a:cs typeface="Roboto Medium"/>
                        </a:rPr>
                        <a:t>Padrão ECG</a:t>
                      </a:r>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4E7C8B"/>
                    </a:solidFill>
                  </a:tcPr>
                </a:tc>
                <a:tc>
                  <a:txBody>
                    <a:bodyPr/>
                    <a:lstStyle/>
                    <a:p>
                      <a:pPr algn="l"/>
                      <a:r>
                        <a:rPr lang="pt-BR" sz="1300" b="0" i="0" dirty="0">
                          <a:solidFill>
                            <a:srgbClr val="FBFCFC"/>
                          </a:solidFill>
                          <a:latin typeface="Roboto Medium"/>
                          <a:ea typeface="Roboto Medium"/>
                          <a:cs typeface="Roboto Medium"/>
                        </a:rPr>
                        <a:t>Critério</a:t>
                      </a:r>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4E7C8B"/>
                    </a:solidFill>
                  </a:tcPr>
                </a:tc>
                <a:tc>
                  <a:txBody>
                    <a:bodyPr/>
                    <a:lstStyle/>
                    <a:p>
                      <a:pPr algn="l"/>
                      <a:r>
                        <a:rPr lang="pt-BR" sz="1300" b="0" i="0" dirty="0">
                          <a:solidFill>
                            <a:srgbClr val="FBFCFC"/>
                          </a:solidFill>
                          <a:latin typeface="Roboto Medium"/>
                          <a:ea typeface="Roboto Medium"/>
                          <a:cs typeface="Roboto Medium"/>
                        </a:rPr>
                        <a:t>Significado</a:t>
                      </a:r>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4E7C8B"/>
                    </a:solidFill>
                  </a:tcPr>
                </a:tc>
                <a:tc>
                  <a:txBody>
                    <a:bodyPr/>
                    <a:lstStyle/>
                    <a:p>
                      <a:pPr algn="l"/>
                      <a:r>
                        <a:rPr lang="pt-BR" sz="1300" b="0" i="0" dirty="0">
                          <a:solidFill>
                            <a:srgbClr val="FBFCFC"/>
                          </a:solidFill>
                          <a:latin typeface="Roboto Medium"/>
                          <a:ea typeface="Roboto Medium"/>
                          <a:cs typeface="Roboto Medium"/>
                        </a:rPr>
                        <a:t>Exemplo</a:t>
                      </a:r>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4E7C8B"/>
                    </a:solidFill>
                  </a:tcPr>
                </a:tc>
              </a:tr>
              <a:tr h="1350000">
                <a:tc>
                  <a:txBody>
                    <a:bodyPr/>
                    <a:lstStyle/>
                    <a:p>
                      <a:pPr algn="l"/>
                      <a:r>
                        <a:rPr lang="pt-BR" sz="1300" b="0" i="0" dirty="0">
                          <a:solidFill>
                            <a:srgbClr val="3B3F42"/>
                          </a:solidFill>
                          <a:latin typeface="Roboto Medium"/>
                          <a:ea typeface="Roboto Medium"/>
                          <a:cs typeface="Roboto Medium"/>
                        </a:rPr>
                        <a:t>Ondas T hiperagudas</a:t>
                      </a:r>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F2F4F5"/>
                    </a:solidFill>
                  </a:tcPr>
                </a:tc>
                <a:tc>
                  <a:txBody>
                    <a:bodyPr/>
                    <a:lstStyle/>
                    <a:p>
                      <a:pPr algn="l"/>
                      <a:r>
                        <a:rPr lang="pt-BR" sz="1300" b="0" i="0" dirty="0">
                          <a:solidFill>
                            <a:srgbClr val="5F6468"/>
                          </a:solidFill>
                          <a:latin typeface="Roboto"/>
                          <a:ea typeface="Roboto"/>
                          <a:cs typeface="Roboto"/>
                        </a:rPr>
                        <a:t>Ondas T amplas, largas, simétricas e arredondadas, que precedem o supradesnível ST. Geralmente associadas a infradesnível ST recíproco.</a:t>
                      </a:r>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F2F4F5"/>
                    </a:solidFill>
                  </a:tcPr>
                </a:tc>
                <a:tc>
                  <a:txBody>
                    <a:bodyPr/>
                    <a:lstStyle/>
                    <a:p>
                      <a:pPr algn="l"/>
                      <a:r>
                        <a:rPr lang="pt-BR" sz="1300" b="0" i="0" dirty="0">
                          <a:solidFill>
                            <a:srgbClr val="5F6468"/>
                          </a:solidFill>
                          <a:latin typeface="Roboto"/>
                          <a:ea typeface="Roboto"/>
                          <a:cs typeface="Roboto"/>
                        </a:rPr>
                        <a:t>Alteração muito precoce na oclusão coronária aguda</a:t>
                      </a:r>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F2F4F5"/>
                    </a:solidFill>
                  </a:tcPr>
                </a:tc>
                <a:tc>
                  <a:txBody>
                    <a:bodyPr/>
                    <a:lstStyle/>
                    <a:p>
                      <a:pPr algn="l"/>
                      <a:endParaRPr lang="pt-BR" sz="1300"/>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F2F4F5"/>
                    </a:solidFill>
                  </a:tcPr>
                </a:tc>
              </a:tr>
              <a:tr h="1350000">
                <a:tc>
                  <a:txBody>
                    <a:bodyPr/>
                    <a:lstStyle/>
                    <a:p>
                      <a:pPr algn="l"/>
                      <a:r>
                        <a:rPr lang="pt-BR" sz="1300" b="0" i="0" dirty="0">
                          <a:solidFill>
                            <a:srgbClr val="3B3F42"/>
                          </a:solidFill>
                          <a:latin typeface="Roboto Medium"/>
                          <a:ea typeface="Roboto Medium"/>
                          <a:cs typeface="Roboto Medium"/>
                        </a:rPr>
                        <a:t>Padrão de DeWinter</a:t>
                      </a:r>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FBFCFC"/>
                    </a:solidFill>
                  </a:tcPr>
                </a:tc>
                <a:tc>
                  <a:txBody>
                    <a:bodyPr/>
                    <a:lstStyle/>
                    <a:p>
                      <a:pPr algn="l"/>
                      <a:r>
                        <a:rPr lang="pt-BR" sz="1300" b="0" i="0" dirty="0">
                          <a:solidFill>
                            <a:srgbClr val="5F6468"/>
                          </a:solidFill>
                          <a:latin typeface="Roboto"/>
                          <a:ea typeface="Roboto"/>
                          <a:cs typeface="Roboto"/>
                        </a:rPr>
                        <a:t>Infradesnível ST ≥1,0mm em derivações precordiais com ST ascendente e T hiperagudas. Supradesnível ST ≥0,5mm em aVR é comum.</a:t>
                      </a:r>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FBFCFC"/>
                    </a:solidFill>
                  </a:tcPr>
                </a:tc>
                <a:tc>
                  <a:txBody>
                    <a:bodyPr/>
                    <a:lstStyle/>
                    <a:p>
                      <a:pPr algn="l"/>
                      <a:r>
                        <a:rPr lang="pt-BR" sz="1300" b="0" i="0" dirty="0">
                          <a:solidFill>
                            <a:srgbClr val="5F6468"/>
                          </a:solidFill>
                          <a:latin typeface="Roboto"/>
                          <a:ea typeface="Roboto"/>
                          <a:cs typeface="Roboto"/>
                        </a:rPr>
                        <a:t>Oclusão aguda de Descendente Anterior</a:t>
                      </a:r>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FBFCFC"/>
                    </a:solidFill>
                  </a:tcPr>
                </a:tc>
                <a:tc>
                  <a:txBody>
                    <a:bodyPr/>
                    <a:lstStyle/>
                    <a:p>
                      <a:pPr algn="l"/>
                      <a:endParaRPr lang="pt-BR" sz="1300"/>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FBFCFC"/>
                    </a:solidFill>
                  </a:tcPr>
                </a:tc>
              </a:tr>
              <a:tr h="1350000">
                <a:tc>
                  <a:txBody>
                    <a:bodyPr/>
                    <a:lstStyle/>
                    <a:p>
                      <a:pPr algn="l"/>
                      <a:r>
                        <a:rPr lang="pt-BR" sz="1300" b="0" i="0" dirty="0">
                          <a:solidFill>
                            <a:srgbClr val="3B3F42"/>
                          </a:solidFill>
                          <a:latin typeface="Roboto Medium"/>
                          <a:ea typeface="Roboto Medium"/>
                          <a:cs typeface="Roboto Medium"/>
                        </a:rPr>
                        <a:t>Infradesnível ST de V1 a V4</a:t>
                      </a:r>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F2F4F5"/>
                    </a:solidFill>
                  </a:tcPr>
                </a:tc>
                <a:tc>
                  <a:txBody>
                    <a:bodyPr/>
                    <a:lstStyle/>
                    <a:p>
                      <a:pPr algn="l"/>
                      <a:r>
                        <a:rPr lang="pt-BR" sz="1300" b="0" i="0" dirty="0">
                          <a:solidFill>
                            <a:srgbClr val="5F6468"/>
                          </a:solidFill>
                          <a:latin typeface="Roboto"/>
                          <a:ea typeface="Roboto"/>
                          <a:cs typeface="Roboto"/>
                        </a:rPr>
                        <a:t>Infradesnível ST ≥0,5mm em V1 a V4, associado ou não a Supradesnível ST ≥0,5mm em derivações posteriores (V7 a V9)</a:t>
                      </a:r>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F2F4F5"/>
                    </a:solidFill>
                  </a:tcPr>
                </a:tc>
                <a:tc>
                  <a:txBody>
                    <a:bodyPr/>
                    <a:lstStyle/>
                    <a:p>
                      <a:pPr algn="l"/>
                      <a:r>
                        <a:rPr lang="pt-BR" sz="1300" b="0" i="0" dirty="0">
                          <a:solidFill>
                            <a:srgbClr val="5F6468"/>
                          </a:solidFill>
                          <a:latin typeface="Roboto"/>
                          <a:ea typeface="Roboto"/>
                          <a:cs typeface="Roboto"/>
                        </a:rPr>
                        <a:t>Oclusão aguda de ramo póstero lateral da CD ou Cx</a:t>
                      </a:r>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F2F4F5"/>
                    </a:solidFill>
                  </a:tcPr>
                </a:tc>
                <a:tc>
                  <a:txBody>
                    <a:bodyPr/>
                    <a:lstStyle/>
                    <a:p>
                      <a:pPr algn="l"/>
                      <a:endParaRPr lang="pt-BR" sz="1300"/>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F2F4F5"/>
                    </a:solidFill>
                  </a:tcPr>
                </a:tc>
              </a:tr>
            </a:tbl>
          </a:graphicData>
        </a:graphic>
      </p:graphicFrame>
      <p:pic>
        <p:nvPicPr>
          <p:cNvPr id="5" name="Figura 5" descr="Exemplo: Ondas T hiperagudas"/>
          <p:cNvPicPr>
            <a:picLocks noChangeAspect="1"/>
          </p:cNvPicPr>
          <p:nvPr/>
        </p:nvPicPr>
        <p:blipFill>
          <a:blip r:embed="rId10"/>
          <a:stretch>
            <a:fillRect/>
          </a:stretch>
        </p:blipFill>
        <p:spPr>
          <a:xfrm>
            <a:off x="9760823" y="1960000"/>
            <a:ext cx="1172790" cy="1230000"/>
          </a:xfrm>
          <a:prstGeom prst="rect">
            <a:avLst/>
          </a:prstGeom>
        </p:spPr>
      </p:pic>
      <p:pic>
        <p:nvPicPr>
          <p:cNvPr id="6" name="Figura 6" descr="Exemplo: Padrão de DeWinter"/>
          <p:cNvPicPr>
            <a:picLocks noChangeAspect="1"/>
          </p:cNvPicPr>
          <p:nvPr/>
        </p:nvPicPr>
        <p:blipFill>
          <a:blip r:embed="rId11"/>
          <a:stretch>
            <a:fillRect/>
          </a:stretch>
        </p:blipFill>
        <p:spPr>
          <a:xfrm>
            <a:off x="9291403" y="3346388"/>
            <a:ext cx="2111632" cy="1157222"/>
          </a:xfrm>
          <a:prstGeom prst="rect">
            <a:avLst/>
          </a:prstGeom>
        </p:spPr>
      </p:pic>
      <p:pic>
        <p:nvPicPr>
          <p:cNvPr id="7" name="Figura 7" descr="Exemplo: Infradesnível ST de V1 a V4"/>
          <p:cNvPicPr>
            <a:picLocks noChangeAspect="1"/>
          </p:cNvPicPr>
          <p:nvPr/>
        </p:nvPicPr>
        <p:blipFill>
          <a:blip r:embed="rId12"/>
          <a:stretch>
            <a:fillRect/>
          </a:stretch>
        </p:blipFill>
        <p:spPr>
          <a:xfrm>
            <a:off x="9792142" y="4660000"/>
            <a:ext cx="1110153" cy="1230000"/>
          </a:xfrm>
          <a:prstGeom prst="rect">
            <a:avLst/>
          </a:prstGeom>
        </p:spPr>
      </p:pic>
      <p:sp>
        <p:nvSpPr>
          <p:cNvPr id="8" name="Rodapé 8"/>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131  ·  Dor torácica – Protocolo 2025 | Set 2026</a:t>
            </a:r>
          </a:p>
        </p:txBody>
      </p:sp>
      <p:sp>
        <p:nvSpPr>
          <p:cNvPr id="9" name="Rodapé 9"/>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extBox 1"/>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132  ·  Dor torácica – Protocolo 2025 | Set 2026</a:t>
            </a:r>
          </a:p>
        </p:txBody>
      </p:sp>
      <p:sp>
        <p:nvSpPr>
          <p:cNvPr id="3" name="TextBox 2"/>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2087054098"/>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Padrões de ECG – De Winter, Aslanger e outros</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133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417320"/>
          <a:ext cx="10771632" cy="3414284"/>
        </p:xfrm>
        <a:graphic>
          <a:graphicData uri="http://schemas.openxmlformats.org/drawingml/2006/table">
            <a:tbl>
              <a:tblPr firstRow="1"/>
              <a:tblGrid>
                <a:gridCol w="10771632"/>
              </a:tblGrid>
              <a:tr h="1053771">
                <a:tc>
                  <a:txBody>
                    <a:bodyPr/>
                    <a:lstStyle/>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 De Winter:</a:t>
                      </a:r>
                      <a:endParaRPr lang="pt-BR" sz="1300" dirty="0"/>
                    </a:p>
                    <a:p>
                      <a:pPr algn="l" marL="0" indent="0">
                        <a:lnSpc>
                          <a:spcPct val="100000"/>
                        </a:lnSpc>
                        <a:spcBef>
                          <a:spcPts val="500"/>
                        </a:spcBef>
                        <a:spcAft>
                          <a:spcPts val="0"/>
                        </a:spcAft>
                        <a:buNone/>
                      </a:pPr>
                      <a:r>
                        <a:rPr lang="pt-BR" sz="1300" b="0" i="0" dirty="0">
                          <a:solidFill>
                            <a:srgbClr val="5F6468"/>
                          </a:solidFill>
                          <a:latin typeface="Roboto"/>
                          <a:ea typeface="Roboto"/>
                          <a:cs typeface="Roboto"/>
                        </a:rPr>
                        <a:t>- Ondas T altas, proeminentes e simétricas precedidas de depressão ascendente do segmento ST &gt; 1 mm no ponto J nas derivações precordiais</a:t>
                      </a:r>
                      <a:endParaRPr lang="pt-BR" sz="1300" dirty="0"/>
                    </a:p>
                    <a:p>
                      <a:pPr algn="l" marL="0" indent="0">
                        <a:lnSpc>
                          <a:spcPct val="100000"/>
                        </a:lnSpc>
                        <a:spcBef>
                          <a:spcPts val="500"/>
                        </a:spcBef>
                        <a:spcAft>
                          <a:spcPts val="0"/>
                        </a:spcAft>
                        <a:buNone/>
                      </a:pPr>
                      <a:r>
                        <a:rPr lang="pt-BR" sz="1300" b="0" i="0" dirty="0">
                          <a:solidFill>
                            <a:srgbClr val="5F6468"/>
                          </a:solidFill>
                          <a:latin typeface="Roboto"/>
                          <a:ea typeface="Roboto"/>
                          <a:cs typeface="Roboto"/>
                        </a:rPr>
                        <a:t>- Elevação do segmento ST de 0,5-1 mm pode ser observada na derivação aVR</a:t>
                      </a:r>
                      <a:endParaRPr lang="pt-BR" sz="1300" dirty="0"/>
                    </a:p>
                  </a:txBody>
                  <a:tcPr marL="91440" marR="91440" marT="54864" marB="54864" anchor="t">
                    <a:lnL w="0">
                      <a:noFill/>
                    </a:lnL>
                    <a:lnR w="0">
                      <a:noFill/>
                    </a:lnR>
                    <a:lnT w="0">
                      <a:noFill/>
                    </a:lnT>
                    <a:lnB w="12700">
                      <a:solidFill>
                        <a:srgbClr val="E4E6E7"/>
                      </a:solidFill>
                    </a:lnB>
                    <a:solidFill>
                      <a:srgbClr val="FBFCFC"/>
                    </a:solidFill>
                  </a:tcPr>
                </a:tc>
              </a:tr>
              <a:tr h="786838">
                <a:tc>
                  <a:txBody>
                    <a:bodyPr/>
                    <a:lstStyle/>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 Ondas T hiperagudas:</a:t>
                      </a:r>
                      <a:endParaRPr lang="pt-BR" sz="1300" dirty="0"/>
                    </a:p>
                    <a:p>
                      <a:pPr algn="l" marL="0" indent="0">
                        <a:lnSpc>
                          <a:spcPct val="100000"/>
                        </a:lnSpc>
                        <a:spcBef>
                          <a:spcPts val="500"/>
                        </a:spcBef>
                        <a:spcAft>
                          <a:spcPts val="0"/>
                        </a:spcAft>
                        <a:buNone/>
                      </a:pPr>
                      <a:r>
                        <a:rPr lang="pt-BR" sz="1300" b="0" i="0" dirty="0">
                          <a:solidFill>
                            <a:srgbClr val="5F6468"/>
                          </a:solidFill>
                          <a:latin typeface="Roboto"/>
                          <a:ea typeface="Roboto"/>
                          <a:cs typeface="Roboto"/>
                        </a:rPr>
                        <a:t>Ondas T amplas, simétricas e pontiagudas podem ser observadas precocemente no IAMCSST. Eletrocardiogramas seriados em intervalos muito curtos são úteis para confirmar a progressão para os critérios clássicos de elevação de ST</a:t>
                      </a:r>
                      <a:endParaRPr lang="pt-BR" sz="1300" dirty="0"/>
                    </a:p>
                  </a:txBody>
                  <a:tcPr marL="91440" marR="91440" marT="54864" marB="54864" anchor="t">
                    <a:lnL w="0">
                      <a:noFill/>
                    </a:lnL>
                    <a:lnR w="0">
                      <a:noFill/>
                    </a:lnR>
                    <a:lnT w="0">
                      <a:noFill/>
                    </a:lnT>
                    <a:lnB w="12700">
                      <a:solidFill>
                        <a:srgbClr val="E4E6E7"/>
                      </a:solidFill>
                    </a:lnB>
                    <a:solidFill>
                      <a:srgbClr val="F2F4F5"/>
                    </a:solidFill>
                  </a:tcPr>
                </a:tc>
              </a:tr>
              <a:tr h="987731">
                <a:tc>
                  <a:txBody>
                    <a:bodyPr/>
                    <a:lstStyle/>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 Padrão de Aslanger:</a:t>
                      </a:r>
                      <a:endParaRPr lang="pt-BR" sz="1300" dirty="0"/>
                    </a:p>
                    <a:p>
                      <a:pPr algn="l" marL="0" indent="0">
                        <a:lnSpc>
                          <a:spcPct val="100000"/>
                        </a:lnSpc>
                        <a:spcBef>
                          <a:spcPts val="500"/>
                        </a:spcBef>
                        <a:spcAft>
                          <a:spcPts val="0"/>
                        </a:spcAft>
                        <a:buNone/>
                      </a:pPr>
                      <a:r>
                        <a:rPr lang="pt-BR" sz="1300" b="0" i="0" dirty="0">
                          <a:solidFill>
                            <a:srgbClr val="5F6468"/>
                          </a:solidFill>
                          <a:latin typeface="Roboto"/>
                          <a:ea typeface="Roboto"/>
                          <a:cs typeface="Roboto"/>
                        </a:rPr>
                        <a:t>Elevação do segmento ST em DIII, mas não nas demais derivações inferiores (pode haver elevação de ST em aVR, além de DIII); depressão do segmento ST em qualquer das derivações entre V4 e V6 com onda T (pelo menos na sua fase terminal) positiva e elevação do segmento ST em V1 mais alta que em V2</a:t>
                      </a:r>
                      <a:endParaRPr lang="pt-BR" sz="1300" dirty="0"/>
                    </a:p>
                  </a:txBody>
                  <a:tcPr marL="91440" marR="91440" marT="54864" marB="54864" anchor="t">
                    <a:lnL w="0">
                      <a:noFill/>
                    </a:lnL>
                    <a:lnR w="0">
                      <a:noFill/>
                    </a:lnR>
                    <a:lnT w="0">
                      <a:noFill/>
                    </a:lnT>
                    <a:lnB w="12700">
                      <a:solidFill>
                        <a:srgbClr val="E4E6E7"/>
                      </a:solidFill>
                    </a:lnB>
                    <a:solidFill>
                      <a:srgbClr val="FBFCFC"/>
                    </a:solidFill>
                  </a:tcPr>
                </a:tc>
              </a:tr>
              <a:tr h="585944">
                <a:tc>
                  <a:txBody>
                    <a:bodyPr/>
                    <a:lstStyle/>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 Distorção terminal do QRS:</a:t>
                      </a:r>
                      <a:endParaRPr lang="pt-BR" sz="1300" dirty="0"/>
                    </a:p>
                    <a:p>
                      <a:pPr algn="l" marL="0" indent="0">
                        <a:lnSpc>
                          <a:spcPct val="100000"/>
                        </a:lnSpc>
                        <a:spcBef>
                          <a:spcPts val="500"/>
                        </a:spcBef>
                        <a:spcAft>
                          <a:spcPts val="0"/>
                        </a:spcAft>
                        <a:buNone/>
                      </a:pPr>
                      <a:r>
                        <a:rPr lang="pt-BR" sz="1300" b="0" i="0" dirty="0">
                          <a:solidFill>
                            <a:srgbClr val="5F6468"/>
                          </a:solidFill>
                          <a:latin typeface="Roboto"/>
                          <a:ea typeface="Roboto"/>
                          <a:cs typeface="Roboto"/>
                        </a:rPr>
                        <a:t>Ausência de uma onda S abaixo da linha isoelétrica e ausência de onda J nas derivações V2 e/ou V3</a:t>
                      </a:r>
                      <a:endParaRPr lang="pt-BR" sz="1300" dirty="0"/>
                    </a:p>
                  </a:txBody>
                  <a:tcPr marL="91440" marR="91440" marT="54864" marB="54864" anchor="t">
                    <a:lnL w="0">
                      <a:noFill/>
                    </a:lnL>
                    <a:lnR w="0">
                      <a:noFill/>
                    </a:lnR>
                    <a:lnT w="0">
                      <a:noFill/>
                    </a:lnT>
                    <a:lnB w="12700">
                      <a:solidFill>
                        <a:srgbClr val="E4E6E7"/>
                      </a:solidFill>
                    </a:lnB>
                    <a:solidFill>
                      <a:srgbClr val="F2F4F5"/>
                    </a:solidFill>
                  </a:tcPr>
                </a:tc>
              </a:tr>
            </a:tbl>
          </a:graphicData>
        </a:graphic>
      </p:graphicFrame>
    </p:spTree>
    <p:extLst>
      <p:ext uri="{BB962C8B-B14F-4D97-AF65-F5344CB8AC3E}">
        <p14:creationId xmlns:p14="http://schemas.microsoft.com/office/powerpoint/2010/main" val="1205392876"/>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SCA sem elevação persistente de ST – Maior risco ao ECG (1/2)</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134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417320"/>
          <a:ext cx="10771632" cy="3617952"/>
        </p:xfrm>
        <a:graphic>
          <a:graphicData uri="http://schemas.openxmlformats.org/drawingml/2006/table">
            <a:tbl>
              <a:tblPr firstRow="1"/>
              <a:tblGrid>
                <a:gridCol w="10771632"/>
              </a:tblGrid>
              <a:tr h="519904">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Síndrome coronariana aguda sem elevação persistente de ST, porém com critérios de maior risco ao ECG (obstrução de tronco de coronária esquerda ou multiarterial*)</a:t>
                      </a:r>
                      <a:endParaRPr lang="pt-BR" sz="1300" dirty="0"/>
                    </a:p>
                  </a:txBody>
                  <a:tcPr marL="91440" marR="91440" marT="54864" marB="54864" anchor="ctr">
                    <a:lnL w="0">
                      <a:noFill/>
                    </a:lnL>
                    <a:lnR w="0">
                      <a:noFill/>
                    </a:lnR>
                    <a:lnT w="0">
                      <a:noFill/>
                    </a:lnT>
                    <a:lnB w="0">
                      <a:noFill/>
                    </a:lnB>
                    <a:solidFill>
                      <a:srgbClr val="4E7C8B"/>
                    </a:solidFill>
                  </a:tcPr>
                </a:tc>
              </a:tr>
              <a:tr h="800046">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Elevação do segmento ST em aVR e/ou V1 (sem elevação contígua, mas com depressão do segmento ST em 6 ou mais derivações)</a:t>
                      </a:r>
                      <a:endParaRPr lang="pt-BR" sz="1300" dirty="0"/>
                    </a:p>
                    <a:p>
                      <a:pPr algn="l" marL="0" indent="0">
                        <a:lnSpc>
                          <a:spcPct val="100000"/>
                        </a:lnSpc>
                        <a:spcBef>
                          <a:spcPts val="600"/>
                        </a:spcBef>
                        <a:spcAft>
                          <a:spcPts val="0"/>
                        </a:spcAft>
                        <a:buNone/>
                      </a:pPr>
                      <a:r>
                        <a:rPr lang="pt-BR" sz="1300" b="0" i="1" dirty="0">
                          <a:solidFill>
                            <a:srgbClr val="5F6468"/>
                          </a:solidFill>
                          <a:latin typeface="Roboto"/>
                          <a:ea typeface="Roboto"/>
                          <a:cs typeface="Roboto"/>
                        </a:rPr>
                        <a:t>*Mais frequentemente causada por isquemia subendocárdica difusa (circunferencial) e geralmente ocorre no contexto de obstrução significativa do tronco da coronária esquerda ou doença coronariana multiarterial.</a:t>
                      </a:r>
                      <a:endParaRPr lang="pt-BR" sz="1300" dirty="0"/>
                    </a:p>
                  </a:txBody>
                  <a:tcPr marL="91440" marR="91440" marT="54864" marB="54864" anchor="t">
                    <a:lnL w="0">
                      <a:noFill/>
                    </a:lnL>
                    <a:lnR w="0">
                      <a:noFill/>
                    </a:lnR>
                    <a:lnT w="0">
                      <a:noFill/>
                    </a:lnT>
                    <a:lnB w="12700">
                      <a:solidFill>
                        <a:srgbClr val="E4E6E7"/>
                      </a:solidFill>
                    </a:lnB>
                    <a:solidFill>
                      <a:srgbClr val="F2F4F5"/>
                    </a:solidFill>
                  </a:tcPr>
                </a:tc>
              </a:tr>
              <a:tr h="519904">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Síndrome coronariana aguda sem elevação persistente de ST, porém com critérios de maior risco ao ECG (obstrução crítica em descendente anterior proximal)</a:t>
                      </a:r>
                      <a:endParaRPr lang="pt-BR" sz="1300" dirty="0"/>
                    </a:p>
                  </a:txBody>
                  <a:tcPr marL="91440" marR="91440" marT="54864" marB="54864" anchor="ctr">
                    <a:lnL w="0">
                      <a:noFill/>
                    </a:lnL>
                    <a:lnR w="0">
                      <a:noFill/>
                    </a:lnR>
                    <a:lnT w="0">
                      <a:noFill/>
                    </a:lnT>
                    <a:lnB w="0">
                      <a:noFill/>
                    </a:lnB>
                    <a:solidFill>
                      <a:srgbClr val="4E7C8B"/>
                    </a:solidFill>
                  </a:tcPr>
                </a:tc>
              </a:tr>
              <a:tr h="177809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Síndrome de Wellens:</a:t>
                      </a:r>
                      <a:endParaRPr lang="pt-BR" sz="1300" dirty="0"/>
                    </a:p>
                    <a:p>
                      <a:pPr algn="l" marL="0" indent="0">
                        <a:lnSpc>
                          <a:spcPct val="100000"/>
                        </a:lnSpc>
                        <a:spcBef>
                          <a:spcPts val="400"/>
                        </a:spcBef>
                        <a:spcAft>
                          <a:spcPts val="0"/>
                        </a:spcAft>
                        <a:buNone/>
                      </a:pPr>
                      <a:r>
                        <a:rPr lang="pt-BR" sz="1300" b="0" i="0" dirty="0">
                          <a:solidFill>
                            <a:srgbClr val="5F6468"/>
                          </a:solidFill>
                          <a:latin typeface="Roboto"/>
                          <a:ea typeface="Roboto"/>
                          <a:cs typeface="Roboto"/>
                        </a:rPr>
                        <a:t>Trata-se de síndrome clínica caracterizada por:</a:t>
                      </a:r>
                      <a:endParaRPr lang="pt-BR" sz="1300" dirty="0"/>
                    </a:p>
                    <a:p>
                      <a:pPr algn="l" marL="182880" indent="0">
                        <a:lnSpc>
                          <a:spcPct val="100000"/>
                        </a:lnSpc>
                        <a:spcBef>
                          <a:spcPts val="0"/>
                        </a:spcBef>
                        <a:spcAft>
                          <a:spcPts val="0"/>
                        </a:spcAft>
                        <a:buNone/>
                      </a:pPr>
                      <a:r>
                        <a:rPr lang="pt-BR" sz="1300" b="0" i="0" dirty="0">
                          <a:solidFill>
                            <a:srgbClr val="5F6468"/>
                          </a:solidFill>
                          <a:latin typeface="Roboto"/>
                          <a:ea typeface="Roboto"/>
                          <a:cs typeface="Roboto"/>
                        </a:rPr>
                        <a:t>- Ondas T bifásicas (tipo A – 25% dos casos) ou profundamente invertidas e simétricas (tipo B – 75% dos casos) nas derivações V2 e V3 (podem se estender de V1 até V6)</a:t>
                      </a:r>
                      <a:endParaRPr lang="pt-BR" sz="1300" dirty="0"/>
                    </a:p>
                    <a:p>
                      <a:pPr algn="l" marL="182880" indent="0">
                        <a:lnSpc>
                          <a:spcPct val="100000"/>
                        </a:lnSpc>
                        <a:spcBef>
                          <a:spcPts val="0"/>
                        </a:spcBef>
                        <a:spcAft>
                          <a:spcPts val="0"/>
                        </a:spcAft>
                        <a:buNone/>
                      </a:pPr>
                      <a:r>
                        <a:rPr lang="pt-BR" sz="1300" b="0" i="0" dirty="0">
                          <a:solidFill>
                            <a:srgbClr val="5F6468"/>
                          </a:solidFill>
                          <a:latin typeface="Roboto"/>
                          <a:ea typeface="Roboto"/>
                          <a:cs typeface="Roboto"/>
                        </a:rPr>
                        <a:t>- Ausência de ondas Q</a:t>
                      </a:r>
                      <a:endParaRPr lang="pt-BR" sz="1300" dirty="0"/>
                    </a:p>
                    <a:p>
                      <a:pPr algn="l" marL="182880" indent="0">
                        <a:lnSpc>
                          <a:spcPct val="100000"/>
                        </a:lnSpc>
                        <a:spcBef>
                          <a:spcPts val="0"/>
                        </a:spcBef>
                        <a:spcAft>
                          <a:spcPts val="0"/>
                        </a:spcAft>
                        <a:buNone/>
                      </a:pPr>
                      <a:r>
                        <a:rPr lang="pt-BR" sz="1300" b="0" i="0" dirty="0">
                          <a:solidFill>
                            <a:srgbClr val="5F6468"/>
                          </a:solidFill>
                          <a:latin typeface="Roboto"/>
                          <a:ea typeface="Roboto"/>
                          <a:cs typeface="Roboto"/>
                        </a:rPr>
                        <a:t>- Sem elevação significativa do ST (isoelétrica ou elevação &lt; 1mm)</a:t>
                      </a:r>
                      <a:endParaRPr lang="pt-BR" sz="1300" dirty="0"/>
                    </a:p>
                    <a:p>
                      <a:pPr algn="l" marL="182880" indent="0">
                        <a:lnSpc>
                          <a:spcPct val="100000"/>
                        </a:lnSpc>
                        <a:spcBef>
                          <a:spcPts val="0"/>
                        </a:spcBef>
                        <a:spcAft>
                          <a:spcPts val="0"/>
                        </a:spcAft>
                        <a:buNone/>
                      </a:pPr>
                      <a:r>
                        <a:rPr lang="pt-BR" sz="1300" b="0" i="0" dirty="0">
                          <a:solidFill>
                            <a:srgbClr val="5F6468"/>
                          </a:solidFill>
                          <a:latin typeface="Roboto"/>
                          <a:ea typeface="Roboto"/>
                          <a:cs typeface="Roboto"/>
                        </a:rPr>
                        <a:t>- Progressão da onda R em derivações precordiais</a:t>
                      </a:r>
                      <a:endParaRPr lang="pt-BR" sz="1300" dirty="0"/>
                    </a:p>
                    <a:p>
                      <a:pPr algn="l" marL="182880" indent="0">
                        <a:lnSpc>
                          <a:spcPct val="100000"/>
                        </a:lnSpc>
                        <a:spcBef>
                          <a:spcPts val="0"/>
                        </a:spcBef>
                        <a:spcAft>
                          <a:spcPts val="0"/>
                        </a:spcAft>
                        <a:buNone/>
                      </a:pPr>
                      <a:r>
                        <a:rPr lang="pt-BR" sz="1300" b="0" i="0" dirty="0">
                          <a:solidFill>
                            <a:srgbClr val="5F6468"/>
                          </a:solidFill>
                          <a:latin typeface="Roboto"/>
                          <a:ea typeface="Roboto"/>
                          <a:cs typeface="Roboto"/>
                        </a:rPr>
                        <a:t>- Angina recente (as alterações típicas do ECG são mais visualizadas após melhora da dor)</a:t>
                      </a:r>
                      <a:endParaRPr lang="pt-BR" sz="1300" dirty="0"/>
                    </a:p>
                  </a:txBody>
                  <a:tcPr marL="91440" marR="91440" marT="54864" marB="54864" anchor="t">
                    <a:lnL w="0">
                      <a:noFill/>
                    </a:lnL>
                    <a:lnR w="0">
                      <a:noFill/>
                    </a:lnR>
                    <a:lnT w="0">
                      <a:noFill/>
                    </a:lnT>
                    <a:lnB w="12700">
                      <a:solidFill>
                        <a:srgbClr val="E4E6E7"/>
                      </a:solidFill>
                    </a:lnB>
                    <a:solidFill>
                      <a:srgbClr val="FBFCFC"/>
                    </a:solidFill>
                  </a:tcPr>
                </a:tc>
              </a:tr>
            </a:tbl>
          </a:graphicData>
        </a:graphic>
      </p:graphicFrame>
    </p:spTree>
    <p:extLst>
      <p:ext uri="{BB962C8B-B14F-4D97-AF65-F5344CB8AC3E}">
        <p14:creationId xmlns:p14="http://schemas.microsoft.com/office/powerpoint/2010/main" val="2657311530"/>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SCA sem elevação persistente de ST – Maior risco ao ECG (2/2)</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135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417320"/>
          <a:ext cx="10771632" cy="2762300"/>
        </p:xfrm>
        <a:graphic>
          <a:graphicData uri="http://schemas.openxmlformats.org/drawingml/2006/table">
            <a:tbl>
              <a:tblPr firstRow="1"/>
              <a:tblGrid>
                <a:gridCol w="10771632"/>
              </a:tblGrid>
              <a:tr h="319010">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SCA sem elevação persistente de ST, porém com critérios de maior risco ao ECG (isquemia ativa)</a:t>
                      </a:r>
                      <a:endParaRPr lang="pt-BR" sz="1300" dirty="0"/>
                    </a:p>
                  </a:txBody>
                  <a:tcPr marL="91440" marR="91440" marT="54864" marB="54864" anchor="ctr">
                    <a:lnL w="0">
                      <a:noFill/>
                    </a:lnL>
                    <a:lnR w="0">
                      <a:noFill/>
                    </a:lnR>
                    <a:lnT w="0">
                      <a:noFill/>
                    </a:lnT>
                    <a:lnB w="0">
                      <a:noFill/>
                    </a:lnB>
                    <a:solidFill>
                      <a:srgbClr val="4E7C8B"/>
                    </a:solidFill>
                  </a:tcPr>
                </a:tc>
              </a:tr>
              <a:tr h="1923386">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Depressão do segmento ST/Inversão de onda T*</a:t>
                      </a:r>
                      <a:endParaRPr lang="pt-BR" sz="1300" dirty="0"/>
                    </a:p>
                    <a:p>
                      <a:pPr algn="l" marL="0" indent="0">
                        <a:lnSpc>
                          <a:spcPct val="100000"/>
                        </a:lnSpc>
                        <a:spcBef>
                          <a:spcPts val="600"/>
                        </a:spcBef>
                        <a:spcAft>
                          <a:spcPts val="0"/>
                        </a:spcAft>
                        <a:buNone/>
                      </a:pPr>
                      <a:r>
                        <a:rPr lang="pt-BR" sz="1300" b="0" i="0" dirty="0">
                          <a:solidFill>
                            <a:srgbClr val="5F6468"/>
                          </a:solidFill>
                          <a:latin typeface="Roboto"/>
                          <a:ea typeface="Roboto"/>
                          <a:cs typeface="Roboto"/>
                        </a:rPr>
                        <a:t>- Depressão do segmento ST horizontal ou descendente ≥ 0,5 mm no ponto J, em 2 ou mais derivações contíguas, é sugestivo de isquemia miocárdica e/ou</a:t>
                      </a:r>
                      <a:endParaRPr lang="pt-BR" sz="1300" dirty="0"/>
                    </a:p>
                    <a:p>
                      <a:pPr algn="l" marL="0" indent="0">
                        <a:lnSpc>
                          <a:spcPct val="100000"/>
                        </a:lnSpc>
                        <a:spcBef>
                          <a:spcPts val="300"/>
                        </a:spcBef>
                        <a:spcAft>
                          <a:spcPts val="0"/>
                        </a:spcAft>
                        <a:buNone/>
                      </a:pPr>
                      <a:r>
                        <a:rPr lang="pt-BR" sz="1300" b="0" i="0" dirty="0">
                          <a:solidFill>
                            <a:srgbClr val="5F6468"/>
                          </a:solidFill>
                          <a:latin typeface="Roboto"/>
                          <a:ea typeface="Roboto"/>
                          <a:cs typeface="Roboto"/>
                        </a:rPr>
                        <a:t>- Onda T invertida ≥ 1 mm em complexo com onda R proeminente ou relação R/S &gt;1 pode indicar isquemia na ausência de causas secundárias para alteração da repolarização ventricular (por exemplo, no caso de sobrecarga). Nos casos de infarto agudo do miocárdio, a onda T negativa pode ser associada a ondas Q (patológicas).</a:t>
                      </a:r>
                      <a:endParaRPr lang="pt-BR" sz="1300" dirty="0"/>
                    </a:p>
                    <a:p>
                      <a:pPr algn="l" marL="0" indent="0">
                        <a:lnSpc>
                          <a:spcPct val="100000"/>
                        </a:lnSpc>
                        <a:spcBef>
                          <a:spcPts val="600"/>
                        </a:spcBef>
                        <a:spcAft>
                          <a:spcPts val="0"/>
                        </a:spcAft>
                        <a:buNone/>
                      </a:pPr>
                      <a:r>
                        <a:rPr lang="pt-BR" sz="1300" b="0" i="1" dirty="0">
                          <a:solidFill>
                            <a:srgbClr val="5F6468"/>
                          </a:solidFill>
                          <a:latin typeface="Roboto"/>
                          <a:ea typeface="Roboto"/>
                          <a:cs typeface="Roboto"/>
                        </a:rPr>
                        <a:t>*Depressão do segmento ST e inversão de onda T têm valor diagnóstico ainda maior quando há alterações dinâmicas (se onda T negativa se tornar positiva, esse achado também é importante para o diagnóstico de SCASSST, sendo chamado de pseudonormalização).</a:t>
                      </a:r>
                      <a:endParaRPr lang="pt-BR" sz="1300" dirty="0"/>
                    </a:p>
                  </a:txBody>
                  <a:tcPr marL="91440" marR="91440" marT="54864" marB="54864" anchor="t">
                    <a:lnL w="0">
                      <a:noFill/>
                    </a:lnL>
                    <a:lnR w="0">
                      <a:noFill/>
                    </a:lnR>
                    <a:lnT w="0">
                      <a:noFill/>
                    </a:lnT>
                    <a:lnB w="12700">
                      <a:solidFill>
                        <a:srgbClr val="E4E6E7"/>
                      </a:solidFill>
                    </a:lnB>
                    <a:solidFill>
                      <a:srgbClr val="F2F4F5"/>
                    </a:solidFill>
                  </a:tcPr>
                </a:tc>
              </a:tr>
              <a:tr h="519904">
                <a:tc>
                  <a:txBody>
                    <a:bodyPr/>
                    <a:lstStyle/>
                    <a:p>
                      <a:pPr algn="l" marL="0" indent="0">
                        <a:lnSpc>
                          <a:spcPct val="100000"/>
                        </a:lnSpc>
                        <a:spcBef>
                          <a:spcPts val="0"/>
                        </a:spcBef>
                        <a:spcAft>
                          <a:spcPts val="0"/>
                        </a:spcAft>
                        <a:buNone/>
                      </a:pPr>
                      <a:r>
                        <a:rPr lang="pt-BR" sz="1300" b="0" i="1" dirty="0">
                          <a:solidFill>
                            <a:srgbClr val="5F6468"/>
                          </a:solidFill>
                          <a:latin typeface="Roboto"/>
                          <a:ea typeface="Roboto"/>
                          <a:cs typeface="Roboto"/>
                        </a:rPr>
                        <a:t>Obs.: Casos de elevação transitória do ST (por exemplo, vasoespasmo) devem ser abordados de forma diferenciada dos casos de Síndrome coronariana aguda com elevação persistente de ST.</a:t>
                      </a:r>
                      <a:endParaRPr lang="pt-BR" sz="1300" dirty="0"/>
                    </a:p>
                  </a:txBody>
                  <a:tcPr marL="91440" marR="91440" marT="54864" marB="54864" anchor="t">
                    <a:lnL w="0">
                      <a:noFill/>
                    </a:lnL>
                    <a:lnR w="0">
                      <a:noFill/>
                    </a:lnR>
                    <a:lnT w="0">
                      <a:noFill/>
                    </a:lnT>
                    <a:lnB w="12700">
                      <a:solidFill>
                        <a:srgbClr val="E4E6E7"/>
                      </a:solidFill>
                    </a:lnB>
                    <a:solidFill>
                      <a:srgbClr val="FBFCFC"/>
                    </a:solidFill>
                  </a:tcPr>
                </a:tc>
              </a:tr>
            </a:tbl>
          </a:graphicData>
        </a:graphic>
      </p:graphicFrame>
    </p:spTree>
    <p:extLst>
      <p:ext uri="{BB962C8B-B14F-4D97-AF65-F5344CB8AC3E}">
        <p14:creationId xmlns:p14="http://schemas.microsoft.com/office/powerpoint/2010/main" val="291394051"/>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8 – Medidas rotineiras para casos de eletrocardiograma duvidoso/limítrofe</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136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640000"/>
          <a:ext cx="10771632" cy="2883191"/>
        </p:xfrm>
        <a:graphic>
          <a:graphicData uri="http://schemas.openxmlformats.org/drawingml/2006/table">
            <a:tbl>
              <a:tblPr firstRow="1"/>
              <a:tblGrid>
                <a:gridCol w="10771632"/>
              </a:tblGrid>
              <a:tr h="72079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1) A primeira medida em situações de dúvida ao ECG deve ser a solicitação imediata de avaliação do ECG por um ou mais médicos experientes. Esse primeiro passo definirá se, de fato, o ECG é limítrofe ou a dúvida foi decorrente da limitação de experiência do médico assistente;</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72079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2) Quando disponível, o ECG prévio deve ser comparado ao ECG da fase aguda, pois pode auxiliar na identificação de novas alterações, desde que não retarde o início do tratamento – especialmente importante nos casos que já apresentam alteração de repolarização no ECG basal;</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519904">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3) Outro ponto fundamental é a adequada correlação clínica, pois o valor preditivo de qualquer exame, incluindo o eletrocardiograma, depende também da probabilidade clínica pré-teste;</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921691">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4) Finalmente, casos confirmados de ECG limítrofe (após validação de médico experiente) e/ou de instabilidade clínica (por exemplo, sintomas persistentes) demandam não apenas a manutenção da monitorização do paciente, mas também a realização de eletrocardiogramas seriados e avaliação rápida para outros diagnósticos diferenciais (ecocardiograma beira-leito costuma ser um exame adicional especialmente útil nessas situações).</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bl>
          </a:graphicData>
        </a:graphic>
      </p:graphicFrame>
    </p:spTree>
    <p:extLst>
      <p:ext uri="{BB962C8B-B14F-4D97-AF65-F5344CB8AC3E}">
        <p14:creationId xmlns:p14="http://schemas.microsoft.com/office/powerpoint/2010/main" val="2123803142"/>
      </p:ext>
    </p:extLst>
  </p:cSld>
  <p:clrMapOvr>
    <a:masterClrMapping/>
  </p:clrMapOvr>
  <p:timing>
    <p:tnLst>
      <p:par>
        <p:cTn id="1" dur="indefinite" restart="never" nodeType="tmRoot"/>
      </p:par>
    </p:tnLst>
  </p:timing>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4E7C8B"/>
        </a:solidFill>
        <a:effectLst/>
      </p:bgPr>
    </p:bg>
    <p:spTree>
      <p:nvGrpSpPr>
        <p:cNvPr id="1" name=""/>
        <p:cNvGrpSpPr/>
        <p:nvPr/>
      </p:nvGrpSpPr>
      <p:grpSpPr/>
      <p:sp>
        <p:nvSpPr>
          <p:cNvPr id="2" name="TextBox 1"/>
          <p:cNvSpPr txBox="1"/>
          <p:nvPr/>
        </p:nvSpPr>
        <p:spPr>
          <a:xfrm>
            <a:off x="711403" y="1828800"/>
            <a:ext cx="6949440" cy="365760"/>
          </a:xfrm>
          <a:prstGeom prst="rect">
            <a:avLst/>
          </a:prstGeom>
          <a:noFill/>
        </p:spPr>
        <p:txBody>
          <a:bodyPr wrap="square" lIns="0" rIns="0" tIns="0" bIns="0" anchor="t">
            <a:spAutoFit/>
          </a:bodyPr>
          <a:lstStyle/>
          <a:p>
            <a:pPr algn="l"/>
            <a:r>
              <a:rPr sz="1200" b="0" spc="300">
                <a:solidFill>
                  <a:srgbClr val="C9E3E6"/>
                </a:solidFill>
                <a:latin typeface="Roboto Medium"/>
                <a:ea typeface="Roboto Medium"/>
                <a:cs typeface="Roboto Medium"/>
              </a:rPr>
              <a:t>CONTATO</a:t>
            </a:r>
          </a:p>
        </p:txBody>
      </p:sp>
      <p:sp>
        <p:nvSpPr>
          <p:cNvPr id="3" name="TextBox 2"/>
          <p:cNvSpPr txBox="1"/>
          <p:nvPr/>
        </p:nvSpPr>
        <p:spPr>
          <a:xfrm>
            <a:off x="711403" y="2286000"/>
            <a:ext cx="7315200" cy="1737360"/>
          </a:xfrm>
          <a:prstGeom prst="rect">
            <a:avLst/>
          </a:prstGeom>
          <a:noFill/>
        </p:spPr>
        <p:txBody>
          <a:bodyPr wrap="square" lIns="0" rIns="0" tIns="0" bIns="0" anchor="t">
            <a:spAutoFit/>
          </a:bodyPr>
          <a:lstStyle/>
          <a:p>
            <a:pPr algn="l"/>
            <a:r>
              <a:rPr sz="4400" b="1">
                <a:solidFill>
                  <a:srgbClr val="FBFCFC"/>
                </a:solidFill>
                <a:latin typeface="Roboto"/>
                <a:ea typeface="Roboto"/>
                <a:cs typeface="Roboto"/>
              </a:rPr>
              <a:t>Obrigado</a:t>
            </a:r>
          </a:p>
        </p:txBody>
      </p:sp>
      <p:sp>
        <p:nvSpPr>
          <p:cNvPr id="4" name="Rectangle 3"/>
          <p:cNvSpPr/>
          <p:nvPr/>
        </p:nvSpPr>
        <p:spPr>
          <a:xfrm>
            <a:off x="711403" y="4526280"/>
            <a:ext cx="761695" cy="38404"/>
          </a:xfrm>
          <a:prstGeom prst="rect">
            <a:avLst/>
          </a:prstGeom>
          <a:solidFill>
            <a:srgbClr val="8EC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1403" y="4800600"/>
            <a:ext cx="6949440" cy="320040"/>
          </a:xfrm>
          <a:prstGeom prst="rect">
            <a:avLst/>
          </a:prstGeom>
          <a:noFill/>
        </p:spPr>
        <p:txBody>
          <a:bodyPr wrap="square" lIns="0" rIns="0" tIns="0" bIns="0" anchor="t">
            <a:spAutoFit/>
          </a:bodyPr>
          <a:lstStyle/>
          <a:p>
            <a:pPr algn="l"/>
            <a:r>
              <a:rPr sz="1300">
                <a:solidFill>
                  <a:srgbClr val="E4EEF0"/>
                </a:solidFill>
                <a:latin typeface="Roboto"/>
                <a:ea typeface="Roboto"/>
                <a:cs typeface="Roboto"/>
              </a:rPr>
              <a:t>[nome]</a:t>
            </a:r>
          </a:p>
        </p:txBody>
      </p:sp>
      <p:sp>
        <p:nvSpPr>
          <p:cNvPr id="6" name="TextBox 5"/>
          <p:cNvSpPr txBox="1"/>
          <p:nvPr/>
        </p:nvSpPr>
        <p:spPr>
          <a:xfrm>
            <a:off x="711403" y="5129784"/>
            <a:ext cx="6949440" cy="320040"/>
          </a:xfrm>
          <a:prstGeom prst="rect">
            <a:avLst/>
          </a:prstGeom>
          <a:noFill/>
        </p:spPr>
        <p:txBody>
          <a:bodyPr wrap="square" lIns="0" rIns="0" tIns="0" bIns="0" anchor="t">
            <a:spAutoFit/>
          </a:bodyPr>
          <a:lstStyle/>
          <a:p>
            <a:pPr algn="l"/>
            <a:r>
              <a:rPr sz="1300">
                <a:solidFill>
                  <a:srgbClr val="E4EEF0"/>
                </a:solidFill>
                <a:latin typeface="Roboto"/>
                <a:ea typeface="Roboto"/>
                <a:cs typeface="Roboto"/>
              </a:rPr>
              <a:t>[e-mail]</a:t>
            </a:r>
          </a:p>
        </p:txBody>
      </p:sp>
      <p:sp>
        <p:nvSpPr>
          <p:cNvPr id="7" name="TextBox 6"/>
          <p:cNvSpPr txBox="1"/>
          <p:nvPr/>
        </p:nvSpPr>
        <p:spPr>
          <a:xfrm>
            <a:off x="711403" y="5458968"/>
            <a:ext cx="6949440" cy="320040"/>
          </a:xfrm>
          <a:prstGeom prst="rect">
            <a:avLst/>
          </a:prstGeom>
          <a:noFill/>
        </p:spPr>
        <p:txBody>
          <a:bodyPr wrap="square" lIns="0" rIns="0" tIns="0" bIns="0" anchor="t">
            <a:spAutoFit/>
          </a:bodyPr>
          <a:lstStyle/>
          <a:p>
            <a:pPr algn="l"/>
            <a:r>
              <a:rPr sz="1300">
                <a:solidFill>
                  <a:srgbClr val="E4EEF0"/>
                </a:solidFill>
                <a:latin typeface="Roboto"/>
                <a:ea typeface="Roboto"/>
                <a:cs typeface="Roboto"/>
              </a:rPr>
              <a:t>[telefone ou rede social]</a:t>
            </a:r>
          </a:p>
        </p:txBody>
      </p:sp>
      <p:sp>
        <p:nvSpPr>
          <p:cNvPr id="8" name="Oval 7"/>
          <p:cNvSpPr/>
          <p:nvPr/>
        </p:nvSpPr>
        <p:spPr>
          <a:xfrm>
            <a:off x="8138160" y="1463040"/>
            <a:ext cx="2794406" cy="2794406"/>
          </a:xfrm>
          <a:prstGeom prst="ellipse">
            <a:avLst/>
          </a:prstGeom>
          <a:noFill/>
          <a:ln w="12700">
            <a:solidFill>
              <a:srgbClr val="6E9D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09760" y="3291840"/>
            <a:ext cx="1524304" cy="1524304"/>
          </a:xfrm>
          <a:prstGeom prst="ellipse">
            <a:avLst/>
          </a:prstGeom>
          <a:solidFill>
            <a:srgbClr val="5B8A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C9E3E6"/>
                </a:solidFill>
                <a:latin typeface="Roboto"/>
                <a:ea typeface="Roboto"/>
                <a:cs typeface="Roboto"/>
              </a:rPr>
              <a:t>137  ·  Dor torácica – Protocolo 2025 | Set 2026</a:t>
            </a:r>
          </a:p>
        </p:txBody>
      </p:sp>
      <p:sp>
        <p:nvSpPr>
          <p:cNvPr id="11" name="TextBox 10"/>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C9E3E6"/>
                </a:solidFill>
                <a:latin typeface="Roboto"/>
                <a:ea typeface="Roboto"/>
                <a:cs typeface="Roboto"/>
              </a:rPr>
              <a:t>SEU LOGO</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1029"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Segmentos do ventrículo esquerdo (2/3)</a:t>
            </a:r>
          </a:p>
        </p:txBody>
      </p:sp>
      <p:sp>
        <p:nvSpPr>
          <p:cNvPr id="1027" name="TextBox 1026"/>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15  ·  Dor torácica – Protocolo 2025 | Set 2026</a:t>
            </a:r>
          </a:p>
        </p:txBody>
      </p:sp>
      <p:sp>
        <p:nvSpPr>
          <p:cNvPr id="1028" name="TextBox 1027"/>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1030" name="Tabela"/>
          <p:cNvGraphicFramePr>
            <a:graphicFrameLocks noGrp="1"/>
          </p:cNvGraphicFramePr>
          <p:nvPr/>
        </p:nvGraphicFramePr>
        <p:xfrm>
          <a:off x="711403" y="1417320"/>
          <a:ext cx="3000000" cy="1738527"/>
        </p:xfrm>
        <a:graphic>
          <a:graphicData uri="http://schemas.openxmlformats.org/drawingml/2006/table">
            <a:tbl>
              <a:tblPr firstRow="1"/>
              <a:tblGrid>
                <a:gridCol w="700000"/>
                <a:gridCol w="2300000"/>
              </a:tblGrid>
              <a:tr h="248361">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Num.</a:t>
                      </a:r>
                      <a:endParaRPr lang="pt-BR" sz="1300" dirty="0"/>
                    </a:p>
                  </a:txBody>
                  <a:tcPr marL="91440" marR="91440" marT="27432" marB="27432" anchor="ctr">
                    <a:lnL w="0">
                      <a:noFill/>
                    </a:lnL>
                    <a:lnR w="0">
                      <a:noFill/>
                    </a:lnR>
                    <a:lnT w="0">
                      <a:noFill/>
                    </a:lnT>
                    <a:lnB w="0">
                      <a:noFill/>
                    </a:lnB>
                    <a:solidFill>
                      <a:srgbClr val="4E7C8B"/>
                    </a:solidFill>
                  </a:tcPr>
                </a:tc>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Segmento</a:t>
                      </a:r>
                      <a:endParaRPr lang="pt-BR" sz="1300" dirty="0"/>
                    </a:p>
                  </a:txBody>
                  <a:tcPr marL="91440" marR="91440" marT="27432" marB="27432" anchor="ctr">
                    <a:lnL w="0">
                      <a:noFill/>
                    </a:lnL>
                    <a:lnR w="0">
                      <a:noFill/>
                    </a:lnR>
                    <a:lnT w="0">
                      <a:noFill/>
                    </a:lnT>
                    <a:lnB w="0">
                      <a:noFill/>
                    </a:lnB>
                    <a:solidFill>
                      <a:srgbClr val="4E7C8B"/>
                    </a:solidFill>
                  </a:tcPr>
                </a:tc>
              </a:tr>
              <a:tr h="248361">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7</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Medial anterior</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r>
              <a:tr h="248361">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8</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Medial antero-septal</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r>
              <a:tr h="248361">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9</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Medial ínfero-septal</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r>
              <a:tr h="248361">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10</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Medial inferior</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r>
              <a:tr h="248361">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11</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Medial ínfero-lateral</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r>
              <a:tr h="248361">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12</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Medial antero-lateral</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r>
            </a:tbl>
          </a:graphicData>
        </a:graphic>
      </p:graphicFrame>
      <p:pic>
        <p:nvPicPr>
          <p:cNvPr id="1031" name="Picture 1030" descr="Modelo de 17 segmentos do ventrículo esquerdo em 4, 2 e 3 câmaras e cortes basal, medial e apical, com legenda de artérias (ACD, ADA, ACx)"/>
          <p:cNvPicPr>
            <a:picLocks noChangeAspect="1"/>
          </p:cNvPicPr>
          <p:nvPr/>
        </p:nvPicPr>
        <p:blipFill>
          <a:blip r:embed="rId2"/>
          <a:stretch>
            <a:fillRect/>
          </a:stretch>
        </p:blipFill>
        <p:spPr>
          <a:xfrm>
            <a:off x="4061403" y="1780394"/>
            <a:ext cx="7421632" cy="3710816"/>
          </a:xfrm>
          <a:prstGeom prst="rect">
            <a:avLst/>
          </a:prstGeom>
        </p:spPr>
      </p:pic>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1029"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Segmentos do ventrículo esquerdo (3/3)</a:t>
            </a:r>
          </a:p>
        </p:txBody>
      </p:sp>
      <p:sp>
        <p:nvSpPr>
          <p:cNvPr id="1027" name="TextBox 1026"/>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16  ·  Dor torácica – Protocolo 2025 | Set 2026</a:t>
            </a:r>
          </a:p>
        </p:txBody>
      </p:sp>
      <p:sp>
        <p:nvSpPr>
          <p:cNvPr id="1028" name="TextBox 1027"/>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1030" name="Tabela"/>
          <p:cNvGraphicFramePr>
            <a:graphicFrameLocks noGrp="1"/>
          </p:cNvGraphicFramePr>
          <p:nvPr/>
        </p:nvGraphicFramePr>
        <p:xfrm>
          <a:off x="711403" y="1417320"/>
          <a:ext cx="3000000" cy="1490166"/>
        </p:xfrm>
        <a:graphic>
          <a:graphicData uri="http://schemas.openxmlformats.org/drawingml/2006/table">
            <a:tbl>
              <a:tblPr firstRow="1"/>
              <a:tblGrid>
                <a:gridCol w="700000"/>
                <a:gridCol w="2300000"/>
              </a:tblGrid>
              <a:tr h="248361">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Num.</a:t>
                      </a:r>
                      <a:endParaRPr lang="pt-BR" sz="1300" dirty="0"/>
                    </a:p>
                  </a:txBody>
                  <a:tcPr marL="91440" marR="91440" marT="27432" marB="27432" anchor="ctr">
                    <a:lnL w="0">
                      <a:noFill/>
                    </a:lnL>
                    <a:lnR w="0">
                      <a:noFill/>
                    </a:lnR>
                    <a:lnT w="0">
                      <a:noFill/>
                    </a:lnT>
                    <a:lnB w="0">
                      <a:noFill/>
                    </a:lnB>
                    <a:solidFill>
                      <a:srgbClr val="4E7C8B"/>
                    </a:solidFill>
                  </a:tcPr>
                </a:tc>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Segmento</a:t>
                      </a:r>
                      <a:endParaRPr lang="pt-BR" sz="1300" dirty="0"/>
                    </a:p>
                  </a:txBody>
                  <a:tcPr marL="91440" marR="91440" marT="27432" marB="27432" anchor="ctr">
                    <a:lnL w="0">
                      <a:noFill/>
                    </a:lnL>
                    <a:lnR w="0">
                      <a:noFill/>
                    </a:lnR>
                    <a:lnT w="0">
                      <a:noFill/>
                    </a:lnT>
                    <a:lnB w="0">
                      <a:noFill/>
                    </a:lnB>
                    <a:solidFill>
                      <a:srgbClr val="4E7C8B"/>
                    </a:solidFill>
                  </a:tcPr>
                </a:tc>
              </a:tr>
              <a:tr h="248361">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13</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Apical anterior</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r>
              <a:tr h="248361">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14</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Apical septal</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r>
              <a:tr h="248361">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15</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Apical inferior</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r>
              <a:tr h="248361">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16</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Apical lateral</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r>
              <a:tr h="248361">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17</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Ápice</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r>
            </a:tbl>
          </a:graphicData>
        </a:graphic>
      </p:graphicFrame>
      <p:pic>
        <p:nvPicPr>
          <p:cNvPr id="1031" name="Picture 1030" descr="Modelo de 17 segmentos do ventrículo esquerdo em 4, 2 e 3 câmaras e cortes basal, medial e apical, com legenda de artérias (ACD, ADA, ACx)"/>
          <p:cNvPicPr>
            <a:picLocks noChangeAspect="1"/>
          </p:cNvPicPr>
          <p:nvPr/>
        </p:nvPicPr>
        <p:blipFill>
          <a:blip r:embed="rId2"/>
          <a:stretch>
            <a:fillRect/>
          </a:stretch>
        </p:blipFill>
        <p:spPr>
          <a:xfrm>
            <a:off x="4061403" y="1780394"/>
            <a:ext cx="7421632" cy="3710816"/>
          </a:xfrm>
          <a:prstGeom prst="rect">
            <a:avLst/>
          </a:prstGeom>
        </p:spPr>
      </p:pic>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19 – Escore de Wells: critérios e respectiva pontuação (2/2)</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68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417320"/>
          <a:ext cx="10771632" cy="1212900"/>
        </p:xfrm>
        <a:graphic>
          <a:graphicData uri="http://schemas.openxmlformats.org/drawingml/2006/table">
            <a:tbl>
              <a:tblPr firstRow="1"/>
              <a:tblGrid>
                <a:gridCol w="8971632"/>
                <a:gridCol w="1800000"/>
              </a:tblGrid>
              <a:tr h="303225">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Critérios</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Pontos</a:t>
                      </a:r>
                      <a:endParaRPr lang="pt-BR" sz="1300" dirty="0"/>
                    </a:p>
                  </a:txBody>
                  <a:tcPr marL="91440" marR="91440" marT="54864" marB="54864" anchor="ctr">
                    <a:lnL w="0">
                      <a:noFill/>
                    </a:lnL>
                    <a:lnR w="0">
                      <a:noFill/>
                    </a:lnR>
                    <a:lnT w="0">
                      <a:noFill/>
                    </a:lnT>
                    <a:lnB w="0">
                      <a:noFill/>
                    </a:lnB>
                    <a:solidFill>
                      <a:srgbClr val="4E7C8B"/>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Imobilização por mais de 2 dias ou cirurgia nas últimas 4 semanas</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r" marL="0" indent="0">
                        <a:lnSpc>
                          <a:spcPct val="100000"/>
                        </a:lnSpc>
                        <a:spcBef>
                          <a:spcPts val="0"/>
                        </a:spcBef>
                        <a:spcAft>
                          <a:spcPts val="0"/>
                        </a:spcAft>
                        <a:buNone/>
                      </a:pPr>
                      <a:r>
                        <a:rPr lang="pt-BR" sz="1300" b="0" i="0" dirty="0">
                          <a:solidFill>
                            <a:srgbClr val="5F6468"/>
                          </a:solidFill>
                          <a:latin typeface="Roboto"/>
                          <a:ea typeface="Roboto"/>
                          <a:cs typeface="Roboto"/>
                        </a:rPr>
                        <a:t>+1,5</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Hemoptise</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r" marL="0" indent="0">
                        <a:lnSpc>
                          <a:spcPct val="100000"/>
                        </a:lnSpc>
                        <a:spcBef>
                          <a:spcPts val="0"/>
                        </a:spcBef>
                        <a:spcAft>
                          <a:spcPts val="0"/>
                        </a:spcAft>
                        <a:buNone/>
                      </a:pPr>
                      <a:r>
                        <a:rPr lang="pt-BR" sz="1300" b="0" i="0" dirty="0">
                          <a:solidFill>
                            <a:srgbClr val="5F6468"/>
                          </a:solidFill>
                          <a:latin typeface="Roboto"/>
                          <a:ea typeface="Roboto"/>
                          <a:cs typeface="Roboto"/>
                        </a:rPr>
                        <a:t>+1</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Câncer (atual tratado nos últimos 6 meses, ou se o paciente estiver em cuidados paliativos)</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r" marL="0" indent="0">
                        <a:lnSpc>
                          <a:spcPct val="100000"/>
                        </a:lnSpc>
                        <a:spcBef>
                          <a:spcPts val="0"/>
                        </a:spcBef>
                        <a:spcAft>
                          <a:spcPts val="0"/>
                        </a:spcAft>
                        <a:buNone/>
                      </a:pPr>
                      <a:r>
                        <a:rPr lang="pt-BR" sz="1300" b="0" i="0" dirty="0">
                          <a:solidFill>
                            <a:srgbClr val="5F6468"/>
                          </a:solidFill>
                          <a:latin typeface="Roboto"/>
                          <a:ea typeface="Roboto"/>
                          <a:cs typeface="Roboto"/>
                        </a:rPr>
                        <a:t>+1</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bl>
          </a:graphicData>
        </a:graphic>
      </p:graphicFrame>
      <p:sp>
        <p:nvSpPr>
          <p:cNvPr id="7" name="Nota"/>
          <p:cNvSpPr txBox="1"/>
          <p:nvPr/>
        </p:nvSpPr>
        <p:spPr>
          <a:xfrm>
            <a:off x="711403" y="2700220"/>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TVP: trombose venosa profunda; TEP: tromboembolismo pulmonar; bpm: batimentos por minuto.</a:t>
            </a:r>
            <a:endParaRPr lang="pt-BR" sz="1200" dirty="0"/>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20 – Escore de Wells modificado e probabilidade/risco de tromboembolismo pulmonar, a depender da pontuação (2/2)</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70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640000"/>
          <a:ext cx="10771632" cy="1212900"/>
        </p:xfrm>
        <a:graphic>
          <a:graphicData uri="http://schemas.openxmlformats.org/drawingml/2006/table">
            <a:tbl>
              <a:tblPr firstRow="1"/>
              <a:tblGrid>
                <a:gridCol w="3000000"/>
                <a:gridCol w="3900000"/>
                <a:gridCol w="3871632"/>
              </a:tblGrid>
              <a:tr h="303225">
                <a:tc gridSpan="3">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2 níveis</a:t>
                      </a:r>
                      <a:endParaRPr lang="pt-BR" sz="1300" dirty="0"/>
                    </a:p>
                  </a:txBody>
                  <a:tcPr marL="91440" marR="91440" marT="54864" marB="54864" anchor="ctr">
                    <a:lnL w="0">
                      <a:noFill/>
                    </a:lnL>
                    <a:lnR w="0">
                      <a:noFill/>
                    </a:lnR>
                    <a:lnT w="0">
                      <a:noFill/>
                    </a:lnT>
                    <a:lnB w="0">
                      <a:noFill/>
                    </a:lnB>
                    <a:solidFill>
                      <a:srgbClr val="4E7C8B"/>
                    </a:solidFill>
                  </a:tcPr>
                </a:tc>
                <a:tc hMerge="1">
                  <a:txBody>
                    <a:bodyPr/>
                    <a:lstStyle/>
                    <a:p>
                      <a:endParaRPr lang="pt-BR"/>
                    </a:p>
                  </a:txBody>
                  <a:tcPr/>
                </a:tc>
                <a:tc hMerge="1">
                  <a:txBody>
                    <a:bodyPr/>
                    <a:lstStyle/>
                    <a:p>
                      <a:endParaRPr lang="pt-BR"/>
                    </a:p>
                  </a:txBody>
                  <a:tcPr/>
                </a:tc>
              </a:tr>
              <a:tr h="303225">
                <a:tc>
                  <a:txBody>
                    <a:bodyPr/>
                    <a:lstStyle/>
                    <a:p>
                      <a:pPr algn="l"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Pontuação</a:t>
                      </a:r>
                      <a:endParaRPr lang="pt-BR" sz="1300" dirty="0"/>
                    </a:p>
                  </a:txBody>
                  <a:tcPr marL="91440" marR="91440" marT="54864" marB="54864" anchor="ctr">
                    <a:lnL w="0">
                      <a:noFill/>
                    </a:lnL>
                    <a:lnR w="0">
                      <a:noFill/>
                    </a:lnR>
                    <a:lnT w="0">
                      <a:noFill/>
                    </a:lnT>
                    <a:lnB w="0">
                      <a:noFill/>
                    </a:lnB>
                    <a:solidFill>
                      <a:srgbClr val="6E9DA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Probabilidade de TEP</a:t>
                      </a:r>
                      <a:endParaRPr lang="pt-BR" sz="1300" dirty="0"/>
                    </a:p>
                  </a:txBody>
                  <a:tcPr marL="91440" marR="91440" marT="54864" marB="54864" anchor="ctr">
                    <a:lnL w="0">
                      <a:noFill/>
                    </a:lnL>
                    <a:lnR w="0">
                      <a:noFill/>
                    </a:lnR>
                    <a:lnT w="0">
                      <a:noFill/>
                    </a:lnT>
                    <a:lnB w="0">
                      <a:noFill/>
                    </a:lnB>
                    <a:solidFill>
                      <a:srgbClr val="6E9DA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Probabilidade pré-teste</a:t>
                      </a:r>
                      <a:endParaRPr lang="pt-BR" sz="1300" dirty="0"/>
                    </a:p>
                  </a:txBody>
                  <a:tcPr marL="91440" marR="91440" marT="54864" marB="54864" anchor="ctr">
                    <a:lnL w="0">
                      <a:noFill/>
                    </a:lnL>
                    <a:lnR w="0">
                      <a:noFill/>
                    </a:lnR>
                    <a:lnT w="0">
                      <a:noFill/>
                    </a:lnT>
                    <a:lnB w="0">
                      <a:noFill/>
                    </a:lnB>
                    <a:solidFill>
                      <a:srgbClr val="6E9DAB"/>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4</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3%</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Improvável</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&gt; 4</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28 %</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Provável</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bl>
          </a:graphicData>
        </a:graphic>
      </p:graphicFrame>
      <p:sp>
        <p:nvSpPr>
          <p:cNvPr id="7" name="Nota"/>
          <p:cNvSpPr txBox="1"/>
          <p:nvPr/>
        </p:nvSpPr>
        <p:spPr>
          <a:xfrm>
            <a:off x="711403" y="2922900"/>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TEP: tromboembolismo pulmonar.</a:t>
            </a:r>
            <a:endParaRPr lang="pt-BR" sz="1200" dirty="0"/>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22 – Pulmonary embolism rule-out criteria (PERC) (2/2)</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76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417320"/>
          <a:ext cx="10771632" cy="1516125"/>
        </p:xfrm>
        <a:graphic>
          <a:graphicData uri="http://schemas.openxmlformats.org/drawingml/2006/table">
            <a:tbl>
              <a:tblPr firstRow="1"/>
              <a:tblGrid>
                <a:gridCol w="10771632"/>
              </a:tblGrid>
              <a:tr h="303225">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PERC</a:t>
                      </a:r>
                      <a:endParaRPr lang="pt-BR" sz="1300" dirty="0"/>
                    </a:p>
                  </a:txBody>
                  <a:tcPr marL="91440" marR="91440" marT="54864" marB="54864" anchor="ctr">
                    <a:lnL w="0">
                      <a:noFill/>
                    </a:lnL>
                    <a:lnR w="0">
                      <a:noFill/>
                    </a:lnR>
                    <a:lnT w="0">
                      <a:noFill/>
                    </a:lnT>
                    <a:lnB w="0">
                      <a:noFill/>
                    </a:lnB>
                    <a:solidFill>
                      <a:srgbClr val="4E7C8B"/>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Hemoptise</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Cirurgia ou trauma nas últimas 4 semanas</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História prévia de TVP ou TEP</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Tratamento hormonal</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bl>
          </a:graphicData>
        </a:graphic>
      </p:graphicFrame>
      <p:sp>
        <p:nvSpPr>
          <p:cNvPr id="7" name="Nota"/>
          <p:cNvSpPr txBox="1"/>
          <p:nvPr/>
        </p:nvSpPr>
        <p:spPr>
          <a:xfrm>
            <a:off x="711403" y="3003445"/>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PERC: pulmonary embolism rule-out criteria; TVP: trombose venosa profunda; TEP: tromboembolismo pulmonar.</a:t>
            </a:r>
            <a:endParaRPr lang="pt-BR" sz="1200" dirty="0"/>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30 – Condições clínicas em que o teste de esforço não está indicado na unidade de emergência (2/2)</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93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640000"/>
          <a:ext cx="10771632" cy="1516125"/>
        </p:xfrm>
        <a:graphic>
          <a:graphicData uri="http://schemas.openxmlformats.org/drawingml/2006/table">
            <a:tbl>
              <a:tblPr firstRow="1"/>
              <a:tblGrid>
                <a:gridCol w="10771632"/>
              </a:tblGrid>
              <a:tr h="303225">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TE contraindicado nas seguintes situações:</a:t>
                      </a:r>
                      <a:endParaRPr lang="pt-BR" sz="1300" dirty="0"/>
                    </a:p>
                  </a:txBody>
                  <a:tcPr marL="91440" marR="91440" marT="54864" marB="54864" anchor="ctr">
                    <a:lnL w="0">
                      <a:noFill/>
                    </a:lnL>
                    <a:lnR w="0">
                      <a:noFill/>
                    </a:lnR>
                    <a:lnT w="0">
                      <a:noFill/>
                    </a:lnT>
                    <a:lnB w="0">
                      <a:noFill/>
                    </a:lnB>
                    <a:solidFill>
                      <a:srgbClr val="4E7C8B"/>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Estenose aórtica grave sintomática</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Evidências de insuficiência cardíaca descompensada</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Sinais de má perfusão periférica</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Arritmias e HAS não controladas</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bl>
          </a:graphicData>
        </a:graphic>
      </p:graphicFrame>
      <p:sp>
        <p:nvSpPr>
          <p:cNvPr id="7" name="Nota"/>
          <p:cNvSpPr txBox="1"/>
          <p:nvPr/>
        </p:nvSpPr>
        <p:spPr>
          <a:xfrm>
            <a:off x="711403" y="3226125"/>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HAS: hipertensão arterial sistêmica; PA: pressão arterial; TE: teste de esforço.</a:t>
            </a:r>
            <a:endParaRPr lang="pt-BR" sz="1200" dirty="0"/>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31 – Alterações no eletrocardiograma de base que limitam a acurácia diagnóstica do teste de esforço para isquemia miocárdica (2/2)</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95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2150000"/>
          <a:ext cx="10771632" cy="1212900"/>
        </p:xfrm>
        <a:graphic>
          <a:graphicData uri="http://schemas.openxmlformats.org/drawingml/2006/table">
            <a:tbl>
              <a:tblPr firstRow="1"/>
              <a:tblGrid>
                <a:gridCol w="10771632"/>
              </a:tblGrid>
              <a:tr h="303225">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Limitam a acurácia do TE:</a:t>
                      </a:r>
                      <a:endParaRPr lang="pt-BR" sz="1300" dirty="0"/>
                    </a:p>
                  </a:txBody>
                  <a:tcPr marL="91440" marR="91440" marT="54864" marB="54864" anchor="ctr">
                    <a:lnL w="0">
                      <a:noFill/>
                    </a:lnL>
                    <a:lnR w="0">
                      <a:noFill/>
                    </a:lnR>
                    <a:lnT w="0">
                      <a:noFill/>
                    </a:lnT>
                    <a:lnB w="0">
                      <a:noFill/>
                    </a:lnB>
                    <a:solidFill>
                      <a:srgbClr val="4E7C8B"/>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Pré-excitação ventricular</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Fibrilação e flutter atriais</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Infradesnível de ST de base ≥ 1 mm</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bl>
          </a:graphicData>
        </a:graphic>
      </p:graphicFrame>
      <p:sp>
        <p:nvSpPr>
          <p:cNvPr id="7" name="Nota"/>
          <p:cNvSpPr txBox="1"/>
          <p:nvPr/>
        </p:nvSpPr>
        <p:spPr>
          <a:xfrm>
            <a:off x="711403" y="3432900"/>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TE: teste de esforço.</a:t>
            </a:r>
            <a:endParaRPr lang="pt-BR" sz="1200" dirty="0"/>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40 – Recomendações para implementação de unidades de dor torácica (2/2)</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101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640000"/>
          <a:ext cx="10771632" cy="2015793"/>
        </p:xfrm>
        <a:graphic>
          <a:graphicData uri="http://schemas.openxmlformats.org/drawingml/2006/table">
            <a:tbl>
              <a:tblPr firstRow="1"/>
              <a:tblGrid>
                <a:gridCol w="7571632"/>
                <a:gridCol w="1700000"/>
                <a:gridCol w="1500000"/>
              </a:tblGrid>
              <a:tr h="441858">
                <a:tc>
                  <a:txBody>
                    <a:bodyPr/>
                    <a:lstStyle/>
                    <a:p>
                      <a:pPr algn="l" marL="0" indent="0">
                        <a:lnSpc>
                          <a:spcPct val="100000"/>
                        </a:lnSpc>
                        <a:spcBef>
                          <a:spcPts val="0"/>
                        </a:spcBef>
                        <a:spcAft>
                          <a:spcPts val="0"/>
                        </a:spcAft>
                        <a:buNone/>
                      </a:pPr>
                      <a:endParaRPr lang="pt-BR" sz="1300" dirty="0"/>
                    </a:p>
                  </a:txBody>
                  <a:tcPr marL="91440" marR="91440" marT="27432" marB="27432"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Classe de recomendação</a:t>
                      </a:r>
                      <a:endParaRPr lang="pt-BR" sz="1300" dirty="0"/>
                    </a:p>
                  </a:txBody>
                  <a:tcPr marL="91440" marR="91440" marT="27432" marB="27432"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Nível de evidência</a:t>
                      </a:r>
                      <a:endParaRPr lang="pt-BR" sz="1300" dirty="0"/>
                    </a:p>
                  </a:txBody>
                  <a:tcPr marL="91440" marR="91440" marT="27432" marB="27432" anchor="ctr">
                    <a:lnL w="0">
                      <a:noFill/>
                    </a:lnL>
                    <a:lnR w="0">
                      <a:noFill/>
                    </a:lnR>
                    <a:lnT w="0">
                      <a:noFill/>
                    </a:lnT>
                    <a:lnB w="0">
                      <a:noFill/>
                    </a:lnB>
                    <a:solidFill>
                      <a:srgbClr val="4E7C8B"/>
                    </a:solidFill>
                  </a:tcPr>
                </a:tc>
              </a:tr>
              <a:tr h="248361">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As UDTs devem dispor de acesso à realização de ecocardiograma de urgência.</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27432" marB="27432" anchor="ctr">
                    <a:lnL w="0">
                      <a:noFill/>
                    </a:lnL>
                    <a:lnR w="0">
                      <a:noFill/>
                    </a:lnR>
                    <a:lnT w="0">
                      <a:noFill/>
                    </a:lnT>
                    <a:lnB w="12700">
                      <a:solidFill>
                        <a:srgbClr val="FBFCFC"/>
                      </a:solidFill>
                    </a:lnB>
                    <a:solidFill>
                      <a:srgbClr val="3E8E68"/>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a:t>
                      </a:r>
                      <a:endParaRPr lang="pt-BR" sz="1300" dirty="0"/>
                    </a:p>
                  </a:txBody>
                  <a:tcPr marL="91440" marR="91440" marT="27432" marB="27432" anchor="ctr">
                    <a:lnL w="0">
                      <a:noFill/>
                    </a:lnL>
                    <a:lnR w="0">
                      <a:noFill/>
                    </a:lnR>
                    <a:lnT w="0">
                      <a:noFill/>
                    </a:lnT>
                    <a:lnB w="12700">
                      <a:solidFill>
                        <a:srgbClr val="FBFCFC"/>
                      </a:solidFill>
                    </a:lnB>
                    <a:solidFill>
                      <a:srgbClr val="3E8E68"/>
                    </a:solidFill>
                  </a:tcPr>
                </a:tc>
              </a:tr>
              <a:tr h="44185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As UDTs devem dispor de acesso a laboratório de hemodinâmica 24/7 (no próprio serviço ou em um sistema integrado de referenciamento de emergência).</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27432" marB="27432" anchor="ctr">
                    <a:lnL w="0">
                      <a:noFill/>
                    </a:lnL>
                    <a:lnR w="0">
                      <a:noFill/>
                    </a:lnR>
                    <a:lnT w="0">
                      <a:noFill/>
                    </a:lnT>
                    <a:lnB w="12700">
                      <a:solidFill>
                        <a:srgbClr val="FBFCFC"/>
                      </a:solidFill>
                    </a:lnB>
                    <a:solidFill>
                      <a:srgbClr val="3E8E68"/>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a:t>
                      </a:r>
                      <a:endParaRPr lang="pt-BR" sz="1300" dirty="0"/>
                    </a:p>
                  </a:txBody>
                  <a:tcPr marL="91440" marR="91440" marT="27432" marB="27432" anchor="ctr">
                    <a:lnL w="0">
                      <a:noFill/>
                    </a:lnL>
                    <a:lnR w="0">
                      <a:noFill/>
                    </a:lnR>
                    <a:lnT w="0">
                      <a:noFill/>
                    </a:lnT>
                    <a:lnB w="12700">
                      <a:solidFill>
                        <a:srgbClr val="FBFCFC"/>
                      </a:solidFill>
                    </a:lnB>
                    <a:solidFill>
                      <a:srgbClr val="3E8E68"/>
                    </a:solidFill>
                  </a:tcPr>
                </a:tc>
              </a:tr>
              <a:tr h="44185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As UDTs devem dispor de protocolos de diagnóstico e tratamento para as principais síndromes de dor torácica aguda potencialmente fatais.</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27432" marB="27432" anchor="ctr">
                    <a:lnL w="0">
                      <a:noFill/>
                    </a:lnL>
                    <a:lnR w="0">
                      <a:noFill/>
                    </a:lnR>
                    <a:lnT w="0">
                      <a:noFill/>
                    </a:lnT>
                    <a:lnB w="12700">
                      <a:solidFill>
                        <a:srgbClr val="FBFCFC"/>
                      </a:solidFill>
                    </a:lnB>
                    <a:solidFill>
                      <a:srgbClr val="3E8E68"/>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a:t>
                      </a:r>
                      <a:endParaRPr lang="pt-BR" sz="1300" dirty="0"/>
                    </a:p>
                  </a:txBody>
                  <a:tcPr marL="91440" marR="91440" marT="27432" marB="27432" anchor="ctr">
                    <a:lnL w="0">
                      <a:noFill/>
                    </a:lnL>
                    <a:lnR w="0">
                      <a:noFill/>
                    </a:lnR>
                    <a:lnT w="0">
                      <a:noFill/>
                    </a:lnT>
                    <a:lnB w="12700">
                      <a:solidFill>
                        <a:srgbClr val="FBFCFC"/>
                      </a:solidFill>
                    </a:lnB>
                    <a:solidFill>
                      <a:srgbClr val="3E8E68"/>
                    </a:solidFill>
                  </a:tcPr>
                </a:tc>
              </a:tr>
              <a:tr h="44185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As UDTs devem dispor de métodos não invasivos para investigação de doença coronária e/ou isquemia.</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IIa</a:t>
                      </a:r>
                      <a:endParaRPr lang="pt-BR" sz="1300" dirty="0"/>
                    </a:p>
                  </a:txBody>
                  <a:tcPr marL="91440" marR="91440" marT="27432" marB="27432" anchor="ctr">
                    <a:lnL w="0">
                      <a:noFill/>
                    </a:lnL>
                    <a:lnR w="0">
                      <a:noFill/>
                    </a:lnR>
                    <a:lnT w="0">
                      <a:noFill/>
                    </a:lnT>
                    <a:lnB w="12700">
                      <a:solidFill>
                        <a:srgbClr val="FBFCFC"/>
                      </a:solidFill>
                    </a:lnB>
                    <a:solidFill>
                      <a:srgbClr val="C98A2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C</a:t>
                      </a:r>
                      <a:endParaRPr lang="pt-BR" sz="1300" dirty="0"/>
                    </a:p>
                  </a:txBody>
                  <a:tcPr marL="91440" marR="91440" marT="27432" marB="27432" anchor="ctr">
                    <a:lnL w="0">
                      <a:noFill/>
                    </a:lnL>
                    <a:lnR w="0">
                      <a:noFill/>
                    </a:lnR>
                    <a:lnT w="0">
                      <a:noFill/>
                    </a:lnT>
                    <a:lnB w="12700">
                      <a:solidFill>
                        <a:srgbClr val="FBFCFC"/>
                      </a:solidFill>
                    </a:lnB>
                    <a:solidFill>
                      <a:srgbClr val="C98A2B"/>
                    </a:solidFill>
                  </a:tcPr>
                </a:tc>
              </a:tr>
            </a:tbl>
          </a:graphicData>
        </a:graphic>
      </p:graphicFrame>
      <p:sp>
        <p:nvSpPr>
          <p:cNvPr id="7" name="Nota"/>
          <p:cNvSpPr txBox="1"/>
          <p:nvPr/>
        </p:nvSpPr>
        <p:spPr>
          <a:xfrm>
            <a:off x="711403" y="3725793"/>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UDT: unidade de dor torácica; ECG: eletrocardiograma.</a:t>
            </a:r>
            <a:endParaRPr lang="pt-BR" sz="1200" dirty="0"/>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21 – Escore de Genebra (2/4)</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72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6" name="Subtítulo"/>
          <p:cNvSpPr txBox="1"/>
          <p:nvPr/>
        </p:nvSpPr>
        <p:spPr>
          <a:xfrm>
            <a:off x="711403" y="1040000"/>
            <a:ext cx="10771632" cy="213167"/>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300" b="0" i="0" dirty="0">
                <a:solidFill>
                  <a:srgbClr val="737A7F"/>
                </a:solidFill>
                <a:latin typeface="Roboto"/>
                <a:ea typeface="Roboto"/>
                <a:cs typeface="Roboto"/>
              </a:rPr>
              <a:t>Tabela 21 – Escore de Genebra revisado e simplificado e probabilidade e risco de tromboembolismo pulmonar, a depender da pontuação</a:t>
            </a:r>
            <a:endParaRPr lang="pt-BR" sz="1300" dirty="0"/>
          </a:p>
        </p:txBody>
      </p:sp>
      <p:graphicFrame>
        <p:nvGraphicFramePr>
          <p:cNvPr id="7" name="Tabela"/>
          <p:cNvGraphicFramePr>
            <a:graphicFrameLocks noGrp="1"/>
          </p:cNvGraphicFramePr>
          <p:nvPr/>
        </p:nvGraphicFramePr>
        <p:xfrm>
          <a:off x="711403" y="1640000"/>
          <a:ext cx="10771632" cy="1516125"/>
        </p:xfrm>
        <a:graphic>
          <a:graphicData uri="http://schemas.openxmlformats.org/drawingml/2006/table">
            <a:tbl>
              <a:tblPr firstRow="1"/>
              <a:tblGrid>
                <a:gridCol w="6614160"/>
                <a:gridCol w="1889760"/>
                <a:gridCol w="2267712"/>
              </a:tblGrid>
              <a:tr h="303225">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Escore Genebra (do inglês, Geneva)</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Revisado - pontos</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Simplificado - pontos</a:t>
                      </a:r>
                      <a:endParaRPr lang="pt-BR" sz="1300" dirty="0"/>
                    </a:p>
                  </a:txBody>
                  <a:tcPr marL="91440" marR="91440" marT="54864" marB="54864" anchor="ctr">
                    <a:lnL w="0">
                      <a:noFill/>
                    </a:lnL>
                    <a:lnR w="0">
                      <a:noFill/>
                    </a:lnR>
                    <a:lnT w="0">
                      <a:noFill/>
                    </a:lnT>
                    <a:lnB w="0">
                      <a:noFill/>
                    </a:lnB>
                    <a:solidFill>
                      <a:srgbClr val="4E7C8B"/>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Hemoptise</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2</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Dor a palpação de veias profundas de membro inferior/edema unilateral</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4</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FC 75-94 bpm</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3</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FC ≥ 95 bpm</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5</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2</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bl>
          </a:graphicData>
        </a:graphic>
      </p:graphicFrame>
      <p:sp>
        <p:nvSpPr>
          <p:cNvPr id="10" name="Nota"/>
          <p:cNvSpPr txBox="1"/>
          <p:nvPr/>
        </p:nvSpPr>
        <p:spPr>
          <a:xfrm>
            <a:off x="711403" y="3226125"/>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TVP: trombose venosa profunda; TEP: tromboembolismo pulmonar; FC: frequência cardíaca; bpm: batimentos por minuto.</a:t>
            </a:r>
            <a:endParaRPr lang="pt-BR" sz="1200" dirty="0"/>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21 – Escore de Genebra (3/4)</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73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6" name="Subtítulo"/>
          <p:cNvSpPr txBox="1"/>
          <p:nvPr/>
        </p:nvSpPr>
        <p:spPr>
          <a:xfrm>
            <a:off x="711403" y="1040000"/>
            <a:ext cx="10771632" cy="213167"/>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300" b="0" i="0" dirty="0">
                <a:solidFill>
                  <a:srgbClr val="737A7F"/>
                </a:solidFill>
                <a:latin typeface="Roboto"/>
                <a:ea typeface="Roboto"/>
                <a:cs typeface="Roboto"/>
              </a:rPr>
              <a:t>Tabela 21 – Escore de Genebra revisado e simplificado e probabilidade e risco de tromboembolismo pulmonar, a depender da pontuação</a:t>
            </a:r>
            <a:endParaRPr lang="pt-BR" sz="1300" dirty="0"/>
          </a:p>
        </p:txBody>
      </p:sp>
      <p:graphicFrame>
        <p:nvGraphicFramePr>
          <p:cNvPr id="8" name="Tabela"/>
          <p:cNvGraphicFramePr>
            <a:graphicFrameLocks noGrp="1"/>
          </p:cNvGraphicFramePr>
          <p:nvPr/>
        </p:nvGraphicFramePr>
        <p:xfrm>
          <a:off x="711403" y="1640000"/>
          <a:ext cx="10771632" cy="1212900"/>
        </p:xfrm>
        <a:graphic>
          <a:graphicData uri="http://schemas.openxmlformats.org/drawingml/2006/table">
            <a:tbl>
              <a:tblPr firstRow="1"/>
              <a:tblGrid>
                <a:gridCol w="3877787"/>
                <a:gridCol w="3446922"/>
                <a:gridCol w="3446923"/>
              </a:tblGrid>
              <a:tr h="303225">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Pontuação – Genebra revisado</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Probabilidade de TEP</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Probabilidade pré-teste</a:t>
                      </a:r>
                      <a:endParaRPr lang="pt-BR" sz="1300" dirty="0"/>
                    </a:p>
                  </a:txBody>
                  <a:tcPr marL="91440" marR="91440" marT="54864" marB="54864" anchor="ctr">
                    <a:lnL w="0">
                      <a:noFill/>
                    </a:lnL>
                    <a:lnR w="0">
                      <a:noFill/>
                    </a:lnR>
                    <a:lnT w="0">
                      <a:noFill/>
                    </a:lnT>
                    <a:lnB w="0">
                      <a:noFill/>
                    </a:lnB>
                    <a:solidFill>
                      <a:srgbClr val="4E7C8B"/>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0-3</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8%</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Baixa</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4-10</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28%</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Intermediária</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11</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&gt; 60%</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Alta</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bl>
          </a:graphicData>
        </a:graphic>
      </p:graphicFrame>
      <p:sp>
        <p:nvSpPr>
          <p:cNvPr id="10" name="Nota"/>
          <p:cNvSpPr txBox="1"/>
          <p:nvPr/>
        </p:nvSpPr>
        <p:spPr>
          <a:xfrm>
            <a:off x="711403" y="2922900"/>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TVP: trombose venosa profunda; TEP: tromboembolismo pulmonar; FC: frequência cardíaca; bpm: batimentos por minuto.</a:t>
            </a:r>
            <a:endParaRPr lang="pt-BR" sz="1200" dirty="0"/>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21 – Escore de Genebra (4/4)</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74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6" name="Subtítulo"/>
          <p:cNvSpPr txBox="1"/>
          <p:nvPr/>
        </p:nvSpPr>
        <p:spPr>
          <a:xfrm>
            <a:off x="711403" y="1040000"/>
            <a:ext cx="10771632" cy="213167"/>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300" b="0" i="0" dirty="0">
                <a:solidFill>
                  <a:srgbClr val="737A7F"/>
                </a:solidFill>
                <a:latin typeface="Roboto"/>
                <a:ea typeface="Roboto"/>
                <a:cs typeface="Roboto"/>
              </a:rPr>
              <a:t>Tabela 21 – Escore de Genebra revisado e simplificado e probabilidade e risco de tromboembolismo pulmonar, a depender da pontuação</a:t>
            </a:r>
            <a:endParaRPr lang="pt-BR" sz="1300" dirty="0"/>
          </a:p>
        </p:txBody>
      </p:sp>
      <p:graphicFrame>
        <p:nvGraphicFramePr>
          <p:cNvPr id="9" name="Tabela"/>
          <p:cNvGraphicFramePr>
            <a:graphicFrameLocks noGrp="1"/>
          </p:cNvGraphicFramePr>
          <p:nvPr/>
        </p:nvGraphicFramePr>
        <p:xfrm>
          <a:off x="711403" y="1640000"/>
          <a:ext cx="10771632" cy="1212900"/>
        </p:xfrm>
        <a:graphic>
          <a:graphicData uri="http://schemas.openxmlformats.org/drawingml/2006/table">
            <a:tbl>
              <a:tblPr firstRow="1"/>
              <a:tblGrid>
                <a:gridCol w="6678411"/>
                <a:gridCol w="4093221"/>
              </a:tblGrid>
              <a:tr h="303225">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Pontuação – Genebra simplificado (2 níveis)</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Probabilidade pré-teste</a:t>
                      </a:r>
                      <a:endParaRPr lang="pt-BR" sz="1300" dirty="0"/>
                    </a:p>
                  </a:txBody>
                  <a:tcPr marL="91440" marR="91440" marT="54864" marB="54864" anchor="ctr">
                    <a:lnL w="0">
                      <a:noFill/>
                    </a:lnL>
                    <a:lnR w="0">
                      <a:noFill/>
                    </a:lnR>
                    <a:lnT w="0">
                      <a:noFill/>
                    </a:lnT>
                    <a:lnB w="0">
                      <a:noFill/>
                    </a:lnB>
                    <a:solidFill>
                      <a:srgbClr val="4E7C8B"/>
                    </a:solidFill>
                  </a:tcPr>
                </a:tc>
              </a:tr>
              <a:tr h="303225">
                <a:tc gridSpan="2">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2 níveis</a:t>
                      </a:r>
                      <a:endParaRPr lang="pt-BR" sz="1300" dirty="0"/>
                    </a:p>
                  </a:txBody>
                  <a:tcPr marL="91440" marR="91440" marT="54864" marB="54864" anchor="ctr">
                    <a:lnL w="0">
                      <a:noFill/>
                    </a:lnL>
                    <a:lnR w="0">
                      <a:noFill/>
                    </a:lnR>
                    <a:lnT w="0">
                      <a:noFill/>
                    </a:lnT>
                    <a:lnB w="0">
                      <a:noFill/>
                    </a:lnB>
                    <a:solidFill>
                      <a:srgbClr val="4E7C8B"/>
                    </a:solidFill>
                  </a:tcPr>
                </a:tc>
                <a:tc hMerge="1">
                  <a:txBody>
                    <a:bodyPr/>
                    <a:lstStyle/>
                    <a:p>
                      <a:endParaRPr lang="pt-BR"/>
                    </a:p>
                  </a:txBody>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0-2</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Improvável</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322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3</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Provável</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bl>
          </a:graphicData>
        </a:graphic>
      </p:graphicFrame>
      <p:sp>
        <p:nvSpPr>
          <p:cNvPr id="10" name="Nota"/>
          <p:cNvSpPr txBox="1"/>
          <p:nvPr/>
        </p:nvSpPr>
        <p:spPr>
          <a:xfrm>
            <a:off x="711403" y="2922900"/>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TVP: trombose venosa profunda; TEP: tromboembolismo pulmonar; FC: frequência cardíaca; bpm: batimentos por minuto.</a:t>
            </a:r>
            <a:endParaRPr lang="pt-BR" sz="1200" dirty="0"/>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Suspeita de síndrome aórtica aguda- ADD-RS Risk Score (2/2)</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106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9" name="Legenda"/>
          <p:cNvSpPr txBox="1"/>
          <p:nvPr/>
        </p:nvSpPr>
        <p:spPr>
          <a:xfrm>
            <a:off x="711403" y="1417320"/>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0" dirty="0">
                <a:solidFill>
                  <a:srgbClr val="4E7C8B"/>
                </a:solidFill>
                <a:latin typeface="Roboto Medium"/>
                <a:ea typeface="Roboto Medium"/>
                <a:cs typeface="Roboto Medium"/>
              </a:rPr>
              <a:t>Tabela 18 – Estratificação de risco e probabilidade diagnóstica na avaliação de dor torácica na suspeita de síndrome aórtica aguda</a:t>
            </a:r>
            <a:endParaRPr lang="pt-BR" sz="1200" dirty="0"/>
          </a:p>
        </p:txBody>
      </p:sp>
      <p:graphicFrame>
        <p:nvGraphicFramePr>
          <p:cNvPr id="10" name="Tabela"/>
          <p:cNvGraphicFramePr>
            <a:graphicFrameLocks noGrp="1"/>
          </p:cNvGraphicFramePr>
          <p:nvPr/>
        </p:nvGraphicFramePr>
        <p:xfrm>
          <a:off x="711403" y="1655628"/>
          <a:ext cx="10771632" cy="2107233"/>
        </p:xfrm>
        <a:graphic>
          <a:graphicData uri="http://schemas.openxmlformats.org/drawingml/2006/table">
            <a:tbl>
              <a:tblPr firstRow="1"/>
              <a:tblGrid>
                <a:gridCol w="7771632"/>
                <a:gridCol w="1600000"/>
                <a:gridCol w="1400000"/>
              </a:tblGrid>
              <a:tr h="460146">
                <a:tc>
                  <a:txBody>
                    <a:bodyPr/>
                    <a:lstStyle/>
                    <a:p>
                      <a:pPr algn="l" marL="0" indent="0">
                        <a:lnSpc>
                          <a:spcPct val="100000"/>
                        </a:lnSpc>
                        <a:spcBef>
                          <a:spcPts val="0"/>
                        </a:spcBef>
                        <a:spcAft>
                          <a:spcPts val="0"/>
                        </a:spcAft>
                        <a:buNone/>
                      </a:pPr>
                      <a:endParaRPr lang="pt-BR" sz="1300" dirty="0"/>
                    </a:p>
                  </a:txBody>
                  <a:tcPr marL="91440" marR="91440" marT="36576" marB="36576"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Classe de recomendação</a:t>
                      </a:r>
                      <a:endParaRPr lang="pt-BR" sz="1300" dirty="0"/>
                    </a:p>
                  </a:txBody>
                  <a:tcPr marL="91440" marR="91440" marT="36576" marB="36576"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Nível de evidência</a:t>
                      </a:r>
                      <a:endParaRPr lang="pt-BR" sz="1300" dirty="0"/>
                    </a:p>
                  </a:txBody>
                  <a:tcPr marL="91440" marR="91440" marT="36576" marB="36576" anchor="ctr">
                    <a:lnL w="0">
                      <a:noFill/>
                    </a:lnL>
                    <a:lnR w="0">
                      <a:noFill/>
                    </a:lnR>
                    <a:lnT w="0">
                      <a:noFill/>
                    </a:lnT>
                    <a:lnB w="0">
                      <a:noFill/>
                    </a:lnB>
                    <a:solidFill>
                      <a:srgbClr val="4E7C8B"/>
                    </a:solidFill>
                  </a:tcPr>
                </a:tc>
              </a:tr>
              <a:tr h="266649">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ADD-RS pode ser aplicado em pacientes com suspeita de SAA como parte da avaliação inicial.</a:t>
                      </a:r>
                      <a:endParaRPr lang="pt-BR" sz="1300" dirty="0"/>
                    </a:p>
                  </a:txBody>
                  <a:tcPr marL="91440" marR="91440" marT="36576" marB="36576"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IIa</a:t>
                      </a:r>
                      <a:endParaRPr lang="pt-BR" sz="1300" dirty="0"/>
                    </a:p>
                  </a:txBody>
                  <a:tcPr marL="91440" marR="91440" marT="36576" marB="36576" anchor="ctr">
                    <a:lnL w="0">
                      <a:noFill/>
                    </a:lnL>
                    <a:lnR w="0">
                      <a:noFill/>
                    </a:lnR>
                    <a:lnT w="0">
                      <a:noFill/>
                    </a:lnT>
                    <a:lnB w="12700">
                      <a:solidFill>
                        <a:srgbClr val="FBFCFC"/>
                      </a:solidFill>
                    </a:lnB>
                    <a:solidFill>
                      <a:srgbClr val="C98A2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B</a:t>
                      </a:r>
                      <a:endParaRPr lang="pt-BR" sz="1300" dirty="0"/>
                    </a:p>
                  </a:txBody>
                  <a:tcPr marL="91440" marR="91440" marT="36576" marB="36576" anchor="ctr">
                    <a:lnL w="0">
                      <a:noFill/>
                    </a:lnL>
                    <a:lnR w="0">
                      <a:noFill/>
                    </a:lnR>
                    <a:lnT w="0">
                      <a:noFill/>
                    </a:lnT>
                    <a:lnB w="12700">
                      <a:solidFill>
                        <a:srgbClr val="FBFCFC"/>
                      </a:solidFill>
                    </a:lnB>
                    <a:solidFill>
                      <a:srgbClr val="C98A2B"/>
                    </a:solidFill>
                  </a:tcPr>
                </a:tc>
              </a:tr>
              <a:tr h="460146">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POCUS feito por médico capacitado pode ser aplicado em adição ao ADD-RS para incremento na avaliação da probabilidade diagnóstica.</a:t>
                      </a:r>
                      <a:endParaRPr lang="pt-BR" sz="1300" dirty="0"/>
                    </a:p>
                  </a:txBody>
                  <a:tcPr marL="91440" marR="91440" marT="36576" marB="36576"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IIa</a:t>
                      </a:r>
                      <a:endParaRPr lang="pt-BR" sz="1300" dirty="0"/>
                    </a:p>
                  </a:txBody>
                  <a:tcPr marL="91440" marR="91440" marT="36576" marB="36576" anchor="ctr">
                    <a:lnL w="0">
                      <a:noFill/>
                    </a:lnL>
                    <a:lnR w="0">
                      <a:noFill/>
                    </a:lnR>
                    <a:lnT w="0">
                      <a:noFill/>
                    </a:lnT>
                    <a:lnB w="12700">
                      <a:solidFill>
                        <a:srgbClr val="FBFCFC"/>
                      </a:solidFill>
                    </a:lnB>
                    <a:solidFill>
                      <a:srgbClr val="C98A2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B</a:t>
                      </a:r>
                      <a:endParaRPr lang="pt-BR" sz="1300" dirty="0"/>
                    </a:p>
                  </a:txBody>
                  <a:tcPr marL="91440" marR="91440" marT="36576" marB="36576" anchor="ctr">
                    <a:lnL w="0">
                      <a:noFill/>
                    </a:lnL>
                    <a:lnR w="0">
                      <a:noFill/>
                    </a:lnR>
                    <a:lnT w="0">
                      <a:noFill/>
                    </a:lnT>
                    <a:lnB w="12700">
                      <a:solidFill>
                        <a:srgbClr val="FBFCFC"/>
                      </a:solidFill>
                    </a:lnB>
                    <a:solidFill>
                      <a:srgbClr val="C98A2B"/>
                    </a:solidFill>
                  </a:tcPr>
                </a:tc>
              </a:tr>
              <a:tr h="460146">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AORTA pode ser aplicado em pacientes com suspeita de SAA de forma adicional ou como alternativa ao ADD-RS.</a:t>
                      </a:r>
                      <a:endParaRPr lang="pt-BR" sz="1300" dirty="0"/>
                    </a:p>
                  </a:txBody>
                  <a:tcPr marL="91440" marR="91440" marT="36576" marB="36576"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IIb</a:t>
                      </a:r>
                      <a:endParaRPr lang="pt-BR" sz="1300" dirty="0"/>
                    </a:p>
                  </a:txBody>
                  <a:tcPr marL="91440" marR="91440" marT="36576" marB="36576" anchor="ctr">
                    <a:lnL w="0">
                      <a:noFill/>
                    </a:lnL>
                    <a:lnR w="0">
                      <a:noFill/>
                    </a:lnR>
                    <a:lnT w="0">
                      <a:noFill/>
                    </a:lnT>
                    <a:lnB w="12700">
                      <a:solidFill>
                        <a:srgbClr val="FBFCFC"/>
                      </a:solidFill>
                    </a:lnB>
                    <a:solidFill>
                      <a:srgbClr val="C98A2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C</a:t>
                      </a:r>
                      <a:endParaRPr lang="pt-BR" sz="1300" dirty="0"/>
                    </a:p>
                  </a:txBody>
                  <a:tcPr marL="91440" marR="91440" marT="36576" marB="36576" anchor="ctr">
                    <a:lnL w="0">
                      <a:noFill/>
                    </a:lnL>
                    <a:lnR w="0">
                      <a:noFill/>
                    </a:lnR>
                    <a:lnT w="0">
                      <a:noFill/>
                    </a:lnT>
                    <a:lnB w="12700">
                      <a:solidFill>
                        <a:srgbClr val="FBFCFC"/>
                      </a:solidFill>
                    </a:lnB>
                    <a:solidFill>
                      <a:srgbClr val="C98A2B"/>
                    </a:solidFill>
                  </a:tcPr>
                </a:tc>
              </a:tr>
              <a:tr h="460146">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ADD-RS e AORTA </a:t>
                      </a:r>
                      <a:r>
                        <a:rPr lang="pt-BR" sz="1300" b="1" i="0" dirty="0">
                          <a:solidFill>
                            <a:srgbClr val="5F6468"/>
                          </a:solidFill>
                          <a:latin typeface="Roboto"/>
                          <a:ea typeface="Roboto"/>
                          <a:cs typeface="Roboto"/>
                        </a:rPr>
                        <a:t>NÃO</a:t>
                      </a:r>
                      <a:r>
                        <a:rPr lang="pt-BR" sz="1300" b="0" i="0" dirty="0">
                          <a:solidFill>
                            <a:srgbClr val="5F6468"/>
                          </a:solidFill>
                          <a:latin typeface="Roboto"/>
                          <a:ea typeface="Roboto"/>
                          <a:cs typeface="Roboto"/>
                        </a:rPr>
                        <a:t> devem ser utilizados exclusivamente na avaliação inicial em pacientes com suspeita de SAA para exclusão ou confirmação diagnóstica.</a:t>
                      </a:r>
                      <a:endParaRPr lang="pt-BR" sz="1300" dirty="0"/>
                    </a:p>
                  </a:txBody>
                  <a:tcPr marL="91440" marR="91440" marT="36576" marB="36576"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III</a:t>
                      </a:r>
                      <a:endParaRPr lang="pt-BR" sz="1300" dirty="0"/>
                    </a:p>
                  </a:txBody>
                  <a:tcPr marL="91440" marR="91440" marT="36576" marB="36576" anchor="ctr">
                    <a:lnL w="0">
                      <a:noFill/>
                    </a:lnL>
                    <a:lnR w="0">
                      <a:noFill/>
                    </a:lnR>
                    <a:lnT w="0">
                      <a:noFill/>
                    </a:lnT>
                    <a:lnB w="12700">
                      <a:solidFill>
                        <a:srgbClr val="FBFCFC"/>
                      </a:solidFill>
                    </a:lnB>
                    <a:solidFill>
                      <a:srgbClr val="B5533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B</a:t>
                      </a:r>
                      <a:endParaRPr lang="pt-BR" sz="1300" dirty="0"/>
                    </a:p>
                  </a:txBody>
                  <a:tcPr marL="91440" marR="91440" marT="36576" marB="36576" anchor="ctr">
                    <a:lnL w="0">
                      <a:noFill/>
                    </a:lnL>
                    <a:lnR w="0">
                      <a:noFill/>
                    </a:lnR>
                    <a:lnT w="0">
                      <a:noFill/>
                    </a:lnT>
                    <a:lnB w="12700">
                      <a:solidFill>
                        <a:srgbClr val="FBFCFC"/>
                      </a:solidFill>
                    </a:lnB>
                    <a:solidFill>
                      <a:srgbClr val="B5533C"/>
                    </a:solidFill>
                  </a:tcPr>
                </a:tc>
              </a:tr>
            </a:tbl>
          </a:graphicData>
        </a:graphic>
      </p:graphicFrame>
      <p:sp>
        <p:nvSpPr>
          <p:cNvPr id="11" name="Nota"/>
          <p:cNvSpPr txBox="1"/>
          <p:nvPr/>
        </p:nvSpPr>
        <p:spPr>
          <a:xfrm>
            <a:off x="711403" y="3832861"/>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POCUS: point-of-care ultrasound; SAA: síndrome aórtica aguda.</a:t>
            </a:r>
            <a:endParaRPr lang="pt-BR" sz="1200" dirty="0"/>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Suspeita de Tromboembolismo Pulmonar- Escore de Wells (2/5)</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108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6" name="Legenda"/>
          <p:cNvSpPr txBox="1"/>
          <p:nvPr/>
        </p:nvSpPr>
        <p:spPr>
          <a:xfrm>
            <a:off x="711403" y="1417320"/>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0" dirty="0">
                <a:solidFill>
                  <a:srgbClr val="4E7C8B"/>
                </a:solidFill>
                <a:latin typeface="Roboto Medium"/>
                <a:ea typeface="Roboto Medium"/>
                <a:cs typeface="Roboto Medium"/>
              </a:rPr>
              <a:t>Tabela 19 – Escore de Wells: critérios e respectiva pontuação</a:t>
            </a:r>
            <a:endParaRPr lang="pt-BR" sz="1200" dirty="0"/>
          </a:p>
        </p:txBody>
      </p:sp>
      <p:graphicFrame>
        <p:nvGraphicFramePr>
          <p:cNvPr id="7" name="Tabela"/>
          <p:cNvGraphicFramePr>
            <a:graphicFrameLocks noGrp="1"/>
          </p:cNvGraphicFramePr>
          <p:nvPr/>
        </p:nvGraphicFramePr>
        <p:xfrm>
          <a:off x="711403" y="1655628"/>
          <a:ext cx="10771632" cy="920292"/>
        </p:xfrm>
        <a:graphic>
          <a:graphicData uri="http://schemas.openxmlformats.org/drawingml/2006/table">
            <a:tbl>
              <a:tblPr firstRow="1"/>
              <a:tblGrid>
                <a:gridCol w="8907311"/>
                <a:gridCol w="1864321"/>
              </a:tblGrid>
              <a:tr h="230073">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Critérios</a:t>
                      </a:r>
                      <a:endParaRPr lang="pt-BR" sz="1300" dirty="0"/>
                    </a:p>
                  </a:txBody>
                  <a:tcPr marL="91440" marR="91440" marT="18288" marB="18288" anchor="ctr">
                    <a:lnL w="0">
                      <a:noFill/>
                    </a:lnL>
                    <a:lnR w="0">
                      <a:noFill/>
                    </a:lnR>
                    <a:lnT w="0">
                      <a:noFill/>
                    </a:lnT>
                    <a:lnB w="0">
                      <a:noFill/>
                    </a:lnB>
                    <a:solidFill>
                      <a:srgbClr val="4E7C8B"/>
                    </a:solidFill>
                  </a:tcPr>
                </a:tc>
                <a:tc>
                  <a:txBody>
                    <a:bodyPr/>
                    <a:lstStyle/>
                    <a:p>
                      <a:pPr algn="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Pontos</a:t>
                      </a:r>
                      <a:endParaRPr lang="pt-BR" sz="1300" dirty="0"/>
                    </a:p>
                  </a:txBody>
                  <a:tcPr marL="91440" marR="91440" marT="18288" marB="18288" anchor="ctr">
                    <a:lnL w="0">
                      <a:noFill/>
                    </a:lnL>
                    <a:lnR w="0">
                      <a:noFill/>
                    </a:lnR>
                    <a:lnT w="0">
                      <a:noFill/>
                    </a:lnT>
                    <a:lnB w="0">
                      <a:noFill/>
                    </a:lnB>
                    <a:solidFill>
                      <a:srgbClr val="4E7C8B"/>
                    </a:solidFill>
                  </a:tcPr>
                </a:tc>
              </a:tr>
              <a:tr h="230073">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Imobilização por mais de 2 dias ou cirurgia nas últimas 4 semanas</a:t>
                      </a:r>
                      <a:endParaRPr lang="pt-BR" sz="1300" dirty="0"/>
                    </a:p>
                  </a:txBody>
                  <a:tcPr marL="91440" marR="91440" marT="18288" marB="18288" anchor="ctr">
                    <a:lnL w="0">
                      <a:noFill/>
                    </a:lnL>
                    <a:lnR w="0">
                      <a:noFill/>
                    </a:lnR>
                    <a:lnT w="0">
                      <a:noFill/>
                    </a:lnT>
                    <a:lnB w="12700">
                      <a:solidFill>
                        <a:srgbClr val="E4E6E7"/>
                      </a:solidFill>
                    </a:lnB>
                    <a:solidFill>
                      <a:srgbClr val="FBFCFC"/>
                    </a:solidFill>
                  </a:tcPr>
                </a:tc>
                <a:tc>
                  <a:txBody>
                    <a:bodyPr/>
                    <a:lstStyle/>
                    <a:p>
                      <a:pPr algn="r" marL="0" indent="0">
                        <a:lnSpc>
                          <a:spcPct val="100000"/>
                        </a:lnSpc>
                        <a:spcBef>
                          <a:spcPts val="0"/>
                        </a:spcBef>
                        <a:spcAft>
                          <a:spcPts val="0"/>
                        </a:spcAft>
                        <a:buNone/>
                      </a:pPr>
                      <a:r>
                        <a:rPr lang="pt-BR" sz="1300" b="0" i="0" dirty="0">
                          <a:solidFill>
                            <a:srgbClr val="5F6468"/>
                          </a:solidFill>
                          <a:latin typeface="Roboto"/>
                          <a:ea typeface="Roboto"/>
                          <a:cs typeface="Roboto"/>
                        </a:rPr>
                        <a:t>+1,5</a:t>
                      </a:r>
                      <a:endParaRPr lang="pt-BR" sz="1300" dirty="0"/>
                    </a:p>
                  </a:txBody>
                  <a:tcPr marL="91440" marR="91440" marT="18288" marB="18288" anchor="ctr">
                    <a:lnL w="0">
                      <a:noFill/>
                    </a:lnL>
                    <a:lnR w="0">
                      <a:noFill/>
                    </a:lnR>
                    <a:lnT w="0">
                      <a:noFill/>
                    </a:lnT>
                    <a:lnB w="12700">
                      <a:solidFill>
                        <a:srgbClr val="E4E6E7"/>
                      </a:solidFill>
                    </a:lnB>
                    <a:solidFill>
                      <a:srgbClr val="FBFCFC"/>
                    </a:solidFill>
                  </a:tcPr>
                </a:tc>
              </a:tr>
              <a:tr h="230073">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Hemoptise</a:t>
                      </a:r>
                      <a:endParaRPr lang="pt-BR" sz="1300" dirty="0"/>
                    </a:p>
                  </a:txBody>
                  <a:tcPr marL="91440" marR="91440" marT="18288" marB="18288" anchor="ctr">
                    <a:lnL w="0">
                      <a:noFill/>
                    </a:lnL>
                    <a:lnR w="0">
                      <a:noFill/>
                    </a:lnR>
                    <a:lnT w="0">
                      <a:noFill/>
                    </a:lnT>
                    <a:lnB w="12700">
                      <a:solidFill>
                        <a:srgbClr val="E4E6E7"/>
                      </a:solidFill>
                    </a:lnB>
                    <a:solidFill>
                      <a:srgbClr val="F2F4F5"/>
                    </a:solidFill>
                  </a:tcPr>
                </a:tc>
                <a:tc>
                  <a:txBody>
                    <a:bodyPr/>
                    <a:lstStyle/>
                    <a:p>
                      <a:pPr algn="r" marL="0" indent="0">
                        <a:lnSpc>
                          <a:spcPct val="100000"/>
                        </a:lnSpc>
                        <a:spcBef>
                          <a:spcPts val="0"/>
                        </a:spcBef>
                        <a:spcAft>
                          <a:spcPts val="0"/>
                        </a:spcAft>
                        <a:buNone/>
                      </a:pPr>
                      <a:r>
                        <a:rPr lang="pt-BR" sz="1300" b="0" i="0" dirty="0">
                          <a:solidFill>
                            <a:srgbClr val="5F6468"/>
                          </a:solidFill>
                          <a:latin typeface="Roboto"/>
                          <a:ea typeface="Roboto"/>
                          <a:cs typeface="Roboto"/>
                        </a:rPr>
                        <a:t>+1</a:t>
                      </a:r>
                      <a:endParaRPr lang="pt-BR" sz="1300" dirty="0"/>
                    </a:p>
                  </a:txBody>
                  <a:tcPr marL="91440" marR="91440" marT="18288" marB="18288" anchor="ctr">
                    <a:lnL w="0">
                      <a:noFill/>
                    </a:lnL>
                    <a:lnR w="0">
                      <a:noFill/>
                    </a:lnR>
                    <a:lnT w="0">
                      <a:noFill/>
                    </a:lnT>
                    <a:lnB w="12700">
                      <a:solidFill>
                        <a:srgbClr val="E4E6E7"/>
                      </a:solidFill>
                    </a:lnB>
                    <a:solidFill>
                      <a:srgbClr val="F2F4F5"/>
                    </a:solidFill>
                  </a:tcPr>
                </a:tc>
              </a:tr>
              <a:tr h="230073">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Câncer (atual tratado nos últimos 6 meses, ou se o paciente estiver em cuidados paliativos)</a:t>
                      </a:r>
                      <a:endParaRPr lang="pt-BR" sz="1300" dirty="0"/>
                    </a:p>
                  </a:txBody>
                  <a:tcPr marL="91440" marR="91440" marT="18288" marB="18288" anchor="ctr">
                    <a:lnL w="0">
                      <a:noFill/>
                    </a:lnL>
                    <a:lnR w="0">
                      <a:noFill/>
                    </a:lnR>
                    <a:lnT w="0">
                      <a:noFill/>
                    </a:lnT>
                    <a:lnB w="12700">
                      <a:solidFill>
                        <a:srgbClr val="E4E6E7"/>
                      </a:solidFill>
                    </a:lnB>
                    <a:solidFill>
                      <a:srgbClr val="FBFCFC"/>
                    </a:solidFill>
                  </a:tcPr>
                </a:tc>
                <a:tc>
                  <a:txBody>
                    <a:bodyPr/>
                    <a:lstStyle/>
                    <a:p>
                      <a:pPr algn="r" marL="0" indent="0">
                        <a:lnSpc>
                          <a:spcPct val="100000"/>
                        </a:lnSpc>
                        <a:spcBef>
                          <a:spcPts val="0"/>
                        </a:spcBef>
                        <a:spcAft>
                          <a:spcPts val="0"/>
                        </a:spcAft>
                        <a:buNone/>
                      </a:pPr>
                      <a:r>
                        <a:rPr lang="pt-BR" sz="1300" b="0" i="0" dirty="0">
                          <a:solidFill>
                            <a:srgbClr val="5F6468"/>
                          </a:solidFill>
                          <a:latin typeface="Roboto"/>
                          <a:ea typeface="Roboto"/>
                          <a:cs typeface="Roboto"/>
                        </a:rPr>
                        <a:t>+1</a:t>
                      </a:r>
                      <a:endParaRPr lang="pt-BR" sz="1300" dirty="0"/>
                    </a:p>
                  </a:txBody>
                  <a:tcPr marL="91440" marR="91440" marT="18288" marB="18288" anchor="ctr">
                    <a:lnL w="0">
                      <a:noFill/>
                    </a:lnL>
                    <a:lnR w="0">
                      <a:noFill/>
                    </a:lnR>
                    <a:lnT w="0">
                      <a:noFill/>
                    </a:lnT>
                    <a:lnB w="12700">
                      <a:solidFill>
                        <a:srgbClr val="E4E6E7"/>
                      </a:solidFill>
                    </a:lnB>
                    <a:solidFill>
                      <a:srgbClr val="FBFCFC"/>
                    </a:solidFill>
                  </a:tcPr>
                </a:tc>
              </a:tr>
            </a:tbl>
          </a:graphicData>
        </a:graphic>
      </p:graphicFrame>
      <p:sp>
        <p:nvSpPr>
          <p:cNvPr id="10" name="Nota"/>
          <p:cNvSpPr txBox="1"/>
          <p:nvPr/>
        </p:nvSpPr>
        <p:spPr>
          <a:xfrm>
            <a:off x="711403" y="2645920"/>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TVP: trombose venosa profunda; TEP: tromboembolismo pulmonar; bpm: batimentos por minuto.</a:t>
            </a:r>
            <a:endParaRPr lang="pt-BR" sz="1200" dirty="0"/>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Suspeita de Tromboembolismo Pulmonar- Escore de Wells (3/5)</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109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8" name="Legenda"/>
          <p:cNvSpPr txBox="1"/>
          <p:nvPr/>
        </p:nvSpPr>
        <p:spPr>
          <a:xfrm>
            <a:off x="711403" y="1417320"/>
            <a:ext cx="10771632" cy="376616"/>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0" dirty="0">
                <a:solidFill>
                  <a:srgbClr val="4E7C8B"/>
                </a:solidFill>
                <a:latin typeface="Roboto Medium"/>
                <a:ea typeface="Roboto Medium"/>
                <a:cs typeface="Roboto Medium"/>
              </a:rPr>
              <a:t>Tabela 20 – Escore de Wells modificado e probabilidade/risco de tromboembolismo pulmonar, a depender da pontuação</a:t>
            </a:r>
            <a:endParaRPr lang="pt-BR" sz="1200" dirty="0"/>
          </a:p>
        </p:txBody>
      </p:sp>
      <p:graphicFrame>
        <p:nvGraphicFramePr>
          <p:cNvPr id="9" name="Tabela"/>
          <p:cNvGraphicFramePr>
            <a:graphicFrameLocks noGrp="1"/>
          </p:cNvGraphicFramePr>
          <p:nvPr/>
        </p:nvGraphicFramePr>
        <p:xfrm>
          <a:off x="711403" y="1655628"/>
          <a:ext cx="10771632" cy="1150365"/>
        </p:xfrm>
        <a:graphic>
          <a:graphicData uri="http://schemas.openxmlformats.org/drawingml/2006/table">
            <a:tbl>
              <a:tblPr firstRow="1"/>
              <a:tblGrid>
                <a:gridCol w="2485761"/>
                <a:gridCol w="3935789"/>
                <a:gridCol w="4350082"/>
              </a:tblGrid>
              <a:tr h="230073">
                <a:tc gridSpan="3">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3 níveis</a:t>
                      </a:r>
                      <a:endParaRPr lang="pt-BR" sz="1300" dirty="0"/>
                    </a:p>
                  </a:txBody>
                  <a:tcPr marL="91440" marR="91440" marT="18288" marB="18288" anchor="ctr">
                    <a:lnL w="0">
                      <a:noFill/>
                    </a:lnL>
                    <a:lnR w="0">
                      <a:noFill/>
                    </a:lnR>
                    <a:lnT w="0">
                      <a:noFill/>
                    </a:lnT>
                    <a:lnB w="0">
                      <a:noFill/>
                    </a:lnB>
                    <a:solidFill>
                      <a:srgbClr val="4E7C8B"/>
                    </a:solidFill>
                  </a:tcPr>
                </a:tc>
                <a:tc hMerge="1">
                  <a:txBody>
                    <a:bodyPr/>
                    <a:lstStyle/>
                    <a:p>
                      <a:endParaRPr lang="pt-BR"/>
                    </a:p>
                  </a:txBody>
                  <a:tcPr/>
                </a:tc>
                <a:tc hMerge="1">
                  <a:txBody>
                    <a:bodyPr/>
                    <a:lstStyle/>
                    <a:p>
                      <a:endParaRPr lang="pt-BR"/>
                    </a:p>
                  </a:txBody>
                  <a:tcPr/>
                </a:tc>
              </a:tr>
              <a:tr h="230073">
                <a:tc>
                  <a:txBody>
                    <a:bodyPr/>
                    <a:lstStyle/>
                    <a:p>
                      <a:pPr algn="l"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Pontuação</a:t>
                      </a:r>
                      <a:endParaRPr lang="pt-BR" sz="1300" dirty="0"/>
                    </a:p>
                  </a:txBody>
                  <a:tcPr marL="91440" marR="91440" marT="18288" marB="18288" anchor="ctr">
                    <a:lnL w="0">
                      <a:noFill/>
                    </a:lnL>
                    <a:lnR w="0">
                      <a:noFill/>
                    </a:lnR>
                    <a:lnT w="0">
                      <a:noFill/>
                    </a:lnT>
                    <a:lnB w="0">
                      <a:noFill/>
                    </a:lnB>
                    <a:solidFill>
                      <a:srgbClr val="6E9DA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Probabilidade de TEP</a:t>
                      </a:r>
                      <a:endParaRPr lang="pt-BR" sz="1300" dirty="0"/>
                    </a:p>
                  </a:txBody>
                  <a:tcPr marL="91440" marR="91440" marT="18288" marB="18288" anchor="ctr">
                    <a:lnL w="0">
                      <a:noFill/>
                    </a:lnL>
                    <a:lnR w="0">
                      <a:noFill/>
                    </a:lnR>
                    <a:lnT w="0">
                      <a:noFill/>
                    </a:lnT>
                    <a:lnB w="0">
                      <a:noFill/>
                    </a:lnB>
                    <a:solidFill>
                      <a:srgbClr val="6E9DA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Probabilidade pré-teste</a:t>
                      </a:r>
                      <a:endParaRPr lang="pt-BR" sz="1300" dirty="0"/>
                    </a:p>
                  </a:txBody>
                  <a:tcPr marL="91440" marR="91440" marT="18288" marB="18288" anchor="ctr">
                    <a:lnL w="0">
                      <a:noFill/>
                    </a:lnL>
                    <a:lnR w="0">
                      <a:noFill/>
                    </a:lnR>
                    <a:lnT w="0">
                      <a:noFill/>
                    </a:lnT>
                    <a:lnB w="0">
                      <a:noFill/>
                    </a:lnB>
                    <a:solidFill>
                      <a:srgbClr val="6E9DAB"/>
                    </a:solidFill>
                  </a:tcPr>
                </a:tc>
              </a:tr>
              <a:tr h="230073">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&lt; 2</a:t>
                      </a:r>
                      <a:endParaRPr lang="pt-BR" sz="1300" dirty="0"/>
                    </a:p>
                  </a:txBody>
                  <a:tcPr marL="91440" marR="91440" marT="18288" marB="18288"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 a 3%</a:t>
                      </a:r>
                      <a:endParaRPr lang="pt-BR" sz="1300" dirty="0"/>
                    </a:p>
                  </a:txBody>
                  <a:tcPr marL="91440" marR="91440" marT="18288" marB="18288"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Baixa</a:t>
                      </a:r>
                      <a:endParaRPr lang="pt-BR" sz="1300" dirty="0"/>
                    </a:p>
                  </a:txBody>
                  <a:tcPr marL="91440" marR="91440" marT="18288" marB="18288" anchor="ctr">
                    <a:lnL w="0">
                      <a:noFill/>
                    </a:lnL>
                    <a:lnR w="0">
                      <a:noFill/>
                    </a:lnR>
                    <a:lnT w="0">
                      <a:noFill/>
                    </a:lnT>
                    <a:lnB w="12700">
                      <a:solidFill>
                        <a:srgbClr val="E4E6E7"/>
                      </a:solidFill>
                    </a:lnB>
                    <a:solidFill>
                      <a:srgbClr val="FBFCFC"/>
                    </a:solidFill>
                  </a:tcPr>
                </a:tc>
              </a:tr>
              <a:tr h="230073">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2-6</a:t>
                      </a:r>
                      <a:endParaRPr lang="pt-BR" sz="1300" dirty="0"/>
                    </a:p>
                  </a:txBody>
                  <a:tcPr marL="91440" marR="91440" marT="18288" marB="18288"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16 a 28%</a:t>
                      </a:r>
                      <a:endParaRPr lang="pt-BR" sz="1300" dirty="0"/>
                    </a:p>
                  </a:txBody>
                  <a:tcPr marL="91440" marR="91440" marT="18288" marB="18288"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Intermediária</a:t>
                      </a:r>
                      <a:endParaRPr lang="pt-BR" sz="1300" dirty="0"/>
                    </a:p>
                  </a:txBody>
                  <a:tcPr marL="91440" marR="91440" marT="18288" marB="18288" anchor="ctr">
                    <a:lnL w="0">
                      <a:noFill/>
                    </a:lnL>
                    <a:lnR w="0">
                      <a:noFill/>
                    </a:lnR>
                    <a:lnT w="0">
                      <a:noFill/>
                    </a:lnT>
                    <a:lnB w="12700">
                      <a:solidFill>
                        <a:srgbClr val="E4E6E7"/>
                      </a:solidFill>
                    </a:lnB>
                    <a:solidFill>
                      <a:srgbClr val="F2F4F5"/>
                    </a:solidFill>
                  </a:tcPr>
                </a:tc>
              </a:tr>
              <a:tr h="230073">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&gt; 6</a:t>
                      </a:r>
                      <a:endParaRPr lang="pt-BR" sz="1300" dirty="0"/>
                    </a:p>
                  </a:txBody>
                  <a:tcPr marL="91440" marR="91440" marT="18288" marB="18288"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&gt; 40 %</a:t>
                      </a:r>
                      <a:endParaRPr lang="pt-BR" sz="1300" dirty="0"/>
                    </a:p>
                  </a:txBody>
                  <a:tcPr marL="91440" marR="91440" marT="18288" marB="18288"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Alta</a:t>
                      </a:r>
                      <a:endParaRPr lang="pt-BR" sz="1300" dirty="0"/>
                    </a:p>
                  </a:txBody>
                  <a:tcPr marL="91440" marR="91440" marT="18288" marB="18288" anchor="ctr">
                    <a:lnL w="0">
                      <a:noFill/>
                    </a:lnL>
                    <a:lnR w="0">
                      <a:noFill/>
                    </a:lnR>
                    <a:lnT w="0">
                      <a:noFill/>
                    </a:lnT>
                    <a:lnB w="12700">
                      <a:solidFill>
                        <a:srgbClr val="E4E6E7"/>
                      </a:solidFill>
                    </a:lnB>
                    <a:solidFill>
                      <a:srgbClr val="FBFCFC"/>
                    </a:solidFill>
                  </a:tcPr>
                </a:tc>
              </a:tr>
            </a:tbl>
          </a:graphicData>
        </a:graphic>
      </p:graphicFrame>
      <p:sp>
        <p:nvSpPr>
          <p:cNvPr id="10" name="Nota"/>
          <p:cNvSpPr txBox="1"/>
          <p:nvPr/>
        </p:nvSpPr>
        <p:spPr>
          <a:xfrm>
            <a:off x="711403" y="2875993"/>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TVP: trombose venosa profunda; TEP: tromboembolismo pulmonar; bpm: batimentos por minuto.</a:t>
            </a:r>
            <a:endParaRPr lang="pt-BR" sz="1200" dirty="0"/>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Suspeita de Tromboembolismo Pulmonar- Escore de Wells (4/5)</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110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8" name="Legenda"/>
          <p:cNvSpPr txBox="1"/>
          <p:nvPr/>
        </p:nvSpPr>
        <p:spPr>
          <a:xfrm>
            <a:off x="711403" y="1417320"/>
            <a:ext cx="10771632" cy="376616"/>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0" dirty="0">
                <a:solidFill>
                  <a:srgbClr val="4E7C8B"/>
                </a:solidFill>
                <a:latin typeface="Roboto Medium"/>
                <a:ea typeface="Roboto Medium"/>
                <a:cs typeface="Roboto Medium"/>
              </a:rPr>
              <a:t>Tabela 20 – Escore de Wells modificado e probabilidade/risco de tromboembolismo pulmonar, a depender da pontuação</a:t>
            </a:r>
            <a:endParaRPr lang="pt-BR" sz="1200" dirty="0"/>
          </a:p>
        </p:txBody>
      </p:sp>
      <p:graphicFrame>
        <p:nvGraphicFramePr>
          <p:cNvPr id="9" name="Tabela"/>
          <p:cNvGraphicFramePr>
            <a:graphicFrameLocks noGrp="1"/>
          </p:cNvGraphicFramePr>
          <p:nvPr/>
        </p:nvGraphicFramePr>
        <p:xfrm>
          <a:off x="711403" y="1655628"/>
          <a:ext cx="10771632" cy="920292"/>
        </p:xfrm>
        <a:graphic>
          <a:graphicData uri="http://schemas.openxmlformats.org/drawingml/2006/table">
            <a:tbl>
              <a:tblPr firstRow="1"/>
              <a:tblGrid>
                <a:gridCol w="2485761"/>
                <a:gridCol w="3935789"/>
                <a:gridCol w="4350082"/>
              </a:tblGrid>
              <a:tr h="230073">
                <a:tc gridSpan="3">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2 níveis</a:t>
                      </a:r>
                      <a:endParaRPr lang="pt-BR" sz="1300" dirty="0"/>
                    </a:p>
                  </a:txBody>
                  <a:tcPr marL="91440" marR="91440" marT="18288" marB="18288" anchor="ctr">
                    <a:lnL w="0">
                      <a:noFill/>
                    </a:lnL>
                    <a:lnR w="0">
                      <a:noFill/>
                    </a:lnR>
                    <a:lnT w="0">
                      <a:noFill/>
                    </a:lnT>
                    <a:lnB w="0">
                      <a:noFill/>
                    </a:lnB>
                    <a:solidFill>
                      <a:srgbClr val="4E7C8B"/>
                    </a:solidFill>
                  </a:tcPr>
                </a:tc>
                <a:tc hMerge="1">
                  <a:txBody>
                    <a:bodyPr/>
                    <a:lstStyle/>
                    <a:p>
                      <a:endParaRPr lang="pt-BR"/>
                    </a:p>
                  </a:txBody>
                  <a:tcPr/>
                </a:tc>
                <a:tc hMerge="1">
                  <a:txBody>
                    <a:bodyPr/>
                    <a:lstStyle/>
                    <a:p>
                      <a:endParaRPr lang="pt-BR"/>
                    </a:p>
                  </a:txBody>
                  <a:tcPr/>
                </a:tc>
              </a:tr>
              <a:tr h="230073">
                <a:tc>
                  <a:txBody>
                    <a:bodyPr/>
                    <a:lstStyle/>
                    <a:p>
                      <a:pPr algn="l"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Pontuação</a:t>
                      </a:r>
                      <a:endParaRPr lang="pt-BR" sz="1300" dirty="0"/>
                    </a:p>
                  </a:txBody>
                  <a:tcPr marL="91440" marR="91440" marT="18288" marB="18288" anchor="ctr">
                    <a:lnL w="0">
                      <a:noFill/>
                    </a:lnL>
                    <a:lnR w="0">
                      <a:noFill/>
                    </a:lnR>
                    <a:lnT w="0">
                      <a:noFill/>
                    </a:lnT>
                    <a:lnB w="0">
                      <a:noFill/>
                    </a:lnB>
                    <a:solidFill>
                      <a:srgbClr val="6E9DA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Probabilidade de TEP</a:t>
                      </a:r>
                      <a:endParaRPr lang="pt-BR" sz="1300" dirty="0"/>
                    </a:p>
                  </a:txBody>
                  <a:tcPr marL="91440" marR="91440" marT="18288" marB="18288" anchor="ctr">
                    <a:lnL w="0">
                      <a:noFill/>
                    </a:lnL>
                    <a:lnR w="0">
                      <a:noFill/>
                    </a:lnR>
                    <a:lnT w="0">
                      <a:noFill/>
                    </a:lnT>
                    <a:lnB w="0">
                      <a:noFill/>
                    </a:lnB>
                    <a:solidFill>
                      <a:srgbClr val="6E9DA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Probabilidade pré-teste</a:t>
                      </a:r>
                      <a:endParaRPr lang="pt-BR" sz="1300" dirty="0"/>
                    </a:p>
                  </a:txBody>
                  <a:tcPr marL="91440" marR="91440" marT="18288" marB="18288" anchor="ctr">
                    <a:lnL w="0">
                      <a:noFill/>
                    </a:lnL>
                    <a:lnR w="0">
                      <a:noFill/>
                    </a:lnR>
                    <a:lnT w="0">
                      <a:noFill/>
                    </a:lnT>
                    <a:lnB w="0">
                      <a:noFill/>
                    </a:lnB>
                    <a:solidFill>
                      <a:srgbClr val="6E9DAB"/>
                    </a:solidFill>
                  </a:tcPr>
                </a:tc>
              </a:tr>
              <a:tr h="230073">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4</a:t>
                      </a:r>
                      <a:endParaRPr lang="pt-BR" sz="1300" dirty="0"/>
                    </a:p>
                  </a:txBody>
                  <a:tcPr marL="91440" marR="91440" marT="18288" marB="18288"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3%</a:t>
                      </a:r>
                      <a:endParaRPr lang="pt-BR" sz="1300" dirty="0"/>
                    </a:p>
                  </a:txBody>
                  <a:tcPr marL="91440" marR="91440" marT="18288" marB="18288"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Improvável</a:t>
                      </a:r>
                      <a:endParaRPr lang="pt-BR" sz="1300" dirty="0"/>
                    </a:p>
                  </a:txBody>
                  <a:tcPr marL="91440" marR="91440" marT="18288" marB="18288" anchor="ctr">
                    <a:lnL w="0">
                      <a:noFill/>
                    </a:lnL>
                    <a:lnR w="0">
                      <a:noFill/>
                    </a:lnR>
                    <a:lnT w="0">
                      <a:noFill/>
                    </a:lnT>
                    <a:lnB w="12700">
                      <a:solidFill>
                        <a:srgbClr val="E4E6E7"/>
                      </a:solidFill>
                    </a:lnB>
                    <a:solidFill>
                      <a:srgbClr val="FBFCFC"/>
                    </a:solidFill>
                  </a:tcPr>
                </a:tc>
              </a:tr>
              <a:tr h="230073">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&gt; 4</a:t>
                      </a:r>
                      <a:endParaRPr lang="pt-BR" sz="1300" dirty="0"/>
                    </a:p>
                  </a:txBody>
                  <a:tcPr marL="91440" marR="91440" marT="18288" marB="18288"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28 %</a:t>
                      </a:r>
                      <a:endParaRPr lang="pt-BR" sz="1300" dirty="0"/>
                    </a:p>
                  </a:txBody>
                  <a:tcPr marL="91440" marR="91440" marT="18288" marB="18288"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Provável</a:t>
                      </a:r>
                      <a:endParaRPr lang="pt-BR" sz="1300" dirty="0"/>
                    </a:p>
                  </a:txBody>
                  <a:tcPr marL="91440" marR="91440" marT="18288" marB="18288" anchor="ctr">
                    <a:lnL w="0">
                      <a:noFill/>
                    </a:lnL>
                    <a:lnR w="0">
                      <a:noFill/>
                    </a:lnR>
                    <a:lnT w="0">
                      <a:noFill/>
                    </a:lnT>
                    <a:lnB w="12700">
                      <a:solidFill>
                        <a:srgbClr val="E4E6E7"/>
                      </a:solidFill>
                    </a:lnB>
                    <a:solidFill>
                      <a:srgbClr val="F2F4F5"/>
                    </a:solidFill>
                  </a:tcPr>
                </a:tc>
              </a:tr>
            </a:tbl>
          </a:graphicData>
        </a:graphic>
      </p:graphicFrame>
      <p:sp>
        <p:nvSpPr>
          <p:cNvPr id="10" name="Nota"/>
          <p:cNvSpPr txBox="1"/>
          <p:nvPr/>
        </p:nvSpPr>
        <p:spPr>
          <a:xfrm>
            <a:off x="711403" y="2645920"/>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TVP: trombose venosa profunda; TEP: tromboembolismo pulmonar; bpm: batimentos por minuto.</a:t>
            </a:r>
            <a:endParaRPr lang="pt-BR" sz="1200" dirty="0"/>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Suspeita de Tromboembolismo Pulmonar- Escore de Wells (5/5)</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111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11" name="Legenda"/>
          <p:cNvSpPr txBox="1"/>
          <p:nvPr/>
        </p:nvSpPr>
        <p:spPr>
          <a:xfrm>
            <a:off x="711403" y="1417320"/>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0" dirty="0">
                <a:solidFill>
                  <a:srgbClr val="4E7C8B"/>
                </a:solidFill>
                <a:latin typeface="Roboto Medium"/>
                <a:ea typeface="Roboto Medium"/>
                <a:cs typeface="Roboto Medium"/>
              </a:rPr>
              <a:t>Tabela 23 – Estratificação de risco e probabilidade diagnóstica na avaliação de dor torácica na suspeita de tromboembolismo pulmonar</a:t>
            </a:r>
            <a:endParaRPr lang="pt-BR" sz="1200" dirty="0"/>
          </a:p>
        </p:txBody>
      </p:sp>
      <p:graphicFrame>
        <p:nvGraphicFramePr>
          <p:cNvPr id="12" name="Tabela"/>
          <p:cNvGraphicFramePr>
            <a:graphicFrameLocks noGrp="1"/>
          </p:cNvGraphicFramePr>
          <p:nvPr/>
        </p:nvGraphicFramePr>
        <p:xfrm>
          <a:off x="711403" y="1655628"/>
          <a:ext cx="10771632" cy="1270710"/>
        </p:xfrm>
        <a:graphic>
          <a:graphicData uri="http://schemas.openxmlformats.org/drawingml/2006/table">
            <a:tbl>
              <a:tblPr firstRow="1"/>
              <a:tblGrid>
                <a:gridCol w="7771632"/>
                <a:gridCol w="1600000"/>
                <a:gridCol w="1400000"/>
              </a:tblGrid>
              <a:tr h="423570">
                <a:tc>
                  <a:txBody>
                    <a:bodyPr/>
                    <a:lstStyle/>
                    <a:p>
                      <a:pPr algn="l" marL="0" indent="0">
                        <a:lnSpc>
                          <a:spcPct val="100000"/>
                        </a:lnSpc>
                        <a:spcBef>
                          <a:spcPts val="0"/>
                        </a:spcBef>
                        <a:spcAft>
                          <a:spcPts val="0"/>
                        </a:spcAft>
                        <a:buNone/>
                      </a:pPr>
                      <a:endParaRPr lang="pt-BR" sz="1300" dirty="0"/>
                    </a:p>
                  </a:txBody>
                  <a:tcPr marL="91440" marR="91440" marT="18288" marB="18288"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Classe de recomendação</a:t>
                      </a:r>
                      <a:endParaRPr lang="pt-BR" sz="1300" dirty="0"/>
                    </a:p>
                  </a:txBody>
                  <a:tcPr marL="91440" marR="91440" marT="18288" marB="18288"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Nível de evidência</a:t>
                      </a:r>
                      <a:endParaRPr lang="pt-BR" sz="1300" dirty="0"/>
                    </a:p>
                  </a:txBody>
                  <a:tcPr marL="91440" marR="91440" marT="18288" marB="18288" anchor="ctr">
                    <a:lnL w="0">
                      <a:noFill/>
                    </a:lnL>
                    <a:lnR w="0">
                      <a:noFill/>
                    </a:lnR>
                    <a:lnT w="0">
                      <a:noFill/>
                    </a:lnT>
                    <a:lnB w="0">
                      <a:noFill/>
                    </a:lnB>
                    <a:solidFill>
                      <a:srgbClr val="4E7C8B"/>
                    </a:solidFill>
                  </a:tcPr>
                </a:tc>
              </a:tr>
              <a:tr h="423570">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Escore de Wells, Genebra revisado e Genebra simplificado devem ser aplicados em pacientes com suspeita de TEP na avaliação inicial de probabilidade pré-teste, como parte da avaliação inicial.</a:t>
                      </a:r>
                      <a:endParaRPr lang="pt-BR" sz="1300" dirty="0"/>
                    </a:p>
                  </a:txBody>
                  <a:tcPr marL="91440" marR="91440" marT="18288" marB="18288"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18288" marB="18288" anchor="ctr">
                    <a:lnL w="0">
                      <a:noFill/>
                    </a:lnL>
                    <a:lnR w="0">
                      <a:noFill/>
                    </a:lnR>
                    <a:lnT w="0">
                      <a:noFill/>
                    </a:lnT>
                    <a:lnB w="12700">
                      <a:solidFill>
                        <a:srgbClr val="FBFCFC"/>
                      </a:solidFill>
                    </a:lnB>
                    <a:solidFill>
                      <a:srgbClr val="3E8E68"/>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A</a:t>
                      </a:r>
                      <a:endParaRPr lang="pt-BR" sz="1300" dirty="0"/>
                    </a:p>
                  </a:txBody>
                  <a:tcPr marL="91440" marR="91440" marT="18288" marB="18288" anchor="ctr">
                    <a:lnL w="0">
                      <a:noFill/>
                    </a:lnL>
                    <a:lnR w="0">
                      <a:noFill/>
                    </a:lnR>
                    <a:lnT w="0">
                      <a:noFill/>
                    </a:lnT>
                    <a:lnB w="12700">
                      <a:solidFill>
                        <a:srgbClr val="FBFCFC"/>
                      </a:solidFill>
                    </a:lnB>
                    <a:solidFill>
                      <a:srgbClr val="3E8E68"/>
                    </a:solidFill>
                  </a:tcPr>
                </a:tc>
              </a:tr>
              <a:tr h="423570">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Escore PERC pode ser aplicado na avaliação inicial em pacientes com suspeita de TEP com baixa probabilidade pré-teste para protocolo de </a:t>
                      </a:r>
                      <a:r>
                        <a:rPr lang="pt-BR" sz="1300" b="0" i="1" dirty="0">
                          <a:solidFill>
                            <a:srgbClr val="5F6468"/>
                          </a:solidFill>
                          <a:latin typeface="Roboto"/>
                          <a:ea typeface="Roboto"/>
                          <a:cs typeface="Roboto"/>
                        </a:rPr>
                        <a:t>rule out</a:t>
                      </a:r>
                      <a:r>
                        <a:rPr lang="pt-BR" sz="1300" b="0" i="0" dirty="0">
                          <a:solidFill>
                            <a:srgbClr val="5F6468"/>
                          </a:solidFill>
                          <a:latin typeface="Roboto"/>
                          <a:ea typeface="Roboto"/>
                          <a:cs typeface="Roboto"/>
                        </a:rPr>
                        <a:t>.</a:t>
                      </a:r>
                      <a:endParaRPr lang="pt-BR" sz="1300" dirty="0"/>
                    </a:p>
                  </a:txBody>
                  <a:tcPr marL="91440" marR="91440" marT="18288" marB="18288"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IIa</a:t>
                      </a:r>
                      <a:endParaRPr lang="pt-BR" sz="1300" dirty="0"/>
                    </a:p>
                  </a:txBody>
                  <a:tcPr marL="91440" marR="91440" marT="18288" marB="18288" anchor="ctr">
                    <a:lnL w="0">
                      <a:noFill/>
                    </a:lnL>
                    <a:lnR w="0">
                      <a:noFill/>
                    </a:lnR>
                    <a:lnT w="0">
                      <a:noFill/>
                    </a:lnT>
                    <a:lnB w="12700">
                      <a:solidFill>
                        <a:srgbClr val="FBFCFC"/>
                      </a:solidFill>
                    </a:lnB>
                    <a:solidFill>
                      <a:srgbClr val="C98A2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B</a:t>
                      </a:r>
                      <a:endParaRPr lang="pt-BR" sz="1300" dirty="0"/>
                    </a:p>
                  </a:txBody>
                  <a:tcPr marL="91440" marR="91440" marT="18288" marB="18288" anchor="ctr">
                    <a:lnL w="0">
                      <a:noFill/>
                    </a:lnL>
                    <a:lnR w="0">
                      <a:noFill/>
                    </a:lnR>
                    <a:lnT w="0">
                      <a:noFill/>
                    </a:lnT>
                    <a:lnB w="12700">
                      <a:solidFill>
                        <a:srgbClr val="FBFCFC"/>
                      </a:solidFill>
                    </a:lnB>
                    <a:solidFill>
                      <a:srgbClr val="C98A2B"/>
                    </a:solidFill>
                  </a:tcPr>
                </a:tc>
              </a:tr>
            </a:tbl>
          </a:graphicData>
        </a:graphic>
      </p:graphicFrame>
      <p:sp>
        <p:nvSpPr>
          <p:cNvPr id="13" name="Nota"/>
          <p:cNvSpPr txBox="1"/>
          <p:nvPr/>
        </p:nvSpPr>
        <p:spPr>
          <a:xfrm>
            <a:off x="711403" y="2996338"/>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TEP: tromboembolismo pulmonar; PERC: pulmonary embolism rule-out criteria.</a:t>
            </a:r>
            <a:endParaRPr lang="pt-BR" sz="1200" dirty="0"/>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Investigação não invasiva – Sem DAC conhecida (2/2)</a:t>
            </a:r>
            <a:endParaRPr lang="pt-BR" dirty="0" sz="3200"/>
          </a:p>
        </p:txBody>
      </p:sp>
      <p:sp>
        <p:nvSpPr>
          <p:cNvPr id="25" name="Nota"/>
          <p:cNvSpPr txBox="1"/>
          <p:nvPr/>
        </p:nvSpPr>
        <p:spPr>
          <a:xfrm>
            <a:off x="711403" y="4846320"/>
            <a:ext cx="10771632" cy="240000"/>
          </a:xfrm>
          <a:prstGeom prst="rect">
            <a:avLst/>
          </a:prstGeom>
          <a:noFill/>
        </p:spPr>
        <p:txBody>
          <a:bodyPr wrap="square" lIns="0" rIns="0" tIns="0" bIns="0" anchor="t">
            <a:spAutoFit/>
          </a:bodyPr>
          <a:lstStyle/>
          <a:p>
            <a:pPr algn="l"/>
            <a:r>
              <a:rPr sz="1200" b="0" i="0">
                <a:solidFill>
                  <a:srgbClr val="3B3F42"/>
                </a:solidFill>
                <a:latin typeface="Roboto Medium"/>
                <a:ea typeface="Roboto Medium"/>
                <a:cs typeface="Roboto Medium"/>
              </a:rPr>
              <a:t>*Escolha do teste deve ser guiada pela disponibilidade e expertise.</a:t>
            </a:r>
          </a:p>
        </p:txBody>
      </p:sp>
      <p:sp>
        <p:nvSpPr>
          <p:cNvPr id="26" name="Legenda"/>
          <p:cNvSpPr txBox="1"/>
          <p:nvPr/>
        </p:nvSpPr>
        <p:spPr>
          <a:xfrm>
            <a:off x="711403" y="5230368"/>
            <a:ext cx="10771632" cy="800000"/>
          </a:xfrm>
          <a:prstGeom prst="rect">
            <a:avLst/>
          </a:prstGeom>
          <a:noFill/>
        </p:spPr>
        <p:txBody>
          <a:bodyPr wrap="square" lIns="0" rIns="0" tIns="0" bIns="0" anchor="t">
            <a:spAutoFit/>
          </a:bodyPr>
          <a:lstStyle/>
          <a:p>
            <a:pPr algn="l">
              <a:lnSpc>
                <a:spcPct val="115000"/>
              </a:lnSpc>
            </a:pPr>
            <a:r>
              <a:rPr sz="1200" b="0" i="0">
                <a:solidFill>
                  <a:srgbClr val="4E7C8B"/>
                </a:solidFill>
                <a:latin typeface="Roboto Medium"/>
                <a:ea typeface="Roboto Medium"/>
                <a:cs typeface="Roboto Medium"/>
              </a:rPr>
              <a:t>Figura 13 – </a:t>
            </a:r>
            <a:r>
              <a:rPr sz="1200" b="0" i="1">
                <a:solidFill>
                  <a:srgbClr val="737A7F"/>
                </a:solidFill>
                <a:latin typeface="Roboto"/>
                <a:ea typeface="Roboto"/>
                <a:cs typeface="Roboto"/>
              </a:rPr>
              <a:t>Fluxograma de investigação não invasiva em paciente sem doença arterial coronariana conhecida. SCA: síndrome coronariana aguda; DAC: doença arterial coronariana; CATE: cateterismo cardíaco; PET: tomografia por emissão de pósitrons; SPECT: tomografia computadorizada por emissão de fóton único; Angio-TC: angiotomografia coronária por tomografia computadorizada; VPN: valor preditivo negativo.</a:t>
            </a: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84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Rótulo"/>
          <p:cNvSpPr txBox="1"/>
          <p:nvPr/>
        </p:nvSpPr>
        <p:spPr>
          <a:xfrm>
            <a:off x="2485339" y="1554480"/>
            <a:ext cx="5486400" cy="201168"/>
          </a:xfrm>
          <a:prstGeom prst="rect">
            <a:avLst/>
          </a:prstGeom>
          <a:noFill/>
        </p:spPr>
        <p:txBody>
          <a:bodyPr wrap="square" lIns="0" rIns="0" tIns="0" bIns="0" anchor="t">
            <a:noAutofit/>
          </a:bodyPr>
          <a:lstStyle/>
          <a:p>
            <a:pPr algn="l"/>
            <a:r>
              <a:rPr lang="pt-BR" sz="1200" b="0" i="0" dirty="0">
                <a:solidFill>
                  <a:srgbClr val="737A7F"/>
                </a:solidFill>
                <a:latin typeface="Roboto"/>
                <a:ea typeface="Roboto"/>
                <a:cs typeface="Roboto"/>
              </a:rPr>
              <a:t>Teste prévio: Sim</a:t>
            </a:r>
          </a:p>
        </p:txBody>
      </p:sp>
      <p:sp>
        <p:nvSpPr>
          <p:cNvPr id="302" name="Etapa"/>
          <p:cNvSpPr/>
          <p:nvPr/>
        </p:nvSpPr>
        <p:spPr>
          <a:xfrm>
            <a:off x="2485339" y="1938528"/>
            <a:ext cx="4023360" cy="603504"/>
          </a:xfrm>
          <a:prstGeom prst="rect">
            <a:avLst/>
          </a:prstGeom>
          <a:solidFill>
            <a:srgbClr val="F2F4F5"/>
          </a:solidFill>
          <a:ln w="12700">
            <a:solidFill>
              <a:srgbClr val="6E9DAB"/>
            </a:solidFill>
          </a:ln>
          <a:effectLst/>
        </p:spPr>
        <p:txBody>
          <a:bodyPr rtlCol="0" anchor="ctr" wrap="square" lIns="91440" rIns="91440" tIns="45720" bIns="45720"/>
          <a:lstStyle/>
          <a:p>
            <a:pPr algn="ctr"/>
            <a:r>
              <a:rPr lang="pt-BR" sz="1300" b="0" i="0" dirty="0">
                <a:solidFill>
                  <a:srgbClr val="3B3F42"/>
                </a:solidFill>
                <a:latin typeface="Roboto Medium"/>
                <a:ea typeface="Roboto Medium"/>
                <a:cs typeface="Roboto Medium"/>
              </a:rPr>
              <a:t>Negativo e recente</a:t>
            </a:r>
          </a:p>
        </p:txBody>
      </p:sp>
      <p:sp>
        <p:nvSpPr>
          <p:cNvPr id="303" name="Fim/Início"/>
          <p:cNvSpPr/>
          <p:nvPr/>
        </p:nvSpPr>
        <p:spPr>
          <a:xfrm>
            <a:off x="7148779" y="1938528"/>
            <a:ext cx="2560320" cy="603504"/>
          </a:xfrm>
          <a:prstGeom prst="roundRect">
            <a:avLst>
              <a:gd name="adj" fmla="val 50000"/>
            </a:avLst>
          </a:prstGeom>
          <a:solidFill>
            <a:srgbClr val="4E7C8B"/>
          </a:solidFill>
          <a:ln>
            <a:noFill/>
          </a:ln>
          <a:effectLst/>
        </p:spPr>
        <p:txBody>
          <a:bodyPr rtlCol="0" anchor="ctr" wrap="square" lIns="91440" rIns="91440" tIns="45720" bIns="45720"/>
          <a:lstStyle/>
          <a:p>
            <a:pPr algn="ctr"/>
            <a:r>
              <a:rPr lang="pt-BR" sz="1300" b="0" i="0" dirty="0">
                <a:solidFill>
                  <a:srgbClr val="FBFCFC"/>
                </a:solidFill>
                <a:latin typeface="Roboto Medium"/>
                <a:ea typeface="Roboto Medium"/>
                <a:cs typeface="Roboto Medium"/>
              </a:rPr>
              <a:t>Considerar Alta</a:t>
            </a:r>
          </a:p>
        </p:txBody>
      </p:sp>
      <p:sp>
        <p:nvSpPr>
          <p:cNvPr id="304" name="Seta"/>
          <p:cNvSpPr/>
          <p:nvPr/>
        </p:nvSpPr>
        <p:spPr>
          <a:xfrm>
            <a:off x="6508699" y="2240280"/>
            <a:ext cx="640080" cy="1"/>
          </a:xfrm>
          <a:custGeom>
            <a:avLst/>
            <a:gdLst/>
            <a:ahLst/>
            <a:cxnLst/>
            <a:rect l="0" t="0" r="r" b="b"/>
            <a:pathLst>
              <a:path w="640080" h="1" fill="none">
                <a:moveTo>
                  <a:pt x="0" y="0"/>
                </a:moveTo>
                <a:lnTo>
                  <a:pt x="640080" y="0"/>
                </a:lnTo>
              </a:path>
            </a:pathLst>
          </a:custGeom>
          <a:noFill/>
          <a:ln w="19050">
            <a:solidFill>
              <a:srgbClr val="6B6E70"/>
            </a:solidFill>
            <a:round/>
            <a:tailEnd type="triangle" w="med" len="med"/>
          </a:ln>
          <a:effectLst/>
        </p:spPr>
      </p:sp>
      <p:sp>
        <p:nvSpPr>
          <p:cNvPr id="305" name="Etapa"/>
          <p:cNvSpPr/>
          <p:nvPr/>
        </p:nvSpPr>
        <p:spPr>
          <a:xfrm>
            <a:off x="2485339" y="2898648"/>
            <a:ext cx="4023360" cy="603504"/>
          </a:xfrm>
          <a:prstGeom prst="rect">
            <a:avLst/>
          </a:prstGeom>
          <a:solidFill>
            <a:srgbClr val="F2F4F5"/>
          </a:solidFill>
          <a:ln w="12700">
            <a:solidFill>
              <a:srgbClr val="6E9DAB"/>
            </a:solidFill>
          </a:ln>
          <a:effectLst/>
        </p:spPr>
        <p:txBody>
          <a:bodyPr rtlCol="0" anchor="ctr" wrap="square" lIns="91440" rIns="91440" tIns="45720" bIns="45720"/>
          <a:lstStyle/>
          <a:p>
            <a:pPr algn="ctr"/>
            <a:r>
              <a:rPr lang="pt-BR" sz="1300" b="0" i="0" dirty="0">
                <a:solidFill>
                  <a:srgbClr val="3B3F42"/>
                </a:solidFill>
                <a:latin typeface="Roboto Medium"/>
                <a:ea typeface="Roboto Medium"/>
                <a:cs typeface="Roboto Medium"/>
              </a:rPr>
              <a:t>Estresse inconclusivo</a:t>
            </a:r>
          </a:p>
        </p:txBody>
      </p:sp>
      <p:sp>
        <p:nvSpPr>
          <p:cNvPr id="306" name="Fim/Início"/>
          <p:cNvSpPr/>
          <p:nvPr/>
        </p:nvSpPr>
        <p:spPr>
          <a:xfrm>
            <a:off x="7148779" y="2898648"/>
            <a:ext cx="2560320" cy="603504"/>
          </a:xfrm>
          <a:prstGeom prst="roundRect">
            <a:avLst>
              <a:gd name="adj" fmla="val 50000"/>
            </a:avLst>
          </a:prstGeom>
          <a:solidFill>
            <a:srgbClr val="4E7C8B"/>
          </a:solidFill>
          <a:ln>
            <a:noFill/>
          </a:ln>
          <a:effectLst/>
        </p:spPr>
        <p:txBody>
          <a:bodyPr rtlCol="0" anchor="ctr" wrap="square" lIns="91440" rIns="91440" tIns="45720" bIns="45720"/>
          <a:lstStyle/>
          <a:p>
            <a:pPr algn="ctr"/>
            <a:r>
              <a:rPr lang="pt-BR" sz="1300" b="0" i="0" dirty="0">
                <a:solidFill>
                  <a:srgbClr val="FBFCFC"/>
                </a:solidFill>
                <a:latin typeface="Roboto Medium"/>
                <a:ea typeface="Roboto Medium"/>
                <a:cs typeface="Roboto Medium"/>
              </a:rPr>
              <a:t>Angio-TC</a:t>
            </a:r>
          </a:p>
        </p:txBody>
      </p:sp>
      <p:sp>
        <p:nvSpPr>
          <p:cNvPr id="307" name="Seta"/>
          <p:cNvSpPr/>
          <p:nvPr/>
        </p:nvSpPr>
        <p:spPr>
          <a:xfrm>
            <a:off x="6508699" y="3200400"/>
            <a:ext cx="640080" cy="1"/>
          </a:xfrm>
          <a:custGeom>
            <a:avLst/>
            <a:gdLst/>
            <a:ahLst/>
            <a:cxnLst/>
            <a:rect l="0" t="0" r="r" b="b"/>
            <a:pathLst>
              <a:path w="640080" h="1" fill="none">
                <a:moveTo>
                  <a:pt x="0" y="0"/>
                </a:moveTo>
                <a:lnTo>
                  <a:pt x="640080" y="0"/>
                </a:lnTo>
              </a:path>
            </a:pathLst>
          </a:custGeom>
          <a:noFill/>
          <a:ln w="19050">
            <a:solidFill>
              <a:srgbClr val="6B6E70"/>
            </a:solidFill>
            <a:round/>
            <a:tailEnd type="triangle" w="med" len="med"/>
          </a:ln>
          <a:effectLst/>
        </p:spPr>
      </p:sp>
      <p:sp>
        <p:nvSpPr>
          <p:cNvPr id="308" name="Etapa"/>
          <p:cNvSpPr/>
          <p:nvPr/>
        </p:nvSpPr>
        <p:spPr>
          <a:xfrm>
            <a:off x="2485339" y="3858768"/>
            <a:ext cx="4023360" cy="603504"/>
          </a:xfrm>
          <a:prstGeom prst="rect">
            <a:avLst/>
          </a:prstGeom>
          <a:solidFill>
            <a:srgbClr val="F2F4F5"/>
          </a:solidFill>
          <a:ln w="12700">
            <a:solidFill>
              <a:srgbClr val="6E9DAB"/>
            </a:solidFill>
          </a:ln>
          <a:effectLst/>
        </p:spPr>
        <p:txBody>
          <a:bodyPr rtlCol="0" anchor="ctr" wrap="square" lIns="91440" rIns="91440" tIns="45720" bIns="45720"/>
          <a:lstStyle/>
          <a:p>
            <a:pPr algn="ctr"/>
            <a:r>
              <a:rPr lang="pt-BR" sz="1300" b="0" i="0" dirty="0">
                <a:solidFill>
                  <a:srgbClr val="3B3F42"/>
                </a:solidFill>
                <a:latin typeface="Roboto Medium"/>
                <a:ea typeface="Roboto Medium"/>
                <a:cs typeface="Roboto Medium"/>
              </a:rPr>
              <a:t>Isquemia moderada/importante</a:t>
            </a:r>
          </a:p>
        </p:txBody>
      </p:sp>
      <p:sp>
        <p:nvSpPr>
          <p:cNvPr id="309" name="Fim/Início"/>
          <p:cNvSpPr/>
          <p:nvPr/>
        </p:nvSpPr>
        <p:spPr>
          <a:xfrm>
            <a:off x="7148779" y="3858768"/>
            <a:ext cx="2560320" cy="603504"/>
          </a:xfrm>
          <a:prstGeom prst="roundRect">
            <a:avLst>
              <a:gd name="adj" fmla="val 50000"/>
            </a:avLst>
          </a:prstGeom>
          <a:solidFill>
            <a:srgbClr val="4E7C8B"/>
          </a:solidFill>
          <a:ln>
            <a:noFill/>
          </a:ln>
          <a:effectLst/>
        </p:spPr>
        <p:txBody>
          <a:bodyPr rtlCol="0" anchor="ctr" wrap="square" lIns="91440" rIns="91440" tIns="45720" bIns="45720"/>
          <a:lstStyle/>
          <a:p>
            <a:pPr algn="ctr"/>
            <a:r>
              <a:rPr lang="pt-BR" sz="1300" b="0" i="0" dirty="0">
                <a:solidFill>
                  <a:srgbClr val="FBFCFC"/>
                </a:solidFill>
                <a:latin typeface="Roboto Medium"/>
                <a:ea typeface="Roboto Medium"/>
                <a:cs typeface="Roboto Medium"/>
              </a:rPr>
              <a:t>CATE</a:t>
            </a:r>
          </a:p>
        </p:txBody>
      </p:sp>
      <p:sp>
        <p:nvSpPr>
          <p:cNvPr id="310" name="Seta"/>
          <p:cNvSpPr/>
          <p:nvPr/>
        </p:nvSpPr>
        <p:spPr>
          <a:xfrm>
            <a:off x="6508699" y="4160520"/>
            <a:ext cx="640080" cy="1"/>
          </a:xfrm>
          <a:custGeom>
            <a:avLst/>
            <a:gdLst/>
            <a:ahLst/>
            <a:cxnLst/>
            <a:rect l="0" t="0" r="r" b="b"/>
            <a:pathLst>
              <a:path w="640080" h="1" fill="none">
                <a:moveTo>
                  <a:pt x="0" y="0"/>
                </a:moveTo>
                <a:lnTo>
                  <a:pt x="640080" y="0"/>
                </a:lnTo>
              </a:path>
            </a:pathLst>
          </a:custGeom>
          <a:noFill/>
          <a:ln w="19050">
            <a:solidFill>
              <a:srgbClr val="6B6E70"/>
            </a:solidFill>
            <a:round/>
            <a:tailEnd type="triangle" w="med" len="med"/>
          </a:ln>
          <a:effectLst/>
        </p:spPr>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Investigação não invasiva – DAC conhecida (2/2)</a:t>
            </a:r>
            <a:endParaRPr lang="pt-BR" dirty="0" sz="3200"/>
          </a:p>
        </p:txBody>
      </p:sp>
      <p:sp>
        <p:nvSpPr>
          <p:cNvPr id="21" name="Nota"/>
          <p:cNvSpPr txBox="1"/>
          <p:nvPr/>
        </p:nvSpPr>
        <p:spPr>
          <a:xfrm>
            <a:off x="711403" y="4846320"/>
            <a:ext cx="10771632" cy="240000"/>
          </a:xfrm>
          <a:prstGeom prst="rect">
            <a:avLst/>
          </a:prstGeom>
          <a:noFill/>
        </p:spPr>
        <p:txBody>
          <a:bodyPr wrap="square" lIns="0" rIns="0" tIns="0" bIns="0" anchor="t">
            <a:spAutoFit/>
          </a:bodyPr>
          <a:lstStyle/>
          <a:p>
            <a:pPr algn="l"/>
            <a:r>
              <a:rPr sz="1200" b="0" i="0">
                <a:solidFill>
                  <a:srgbClr val="3B3F42"/>
                </a:solidFill>
                <a:latin typeface="Roboto Medium"/>
                <a:ea typeface="Roboto Medium"/>
                <a:cs typeface="Roboto Medium"/>
              </a:rPr>
              <a:t>*Escolha do teste deve ser guiada pela disponibilidade e expertise.</a:t>
            </a:r>
          </a:p>
        </p:txBody>
      </p:sp>
      <p:sp>
        <p:nvSpPr>
          <p:cNvPr id="22" name="Legenda"/>
          <p:cNvSpPr txBox="1"/>
          <p:nvPr/>
        </p:nvSpPr>
        <p:spPr>
          <a:xfrm>
            <a:off x="711403" y="5230368"/>
            <a:ext cx="10771632" cy="900000"/>
          </a:xfrm>
          <a:prstGeom prst="rect">
            <a:avLst/>
          </a:prstGeom>
          <a:noFill/>
        </p:spPr>
        <p:txBody>
          <a:bodyPr wrap="square" lIns="0" rIns="0" tIns="0" bIns="0" anchor="t">
            <a:spAutoFit/>
          </a:bodyPr>
          <a:lstStyle/>
          <a:p>
            <a:pPr algn="l">
              <a:lnSpc>
                <a:spcPct val="115000"/>
              </a:lnSpc>
            </a:pPr>
            <a:r>
              <a:rPr sz="1200" b="0" i="0">
                <a:solidFill>
                  <a:srgbClr val="4E7C8B"/>
                </a:solidFill>
                <a:latin typeface="Roboto Medium"/>
                <a:ea typeface="Roboto Medium"/>
                <a:cs typeface="Roboto Medium"/>
              </a:rPr>
              <a:t>Figura 14 – </a:t>
            </a:r>
            <a:r>
              <a:rPr sz="1200" b="0" i="1">
                <a:solidFill>
                  <a:srgbClr val="737A7F"/>
                </a:solidFill>
                <a:latin typeface="Roboto"/>
                <a:ea typeface="Roboto"/>
                <a:cs typeface="Roboto"/>
              </a:rPr>
              <a:t>Fluxograma de investigação não invasiva em paciente com doença arterial coronariana conhecida. DAC: doença arterial coronariana; CATE: cateterismo cardíaco; ICP: intervenção coronariana percutânea; CRM: cirurgia de revascularização do miocárdio; Angio-TC: angiotomografia coronária por tomografia computadorizada; TCE: tronco da coronária esquerda; FFR-CT: reserva de fluxo fracionada obtida por tomografia computadorizada.</a:t>
            </a: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87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Rótulo"/>
          <p:cNvSpPr txBox="1"/>
          <p:nvPr/>
        </p:nvSpPr>
        <p:spPr>
          <a:xfrm>
            <a:off x="2485339" y="1554480"/>
            <a:ext cx="5486400" cy="201168"/>
          </a:xfrm>
          <a:prstGeom prst="rect">
            <a:avLst/>
          </a:prstGeom>
          <a:noFill/>
        </p:spPr>
        <p:txBody>
          <a:bodyPr wrap="square" lIns="0" rIns="0" tIns="0" bIns="0" anchor="t">
            <a:noAutofit/>
          </a:bodyPr>
          <a:lstStyle/>
          <a:p>
            <a:pPr algn="l"/>
            <a:r>
              <a:rPr lang="pt-BR" sz="1200" b="0" i="0" dirty="0">
                <a:solidFill>
                  <a:srgbClr val="737A7F"/>
                </a:solidFill>
                <a:latin typeface="Roboto"/>
                <a:ea typeface="Roboto"/>
                <a:cs typeface="Roboto"/>
              </a:rPr>
              <a:t>Obstrutiva: Sim</a:t>
            </a:r>
          </a:p>
        </p:txBody>
      </p:sp>
      <p:sp>
        <p:nvSpPr>
          <p:cNvPr id="302" name="Etapa"/>
          <p:cNvSpPr/>
          <p:nvPr/>
        </p:nvSpPr>
        <p:spPr>
          <a:xfrm>
            <a:off x="2485339" y="2167128"/>
            <a:ext cx="4023360" cy="603504"/>
          </a:xfrm>
          <a:prstGeom prst="rect">
            <a:avLst/>
          </a:prstGeom>
          <a:solidFill>
            <a:srgbClr val="F2F4F5"/>
          </a:solidFill>
          <a:ln w="12700">
            <a:solidFill>
              <a:srgbClr val="6E9DAB"/>
            </a:solidFill>
          </a:ln>
          <a:effectLst/>
        </p:spPr>
        <p:txBody>
          <a:bodyPr rtlCol="0" anchor="ctr" wrap="square" lIns="91440" rIns="91440" tIns="45720" bIns="45720"/>
          <a:lstStyle/>
          <a:p>
            <a:pPr algn="ctr"/>
            <a:r>
              <a:rPr lang="pt-BR" sz="1300" b="0" i="0" dirty="0">
                <a:solidFill>
                  <a:srgbClr val="3B3F42"/>
                </a:solidFill>
                <a:latin typeface="Roboto Medium"/>
                <a:ea typeface="Roboto Medium"/>
                <a:cs typeface="Roboto Medium"/>
              </a:rPr>
              <a:t>Alto risco</a:t>
            </a:r>
          </a:p>
        </p:txBody>
      </p:sp>
      <p:sp>
        <p:nvSpPr>
          <p:cNvPr id="303" name="Fim/Início"/>
          <p:cNvSpPr/>
          <p:nvPr/>
        </p:nvSpPr>
        <p:spPr>
          <a:xfrm>
            <a:off x="7148779" y="2167128"/>
            <a:ext cx="2560320" cy="603504"/>
          </a:xfrm>
          <a:prstGeom prst="roundRect">
            <a:avLst>
              <a:gd name="adj" fmla="val 50000"/>
            </a:avLst>
          </a:prstGeom>
          <a:solidFill>
            <a:srgbClr val="4E7C8B"/>
          </a:solidFill>
          <a:ln>
            <a:noFill/>
          </a:ln>
          <a:effectLst/>
        </p:spPr>
        <p:txBody>
          <a:bodyPr rtlCol="0" anchor="ctr" wrap="square" lIns="91440" rIns="91440" tIns="45720" bIns="45720"/>
          <a:lstStyle/>
          <a:p>
            <a:pPr algn="ctr"/>
            <a:r>
              <a:rPr lang="pt-BR" sz="1300" b="0" i="0" dirty="0">
                <a:solidFill>
                  <a:srgbClr val="FBFCFC"/>
                </a:solidFill>
                <a:latin typeface="Roboto Medium"/>
                <a:ea typeface="Roboto Medium"/>
                <a:cs typeface="Roboto Medium"/>
              </a:rPr>
              <a:t>CATE</a:t>
            </a:r>
          </a:p>
        </p:txBody>
      </p:sp>
      <p:sp>
        <p:nvSpPr>
          <p:cNvPr id="304" name="Seta"/>
          <p:cNvSpPr/>
          <p:nvPr/>
        </p:nvSpPr>
        <p:spPr>
          <a:xfrm>
            <a:off x="6508699" y="2468880"/>
            <a:ext cx="640080" cy="1"/>
          </a:xfrm>
          <a:custGeom>
            <a:avLst/>
            <a:gdLst/>
            <a:ahLst/>
            <a:cxnLst/>
            <a:rect l="0" t="0" r="r" b="b"/>
            <a:pathLst>
              <a:path w="640080" h="1" fill="none">
                <a:moveTo>
                  <a:pt x="0" y="0"/>
                </a:moveTo>
                <a:lnTo>
                  <a:pt x="640080" y="0"/>
                </a:lnTo>
              </a:path>
            </a:pathLst>
          </a:custGeom>
          <a:noFill/>
          <a:ln w="19050">
            <a:solidFill>
              <a:srgbClr val="6B6E70"/>
            </a:solidFill>
            <a:round/>
            <a:tailEnd type="triangle" w="med" len="med"/>
          </a:ln>
          <a:effectLst/>
        </p:spPr>
      </p:sp>
      <p:sp>
        <p:nvSpPr>
          <p:cNvPr id="305" name="Etapa"/>
          <p:cNvSpPr/>
          <p:nvPr/>
        </p:nvSpPr>
        <p:spPr>
          <a:xfrm>
            <a:off x="2485339" y="3127248"/>
            <a:ext cx="4023360" cy="603504"/>
          </a:xfrm>
          <a:prstGeom prst="rect">
            <a:avLst/>
          </a:prstGeom>
          <a:solidFill>
            <a:srgbClr val="F2F4F5"/>
          </a:solidFill>
          <a:ln w="12700">
            <a:solidFill>
              <a:srgbClr val="6E9DAB"/>
            </a:solidFill>
          </a:ln>
          <a:effectLst/>
        </p:spPr>
        <p:txBody>
          <a:bodyPr rtlCol="0" anchor="ctr" wrap="square" lIns="91440" rIns="91440" tIns="45720" bIns="45720"/>
          <a:lstStyle/>
          <a:p>
            <a:pPr algn="ctr"/>
            <a:r>
              <a:rPr lang="pt-BR" sz="1300" b="0" i="0" dirty="0">
                <a:solidFill>
                  <a:srgbClr val="3B3F42"/>
                </a:solidFill>
                <a:latin typeface="Roboto Medium"/>
                <a:ea typeface="Roboto Medium"/>
                <a:cs typeface="Roboto Medium"/>
              </a:rPr>
              <a:t>Sem alto risco</a:t>
            </a:r>
          </a:p>
        </p:txBody>
      </p:sp>
      <p:sp>
        <p:nvSpPr>
          <p:cNvPr id="306" name="Fim/Início"/>
          <p:cNvSpPr/>
          <p:nvPr/>
        </p:nvSpPr>
        <p:spPr>
          <a:xfrm>
            <a:off x="7148779" y="3127248"/>
            <a:ext cx="2560320" cy="603504"/>
          </a:xfrm>
          <a:prstGeom prst="roundRect">
            <a:avLst>
              <a:gd name="adj" fmla="val 50000"/>
            </a:avLst>
          </a:prstGeom>
          <a:solidFill>
            <a:srgbClr val="4E7C8B"/>
          </a:solidFill>
          <a:ln>
            <a:noFill/>
          </a:ln>
          <a:effectLst/>
        </p:spPr>
        <p:txBody>
          <a:bodyPr rtlCol="0" anchor="ctr" wrap="square" lIns="91440" rIns="91440" tIns="45720" bIns="45720"/>
          <a:lstStyle/>
          <a:p>
            <a:pPr algn="ctr"/>
            <a:r>
              <a:rPr lang="pt-BR" sz="1300" b="0" i="0" dirty="0">
                <a:solidFill>
                  <a:srgbClr val="FBFCFC"/>
                </a:solidFill>
                <a:latin typeface="Roboto Medium"/>
                <a:ea typeface="Roboto Medium"/>
                <a:cs typeface="Roboto Medium"/>
              </a:rPr>
              <a:t>Estresse (preferência)*</a:t>
            </a:r>
          </a:p>
        </p:txBody>
      </p:sp>
      <p:sp>
        <p:nvSpPr>
          <p:cNvPr id="307" name="Seta"/>
          <p:cNvSpPr/>
          <p:nvPr/>
        </p:nvSpPr>
        <p:spPr>
          <a:xfrm>
            <a:off x="6508699" y="3429000"/>
            <a:ext cx="640080" cy="1"/>
          </a:xfrm>
          <a:custGeom>
            <a:avLst/>
            <a:gdLst/>
            <a:ahLst/>
            <a:cxnLst/>
            <a:rect l="0" t="0" r="r" b="b"/>
            <a:pathLst>
              <a:path w="640080" h="1" fill="none">
                <a:moveTo>
                  <a:pt x="0" y="0"/>
                </a:moveTo>
                <a:lnTo>
                  <a:pt x="640080" y="0"/>
                </a:lnTo>
              </a:path>
            </a:pathLst>
          </a:custGeom>
          <a:noFill/>
          <a:ln w="19050">
            <a:solidFill>
              <a:srgbClr val="6B6E70"/>
            </a:solidFill>
            <a:round/>
            <a:tailEnd type="triangle" w="med" len="med"/>
          </a:ln>
          <a:effectLst/>
        </p:spPr>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Diagnóstico – IAM com coronariografia normal (2/2)</a:t>
            </a:r>
            <a:endParaRPr lang="pt-BR" dirty="0" sz="3200"/>
          </a:p>
        </p:txBody>
      </p:sp>
      <p:sp>
        <p:nvSpPr>
          <p:cNvPr id="23" name="Legenda"/>
          <p:cNvSpPr txBox="1"/>
          <p:nvPr/>
        </p:nvSpPr>
        <p:spPr>
          <a:xfrm>
            <a:off x="711403" y="5029200"/>
            <a:ext cx="10771632" cy="420000"/>
          </a:xfrm>
          <a:prstGeom prst="rect">
            <a:avLst/>
          </a:prstGeom>
          <a:noFill/>
        </p:spPr>
        <p:txBody>
          <a:bodyPr wrap="square" lIns="0" rIns="0" tIns="0" bIns="0" anchor="t">
            <a:spAutoFit/>
          </a:bodyPr>
          <a:lstStyle/>
          <a:p>
            <a:pPr algn="l">
              <a:lnSpc>
                <a:spcPct val="110000"/>
              </a:lnSpc>
            </a:pPr>
            <a:r>
              <a:rPr sz="1200" b="0" i="0">
                <a:solidFill>
                  <a:srgbClr val="4E7C8B"/>
                </a:solidFill>
                <a:latin typeface="Roboto Medium"/>
                <a:ea typeface="Roboto Medium"/>
                <a:cs typeface="Roboto Medium"/>
              </a:rPr>
              <a:t>Figura 15 – </a:t>
            </a:r>
            <a:r>
              <a:rPr sz="1200" b="0" i="1">
                <a:solidFill>
                  <a:srgbClr val="737A7F"/>
                </a:solidFill>
                <a:latin typeface="Roboto"/>
                <a:ea typeface="Roboto"/>
                <a:cs typeface="Roboto"/>
              </a:rPr>
              <a:t>Fluxograma de diagnóstico em casos de infarto agudo do miocárdio com coronariografia normal. TEP: tromboembolismo pulmonar; DAC: doença arterial coronariana; RM: ressonância magnética; IVUS: ultrassonografia intravascular; OCT: tomografia de coerência óptica.</a:t>
            </a: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90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Fim/Início"/>
          <p:cNvSpPr/>
          <p:nvPr/>
        </p:nvSpPr>
        <p:spPr>
          <a:xfrm>
            <a:off x="4542739" y="1463040"/>
            <a:ext cx="3108960" cy="603504"/>
          </a:xfrm>
          <a:prstGeom prst="roundRect">
            <a:avLst>
              <a:gd name="adj" fmla="val 50000"/>
            </a:avLst>
          </a:prstGeom>
          <a:solidFill>
            <a:srgbClr val="4E7C8B"/>
          </a:solidFill>
          <a:ln>
            <a:noFill/>
          </a:ln>
          <a:effectLst/>
        </p:spPr>
        <p:txBody>
          <a:bodyPr rtlCol="0" anchor="ctr" wrap="square" lIns="91440" rIns="91440" tIns="45720" bIns="45720"/>
          <a:lstStyle/>
          <a:p>
            <a:pPr algn="ctr"/>
            <a:r>
              <a:rPr lang="pt-BR" sz="1300" b="0" i="0" dirty="0">
                <a:solidFill>
                  <a:srgbClr val="FBFCFC"/>
                </a:solidFill>
                <a:latin typeface="Roboto Medium"/>
                <a:ea typeface="Roboto Medium"/>
                <a:cs typeface="Roboto Medium"/>
              </a:rPr>
              <a:t>Segunda etapa</a:t>
            </a:r>
          </a:p>
        </p:txBody>
      </p:sp>
      <p:sp>
        <p:nvSpPr>
          <p:cNvPr id="302" name="Etapa"/>
          <p:cNvSpPr/>
          <p:nvPr/>
        </p:nvSpPr>
        <p:spPr>
          <a:xfrm>
            <a:off x="1068019" y="2843784"/>
            <a:ext cx="2926080" cy="603504"/>
          </a:xfrm>
          <a:prstGeom prst="rect">
            <a:avLst/>
          </a:prstGeom>
          <a:solidFill>
            <a:srgbClr val="F2F4F5"/>
          </a:solidFill>
          <a:ln w="12700">
            <a:solidFill>
              <a:srgbClr val="6E9DAB"/>
            </a:solidFill>
          </a:ln>
          <a:effectLst/>
        </p:spPr>
        <p:txBody>
          <a:bodyPr rtlCol="0" anchor="ctr" wrap="square" lIns="91440" rIns="91440" tIns="45720" bIns="45720"/>
          <a:lstStyle/>
          <a:p>
            <a:pPr algn="ctr"/>
            <a:r>
              <a:rPr lang="pt-BR" sz="1300" b="0" i="0" dirty="0">
                <a:solidFill>
                  <a:srgbClr val="3B3F42"/>
                </a:solidFill>
                <a:latin typeface="Roboto Medium"/>
                <a:ea typeface="Roboto Medium"/>
                <a:cs typeface="Roboto Medium"/>
              </a:rPr>
              <a:t>RM cardíaca</a:t>
            </a:r>
          </a:p>
        </p:txBody>
      </p:sp>
      <p:sp>
        <p:nvSpPr>
          <p:cNvPr id="303" name="Seta"/>
          <p:cNvSpPr/>
          <p:nvPr/>
        </p:nvSpPr>
        <p:spPr>
          <a:xfrm>
            <a:off x="2531059" y="2066544"/>
            <a:ext cx="3566160" cy="777240"/>
          </a:xfrm>
          <a:custGeom>
            <a:avLst/>
            <a:gdLst/>
            <a:ahLst/>
            <a:cxnLst/>
            <a:rect l="0" t="0" r="r" b="b"/>
            <a:pathLst>
              <a:path w="3566160" h="777240" fill="none">
                <a:moveTo>
                  <a:pt x="3566160" y="0"/>
                </a:moveTo>
                <a:lnTo>
                  <a:pt x="3566160" y="384048"/>
                </a:lnTo>
                <a:lnTo>
                  <a:pt x="0" y="384048"/>
                </a:lnTo>
                <a:lnTo>
                  <a:pt x="0" y="777240"/>
                </a:lnTo>
              </a:path>
            </a:pathLst>
          </a:custGeom>
          <a:noFill/>
          <a:ln w="19050">
            <a:solidFill>
              <a:srgbClr val="6B6E70"/>
            </a:solidFill>
            <a:round/>
            <a:tailEnd type="triangle" w="med" len="med"/>
          </a:ln>
          <a:effectLst/>
        </p:spPr>
      </p:sp>
      <p:sp>
        <p:nvSpPr>
          <p:cNvPr id="304" name="Etapa"/>
          <p:cNvSpPr/>
          <p:nvPr/>
        </p:nvSpPr>
        <p:spPr>
          <a:xfrm>
            <a:off x="4634179" y="2843784"/>
            <a:ext cx="2926080" cy="603504"/>
          </a:xfrm>
          <a:prstGeom prst="rect">
            <a:avLst/>
          </a:prstGeom>
          <a:solidFill>
            <a:srgbClr val="F2F4F5"/>
          </a:solidFill>
          <a:ln w="12700">
            <a:solidFill>
              <a:srgbClr val="6E9DAB"/>
            </a:solidFill>
          </a:ln>
          <a:effectLst/>
        </p:spPr>
        <p:txBody>
          <a:bodyPr rtlCol="0" anchor="ctr" wrap="square" lIns="91440" rIns="91440" tIns="45720" bIns="45720"/>
          <a:lstStyle/>
          <a:p>
            <a:pPr algn="ctr"/>
            <a:r>
              <a:rPr lang="pt-BR" sz="1300" b="0" i="0" dirty="0">
                <a:solidFill>
                  <a:srgbClr val="3B3F42"/>
                </a:solidFill>
                <a:latin typeface="Roboto Medium"/>
                <a:ea typeface="Roboto Medium"/>
                <a:cs typeface="Roboto Medium"/>
              </a:rPr>
              <a:t>IVUS e OCT</a:t>
            </a:r>
          </a:p>
        </p:txBody>
      </p:sp>
      <p:sp>
        <p:nvSpPr>
          <p:cNvPr id="305" name="Seta"/>
          <p:cNvSpPr/>
          <p:nvPr/>
        </p:nvSpPr>
        <p:spPr>
          <a:xfrm>
            <a:off x="6097219" y="2066544"/>
            <a:ext cx="1" cy="777240"/>
          </a:xfrm>
          <a:custGeom>
            <a:avLst/>
            <a:gdLst/>
            <a:ahLst/>
            <a:cxnLst/>
            <a:rect l="0" t="0" r="r" b="b"/>
            <a:pathLst>
              <a:path w="1" h="777240" fill="none">
                <a:moveTo>
                  <a:pt x="0" y="0"/>
                </a:moveTo>
                <a:lnTo>
                  <a:pt x="0" y="384048"/>
                </a:lnTo>
                <a:lnTo>
                  <a:pt x="0" y="384048"/>
                </a:lnTo>
                <a:lnTo>
                  <a:pt x="0" y="777240"/>
                </a:lnTo>
              </a:path>
            </a:pathLst>
          </a:custGeom>
          <a:noFill/>
          <a:ln w="19050">
            <a:solidFill>
              <a:srgbClr val="6B6E70"/>
            </a:solidFill>
            <a:round/>
            <a:tailEnd type="triangle" w="med" len="med"/>
          </a:ln>
          <a:effectLst/>
        </p:spPr>
      </p:sp>
      <p:sp>
        <p:nvSpPr>
          <p:cNvPr id="306" name="Etapa"/>
          <p:cNvSpPr/>
          <p:nvPr/>
        </p:nvSpPr>
        <p:spPr>
          <a:xfrm>
            <a:off x="8200339" y="2843784"/>
            <a:ext cx="2926080" cy="603504"/>
          </a:xfrm>
          <a:prstGeom prst="rect">
            <a:avLst/>
          </a:prstGeom>
          <a:solidFill>
            <a:srgbClr val="F2F4F5"/>
          </a:solidFill>
          <a:ln w="12700">
            <a:solidFill>
              <a:srgbClr val="6E9DAB"/>
            </a:solidFill>
          </a:ln>
          <a:effectLst/>
        </p:spPr>
        <p:txBody>
          <a:bodyPr rtlCol="0" anchor="ctr" wrap="square" lIns="91440" rIns="91440" tIns="45720" bIns="45720"/>
          <a:lstStyle/>
          <a:p>
            <a:pPr algn="ctr"/>
            <a:r>
              <a:rPr lang="pt-BR" sz="1300" b="0" i="0" dirty="0">
                <a:solidFill>
                  <a:srgbClr val="3B3F42"/>
                </a:solidFill>
                <a:latin typeface="Roboto Medium"/>
                <a:ea typeface="Roboto Medium"/>
                <a:cs typeface="Roboto Medium"/>
              </a:rPr>
              <a:t>Testes provocativos</a:t>
            </a:r>
          </a:p>
        </p:txBody>
      </p:sp>
      <p:sp>
        <p:nvSpPr>
          <p:cNvPr id="307" name="Seta"/>
          <p:cNvSpPr/>
          <p:nvPr/>
        </p:nvSpPr>
        <p:spPr>
          <a:xfrm>
            <a:off x="6097219" y="2066544"/>
            <a:ext cx="3566160" cy="777240"/>
          </a:xfrm>
          <a:custGeom>
            <a:avLst/>
            <a:gdLst/>
            <a:ahLst/>
            <a:cxnLst/>
            <a:rect l="0" t="0" r="r" b="b"/>
            <a:pathLst>
              <a:path w="3566160" h="777240" fill="none">
                <a:moveTo>
                  <a:pt x="0" y="0"/>
                </a:moveTo>
                <a:lnTo>
                  <a:pt x="0" y="384048"/>
                </a:lnTo>
                <a:lnTo>
                  <a:pt x="3566160" y="384048"/>
                </a:lnTo>
                <a:lnTo>
                  <a:pt x="3566160" y="777240"/>
                </a:lnTo>
              </a:path>
            </a:pathLst>
          </a:custGeom>
          <a:noFill/>
          <a:ln w="19050">
            <a:solidFill>
              <a:srgbClr val="6B6E70"/>
            </a:solidFill>
            <a:round/>
            <a:tailEnd type="triangle" w="med" len="med"/>
          </a:ln>
          <a:effectLst/>
        </p:spPr>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Investigação não invasiva – Sem DAC conhecida (2/2)</a:t>
            </a:r>
            <a:endParaRPr lang="pt-BR" dirty="0" sz="3200"/>
          </a:p>
        </p:txBody>
      </p:sp>
      <p:sp>
        <p:nvSpPr>
          <p:cNvPr id="25" name="Nota"/>
          <p:cNvSpPr txBox="1"/>
          <p:nvPr/>
        </p:nvSpPr>
        <p:spPr>
          <a:xfrm>
            <a:off x="711403" y="4846320"/>
            <a:ext cx="10771632" cy="240000"/>
          </a:xfrm>
          <a:prstGeom prst="rect">
            <a:avLst/>
          </a:prstGeom>
          <a:noFill/>
        </p:spPr>
        <p:txBody>
          <a:bodyPr wrap="square" lIns="0" rIns="0" tIns="0" bIns="0" anchor="t">
            <a:spAutoFit/>
          </a:bodyPr>
          <a:lstStyle/>
          <a:p>
            <a:pPr algn="l"/>
            <a:r>
              <a:rPr sz="1200" b="0" i="0">
                <a:solidFill>
                  <a:srgbClr val="3B3F42"/>
                </a:solidFill>
                <a:latin typeface="Roboto Medium"/>
                <a:ea typeface="Roboto Medium"/>
                <a:cs typeface="Roboto Medium"/>
              </a:rPr>
              <a:t>*Escolha do teste deve ser guiada pela disponibilidade e expertise.</a:t>
            </a: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114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Rótulo"/>
          <p:cNvSpPr txBox="1"/>
          <p:nvPr/>
        </p:nvSpPr>
        <p:spPr>
          <a:xfrm>
            <a:off x="2485339" y="1554480"/>
            <a:ext cx="5486400" cy="201168"/>
          </a:xfrm>
          <a:prstGeom prst="rect">
            <a:avLst/>
          </a:prstGeom>
          <a:noFill/>
        </p:spPr>
        <p:txBody>
          <a:bodyPr wrap="square" lIns="0" rIns="0" tIns="0" bIns="0" anchor="t">
            <a:noAutofit/>
          </a:bodyPr>
          <a:lstStyle/>
          <a:p>
            <a:pPr algn="l"/>
            <a:r>
              <a:rPr lang="pt-BR" sz="1200" b="0" i="0" dirty="0">
                <a:solidFill>
                  <a:srgbClr val="737A7F"/>
                </a:solidFill>
                <a:latin typeface="Roboto"/>
                <a:ea typeface="Roboto"/>
                <a:cs typeface="Roboto"/>
              </a:rPr>
              <a:t>Teste prévio: Sim</a:t>
            </a:r>
          </a:p>
        </p:txBody>
      </p:sp>
      <p:sp>
        <p:nvSpPr>
          <p:cNvPr id="302" name="Etapa"/>
          <p:cNvSpPr/>
          <p:nvPr/>
        </p:nvSpPr>
        <p:spPr>
          <a:xfrm>
            <a:off x="2485339" y="1938528"/>
            <a:ext cx="4023360" cy="603504"/>
          </a:xfrm>
          <a:prstGeom prst="rect">
            <a:avLst/>
          </a:prstGeom>
          <a:solidFill>
            <a:srgbClr val="F2F4F5"/>
          </a:solidFill>
          <a:ln w="12700">
            <a:solidFill>
              <a:srgbClr val="6E9DAB"/>
            </a:solidFill>
          </a:ln>
          <a:effectLst/>
        </p:spPr>
        <p:txBody>
          <a:bodyPr rtlCol="0" anchor="ctr" wrap="square" lIns="91440" rIns="91440" tIns="45720" bIns="45720"/>
          <a:lstStyle/>
          <a:p>
            <a:pPr algn="ctr"/>
            <a:r>
              <a:rPr lang="pt-BR" sz="1300" b="0" i="0" dirty="0">
                <a:solidFill>
                  <a:srgbClr val="3B3F42"/>
                </a:solidFill>
                <a:latin typeface="Roboto Medium"/>
                <a:ea typeface="Roboto Medium"/>
                <a:cs typeface="Roboto Medium"/>
              </a:rPr>
              <a:t>Negativo e recente</a:t>
            </a:r>
          </a:p>
        </p:txBody>
      </p:sp>
      <p:sp>
        <p:nvSpPr>
          <p:cNvPr id="303" name="Fim/Início"/>
          <p:cNvSpPr/>
          <p:nvPr/>
        </p:nvSpPr>
        <p:spPr>
          <a:xfrm>
            <a:off x="7148779" y="1938528"/>
            <a:ext cx="2560320" cy="603504"/>
          </a:xfrm>
          <a:prstGeom prst="roundRect">
            <a:avLst>
              <a:gd name="adj" fmla="val 50000"/>
            </a:avLst>
          </a:prstGeom>
          <a:solidFill>
            <a:srgbClr val="4E7C8B"/>
          </a:solidFill>
          <a:ln>
            <a:noFill/>
          </a:ln>
          <a:effectLst/>
        </p:spPr>
        <p:txBody>
          <a:bodyPr rtlCol="0" anchor="ctr" wrap="square" lIns="91440" rIns="91440" tIns="45720" bIns="45720"/>
          <a:lstStyle/>
          <a:p>
            <a:pPr algn="ctr"/>
            <a:r>
              <a:rPr lang="pt-BR" sz="1300" b="0" i="0" dirty="0">
                <a:solidFill>
                  <a:srgbClr val="FBFCFC"/>
                </a:solidFill>
                <a:latin typeface="Roboto Medium"/>
                <a:ea typeface="Roboto Medium"/>
                <a:cs typeface="Roboto Medium"/>
              </a:rPr>
              <a:t>Considerar Alta</a:t>
            </a:r>
          </a:p>
        </p:txBody>
      </p:sp>
      <p:sp>
        <p:nvSpPr>
          <p:cNvPr id="304" name="Seta"/>
          <p:cNvSpPr/>
          <p:nvPr/>
        </p:nvSpPr>
        <p:spPr>
          <a:xfrm>
            <a:off x="6508699" y="2240280"/>
            <a:ext cx="640080" cy="1"/>
          </a:xfrm>
          <a:custGeom>
            <a:avLst/>
            <a:gdLst/>
            <a:ahLst/>
            <a:cxnLst/>
            <a:rect l="0" t="0" r="r" b="b"/>
            <a:pathLst>
              <a:path w="640080" h="1" fill="none">
                <a:moveTo>
                  <a:pt x="0" y="0"/>
                </a:moveTo>
                <a:lnTo>
                  <a:pt x="640080" y="0"/>
                </a:lnTo>
              </a:path>
            </a:pathLst>
          </a:custGeom>
          <a:noFill/>
          <a:ln w="19050">
            <a:solidFill>
              <a:srgbClr val="6B6E70"/>
            </a:solidFill>
            <a:round/>
            <a:tailEnd type="triangle" w="med" len="med"/>
          </a:ln>
          <a:effectLst/>
        </p:spPr>
      </p:sp>
      <p:sp>
        <p:nvSpPr>
          <p:cNvPr id="305" name="Etapa"/>
          <p:cNvSpPr/>
          <p:nvPr/>
        </p:nvSpPr>
        <p:spPr>
          <a:xfrm>
            <a:off x="2485339" y="2898648"/>
            <a:ext cx="4023360" cy="603504"/>
          </a:xfrm>
          <a:prstGeom prst="rect">
            <a:avLst/>
          </a:prstGeom>
          <a:solidFill>
            <a:srgbClr val="F2F4F5"/>
          </a:solidFill>
          <a:ln w="12700">
            <a:solidFill>
              <a:srgbClr val="6E9DAB"/>
            </a:solidFill>
          </a:ln>
          <a:effectLst/>
        </p:spPr>
        <p:txBody>
          <a:bodyPr rtlCol="0" anchor="ctr" wrap="square" lIns="91440" rIns="91440" tIns="45720" bIns="45720"/>
          <a:lstStyle/>
          <a:p>
            <a:pPr algn="ctr"/>
            <a:r>
              <a:rPr lang="pt-BR" sz="1300" b="0" i="0" dirty="0">
                <a:solidFill>
                  <a:srgbClr val="3B3F42"/>
                </a:solidFill>
                <a:latin typeface="Roboto Medium"/>
                <a:ea typeface="Roboto Medium"/>
                <a:cs typeface="Roboto Medium"/>
              </a:rPr>
              <a:t>Estresse inconclusivo</a:t>
            </a:r>
          </a:p>
        </p:txBody>
      </p:sp>
      <p:sp>
        <p:nvSpPr>
          <p:cNvPr id="306" name="Fim/Início"/>
          <p:cNvSpPr/>
          <p:nvPr/>
        </p:nvSpPr>
        <p:spPr>
          <a:xfrm>
            <a:off x="7148779" y="2898648"/>
            <a:ext cx="2560320" cy="603504"/>
          </a:xfrm>
          <a:prstGeom prst="roundRect">
            <a:avLst>
              <a:gd name="adj" fmla="val 50000"/>
            </a:avLst>
          </a:prstGeom>
          <a:solidFill>
            <a:srgbClr val="4E7C8B"/>
          </a:solidFill>
          <a:ln>
            <a:noFill/>
          </a:ln>
          <a:effectLst/>
        </p:spPr>
        <p:txBody>
          <a:bodyPr rtlCol="0" anchor="ctr" wrap="square" lIns="91440" rIns="91440" tIns="45720" bIns="45720"/>
          <a:lstStyle/>
          <a:p>
            <a:pPr algn="ctr"/>
            <a:r>
              <a:rPr lang="pt-BR" sz="1300" b="0" i="0" dirty="0">
                <a:solidFill>
                  <a:srgbClr val="FBFCFC"/>
                </a:solidFill>
                <a:latin typeface="Roboto Medium"/>
                <a:ea typeface="Roboto Medium"/>
                <a:cs typeface="Roboto Medium"/>
              </a:rPr>
              <a:t>Angio-TC</a:t>
            </a:r>
          </a:p>
        </p:txBody>
      </p:sp>
      <p:sp>
        <p:nvSpPr>
          <p:cNvPr id="307" name="Seta"/>
          <p:cNvSpPr/>
          <p:nvPr/>
        </p:nvSpPr>
        <p:spPr>
          <a:xfrm>
            <a:off x="6508699" y="3200400"/>
            <a:ext cx="640080" cy="1"/>
          </a:xfrm>
          <a:custGeom>
            <a:avLst/>
            <a:gdLst/>
            <a:ahLst/>
            <a:cxnLst/>
            <a:rect l="0" t="0" r="r" b="b"/>
            <a:pathLst>
              <a:path w="640080" h="1" fill="none">
                <a:moveTo>
                  <a:pt x="0" y="0"/>
                </a:moveTo>
                <a:lnTo>
                  <a:pt x="640080" y="0"/>
                </a:lnTo>
              </a:path>
            </a:pathLst>
          </a:custGeom>
          <a:noFill/>
          <a:ln w="19050">
            <a:solidFill>
              <a:srgbClr val="6B6E70"/>
            </a:solidFill>
            <a:round/>
            <a:tailEnd type="triangle" w="med" len="med"/>
          </a:ln>
          <a:effectLst/>
        </p:spPr>
      </p:sp>
      <p:sp>
        <p:nvSpPr>
          <p:cNvPr id="308" name="Etapa"/>
          <p:cNvSpPr/>
          <p:nvPr/>
        </p:nvSpPr>
        <p:spPr>
          <a:xfrm>
            <a:off x="2485339" y="3858768"/>
            <a:ext cx="4023360" cy="603504"/>
          </a:xfrm>
          <a:prstGeom prst="rect">
            <a:avLst/>
          </a:prstGeom>
          <a:solidFill>
            <a:srgbClr val="F2F4F5"/>
          </a:solidFill>
          <a:ln w="12700">
            <a:solidFill>
              <a:srgbClr val="6E9DAB"/>
            </a:solidFill>
          </a:ln>
          <a:effectLst/>
        </p:spPr>
        <p:txBody>
          <a:bodyPr rtlCol="0" anchor="ctr" wrap="square" lIns="91440" rIns="91440" tIns="45720" bIns="45720"/>
          <a:lstStyle/>
          <a:p>
            <a:pPr algn="ctr"/>
            <a:r>
              <a:rPr lang="pt-BR" sz="1300" b="0" i="0" dirty="0">
                <a:solidFill>
                  <a:srgbClr val="3B3F42"/>
                </a:solidFill>
                <a:latin typeface="Roboto Medium"/>
                <a:ea typeface="Roboto Medium"/>
                <a:cs typeface="Roboto Medium"/>
              </a:rPr>
              <a:t>Isquemia moderada/importante</a:t>
            </a:r>
          </a:p>
        </p:txBody>
      </p:sp>
      <p:sp>
        <p:nvSpPr>
          <p:cNvPr id="309" name="Fim/Início"/>
          <p:cNvSpPr/>
          <p:nvPr/>
        </p:nvSpPr>
        <p:spPr>
          <a:xfrm>
            <a:off x="7148779" y="3858768"/>
            <a:ext cx="2560320" cy="603504"/>
          </a:xfrm>
          <a:prstGeom prst="roundRect">
            <a:avLst>
              <a:gd name="adj" fmla="val 50000"/>
            </a:avLst>
          </a:prstGeom>
          <a:solidFill>
            <a:srgbClr val="4E7C8B"/>
          </a:solidFill>
          <a:ln>
            <a:noFill/>
          </a:ln>
          <a:effectLst/>
        </p:spPr>
        <p:txBody>
          <a:bodyPr rtlCol="0" anchor="ctr" wrap="square" lIns="91440" rIns="91440" tIns="45720" bIns="45720"/>
          <a:lstStyle/>
          <a:p>
            <a:pPr algn="ctr"/>
            <a:r>
              <a:rPr lang="pt-BR" sz="1300" b="0" i="0" dirty="0">
                <a:solidFill>
                  <a:srgbClr val="FBFCFC"/>
                </a:solidFill>
                <a:latin typeface="Roboto Medium"/>
                <a:ea typeface="Roboto Medium"/>
                <a:cs typeface="Roboto Medium"/>
              </a:rPr>
              <a:t>CATE</a:t>
            </a:r>
          </a:p>
        </p:txBody>
      </p:sp>
      <p:sp>
        <p:nvSpPr>
          <p:cNvPr id="310" name="Seta"/>
          <p:cNvSpPr/>
          <p:nvPr/>
        </p:nvSpPr>
        <p:spPr>
          <a:xfrm>
            <a:off x="6508699" y="4160520"/>
            <a:ext cx="640080" cy="1"/>
          </a:xfrm>
          <a:custGeom>
            <a:avLst/>
            <a:gdLst/>
            <a:ahLst/>
            <a:cxnLst/>
            <a:rect l="0" t="0" r="r" b="b"/>
            <a:pathLst>
              <a:path w="640080" h="1" fill="none">
                <a:moveTo>
                  <a:pt x="0" y="0"/>
                </a:moveTo>
                <a:lnTo>
                  <a:pt x="640080" y="0"/>
                </a:lnTo>
              </a:path>
            </a:pathLst>
          </a:custGeom>
          <a:noFill/>
          <a:ln w="19050">
            <a:solidFill>
              <a:srgbClr val="6B6E70"/>
            </a:solidFill>
            <a:round/>
            <a:tailEnd type="triangle" w="med" len="med"/>
          </a:ln>
          <a:effectLst/>
        </p:spPr>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Figura Central – Atendimento na emergência (2/4)</a:t>
            </a:r>
            <a:endParaRPr lang="pt-BR" dirty="0" sz="3200"/>
          </a:p>
        </p:txBody>
      </p:sp>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33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Etapa"/>
          <p:cNvSpPr/>
          <p:nvPr/>
        </p:nvSpPr>
        <p:spPr>
          <a:xfrm>
            <a:off x="4297680" y="1463040"/>
            <a:ext cx="4023360" cy="73152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PASSO 2</a:t>
            </a:r>
          </a:p>
          <a:p>
            <a:pPr algn="ctr">
              <a:buNone/>
            </a:pPr>
            <a:r>
              <a:rPr lang="pt-BR" sz="1200" b="0" i="0" dirty="0">
                <a:solidFill>
                  <a:srgbClr val="5F6468"/>
                </a:solidFill>
                <a:latin typeface="Roboto"/>
                <a:ea typeface="Roboto"/>
                <a:cs typeface="Roboto"/>
              </a:rPr>
              <a:t>(Avaliação inicial da rota diagnóstica)</a:t>
            </a:r>
          </a:p>
        </p:txBody>
      </p:sp>
      <p:pic>
        <p:nvPicPr>
          <p:cNvPr id="302" name="Figura" descr="Ícone de prancheta"/>
          <p:cNvPicPr>
            <a:picLocks noChangeAspect="1"/>
          </p:cNvPicPr>
          <p:nvPr/>
        </p:nvPicPr>
        <p:blipFill>
          <a:blip r:embed="rId3"/>
          <a:stretch>
            <a:fillRect/>
          </a:stretch>
        </p:blipFill>
        <p:spPr>
          <a:xfrm>
            <a:off x="3611880" y="1554480"/>
            <a:ext cx="562021" cy="548640"/>
          </a:xfrm>
          <a:prstGeom prst="rect">
            <a:avLst/>
          </a:prstGeom>
        </p:spPr>
      </p:pic>
      <p:sp>
        <p:nvSpPr>
          <p:cNvPr id="302" name="Seta"/>
          <p:cNvSpPr/>
          <p:nvPr/>
        </p:nvSpPr>
        <p:spPr>
          <a:xfrm>
            <a:off x="6309360" y="2194560"/>
            <a:ext cx="1" cy="274320"/>
          </a:xfrm>
          <a:custGeom>
            <a:avLst/>
            <a:gdLst/>
            <a:ahLst/>
            <a:cxnLst/>
            <a:rect l="0" t="0" r="r" b="b"/>
            <a:pathLst>
              <a:path w="1" h="274320" fill="none">
                <a:moveTo>
                  <a:pt x="0" y="0"/>
                </a:moveTo>
                <a:lnTo>
                  <a:pt x="0" y="274320"/>
                </a:lnTo>
              </a:path>
            </a:pathLst>
          </a:custGeom>
          <a:noFill/>
          <a:ln w="19050">
            <a:solidFill>
              <a:srgbClr val="6B6E70"/>
            </a:solidFill>
            <a:round/>
            <a:tailEnd type="triangle" w="med" len="med"/>
          </a:ln>
          <a:effectLst/>
        </p:spPr>
      </p:sp>
      <p:sp>
        <p:nvSpPr>
          <p:cNvPr id="303" name="Decisão"/>
          <p:cNvSpPr/>
          <p:nvPr/>
        </p:nvSpPr>
        <p:spPr>
          <a:xfrm>
            <a:off x="4572000" y="2468880"/>
            <a:ext cx="3474720" cy="1417320"/>
          </a:xfrm>
          <a:prstGeom prst="diamond">
            <a:avLst/>
          </a:prstGeom>
          <a:solidFill>
            <a:srgbClr val="8EC4CB"/>
          </a:solidFill>
          <a:ln>
            <a:noFill/>
          </a:ln>
          <a:effectLst/>
        </p:spPr>
        <p:txBody>
          <a:bodyPr rtlCol="0" anchor="ctr" wrap="square" lIns="0" rIns="0" tIns="45720" bIns="45720"/>
          <a:lstStyle/>
          <a:p>
            <a:pPr algn="ctr"/>
            <a:r>
              <a:rPr lang="pt-BR" sz="1200" b="0" i="0" dirty="0">
                <a:solidFill>
                  <a:srgbClr val="1F3238"/>
                </a:solidFill>
                <a:latin typeface="Roboto Medium"/>
                <a:ea typeface="Roboto Medium"/>
                <a:cs typeface="Roboto Medium"/>
              </a:rPr>
              <a:t>HÁ CRITÉRIO DE</a:t>
            </a:r>
          </a:p>
          <a:p>
            <a:pPr algn="ctr"/>
            <a:r>
              <a:rPr lang="pt-BR" sz="1200" b="0" i="0" dirty="0">
                <a:solidFill>
                  <a:srgbClr val="1F3238"/>
                </a:solidFill>
                <a:latin typeface="Roboto Medium"/>
                <a:ea typeface="Roboto Medium"/>
                <a:cs typeface="Roboto Medium"/>
              </a:rPr>
              <a:t>INSTABILIDADE?¹</a:t>
            </a:r>
          </a:p>
        </p:txBody>
      </p:sp>
      <p:sp>
        <p:nvSpPr>
          <p:cNvPr id="304" name="Etapa"/>
          <p:cNvSpPr/>
          <p:nvPr/>
        </p:nvSpPr>
        <p:spPr>
          <a:xfrm>
            <a:off x="8595360" y="1463040"/>
            <a:ext cx="2889504" cy="2606040"/>
          </a:xfrm>
          <a:prstGeom prst="rect">
            <a:avLst/>
          </a:prstGeom>
          <a:solidFill>
            <a:srgbClr val="F2F4F5"/>
          </a:solidFill>
          <a:ln w="12700">
            <a:solidFill>
              <a:srgbClr val="6E9DAB"/>
            </a:solidFill>
          </a:ln>
          <a:effectLst/>
        </p:spPr>
        <p:txBody>
          <a:bodyPr rtlCol="0" anchor="t" wrap="square" lIns="91440" rIns="91440" tIns="45720" bIns="45720"/>
          <a:lstStyle/>
          <a:p>
            <a:pPr algn="l">
              <a:buNone/>
            </a:pPr>
            <a:r>
              <a:rPr lang="pt-BR" sz="1300" b="0" i="0" dirty="0">
                <a:solidFill>
                  <a:srgbClr val="3B3F42"/>
                </a:solidFill>
                <a:latin typeface="Roboto Medium"/>
                <a:ea typeface="Roboto Medium"/>
                <a:cs typeface="Roboto Medium"/>
              </a:rPr>
              <a:t>SEGUIR ROTA DE PACIENTE INSTÁVEL:</a:t>
            </a:r>
          </a:p>
          <a:p>
            <a:pPr algn="l">
              <a:buNone/>
            </a:pPr>
            <a:r>
              <a:rPr lang="pt-BR" sz="1200" b="0" i="0" dirty="0">
                <a:solidFill>
                  <a:srgbClr val="5F6468"/>
                </a:solidFill>
                <a:latin typeface="Roboto"/>
                <a:ea typeface="Roboto"/>
                <a:cs typeface="Roboto"/>
              </a:rPr>
              <a:t>Avaliação clínica + dosagem de troponina</a:t>
            </a:r>
          </a:p>
          <a:p>
            <a:pPr algn="l">
              <a:buNone/>
            </a:pPr>
            <a:r>
              <a:rPr lang="pt-BR" sz="1200" b="0" i="0" dirty="0">
                <a:solidFill>
                  <a:srgbClr val="5F6468"/>
                </a:solidFill>
                <a:latin typeface="Roboto"/>
                <a:ea typeface="Roboto"/>
                <a:cs typeface="Roboto"/>
              </a:rPr>
              <a:t>Repetir ECG a cada 10-20 minutos (apoio de médico experiente)</a:t>
            </a:r>
          </a:p>
          <a:p>
            <a:pPr algn="l">
              <a:buNone/>
            </a:pPr>
            <a:r>
              <a:rPr lang="pt-BR" sz="1200" b="0" i="0" dirty="0">
                <a:solidFill>
                  <a:srgbClr val="5F6468"/>
                </a:solidFill>
                <a:latin typeface="Roboto"/>
                <a:ea typeface="Roboto"/>
                <a:cs typeface="Roboto"/>
              </a:rPr>
              <a:t>Buscar ativamente diagnósticos diferenciais (POCUS, outros exames)</a:t>
            </a:r>
          </a:p>
          <a:p>
            <a:pPr algn="l">
              <a:buNone/>
            </a:pPr>
            <a:r>
              <a:rPr lang="pt-BR" sz="1200" b="0" i="0" dirty="0">
                <a:solidFill>
                  <a:srgbClr val="5F6468"/>
                </a:solidFill>
                <a:latin typeface="Roboto"/>
                <a:ea typeface="Roboto"/>
                <a:cs typeface="Roboto"/>
              </a:rPr>
              <a:t>Admissão na unidade</a:t>
            </a:r>
          </a:p>
          <a:p>
            <a:pPr algn="l">
              <a:buNone/>
            </a:pPr>
            <a:r>
              <a:rPr lang="pt-BR" sz="1200" b="0" i="0" dirty="0">
                <a:solidFill>
                  <a:srgbClr val="5F6468"/>
                </a:solidFill>
                <a:latin typeface="Roboto"/>
                <a:ea typeface="Roboto"/>
                <a:cs typeface="Roboto"/>
              </a:rPr>
              <a:t>Tratar conforme diagnóstico estabelecido</a:t>
            </a:r>
          </a:p>
          <a:p>
            <a:pPr algn="l">
              <a:buNone/>
            </a:pPr>
            <a:r>
              <a:rPr lang="pt-BR" sz="1200" b="0" i="0" dirty="0">
                <a:solidFill>
                  <a:srgbClr val="5F6468"/>
                </a:solidFill>
                <a:latin typeface="Roboto"/>
                <a:ea typeface="Roboto"/>
                <a:cs typeface="Roboto"/>
              </a:rPr>
              <a:t>Avaliar indicação de time de choque</a:t>
            </a:r>
          </a:p>
        </p:txBody>
      </p:sp>
      <p:sp>
        <p:nvSpPr>
          <p:cNvPr id="305" name="Seta"/>
          <p:cNvSpPr/>
          <p:nvPr/>
        </p:nvSpPr>
        <p:spPr>
          <a:xfrm>
            <a:off x="8046720" y="3177540"/>
            <a:ext cx="548640" cy="1"/>
          </a:xfrm>
          <a:custGeom>
            <a:avLst/>
            <a:gdLst/>
            <a:ahLst/>
            <a:cxnLst/>
            <a:rect l="0" t="0" r="r" b="b"/>
            <a:pathLst>
              <a:path w="548640" h="1" fill="none">
                <a:moveTo>
                  <a:pt x="0" y="0"/>
                </a:moveTo>
                <a:lnTo>
                  <a:pt x="548640" y="0"/>
                </a:lnTo>
              </a:path>
            </a:pathLst>
          </a:custGeom>
          <a:noFill/>
          <a:ln w="19050">
            <a:solidFill>
              <a:srgbClr val="6B6E70"/>
            </a:solidFill>
            <a:round/>
            <a:tailEnd type="triangle" w="med" len="med"/>
          </a:ln>
          <a:effectLst/>
        </p:spPr>
      </p:sp>
      <p:sp>
        <p:nvSpPr>
          <p:cNvPr id="306" name="Rótulo"/>
          <p:cNvSpPr txBox="1"/>
          <p:nvPr/>
        </p:nvSpPr>
        <p:spPr>
          <a:xfrm>
            <a:off x="8092440" y="2921508"/>
            <a:ext cx="41148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Sim</a:t>
            </a:r>
          </a:p>
        </p:txBody>
      </p:sp>
      <p:sp>
        <p:nvSpPr>
          <p:cNvPr id="307" name="Fim/Início"/>
          <p:cNvSpPr/>
          <p:nvPr/>
        </p:nvSpPr>
        <p:spPr>
          <a:xfrm>
            <a:off x="1097280" y="4343400"/>
            <a:ext cx="3291840" cy="603504"/>
          </a:xfrm>
          <a:prstGeom prst="roundRect">
            <a:avLst>
              <a:gd name="adj" fmla="val 50000"/>
            </a:avLst>
          </a:prstGeom>
          <a:solidFill>
            <a:srgbClr val="4E7C8B"/>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PASSO 3</a:t>
            </a:r>
          </a:p>
        </p:txBody>
      </p:sp>
      <p:sp>
        <p:nvSpPr>
          <p:cNvPr id="308" name="Seta"/>
          <p:cNvSpPr/>
          <p:nvPr/>
        </p:nvSpPr>
        <p:spPr>
          <a:xfrm>
            <a:off x="2743200" y="3177540"/>
            <a:ext cx="1828800" cy="1165860"/>
          </a:xfrm>
          <a:custGeom>
            <a:avLst/>
            <a:gdLst/>
            <a:ahLst/>
            <a:cxnLst/>
            <a:rect l="0" t="0" r="r" b="b"/>
            <a:pathLst>
              <a:path w="1828800" h="1165860" fill="none">
                <a:moveTo>
                  <a:pt x="1828800" y="0"/>
                </a:moveTo>
                <a:lnTo>
                  <a:pt x="0" y="0"/>
                </a:lnTo>
                <a:lnTo>
                  <a:pt x="0" y="1165860"/>
                </a:lnTo>
              </a:path>
            </a:pathLst>
          </a:custGeom>
          <a:noFill/>
          <a:ln w="19050">
            <a:solidFill>
              <a:srgbClr val="6B6E70"/>
            </a:solidFill>
            <a:round/>
            <a:tailEnd type="triangle" w="med" len="med"/>
          </a:ln>
          <a:effectLst/>
        </p:spPr>
      </p:sp>
      <p:sp>
        <p:nvSpPr>
          <p:cNvPr id="309" name="Rótulo"/>
          <p:cNvSpPr txBox="1"/>
          <p:nvPr/>
        </p:nvSpPr>
        <p:spPr>
          <a:xfrm>
            <a:off x="4023360" y="2921508"/>
            <a:ext cx="457200" cy="201168"/>
          </a:xfrm>
          <a:prstGeom prst="rect">
            <a:avLst/>
          </a:prstGeom>
          <a:noFill/>
        </p:spPr>
        <p:txBody>
          <a:bodyPr wrap="square" lIns="0" rIns="0" tIns="0" bIns="0" anchor="t">
            <a:noAutofit/>
          </a:bodyPr>
          <a:lstStyle/>
          <a:p>
            <a:pPr algn="r"/>
            <a:r>
              <a:rPr lang="pt-BR" sz="1200" b="0" i="0" dirty="0">
                <a:solidFill>
                  <a:srgbClr val="4E7C8B"/>
                </a:solidFill>
                <a:latin typeface="Roboto Medium"/>
                <a:ea typeface="Roboto Medium"/>
                <a:cs typeface="Roboto Medium"/>
              </a:rPr>
              <a:t>Não</a:t>
            </a:r>
          </a:p>
        </p:txBody>
      </p:sp>
      <p:sp>
        <p:nvSpPr>
          <p:cNvPr id="311" name="Card"/>
          <p:cNvSpPr/>
          <p:nvPr/>
        </p:nvSpPr>
        <p:spPr>
          <a:xfrm>
            <a:off x="4846320" y="4343400"/>
            <a:ext cx="6638544" cy="1691640"/>
          </a:xfrm>
          <a:prstGeom prst="rect">
            <a:avLst/>
          </a:prstGeom>
          <a:solidFill>
            <a:srgbClr val="F2F4F5"/>
          </a:solidFill>
          <a:ln>
            <a:noFill/>
          </a:ln>
          <a:effectLst/>
        </p:spPr>
      </p:sp>
      <p:sp>
        <p:nvSpPr>
          <p:cNvPr id="312" name="Faixa"/>
          <p:cNvSpPr/>
          <p:nvPr/>
        </p:nvSpPr>
        <p:spPr>
          <a:xfrm>
            <a:off x="4846320" y="4343400"/>
            <a:ext cx="6638544" cy="38100"/>
          </a:xfrm>
          <a:prstGeom prst="rect">
            <a:avLst/>
          </a:prstGeom>
          <a:solidFill>
            <a:srgbClr val="4E7C8B"/>
          </a:solidFill>
          <a:ln>
            <a:noFill/>
          </a:ln>
          <a:effectLst/>
        </p:spPr>
      </p:sp>
      <p:sp>
        <p:nvSpPr>
          <p:cNvPr id="313" name="Título do card"/>
          <p:cNvSpPr txBox="1"/>
          <p:nvPr/>
        </p:nvSpPr>
        <p:spPr>
          <a:xfrm>
            <a:off x="5074920" y="4526280"/>
            <a:ext cx="6181344" cy="260000"/>
          </a:xfrm>
          <a:prstGeom prst="rect">
            <a:avLst/>
          </a:prstGeom>
          <a:noFill/>
        </p:spPr>
        <p:txBody>
          <a:bodyPr wrap="square" lIns="0" rIns="0" tIns="0" bIns="0" anchor="t">
            <a:noAutofit/>
          </a:bodyPr>
          <a:lstStyle/>
          <a:p>
            <a:pPr algn="l">
              <a:buNone/>
            </a:pPr>
            <a:r>
              <a:rPr lang="pt-BR" sz="1500" b="0" i="0" dirty="0">
                <a:solidFill>
                  <a:srgbClr val="3B3F42"/>
                </a:solidFill>
                <a:latin typeface="Roboto Medium"/>
                <a:ea typeface="Roboto Medium"/>
                <a:cs typeface="Roboto Medium"/>
              </a:rPr>
              <a:t>1. CRITÉRIOS DE INSTABILIDADE:</a:t>
            </a:r>
          </a:p>
        </p:txBody>
      </p:sp>
      <p:sp>
        <p:nvSpPr>
          <p:cNvPr id="314" name="Corpo do card"/>
          <p:cNvSpPr txBox="1"/>
          <p:nvPr/>
        </p:nvSpPr>
        <p:spPr>
          <a:xfrm>
            <a:off x="5074920" y="4866280"/>
            <a:ext cx="6181344" cy="1068760"/>
          </a:xfrm>
          <a:prstGeom prst="rect">
            <a:avLst/>
          </a:prstGeom>
          <a:noFill/>
        </p:spPr>
        <p:txBody>
          <a:bodyPr wrap="square" lIns="0" rIns="0" tIns="0" bIns="0" anchor="t">
            <a:noAutofit/>
          </a:bodyPr>
          <a:lstStyle/>
          <a:p>
            <a:pPr algn="l" marL="171450" indent="-171450">
              <a:buClr>
                <a:srgbClr val="4E7C8B"/>
              </a:buClr>
              <a:buFont typeface="Roboto"/>
              <a:buChar char="•"/>
            </a:pPr>
            <a:r>
              <a:rPr lang="pt-BR" sz="1200" b="0" i="0" dirty="0">
                <a:solidFill>
                  <a:srgbClr val="5F6468"/>
                </a:solidFill>
                <a:latin typeface="Roboto"/>
                <a:ea typeface="Roboto"/>
                <a:cs typeface="Roboto"/>
              </a:rPr>
              <a:t>ECG limítrofe</a:t>
            </a:r>
          </a:p>
          <a:p>
            <a:pPr algn="l" marL="171450" indent="-171450">
              <a:buClr>
                <a:srgbClr val="4E7C8B"/>
              </a:buClr>
              <a:buFont typeface="Roboto"/>
              <a:buChar char="•"/>
            </a:pPr>
            <a:r>
              <a:rPr lang="pt-BR" sz="1200" b="0" i="0" dirty="0">
                <a:solidFill>
                  <a:srgbClr val="5F6468"/>
                </a:solidFill>
                <a:latin typeface="Roboto"/>
                <a:ea typeface="Roboto"/>
                <a:cs typeface="Roboto"/>
              </a:rPr>
              <a:t>Dor persistente</a:t>
            </a:r>
          </a:p>
          <a:p>
            <a:pPr algn="l" marL="171450" indent="-171450">
              <a:buClr>
                <a:srgbClr val="4E7C8B"/>
              </a:buClr>
              <a:buFont typeface="Roboto"/>
              <a:buChar char="•"/>
            </a:pPr>
            <a:r>
              <a:rPr lang="pt-BR" sz="1200" b="0" i="0" dirty="0">
                <a:solidFill>
                  <a:srgbClr val="5F6468"/>
                </a:solidFill>
                <a:latin typeface="Roboto"/>
                <a:ea typeface="Roboto"/>
                <a:cs typeface="Roboto"/>
              </a:rPr>
              <a:t>Instabilidade hemodinâmica/Má perfusão (perda de consciência, etc)</a:t>
            </a:r>
          </a:p>
          <a:p>
            <a:pPr algn="l" marL="171450" indent="-171450">
              <a:buClr>
                <a:srgbClr val="4E7C8B"/>
              </a:buClr>
              <a:buFont typeface="Roboto"/>
              <a:buChar char="•"/>
            </a:pPr>
            <a:r>
              <a:rPr lang="pt-BR" sz="1200" b="0" i="0" dirty="0">
                <a:solidFill>
                  <a:srgbClr val="5F6468"/>
                </a:solidFill>
                <a:latin typeface="Roboto"/>
                <a:ea typeface="Roboto"/>
                <a:cs typeface="Roboto"/>
              </a:rPr>
              <a:t>Congestão pulmonar aguda</a:t>
            </a:r>
          </a:p>
          <a:p>
            <a:pPr algn="l" marL="171450" indent="-171450">
              <a:buClr>
                <a:srgbClr val="4E7C8B"/>
              </a:buClr>
              <a:buFont typeface="Roboto"/>
              <a:buChar char="•"/>
            </a:pPr>
            <a:r>
              <a:rPr lang="pt-BR" sz="1200" b="0" i="0" dirty="0">
                <a:solidFill>
                  <a:srgbClr val="5F6468"/>
                </a:solidFill>
                <a:latin typeface="Roboto"/>
                <a:ea typeface="Roboto"/>
                <a:cs typeface="Roboto"/>
              </a:rPr>
              <a:t>Taquiarritmia / bradiarritmia no cenário de dor torácica aguda</a:t>
            </a:r>
          </a:p>
        </p:txBody>
      </p:sp>
      <p:pic>
        <p:nvPicPr>
          <p:cNvPr id="315" name="Figura" descr="Ícone de sirene"/>
          <p:cNvPicPr>
            <a:picLocks noChangeAspect="1"/>
          </p:cNvPicPr>
          <p:nvPr/>
        </p:nvPicPr>
        <p:blipFill>
          <a:blip r:embed="rId4"/>
          <a:stretch>
            <a:fillRect/>
          </a:stretch>
        </p:blipFill>
        <p:spPr>
          <a:xfrm>
            <a:off x="10698480" y="4526280"/>
            <a:ext cx="566928" cy="566928"/>
          </a:xfrm>
          <a:prstGeom prst="rect">
            <a:avLst/>
          </a:prstGeom>
        </p:spPr>
      </p:pic>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Figura Central – Atendimento na emergência (3/4)</a:t>
            </a:r>
            <a:endParaRPr lang="pt-BR" dirty="0" sz="3200"/>
          </a:p>
        </p:txBody>
      </p:sp>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34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Etapa"/>
          <p:cNvSpPr/>
          <p:nvPr/>
        </p:nvSpPr>
        <p:spPr>
          <a:xfrm>
            <a:off x="4023360" y="1463040"/>
            <a:ext cx="4572000" cy="114300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PASSO 3</a:t>
            </a:r>
          </a:p>
          <a:p>
            <a:pPr algn="ctr">
              <a:buNone/>
            </a:pPr>
            <a:r>
              <a:rPr lang="pt-BR" sz="1200" b="0" i="0" dirty="0">
                <a:solidFill>
                  <a:srgbClr val="5F6468"/>
                </a:solidFill>
                <a:latin typeface="Roboto"/>
                <a:ea typeface="Roboto"/>
                <a:cs typeface="Roboto"/>
              </a:rPr>
              <a:t>(Decisão após avaliação clínica detalhada com apoio de algoritmos e exames iniciais conforme suspeita clínica)</a:t>
            </a:r>
          </a:p>
        </p:txBody>
      </p:sp>
      <p:pic>
        <p:nvPicPr>
          <p:cNvPr id="302" name="Figura" descr="Ícone de cápsula"/>
          <p:cNvPicPr>
            <a:picLocks noChangeAspect="1"/>
          </p:cNvPicPr>
          <p:nvPr/>
        </p:nvPicPr>
        <p:blipFill>
          <a:blip r:embed="rId3"/>
          <a:stretch>
            <a:fillRect/>
          </a:stretch>
        </p:blipFill>
        <p:spPr>
          <a:xfrm>
            <a:off x="3337560" y="1737360"/>
            <a:ext cx="548640" cy="548640"/>
          </a:xfrm>
          <a:prstGeom prst="rect">
            <a:avLst/>
          </a:prstGeom>
        </p:spPr>
      </p:pic>
      <p:pic>
        <p:nvPicPr>
          <p:cNvPr id="303" name="Figura" descr="Ícone de microscópio"/>
          <p:cNvPicPr>
            <a:picLocks noChangeAspect="1"/>
          </p:cNvPicPr>
          <p:nvPr/>
        </p:nvPicPr>
        <p:blipFill>
          <a:blip r:embed="rId4"/>
          <a:stretch>
            <a:fillRect/>
          </a:stretch>
        </p:blipFill>
        <p:spPr>
          <a:xfrm>
            <a:off x="8732520" y="1737360"/>
            <a:ext cx="535577" cy="548640"/>
          </a:xfrm>
          <a:prstGeom prst="rect">
            <a:avLst/>
          </a:prstGeom>
        </p:spPr>
      </p:pic>
      <p:sp>
        <p:nvSpPr>
          <p:cNvPr id="302" name="Seta"/>
          <p:cNvSpPr/>
          <p:nvPr/>
        </p:nvSpPr>
        <p:spPr>
          <a:xfrm>
            <a:off x="6309360" y="2606040"/>
            <a:ext cx="1" cy="274320"/>
          </a:xfrm>
          <a:custGeom>
            <a:avLst/>
            <a:gdLst/>
            <a:ahLst/>
            <a:cxnLst/>
            <a:rect l="0" t="0" r="r" b="b"/>
            <a:pathLst>
              <a:path w="1" h="274320" fill="none">
                <a:moveTo>
                  <a:pt x="0" y="0"/>
                </a:moveTo>
                <a:lnTo>
                  <a:pt x="0" y="274320"/>
                </a:lnTo>
              </a:path>
            </a:pathLst>
          </a:custGeom>
          <a:noFill/>
          <a:ln w="19050">
            <a:solidFill>
              <a:srgbClr val="6B6E70"/>
            </a:solidFill>
            <a:round/>
            <a:tailEnd type="triangle" w="med" len="med"/>
          </a:ln>
          <a:effectLst/>
        </p:spPr>
      </p:sp>
      <p:sp>
        <p:nvSpPr>
          <p:cNvPr id="303" name="Decisão"/>
          <p:cNvSpPr/>
          <p:nvPr/>
        </p:nvSpPr>
        <p:spPr>
          <a:xfrm>
            <a:off x="4572000" y="2880360"/>
            <a:ext cx="3474720" cy="1371600"/>
          </a:xfrm>
          <a:prstGeom prst="diamond">
            <a:avLst/>
          </a:prstGeom>
          <a:solidFill>
            <a:srgbClr val="8EC4CB"/>
          </a:solidFill>
          <a:ln>
            <a:noFill/>
          </a:ln>
          <a:effectLst/>
        </p:spPr>
        <p:txBody>
          <a:bodyPr rtlCol="0" anchor="ctr" wrap="square" lIns="0" rIns="0" tIns="45720" bIns="45720"/>
          <a:lstStyle/>
          <a:p>
            <a:pPr algn="ctr"/>
            <a:r>
              <a:rPr lang="pt-BR" sz="1200" b="0" i="0" dirty="0">
                <a:solidFill>
                  <a:srgbClr val="1F3238"/>
                </a:solidFill>
                <a:latin typeface="Roboto Medium"/>
                <a:ea typeface="Roboto Medium"/>
                <a:cs typeface="Roboto Medium"/>
              </a:rPr>
              <a:t>DIAGNÓSTICO</a:t>
            </a:r>
          </a:p>
          <a:p>
            <a:pPr algn="ctr"/>
            <a:r>
              <a:rPr lang="pt-BR" sz="1200" b="0" i="0" dirty="0">
                <a:solidFill>
                  <a:srgbClr val="1F3238"/>
                </a:solidFill>
                <a:latin typeface="Roboto Medium"/>
                <a:ea typeface="Roboto Medium"/>
                <a:cs typeface="Roboto Medium"/>
              </a:rPr>
              <a:t>ESTABELECIDO?</a:t>
            </a:r>
          </a:p>
        </p:txBody>
      </p:sp>
      <p:sp>
        <p:nvSpPr>
          <p:cNvPr id="304" name="Fim/Início"/>
          <p:cNvSpPr/>
          <p:nvPr/>
        </p:nvSpPr>
        <p:spPr>
          <a:xfrm>
            <a:off x="8778240" y="3264408"/>
            <a:ext cx="2706624" cy="603504"/>
          </a:xfrm>
          <a:prstGeom prst="roundRect">
            <a:avLst>
              <a:gd name="adj" fmla="val 50000"/>
            </a:avLst>
          </a:prstGeom>
          <a:solidFill>
            <a:srgbClr val="4E7C8B"/>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SEGUIR ROTA TERAPÊUTICA</a:t>
            </a:r>
          </a:p>
        </p:txBody>
      </p:sp>
      <p:sp>
        <p:nvSpPr>
          <p:cNvPr id="305" name="Seta"/>
          <p:cNvSpPr/>
          <p:nvPr/>
        </p:nvSpPr>
        <p:spPr>
          <a:xfrm>
            <a:off x="8046720" y="3566160"/>
            <a:ext cx="731520" cy="1"/>
          </a:xfrm>
          <a:custGeom>
            <a:avLst/>
            <a:gdLst/>
            <a:ahLst/>
            <a:cxnLst/>
            <a:rect l="0" t="0" r="r" b="b"/>
            <a:pathLst>
              <a:path w="731520" h="1" fill="none">
                <a:moveTo>
                  <a:pt x="0" y="0"/>
                </a:moveTo>
                <a:lnTo>
                  <a:pt x="731520" y="0"/>
                </a:lnTo>
              </a:path>
            </a:pathLst>
          </a:custGeom>
          <a:noFill/>
          <a:ln w="19050">
            <a:solidFill>
              <a:srgbClr val="6B6E70"/>
            </a:solidFill>
            <a:round/>
            <a:tailEnd type="triangle" w="med" len="med"/>
          </a:ln>
          <a:effectLst/>
        </p:spPr>
      </p:sp>
      <p:sp>
        <p:nvSpPr>
          <p:cNvPr id="306" name="Rótulo"/>
          <p:cNvSpPr txBox="1"/>
          <p:nvPr/>
        </p:nvSpPr>
        <p:spPr>
          <a:xfrm>
            <a:off x="8092440" y="3310128"/>
            <a:ext cx="41148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Sim</a:t>
            </a:r>
          </a:p>
        </p:txBody>
      </p:sp>
      <p:sp>
        <p:nvSpPr>
          <p:cNvPr id="307" name="Fim/Início"/>
          <p:cNvSpPr/>
          <p:nvPr/>
        </p:nvSpPr>
        <p:spPr>
          <a:xfrm>
            <a:off x="822960" y="4846320"/>
            <a:ext cx="4023360" cy="868680"/>
          </a:xfrm>
          <a:prstGeom prst="roundRect">
            <a:avLst>
              <a:gd name="adj" fmla="val 50000"/>
            </a:avLst>
          </a:prstGeom>
          <a:solidFill>
            <a:srgbClr val="4E7C8B"/>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CLASSIFICAR CONFORME ALGORITMOS DE TROPONINA E ESCORES DE RISCO</a:t>
            </a:r>
          </a:p>
        </p:txBody>
      </p:sp>
      <p:sp>
        <p:nvSpPr>
          <p:cNvPr id="308" name="Seta"/>
          <p:cNvSpPr/>
          <p:nvPr/>
        </p:nvSpPr>
        <p:spPr>
          <a:xfrm>
            <a:off x="2834640" y="3566160"/>
            <a:ext cx="1737360" cy="1280160"/>
          </a:xfrm>
          <a:custGeom>
            <a:avLst/>
            <a:gdLst/>
            <a:ahLst/>
            <a:cxnLst/>
            <a:rect l="0" t="0" r="r" b="b"/>
            <a:pathLst>
              <a:path w="1737360" h="1280160" fill="none">
                <a:moveTo>
                  <a:pt x="1737360" y="0"/>
                </a:moveTo>
                <a:lnTo>
                  <a:pt x="0" y="0"/>
                </a:lnTo>
                <a:lnTo>
                  <a:pt x="0" y="1280160"/>
                </a:lnTo>
              </a:path>
            </a:pathLst>
          </a:custGeom>
          <a:noFill/>
          <a:ln w="19050">
            <a:solidFill>
              <a:srgbClr val="6B6E70"/>
            </a:solidFill>
            <a:round/>
            <a:tailEnd type="triangle" w="med" len="med"/>
          </a:ln>
          <a:effectLst/>
        </p:spPr>
      </p:sp>
      <p:sp>
        <p:nvSpPr>
          <p:cNvPr id="309" name="Rótulo"/>
          <p:cNvSpPr txBox="1"/>
          <p:nvPr/>
        </p:nvSpPr>
        <p:spPr>
          <a:xfrm>
            <a:off x="4023360" y="3310128"/>
            <a:ext cx="457200" cy="201168"/>
          </a:xfrm>
          <a:prstGeom prst="rect">
            <a:avLst/>
          </a:prstGeom>
          <a:noFill/>
        </p:spPr>
        <p:txBody>
          <a:bodyPr wrap="square" lIns="0" rIns="0" tIns="0" bIns="0" anchor="t">
            <a:noAutofit/>
          </a:bodyPr>
          <a:lstStyle/>
          <a:p>
            <a:pPr algn="r"/>
            <a:r>
              <a:rPr lang="pt-BR" sz="1200" b="0" i="0" dirty="0">
                <a:solidFill>
                  <a:srgbClr val="4E7C8B"/>
                </a:solidFill>
                <a:latin typeface="Roboto Medium"/>
                <a:ea typeface="Roboto Medium"/>
                <a:cs typeface="Roboto Medium"/>
              </a:rPr>
              <a:t>Não</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Figura Central – Atendimento na emergência (4/4)</a:t>
            </a:r>
            <a:endParaRPr lang="pt-BR" dirty="0" sz="3200"/>
          </a:p>
        </p:txBody>
      </p:sp>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35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Fim/Início"/>
          <p:cNvSpPr/>
          <p:nvPr/>
        </p:nvSpPr>
        <p:spPr>
          <a:xfrm>
            <a:off x="3447288" y="1463040"/>
            <a:ext cx="5303520" cy="777240"/>
          </a:xfrm>
          <a:prstGeom prst="roundRect">
            <a:avLst>
              <a:gd name="adj" fmla="val 50000"/>
            </a:avLst>
          </a:prstGeom>
          <a:solidFill>
            <a:srgbClr val="4E7C8B"/>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CLASSIFICAR CONFORME ALGORITMOS DE TROPONINA E ESCORES DE RISCO</a:t>
            </a:r>
          </a:p>
        </p:txBody>
      </p:sp>
      <p:pic>
        <p:nvPicPr>
          <p:cNvPr id="302" name="Figura" descr="Ícone de microscópio"/>
          <p:cNvPicPr>
            <a:picLocks noChangeAspect="1"/>
          </p:cNvPicPr>
          <p:nvPr/>
        </p:nvPicPr>
        <p:blipFill>
          <a:blip r:embed="rId3"/>
          <a:stretch>
            <a:fillRect/>
          </a:stretch>
        </p:blipFill>
        <p:spPr>
          <a:xfrm>
            <a:off x="8887968" y="1572768"/>
            <a:ext cx="535577" cy="548640"/>
          </a:xfrm>
          <a:prstGeom prst="rect">
            <a:avLst/>
          </a:prstGeom>
        </p:spPr>
      </p:pic>
      <p:sp>
        <p:nvSpPr>
          <p:cNvPr id="302" name="Seta"/>
          <p:cNvSpPr/>
          <p:nvPr/>
        </p:nvSpPr>
        <p:spPr>
          <a:xfrm>
            <a:off x="2350008" y="2240280"/>
            <a:ext cx="3749040" cy="594360"/>
          </a:xfrm>
          <a:custGeom>
            <a:avLst/>
            <a:gdLst/>
            <a:ahLst/>
            <a:cxnLst/>
            <a:rect l="0" t="0" r="r" b="b"/>
            <a:pathLst>
              <a:path w="3749040" h="594360" fill="none">
                <a:moveTo>
                  <a:pt x="3749040" y="0"/>
                </a:moveTo>
                <a:lnTo>
                  <a:pt x="3749040" y="320040"/>
                </a:lnTo>
                <a:lnTo>
                  <a:pt x="0" y="320040"/>
                </a:lnTo>
                <a:lnTo>
                  <a:pt x="0" y="594360"/>
                </a:lnTo>
              </a:path>
            </a:pathLst>
          </a:custGeom>
          <a:noFill/>
          <a:ln w="19050">
            <a:solidFill>
              <a:srgbClr val="6B6E70"/>
            </a:solidFill>
            <a:round/>
            <a:tailEnd type="triangle" w="med" len="med"/>
          </a:ln>
          <a:effectLst/>
        </p:spPr>
      </p:sp>
      <p:sp>
        <p:nvSpPr>
          <p:cNvPr id="303" name="Seta"/>
          <p:cNvSpPr/>
          <p:nvPr/>
        </p:nvSpPr>
        <p:spPr>
          <a:xfrm>
            <a:off x="6080760" y="2240280"/>
            <a:ext cx="18288" cy="594360"/>
          </a:xfrm>
          <a:custGeom>
            <a:avLst/>
            <a:gdLst/>
            <a:ahLst/>
            <a:cxnLst/>
            <a:rect l="0" t="0" r="r" b="b"/>
            <a:pathLst>
              <a:path w="18288" h="594360" fill="none">
                <a:moveTo>
                  <a:pt x="18288" y="0"/>
                </a:moveTo>
                <a:lnTo>
                  <a:pt x="18288" y="320040"/>
                </a:lnTo>
                <a:lnTo>
                  <a:pt x="0" y="320040"/>
                </a:lnTo>
                <a:lnTo>
                  <a:pt x="0" y="594360"/>
                </a:lnTo>
              </a:path>
            </a:pathLst>
          </a:custGeom>
          <a:noFill/>
          <a:ln w="19050">
            <a:solidFill>
              <a:srgbClr val="6B6E70"/>
            </a:solidFill>
            <a:round/>
            <a:tailEnd type="triangle" w="med" len="med"/>
          </a:ln>
          <a:effectLst/>
        </p:spPr>
      </p:sp>
      <p:sp>
        <p:nvSpPr>
          <p:cNvPr id="304" name="Seta"/>
          <p:cNvSpPr/>
          <p:nvPr/>
        </p:nvSpPr>
        <p:spPr>
          <a:xfrm>
            <a:off x="6099048" y="2240280"/>
            <a:ext cx="3712464" cy="594360"/>
          </a:xfrm>
          <a:custGeom>
            <a:avLst/>
            <a:gdLst/>
            <a:ahLst/>
            <a:cxnLst/>
            <a:rect l="0" t="0" r="r" b="b"/>
            <a:pathLst>
              <a:path w="3712464" h="594360" fill="none">
                <a:moveTo>
                  <a:pt x="0" y="0"/>
                </a:moveTo>
                <a:lnTo>
                  <a:pt x="0" y="320040"/>
                </a:lnTo>
                <a:lnTo>
                  <a:pt x="3712464" y="320040"/>
                </a:lnTo>
                <a:lnTo>
                  <a:pt x="3712464" y="594360"/>
                </a:lnTo>
              </a:path>
            </a:pathLst>
          </a:custGeom>
          <a:noFill/>
          <a:ln w="19050">
            <a:solidFill>
              <a:srgbClr val="6B6E70"/>
            </a:solidFill>
            <a:round/>
            <a:tailEnd type="triangle" w="med" len="med"/>
          </a:ln>
          <a:effectLst/>
        </p:spPr>
      </p:sp>
      <p:sp>
        <p:nvSpPr>
          <p:cNvPr id="305" name="Status"/>
          <p:cNvSpPr/>
          <p:nvPr/>
        </p:nvSpPr>
        <p:spPr>
          <a:xfrm>
            <a:off x="713232" y="2834640"/>
            <a:ext cx="3273552" cy="1188720"/>
          </a:xfrm>
          <a:prstGeom prst="rect">
            <a:avLst/>
          </a:prstGeom>
          <a:solidFill>
            <a:srgbClr val="B5533C"/>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RULE IN – ADMISSÃO DO PACIENTE</a:t>
            </a:r>
          </a:p>
        </p:txBody>
      </p:sp>
      <p:sp>
        <p:nvSpPr>
          <p:cNvPr id="306" name="Status"/>
          <p:cNvSpPr/>
          <p:nvPr/>
        </p:nvSpPr>
        <p:spPr>
          <a:xfrm>
            <a:off x="4443984" y="2834640"/>
            <a:ext cx="3273552" cy="1188720"/>
          </a:xfrm>
          <a:prstGeom prst="rect">
            <a:avLst/>
          </a:prstGeom>
          <a:solidFill>
            <a:srgbClr val="C98A2B"/>
          </a:solidFill>
          <a:ln>
            <a:noFill/>
          </a:ln>
          <a:effectLst/>
        </p:spPr>
        <p:txBody>
          <a:bodyPr rtlCol="0" anchor="ctr" wrap="square" lIns="91440" rIns="91440" tIns="45720" bIns="45720"/>
          <a:lstStyle/>
          <a:p>
            <a:pPr algn="ctr">
              <a:buNone/>
            </a:pPr>
            <a:r>
              <a:rPr lang="pt-BR" sz="1300" b="0" i="0" dirty="0">
                <a:solidFill>
                  <a:srgbClr val="1F3238"/>
                </a:solidFill>
                <a:latin typeface="Roboto Medium"/>
                <a:ea typeface="Roboto Medium"/>
                <a:cs typeface="Roboto Medium"/>
              </a:rPr>
              <a:t>PASSO 4</a:t>
            </a:r>
          </a:p>
          <a:p>
            <a:pPr algn="ctr">
              <a:buNone/>
            </a:pPr>
            <a:r>
              <a:rPr lang="pt-BR" sz="1200" b="0" i="0" dirty="0">
                <a:solidFill>
                  <a:srgbClr val="1F3238"/>
                </a:solidFill>
                <a:latin typeface="Roboto"/>
                <a:ea typeface="Roboto"/>
                <a:cs typeface="Roboto"/>
              </a:rPr>
              <a:t>(Observação e investigação adicional nos casos de probabilidade/risco intermediário)</a:t>
            </a:r>
          </a:p>
        </p:txBody>
      </p:sp>
      <p:sp>
        <p:nvSpPr>
          <p:cNvPr id="307" name="Status"/>
          <p:cNvSpPr/>
          <p:nvPr/>
        </p:nvSpPr>
        <p:spPr>
          <a:xfrm>
            <a:off x="8174736" y="2834640"/>
            <a:ext cx="3273552" cy="1188720"/>
          </a:xfrm>
          <a:prstGeom prst="rect">
            <a:avLst/>
          </a:prstGeom>
          <a:solidFill>
            <a:srgbClr val="3E8E68"/>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RULE OUT – DESCARTE DO DIAGNÓSTICO DE IAM</a:t>
            </a:r>
          </a:p>
        </p:txBody>
      </p:sp>
      <p:sp>
        <p:nvSpPr>
          <p:cNvPr id="308" name="Texto"/>
          <p:cNvSpPr txBox="1"/>
          <p:nvPr/>
        </p:nvSpPr>
        <p:spPr>
          <a:xfrm>
            <a:off x="713232" y="4160520"/>
            <a:ext cx="3273552" cy="1188720"/>
          </a:xfrm>
          <a:prstGeom prst="rect">
            <a:avLst/>
          </a:prstGeom>
          <a:noFill/>
        </p:spPr>
        <p:txBody>
          <a:bodyPr wrap="square" lIns="0" rIns="0" tIns="0" bIns="0" anchor="t">
            <a:noAutofit/>
          </a:bodyPr>
          <a:lstStyle/>
          <a:p>
            <a:pPr algn="l">
              <a:buNone/>
            </a:pPr>
            <a:r>
              <a:rPr lang="pt-BR" sz="1200" b="0" i="0" dirty="0">
                <a:solidFill>
                  <a:srgbClr val="5F6468"/>
                </a:solidFill>
                <a:latin typeface="Roboto"/>
                <a:ea typeface="Roboto"/>
                <a:cs typeface="Roboto"/>
              </a:rPr>
              <a:t>Avaliar critérios de IAM e, na ausência de critérios de IAM, buscar ativamente a causa da injúria</a:t>
            </a:r>
          </a:p>
        </p:txBody>
      </p:sp>
      <p:sp>
        <p:nvSpPr>
          <p:cNvPr id="309" name="Texto"/>
          <p:cNvSpPr txBox="1"/>
          <p:nvPr/>
        </p:nvSpPr>
        <p:spPr>
          <a:xfrm>
            <a:off x="4443984" y="4160520"/>
            <a:ext cx="3273552" cy="1188720"/>
          </a:xfrm>
          <a:prstGeom prst="rect">
            <a:avLst/>
          </a:prstGeom>
          <a:noFill/>
        </p:spPr>
        <p:txBody>
          <a:bodyPr wrap="square" lIns="0" rIns="0" tIns="0" bIns="0" anchor="t">
            <a:noAutofit/>
          </a:bodyPr>
          <a:lstStyle/>
          <a:p>
            <a:pPr algn="l">
              <a:buNone/>
            </a:pPr>
            <a:r>
              <a:rPr lang="pt-BR" sz="1200" b="0" i="0" dirty="0">
                <a:solidFill>
                  <a:srgbClr val="5F6468"/>
                </a:solidFill>
                <a:latin typeface="Roboto"/>
                <a:ea typeface="Roboto"/>
                <a:cs typeface="Roboto"/>
              </a:rPr>
              <a:t>Solicitar terceira dosagem de troponina, repetir ECG, realizar mais escores de risco (ex: GRACE) e considerar exames adicionais conforme suspeita*</a:t>
            </a:r>
          </a:p>
        </p:txBody>
      </p:sp>
      <p:sp>
        <p:nvSpPr>
          <p:cNvPr id="310" name="Texto"/>
          <p:cNvSpPr txBox="1"/>
          <p:nvPr/>
        </p:nvSpPr>
        <p:spPr>
          <a:xfrm>
            <a:off x="8174736" y="4160520"/>
            <a:ext cx="3273552" cy="1188720"/>
          </a:xfrm>
          <a:prstGeom prst="rect">
            <a:avLst/>
          </a:prstGeom>
          <a:noFill/>
        </p:spPr>
        <p:txBody>
          <a:bodyPr wrap="square" lIns="0" rIns="0" tIns="0" bIns="0" anchor="t">
            <a:noAutofit/>
          </a:bodyPr>
          <a:lstStyle/>
          <a:p>
            <a:pPr algn="l">
              <a:buNone/>
            </a:pPr>
            <a:r>
              <a:rPr lang="pt-BR" sz="1200" b="0" i="0" dirty="0">
                <a:solidFill>
                  <a:srgbClr val="5F6468"/>
                </a:solidFill>
                <a:latin typeface="Roboto"/>
                <a:ea typeface="Roboto"/>
                <a:cs typeface="Roboto"/>
              </a:rPr>
              <a:t>Na ausência de diagnósticos alternativos para a causa da dor torácica, considerar alta para casa, especialmente se HEART score &lt;4 em paciente sem antecedente de doença coronária*</a:t>
            </a:r>
          </a:p>
        </p:txBody>
      </p:sp>
      <p:sp>
        <p:nvSpPr>
          <p:cNvPr id="311" name="Nota"/>
          <p:cNvSpPr txBox="1"/>
          <p:nvPr/>
        </p:nvSpPr>
        <p:spPr>
          <a:xfrm>
            <a:off x="713232" y="5623560"/>
            <a:ext cx="10771632" cy="228600"/>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*Se suspeita de SCA persistir, seguir fluxo de investigação não-invasiva (figuras 13 e 14)</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Figura Central – Atendimento na emergência (2/4)</a:t>
            </a:r>
            <a:endParaRPr lang="pt-BR" dirty="0" sz="3200"/>
          </a:p>
        </p:txBody>
      </p:sp>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37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Etapa"/>
          <p:cNvSpPr/>
          <p:nvPr/>
        </p:nvSpPr>
        <p:spPr>
          <a:xfrm>
            <a:off x="4297680" y="1463040"/>
            <a:ext cx="4023360" cy="73152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PASSO 2</a:t>
            </a:r>
          </a:p>
          <a:p>
            <a:pPr algn="ctr">
              <a:buNone/>
            </a:pPr>
            <a:r>
              <a:rPr lang="pt-BR" sz="1200" b="0" i="0" dirty="0">
                <a:solidFill>
                  <a:srgbClr val="5F6468"/>
                </a:solidFill>
                <a:latin typeface="Roboto"/>
                <a:ea typeface="Roboto"/>
                <a:cs typeface="Roboto"/>
              </a:rPr>
              <a:t>(Avaliação inicial da rota diagnóstica)</a:t>
            </a:r>
          </a:p>
        </p:txBody>
      </p:sp>
      <p:pic>
        <p:nvPicPr>
          <p:cNvPr id="302" name="Figura" descr="Ícone de prancheta"/>
          <p:cNvPicPr>
            <a:picLocks noChangeAspect="1"/>
          </p:cNvPicPr>
          <p:nvPr/>
        </p:nvPicPr>
        <p:blipFill>
          <a:blip r:embed="rId3"/>
          <a:stretch>
            <a:fillRect/>
          </a:stretch>
        </p:blipFill>
        <p:spPr>
          <a:xfrm>
            <a:off x="3611880" y="1554480"/>
            <a:ext cx="562021" cy="548640"/>
          </a:xfrm>
          <a:prstGeom prst="rect">
            <a:avLst/>
          </a:prstGeom>
        </p:spPr>
      </p:pic>
      <p:sp>
        <p:nvSpPr>
          <p:cNvPr id="302" name="Seta"/>
          <p:cNvSpPr/>
          <p:nvPr/>
        </p:nvSpPr>
        <p:spPr>
          <a:xfrm>
            <a:off x="6309360" y="2194560"/>
            <a:ext cx="1" cy="274320"/>
          </a:xfrm>
          <a:custGeom>
            <a:avLst/>
            <a:gdLst/>
            <a:ahLst/>
            <a:cxnLst/>
            <a:rect l="0" t="0" r="r" b="b"/>
            <a:pathLst>
              <a:path w="1" h="274320" fill="none">
                <a:moveTo>
                  <a:pt x="0" y="0"/>
                </a:moveTo>
                <a:lnTo>
                  <a:pt x="0" y="274320"/>
                </a:lnTo>
              </a:path>
            </a:pathLst>
          </a:custGeom>
          <a:noFill/>
          <a:ln w="19050">
            <a:solidFill>
              <a:srgbClr val="6B6E70"/>
            </a:solidFill>
            <a:round/>
            <a:tailEnd type="triangle" w="med" len="med"/>
          </a:ln>
          <a:effectLst/>
        </p:spPr>
      </p:sp>
      <p:sp>
        <p:nvSpPr>
          <p:cNvPr id="303" name="Decisão"/>
          <p:cNvSpPr/>
          <p:nvPr/>
        </p:nvSpPr>
        <p:spPr>
          <a:xfrm>
            <a:off x="4572000" y="2468880"/>
            <a:ext cx="3474720" cy="1417320"/>
          </a:xfrm>
          <a:prstGeom prst="diamond">
            <a:avLst/>
          </a:prstGeom>
          <a:solidFill>
            <a:srgbClr val="8EC4CB"/>
          </a:solidFill>
          <a:ln>
            <a:noFill/>
          </a:ln>
          <a:effectLst/>
        </p:spPr>
        <p:txBody>
          <a:bodyPr rtlCol="0" anchor="ctr" wrap="square" lIns="0" rIns="0" tIns="45720" bIns="45720"/>
          <a:lstStyle/>
          <a:p>
            <a:pPr algn="ctr"/>
            <a:r>
              <a:rPr lang="pt-BR" sz="1200" b="0" i="0" dirty="0">
                <a:solidFill>
                  <a:srgbClr val="1F3238"/>
                </a:solidFill>
                <a:latin typeface="Roboto Medium"/>
                <a:ea typeface="Roboto Medium"/>
                <a:cs typeface="Roboto Medium"/>
              </a:rPr>
              <a:t>HÁ CRITÉRIO DE</a:t>
            </a:r>
          </a:p>
          <a:p>
            <a:pPr algn="ctr"/>
            <a:r>
              <a:rPr lang="pt-BR" sz="1200" b="0" i="0" dirty="0">
                <a:solidFill>
                  <a:srgbClr val="1F3238"/>
                </a:solidFill>
                <a:latin typeface="Roboto Medium"/>
                <a:ea typeface="Roboto Medium"/>
                <a:cs typeface="Roboto Medium"/>
              </a:rPr>
              <a:t>INSTABILIDADE?¹</a:t>
            </a:r>
          </a:p>
        </p:txBody>
      </p:sp>
      <p:sp>
        <p:nvSpPr>
          <p:cNvPr id="304" name="Etapa"/>
          <p:cNvSpPr/>
          <p:nvPr/>
        </p:nvSpPr>
        <p:spPr>
          <a:xfrm>
            <a:off x="8595360" y="1463040"/>
            <a:ext cx="2889504" cy="2606040"/>
          </a:xfrm>
          <a:prstGeom prst="rect">
            <a:avLst/>
          </a:prstGeom>
          <a:solidFill>
            <a:srgbClr val="F2F4F5"/>
          </a:solidFill>
          <a:ln w="12700">
            <a:solidFill>
              <a:srgbClr val="6E9DAB"/>
            </a:solidFill>
          </a:ln>
          <a:effectLst/>
        </p:spPr>
        <p:txBody>
          <a:bodyPr rtlCol="0" anchor="t" wrap="square" lIns="91440" rIns="91440" tIns="45720" bIns="45720"/>
          <a:lstStyle/>
          <a:p>
            <a:pPr algn="l">
              <a:buNone/>
            </a:pPr>
            <a:r>
              <a:rPr lang="pt-BR" sz="1300" b="0" i="0" dirty="0">
                <a:solidFill>
                  <a:srgbClr val="3B3F42"/>
                </a:solidFill>
                <a:latin typeface="Roboto Medium"/>
                <a:ea typeface="Roboto Medium"/>
                <a:cs typeface="Roboto Medium"/>
              </a:rPr>
              <a:t>SEGUIR ROTA DE PACIENTE INSTÁVEL:</a:t>
            </a:r>
          </a:p>
          <a:p>
            <a:pPr algn="l">
              <a:buNone/>
            </a:pPr>
            <a:r>
              <a:rPr lang="pt-BR" sz="1200" b="0" i="0" dirty="0">
                <a:solidFill>
                  <a:srgbClr val="5F6468"/>
                </a:solidFill>
                <a:latin typeface="Roboto"/>
                <a:ea typeface="Roboto"/>
                <a:cs typeface="Roboto"/>
              </a:rPr>
              <a:t>Avaliação clínica + dosagem de troponina</a:t>
            </a:r>
          </a:p>
          <a:p>
            <a:pPr algn="l">
              <a:buNone/>
            </a:pPr>
            <a:r>
              <a:rPr lang="pt-BR" sz="1200" b="0" i="0" dirty="0">
                <a:solidFill>
                  <a:srgbClr val="5F6468"/>
                </a:solidFill>
                <a:latin typeface="Roboto"/>
                <a:ea typeface="Roboto"/>
                <a:cs typeface="Roboto"/>
              </a:rPr>
              <a:t>Repetir ECG a cada 10-20 minutos (apoio de médico experiente)</a:t>
            </a:r>
          </a:p>
          <a:p>
            <a:pPr algn="l">
              <a:buNone/>
            </a:pPr>
            <a:r>
              <a:rPr lang="pt-BR" sz="1200" b="0" i="0" dirty="0">
                <a:solidFill>
                  <a:srgbClr val="5F6468"/>
                </a:solidFill>
                <a:latin typeface="Roboto"/>
                <a:ea typeface="Roboto"/>
                <a:cs typeface="Roboto"/>
              </a:rPr>
              <a:t>Buscar ativamente diagnósticos diferenciais (POCUS, outros exames)</a:t>
            </a:r>
          </a:p>
          <a:p>
            <a:pPr algn="l">
              <a:buNone/>
            </a:pPr>
            <a:r>
              <a:rPr lang="pt-BR" sz="1200" b="0" i="0" dirty="0">
                <a:solidFill>
                  <a:srgbClr val="5F6468"/>
                </a:solidFill>
                <a:latin typeface="Roboto"/>
                <a:ea typeface="Roboto"/>
                <a:cs typeface="Roboto"/>
              </a:rPr>
              <a:t>Admissão na unidade</a:t>
            </a:r>
          </a:p>
          <a:p>
            <a:pPr algn="l">
              <a:buNone/>
            </a:pPr>
            <a:r>
              <a:rPr lang="pt-BR" sz="1200" b="0" i="0" dirty="0">
                <a:solidFill>
                  <a:srgbClr val="5F6468"/>
                </a:solidFill>
                <a:latin typeface="Roboto"/>
                <a:ea typeface="Roboto"/>
                <a:cs typeface="Roboto"/>
              </a:rPr>
              <a:t>Tratar conforme diagnóstico estabelecido</a:t>
            </a:r>
          </a:p>
          <a:p>
            <a:pPr algn="l">
              <a:buNone/>
            </a:pPr>
            <a:r>
              <a:rPr lang="pt-BR" sz="1200" b="0" i="0" dirty="0">
                <a:solidFill>
                  <a:srgbClr val="5F6468"/>
                </a:solidFill>
                <a:latin typeface="Roboto"/>
                <a:ea typeface="Roboto"/>
                <a:cs typeface="Roboto"/>
              </a:rPr>
              <a:t>Avaliar indicação de time de choque</a:t>
            </a:r>
          </a:p>
        </p:txBody>
      </p:sp>
      <p:sp>
        <p:nvSpPr>
          <p:cNvPr id="305" name="Seta"/>
          <p:cNvSpPr/>
          <p:nvPr/>
        </p:nvSpPr>
        <p:spPr>
          <a:xfrm>
            <a:off x="8046720" y="3177540"/>
            <a:ext cx="548640" cy="1"/>
          </a:xfrm>
          <a:custGeom>
            <a:avLst/>
            <a:gdLst/>
            <a:ahLst/>
            <a:cxnLst/>
            <a:rect l="0" t="0" r="r" b="b"/>
            <a:pathLst>
              <a:path w="548640" h="1" fill="none">
                <a:moveTo>
                  <a:pt x="0" y="0"/>
                </a:moveTo>
                <a:lnTo>
                  <a:pt x="548640" y="0"/>
                </a:lnTo>
              </a:path>
            </a:pathLst>
          </a:custGeom>
          <a:noFill/>
          <a:ln w="19050">
            <a:solidFill>
              <a:srgbClr val="6B6E70"/>
            </a:solidFill>
            <a:round/>
            <a:tailEnd type="triangle" w="med" len="med"/>
          </a:ln>
          <a:effectLst/>
        </p:spPr>
      </p:sp>
      <p:sp>
        <p:nvSpPr>
          <p:cNvPr id="306" name="Rótulo"/>
          <p:cNvSpPr txBox="1"/>
          <p:nvPr/>
        </p:nvSpPr>
        <p:spPr>
          <a:xfrm>
            <a:off x="8092440" y="2921508"/>
            <a:ext cx="41148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Sim</a:t>
            </a:r>
          </a:p>
        </p:txBody>
      </p:sp>
      <p:sp>
        <p:nvSpPr>
          <p:cNvPr id="307" name="Fim/Início"/>
          <p:cNvSpPr/>
          <p:nvPr/>
        </p:nvSpPr>
        <p:spPr>
          <a:xfrm>
            <a:off x="1097280" y="4343400"/>
            <a:ext cx="3291840" cy="603504"/>
          </a:xfrm>
          <a:prstGeom prst="roundRect">
            <a:avLst>
              <a:gd name="adj" fmla="val 50000"/>
            </a:avLst>
          </a:prstGeom>
          <a:solidFill>
            <a:srgbClr val="4E7C8B"/>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PASSO 3</a:t>
            </a:r>
          </a:p>
        </p:txBody>
      </p:sp>
      <p:sp>
        <p:nvSpPr>
          <p:cNvPr id="308" name="Seta"/>
          <p:cNvSpPr/>
          <p:nvPr/>
        </p:nvSpPr>
        <p:spPr>
          <a:xfrm>
            <a:off x="2743200" y="3177540"/>
            <a:ext cx="1828800" cy="1165860"/>
          </a:xfrm>
          <a:custGeom>
            <a:avLst/>
            <a:gdLst/>
            <a:ahLst/>
            <a:cxnLst/>
            <a:rect l="0" t="0" r="r" b="b"/>
            <a:pathLst>
              <a:path w="1828800" h="1165860" fill="none">
                <a:moveTo>
                  <a:pt x="1828800" y="0"/>
                </a:moveTo>
                <a:lnTo>
                  <a:pt x="0" y="0"/>
                </a:lnTo>
                <a:lnTo>
                  <a:pt x="0" y="1165860"/>
                </a:lnTo>
              </a:path>
            </a:pathLst>
          </a:custGeom>
          <a:noFill/>
          <a:ln w="19050">
            <a:solidFill>
              <a:srgbClr val="6B6E70"/>
            </a:solidFill>
            <a:round/>
            <a:tailEnd type="triangle" w="med" len="med"/>
          </a:ln>
          <a:effectLst/>
        </p:spPr>
      </p:sp>
      <p:sp>
        <p:nvSpPr>
          <p:cNvPr id="309" name="Rótulo"/>
          <p:cNvSpPr txBox="1"/>
          <p:nvPr/>
        </p:nvSpPr>
        <p:spPr>
          <a:xfrm>
            <a:off x="4023360" y="2921508"/>
            <a:ext cx="457200" cy="201168"/>
          </a:xfrm>
          <a:prstGeom prst="rect">
            <a:avLst/>
          </a:prstGeom>
          <a:noFill/>
        </p:spPr>
        <p:txBody>
          <a:bodyPr wrap="square" lIns="0" rIns="0" tIns="0" bIns="0" anchor="t">
            <a:noAutofit/>
          </a:bodyPr>
          <a:lstStyle/>
          <a:p>
            <a:pPr algn="r"/>
            <a:r>
              <a:rPr lang="pt-BR" sz="1200" b="0" i="0" dirty="0">
                <a:solidFill>
                  <a:srgbClr val="4E7C8B"/>
                </a:solidFill>
                <a:latin typeface="Roboto Medium"/>
                <a:ea typeface="Roboto Medium"/>
                <a:cs typeface="Roboto Medium"/>
              </a:rPr>
              <a:t>Não</a:t>
            </a:r>
          </a:p>
        </p:txBody>
      </p:sp>
      <p:sp>
        <p:nvSpPr>
          <p:cNvPr id="311" name="Card"/>
          <p:cNvSpPr/>
          <p:nvPr/>
        </p:nvSpPr>
        <p:spPr>
          <a:xfrm>
            <a:off x="4846320" y="4343400"/>
            <a:ext cx="6638544" cy="1691640"/>
          </a:xfrm>
          <a:prstGeom prst="rect">
            <a:avLst/>
          </a:prstGeom>
          <a:solidFill>
            <a:srgbClr val="F2F4F5"/>
          </a:solidFill>
          <a:ln>
            <a:noFill/>
          </a:ln>
          <a:effectLst/>
        </p:spPr>
      </p:sp>
      <p:sp>
        <p:nvSpPr>
          <p:cNvPr id="312" name="Faixa"/>
          <p:cNvSpPr/>
          <p:nvPr/>
        </p:nvSpPr>
        <p:spPr>
          <a:xfrm>
            <a:off x="4846320" y="4343400"/>
            <a:ext cx="6638544" cy="38100"/>
          </a:xfrm>
          <a:prstGeom prst="rect">
            <a:avLst/>
          </a:prstGeom>
          <a:solidFill>
            <a:srgbClr val="4E7C8B"/>
          </a:solidFill>
          <a:ln>
            <a:noFill/>
          </a:ln>
          <a:effectLst/>
        </p:spPr>
      </p:sp>
      <p:sp>
        <p:nvSpPr>
          <p:cNvPr id="313" name="Título do card"/>
          <p:cNvSpPr txBox="1"/>
          <p:nvPr/>
        </p:nvSpPr>
        <p:spPr>
          <a:xfrm>
            <a:off x="5074920" y="4526280"/>
            <a:ext cx="6181344" cy="260000"/>
          </a:xfrm>
          <a:prstGeom prst="rect">
            <a:avLst/>
          </a:prstGeom>
          <a:noFill/>
        </p:spPr>
        <p:txBody>
          <a:bodyPr wrap="square" lIns="0" rIns="0" tIns="0" bIns="0" anchor="t">
            <a:noAutofit/>
          </a:bodyPr>
          <a:lstStyle/>
          <a:p>
            <a:pPr algn="l">
              <a:buNone/>
            </a:pPr>
            <a:r>
              <a:rPr lang="pt-BR" sz="1500" b="0" i="0" dirty="0">
                <a:solidFill>
                  <a:srgbClr val="3B3F42"/>
                </a:solidFill>
                <a:latin typeface="Roboto Medium"/>
                <a:ea typeface="Roboto Medium"/>
                <a:cs typeface="Roboto Medium"/>
              </a:rPr>
              <a:t>1. CRITÉRIOS DE INSTABILIDADE:</a:t>
            </a:r>
          </a:p>
        </p:txBody>
      </p:sp>
      <p:sp>
        <p:nvSpPr>
          <p:cNvPr id="314" name="Corpo do card"/>
          <p:cNvSpPr txBox="1"/>
          <p:nvPr/>
        </p:nvSpPr>
        <p:spPr>
          <a:xfrm>
            <a:off x="5074920" y="4866280"/>
            <a:ext cx="6181344" cy="1068760"/>
          </a:xfrm>
          <a:prstGeom prst="rect">
            <a:avLst/>
          </a:prstGeom>
          <a:noFill/>
        </p:spPr>
        <p:txBody>
          <a:bodyPr wrap="square" lIns="0" rIns="0" tIns="0" bIns="0" anchor="t">
            <a:noAutofit/>
          </a:bodyPr>
          <a:lstStyle/>
          <a:p>
            <a:pPr algn="l" marL="171450" indent="-171450">
              <a:buClr>
                <a:srgbClr val="4E7C8B"/>
              </a:buClr>
              <a:buFont typeface="Roboto"/>
              <a:buChar char="•"/>
            </a:pPr>
            <a:r>
              <a:rPr lang="pt-BR" sz="1200" b="0" i="0" dirty="0">
                <a:solidFill>
                  <a:srgbClr val="5F6468"/>
                </a:solidFill>
                <a:latin typeface="Roboto"/>
                <a:ea typeface="Roboto"/>
                <a:cs typeface="Roboto"/>
              </a:rPr>
              <a:t>ECG limítrofe</a:t>
            </a:r>
          </a:p>
          <a:p>
            <a:pPr algn="l" marL="171450" indent="-171450">
              <a:buClr>
                <a:srgbClr val="4E7C8B"/>
              </a:buClr>
              <a:buFont typeface="Roboto"/>
              <a:buChar char="•"/>
            </a:pPr>
            <a:r>
              <a:rPr lang="pt-BR" sz="1200" b="0" i="0" dirty="0">
                <a:solidFill>
                  <a:srgbClr val="5F6468"/>
                </a:solidFill>
                <a:latin typeface="Roboto"/>
                <a:ea typeface="Roboto"/>
                <a:cs typeface="Roboto"/>
              </a:rPr>
              <a:t>Dor persistente</a:t>
            </a:r>
          </a:p>
          <a:p>
            <a:pPr algn="l" marL="171450" indent="-171450">
              <a:buClr>
                <a:srgbClr val="4E7C8B"/>
              </a:buClr>
              <a:buFont typeface="Roboto"/>
              <a:buChar char="•"/>
            </a:pPr>
            <a:r>
              <a:rPr lang="pt-BR" sz="1200" b="0" i="0" dirty="0">
                <a:solidFill>
                  <a:srgbClr val="5F6468"/>
                </a:solidFill>
                <a:latin typeface="Roboto"/>
                <a:ea typeface="Roboto"/>
                <a:cs typeface="Roboto"/>
              </a:rPr>
              <a:t>Instabilidade hemodinâmica/Má perfusão (perda de consciência, etc)</a:t>
            </a:r>
          </a:p>
          <a:p>
            <a:pPr algn="l" marL="171450" indent="-171450">
              <a:buClr>
                <a:srgbClr val="4E7C8B"/>
              </a:buClr>
              <a:buFont typeface="Roboto"/>
              <a:buChar char="•"/>
            </a:pPr>
            <a:r>
              <a:rPr lang="pt-BR" sz="1200" b="0" i="0" dirty="0">
                <a:solidFill>
                  <a:srgbClr val="5F6468"/>
                </a:solidFill>
                <a:latin typeface="Roboto"/>
                <a:ea typeface="Roboto"/>
                <a:cs typeface="Roboto"/>
              </a:rPr>
              <a:t>Congestão pulmonar aguda</a:t>
            </a:r>
          </a:p>
          <a:p>
            <a:pPr algn="l" marL="171450" indent="-171450">
              <a:buClr>
                <a:srgbClr val="4E7C8B"/>
              </a:buClr>
              <a:buFont typeface="Roboto"/>
              <a:buChar char="•"/>
            </a:pPr>
            <a:r>
              <a:rPr lang="pt-BR" sz="1200" b="0" i="0" dirty="0">
                <a:solidFill>
                  <a:srgbClr val="5F6468"/>
                </a:solidFill>
                <a:latin typeface="Roboto"/>
                <a:ea typeface="Roboto"/>
                <a:cs typeface="Roboto"/>
              </a:rPr>
              <a:t>Taquiarritmia / bradiarritmia no cenário de dor torácica aguda</a:t>
            </a:r>
          </a:p>
        </p:txBody>
      </p:sp>
      <p:pic>
        <p:nvPicPr>
          <p:cNvPr id="315" name="Figura" descr="Ícone de sirene"/>
          <p:cNvPicPr>
            <a:picLocks noChangeAspect="1"/>
          </p:cNvPicPr>
          <p:nvPr/>
        </p:nvPicPr>
        <p:blipFill>
          <a:blip r:embed="rId4"/>
          <a:stretch>
            <a:fillRect/>
          </a:stretch>
        </p:blipFill>
        <p:spPr>
          <a:xfrm>
            <a:off x="10698480" y="4526280"/>
            <a:ext cx="566928" cy="566928"/>
          </a:xfrm>
          <a:prstGeom prst="rect">
            <a:avLst/>
          </a:prstGeom>
        </p:spPr>
      </p:pic>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Figura Central – Atendimento na emergência (3/4)</a:t>
            </a:r>
            <a:endParaRPr lang="pt-BR" dirty="0" sz="3200"/>
          </a:p>
        </p:txBody>
      </p:sp>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38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Etapa"/>
          <p:cNvSpPr/>
          <p:nvPr/>
        </p:nvSpPr>
        <p:spPr>
          <a:xfrm>
            <a:off x="4023360" y="1463040"/>
            <a:ext cx="4572000" cy="114300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PASSO 3</a:t>
            </a:r>
          </a:p>
          <a:p>
            <a:pPr algn="ctr">
              <a:buNone/>
            </a:pPr>
            <a:r>
              <a:rPr lang="pt-BR" sz="1200" b="0" i="0" dirty="0">
                <a:solidFill>
                  <a:srgbClr val="5F6468"/>
                </a:solidFill>
                <a:latin typeface="Roboto"/>
                <a:ea typeface="Roboto"/>
                <a:cs typeface="Roboto"/>
              </a:rPr>
              <a:t>(Decisão após avaliação clínica detalhada com apoio de algoritmos e exames iniciais conforme suspeita clínica)</a:t>
            </a:r>
          </a:p>
        </p:txBody>
      </p:sp>
      <p:pic>
        <p:nvPicPr>
          <p:cNvPr id="302" name="Figura" descr="Ícone de cápsula"/>
          <p:cNvPicPr>
            <a:picLocks noChangeAspect="1"/>
          </p:cNvPicPr>
          <p:nvPr/>
        </p:nvPicPr>
        <p:blipFill>
          <a:blip r:embed="rId3"/>
          <a:stretch>
            <a:fillRect/>
          </a:stretch>
        </p:blipFill>
        <p:spPr>
          <a:xfrm>
            <a:off x="3337560" y="1737360"/>
            <a:ext cx="548640" cy="548640"/>
          </a:xfrm>
          <a:prstGeom prst="rect">
            <a:avLst/>
          </a:prstGeom>
        </p:spPr>
      </p:pic>
      <p:pic>
        <p:nvPicPr>
          <p:cNvPr id="303" name="Figura" descr="Ícone de microscópio"/>
          <p:cNvPicPr>
            <a:picLocks noChangeAspect="1"/>
          </p:cNvPicPr>
          <p:nvPr/>
        </p:nvPicPr>
        <p:blipFill>
          <a:blip r:embed="rId4"/>
          <a:stretch>
            <a:fillRect/>
          </a:stretch>
        </p:blipFill>
        <p:spPr>
          <a:xfrm>
            <a:off x="8732520" y="1737360"/>
            <a:ext cx="535577" cy="548640"/>
          </a:xfrm>
          <a:prstGeom prst="rect">
            <a:avLst/>
          </a:prstGeom>
        </p:spPr>
      </p:pic>
      <p:sp>
        <p:nvSpPr>
          <p:cNvPr id="302" name="Seta"/>
          <p:cNvSpPr/>
          <p:nvPr/>
        </p:nvSpPr>
        <p:spPr>
          <a:xfrm>
            <a:off x="6309360" y="2606040"/>
            <a:ext cx="1" cy="274320"/>
          </a:xfrm>
          <a:custGeom>
            <a:avLst/>
            <a:gdLst/>
            <a:ahLst/>
            <a:cxnLst/>
            <a:rect l="0" t="0" r="r" b="b"/>
            <a:pathLst>
              <a:path w="1" h="274320" fill="none">
                <a:moveTo>
                  <a:pt x="0" y="0"/>
                </a:moveTo>
                <a:lnTo>
                  <a:pt x="0" y="274320"/>
                </a:lnTo>
              </a:path>
            </a:pathLst>
          </a:custGeom>
          <a:noFill/>
          <a:ln w="19050">
            <a:solidFill>
              <a:srgbClr val="6B6E70"/>
            </a:solidFill>
            <a:round/>
            <a:tailEnd type="triangle" w="med" len="med"/>
          </a:ln>
          <a:effectLst/>
        </p:spPr>
      </p:sp>
      <p:sp>
        <p:nvSpPr>
          <p:cNvPr id="303" name="Decisão"/>
          <p:cNvSpPr/>
          <p:nvPr/>
        </p:nvSpPr>
        <p:spPr>
          <a:xfrm>
            <a:off x="4572000" y="2880360"/>
            <a:ext cx="3474720" cy="1371600"/>
          </a:xfrm>
          <a:prstGeom prst="diamond">
            <a:avLst/>
          </a:prstGeom>
          <a:solidFill>
            <a:srgbClr val="8EC4CB"/>
          </a:solidFill>
          <a:ln>
            <a:noFill/>
          </a:ln>
          <a:effectLst/>
        </p:spPr>
        <p:txBody>
          <a:bodyPr rtlCol="0" anchor="ctr" wrap="square" lIns="0" rIns="0" tIns="45720" bIns="45720"/>
          <a:lstStyle/>
          <a:p>
            <a:pPr algn="ctr"/>
            <a:r>
              <a:rPr lang="pt-BR" sz="1200" b="0" i="0" dirty="0">
                <a:solidFill>
                  <a:srgbClr val="1F3238"/>
                </a:solidFill>
                <a:latin typeface="Roboto Medium"/>
                <a:ea typeface="Roboto Medium"/>
                <a:cs typeface="Roboto Medium"/>
              </a:rPr>
              <a:t>DIAGNÓSTICO</a:t>
            </a:r>
          </a:p>
          <a:p>
            <a:pPr algn="ctr"/>
            <a:r>
              <a:rPr lang="pt-BR" sz="1200" b="0" i="0" dirty="0">
                <a:solidFill>
                  <a:srgbClr val="1F3238"/>
                </a:solidFill>
                <a:latin typeface="Roboto Medium"/>
                <a:ea typeface="Roboto Medium"/>
                <a:cs typeface="Roboto Medium"/>
              </a:rPr>
              <a:t>ESTABELECIDO?</a:t>
            </a:r>
          </a:p>
        </p:txBody>
      </p:sp>
      <p:sp>
        <p:nvSpPr>
          <p:cNvPr id="304" name="Fim/Início"/>
          <p:cNvSpPr/>
          <p:nvPr/>
        </p:nvSpPr>
        <p:spPr>
          <a:xfrm>
            <a:off x="8778240" y="3264408"/>
            <a:ext cx="2706624" cy="603504"/>
          </a:xfrm>
          <a:prstGeom prst="roundRect">
            <a:avLst>
              <a:gd name="adj" fmla="val 50000"/>
            </a:avLst>
          </a:prstGeom>
          <a:solidFill>
            <a:srgbClr val="4E7C8B"/>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SEGUIR ROTA TERAPÊUTICA</a:t>
            </a:r>
          </a:p>
        </p:txBody>
      </p:sp>
      <p:sp>
        <p:nvSpPr>
          <p:cNvPr id="305" name="Seta"/>
          <p:cNvSpPr/>
          <p:nvPr/>
        </p:nvSpPr>
        <p:spPr>
          <a:xfrm>
            <a:off x="8046720" y="3566160"/>
            <a:ext cx="731520" cy="1"/>
          </a:xfrm>
          <a:custGeom>
            <a:avLst/>
            <a:gdLst/>
            <a:ahLst/>
            <a:cxnLst/>
            <a:rect l="0" t="0" r="r" b="b"/>
            <a:pathLst>
              <a:path w="731520" h="1" fill="none">
                <a:moveTo>
                  <a:pt x="0" y="0"/>
                </a:moveTo>
                <a:lnTo>
                  <a:pt x="731520" y="0"/>
                </a:lnTo>
              </a:path>
            </a:pathLst>
          </a:custGeom>
          <a:noFill/>
          <a:ln w="19050">
            <a:solidFill>
              <a:srgbClr val="6B6E70"/>
            </a:solidFill>
            <a:round/>
            <a:tailEnd type="triangle" w="med" len="med"/>
          </a:ln>
          <a:effectLst/>
        </p:spPr>
      </p:sp>
      <p:sp>
        <p:nvSpPr>
          <p:cNvPr id="306" name="Rótulo"/>
          <p:cNvSpPr txBox="1"/>
          <p:nvPr/>
        </p:nvSpPr>
        <p:spPr>
          <a:xfrm>
            <a:off x="8092440" y="3310128"/>
            <a:ext cx="41148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Sim</a:t>
            </a:r>
          </a:p>
        </p:txBody>
      </p:sp>
      <p:sp>
        <p:nvSpPr>
          <p:cNvPr id="307" name="Fim/Início"/>
          <p:cNvSpPr/>
          <p:nvPr/>
        </p:nvSpPr>
        <p:spPr>
          <a:xfrm>
            <a:off x="822960" y="4846320"/>
            <a:ext cx="4023360" cy="868680"/>
          </a:xfrm>
          <a:prstGeom prst="roundRect">
            <a:avLst>
              <a:gd name="adj" fmla="val 50000"/>
            </a:avLst>
          </a:prstGeom>
          <a:solidFill>
            <a:srgbClr val="4E7C8B"/>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CLASSIFICAR CONFORME ALGORITMOS DE TROPONINA E ESCORES DE RISCO</a:t>
            </a:r>
          </a:p>
        </p:txBody>
      </p:sp>
      <p:sp>
        <p:nvSpPr>
          <p:cNvPr id="308" name="Seta"/>
          <p:cNvSpPr/>
          <p:nvPr/>
        </p:nvSpPr>
        <p:spPr>
          <a:xfrm>
            <a:off x="2834640" y="3566160"/>
            <a:ext cx="1737360" cy="1280160"/>
          </a:xfrm>
          <a:custGeom>
            <a:avLst/>
            <a:gdLst/>
            <a:ahLst/>
            <a:cxnLst/>
            <a:rect l="0" t="0" r="r" b="b"/>
            <a:pathLst>
              <a:path w="1737360" h="1280160" fill="none">
                <a:moveTo>
                  <a:pt x="1737360" y="0"/>
                </a:moveTo>
                <a:lnTo>
                  <a:pt x="0" y="0"/>
                </a:lnTo>
                <a:lnTo>
                  <a:pt x="0" y="1280160"/>
                </a:lnTo>
              </a:path>
            </a:pathLst>
          </a:custGeom>
          <a:noFill/>
          <a:ln w="19050">
            <a:solidFill>
              <a:srgbClr val="6B6E70"/>
            </a:solidFill>
            <a:round/>
            <a:tailEnd type="triangle" w="med" len="med"/>
          </a:ln>
          <a:effectLst/>
        </p:spPr>
      </p:sp>
      <p:sp>
        <p:nvSpPr>
          <p:cNvPr id="309" name="Rótulo"/>
          <p:cNvSpPr txBox="1"/>
          <p:nvPr/>
        </p:nvSpPr>
        <p:spPr>
          <a:xfrm>
            <a:off x="4023360" y="3310128"/>
            <a:ext cx="457200" cy="201168"/>
          </a:xfrm>
          <a:prstGeom prst="rect">
            <a:avLst/>
          </a:prstGeom>
          <a:noFill/>
        </p:spPr>
        <p:txBody>
          <a:bodyPr wrap="square" lIns="0" rIns="0" tIns="0" bIns="0" anchor="t">
            <a:noAutofit/>
          </a:bodyPr>
          <a:lstStyle/>
          <a:p>
            <a:pPr algn="r"/>
            <a:r>
              <a:rPr lang="pt-BR" sz="1200" b="0" i="0" dirty="0">
                <a:solidFill>
                  <a:srgbClr val="4E7C8B"/>
                </a:solidFill>
                <a:latin typeface="Roboto Medium"/>
                <a:ea typeface="Roboto Medium"/>
                <a:cs typeface="Roboto Medium"/>
              </a:rPr>
              <a:t>Não</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Figura Central – Atendimento na emergência (4/4)</a:t>
            </a:r>
            <a:endParaRPr lang="pt-BR" dirty="0" sz="3200"/>
          </a:p>
        </p:txBody>
      </p:sp>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39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Fim/Início"/>
          <p:cNvSpPr/>
          <p:nvPr/>
        </p:nvSpPr>
        <p:spPr>
          <a:xfrm>
            <a:off x="3447288" y="1463040"/>
            <a:ext cx="5303520" cy="777240"/>
          </a:xfrm>
          <a:prstGeom prst="roundRect">
            <a:avLst>
              <a:gd name="adj" fmla="val 50000"/>
            </a:avLst>
          </a:prstGeom>
          <a:solidFill>
            <a:srgbClr val="4E7C8B"/>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CLASSIFICAR CONFORME ALGORITMOS DE TROPONINA E ESCORES DE RISCO</a:t>
            </a:r>
          </a:p>
        </p:txBody>
      </p:sp>
      <p:pic>
        <p:nvPicPr>
          <p:cNvPr id="302" name="Figura" descr="Ícone de microscópio"/>
          <p:cNvPicPr>
            <a:picLocks noChangeAspect="1"/>
          </p:cNvPicPr>
          <p:nvPr/>
        </p:nvPicPr>
        <p:blipFill>
          <a:blip r:embed="rId3"/>
          <a:stretch>
            <a:fillRect/>
          </a:stretch>
        </p:blipFill>
        <p:spPr>
          <a:xfrm>
            <a:off x="8887968" y="1572768"/>
            <a:ext cx="535577" cy="548640"/>
          </a:xfrm>
          <a:prstGeom prst="rect">
            <a:avLst/>
          </a:prstGeom>
        </p:spPr>
      </p:pic>
      <p:sp>
        <p:nvSpPr>
          <p:cNvPr id="302" name="Seta"/>
          <p:cNvSpPr/>
          <p:nvPr/>
        </p:nvSpPr>
        <p:spPr>
          <a:xfrm>
            <a:off x="2350008" y="2240280"/>
            <a:ext cx="3749040" cy="594360"/>
          </a:xfrm>
          <a:custGeom>
            <a:avLst/>
            <a:gdLst/>
            <a:ahLst/>
            <a:cxnLst/>
            <a:rect l="0" t="0" r="r" b="b"/>
            <a:pathLst>
              <a:path w="3749040" h="594360" fill="none">
                <a:moveTo>
                  <a:pt x="3749040" y="0"/>
                </a:moveTo>
                <a:lnTo>
                  <a:pt x="3749040" y="320040"/>
                </a:lnTo>
                <a:lnTo>
                  <a:pt x="0" y="320040"/>
                </a:lnTo>
                <a:lnTo>
                  <a:pt x="0" y="594360"/>
                </a:lnTo>
              </a:path>
            </a:pathLst>
          </a:custGeom>
          <a:noFill/>
          <a:ln w="19050">
            <a:solidFill>
              <a:srgbClr val="6B6E70"/>
            </a:solidFill>
            <a:round/>
            <a:tailEnd type="triangle" w="med" len="med"/>
          </a:ln>
          <a:effectLst/>
        </p:spPr>
      </p:sp>
      <p:sp>
        <p:nvSpPr>
          <p:cNvPr id="303" name="Seta"/>
          <p:cNvSpPr/>
          <p:nvPr/>
        </p:nvSpPr>
        <p:spPr>
          <a:xfrm>
            <a:off x="6080760" y="2240280"/>
            <a:ext cx="18288" cy="594360"/>
          </a:xfrm>
          <a:custGeom>
            <a:avLst/>
            <a:gdLst/>
            <a:ahLst/>
            <a:cxnLst/>
            <a:rect l="0" t="0" r="r" b="b"/>
            <a:pathLst>
              <a:path w="18288" h="594360" fill="none">
                <a:moveTo>
                  <a:pt x="18288" y="0"/>
                </a:moveTo>
                <a:lnTo>
                  <a:pt x="18288" y="320040"/>
                </a:lnTo>
                <a:lnTo>
                  <a:pt x="0" y="320040"/>
                </a:lnTo>
                <a:lnTo>
                  <a:pt x="0" y="594360"/>
                </a:lnTo>
              </a:path>
            </a:pathLst>
          </a:custGeom>
          <a:noFill/>
          <a:ln w="19050">
            <a:solidFill>
              <a:srgbClr val="6B6E70"/>
            </a:solidFill>
            <a:round/>
            <a:tailEnd type="triangle" w="med" len="med"/>
          </a:ln>
          <a:effectLst/>
        </p:spPr>
      </p:sp>
      <p:sp>
        <p:nvSpPr>
          <p:cNvPr id="304" name="Seta"/>
          <p:cNvSpPr/>
          <p:nvPr/>
        </p:nvSpPr>
        <p:spPr>
          <a:xfrm>
            <a:off x="6099048" y="2240280"/>
            <a:ext cx="3712464" cy="594360"/>
          </a:xfrm>
          <a:custGeom>
            <a:avLst/>
            <a:gdLst/>
            <a:ahLst/>
            <a:cxnLst/>
            <a:rect l="0" t="0" r="r" b="b"/>
            <a:pathLst>
              <a:path w="3712464" h="594360" fill="none">
                <a:moveTo>
                  <a:pt x="0" y="0"/>
                </a:moveTo>
                <a:lnTo>
                  <a:pt x="0" y="320040"/>
                </a:lnTo>
                <a:lnTo>
                  <a:pt x="3712464" y="320040"/>
                </a:lnTo>
                <a:lnTo>
                  <a:pt x="3712464" y="594360"/>
                </a:lnTo>
              </a:path>
            </a:pathLst>
          </a:custGeom>
          <a:noFill/>
          <a:ln w="19050">
            <a:solidFill>
              <a:srgbClr val="6B6E70"/>
            </a:solidFill>
            <a:round/>
            <a:tailEnd type="triangle" w="med" len="med"/>
          </a:ln>
          <a:effectLst/>
        </p:spPr>
      </p:sp>
      <p:sp>
        <p:nvSpPr>
          <p:cNvPr id="305" name="Status"/>
          <p:cNvSpPr/>
          <p:nvPr/>
        </p:nvSpPr>
        <p:spPr>
          <a:xfrm>
            <a:off x="713232" y="2834640"/>
            <a:ext cx="3273552" cy="1188720"/>
          </a:xfrm>
          <a:prstGeom prst="rect">
            <a:avLst/>
          </a:prstGeom>
          <a:solidFill>
            <a:srgbClr val="B5533C"/>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RULE IN – ADMISSÃO DO PACIENTE</a:t>
            </a:r>
          </a:p>
        </p:txBody>
      </p:sp>
      <p:sp>
        <p:nvSpPr>
          <p:cNvPr id="306" name="Status"/>
          <p:cNvSpPr/>
          <p:nvPr/>
        </p:nvSpPr>
        <p:spPr>
          <a:xfrm>
            <a:off x="4443984" y="2834640"/>
            <a:ext cx="3273552" cy="1188720"/>
          </a:xfrm>
          <a:prstGeom prst="rect">
            <a:avLst/>
          </a:prstGeom>
          <a:solidFill>
            <a:srgbClr val="C98A2B"/>
          </a:solidFill>
          <a:ln>
            <a:noFill/>
          </a:ln>
          <a:effectLst/>
        </p:spPr>
        <p:txBody>
          <a:bodyPr rtlCol="0" anchor="ctr" wrap="square" lIns="91440" rIns="91440" tIns="45720" bIns="45720"/>
          <a:lstStyle/>
          <a:p>
            <a:pPr algn="ctr">
              <a:buNone/>
            </a:pPr>
            <a:r>
              <a:rPr lang="pt-BR" sz="1300" b="0" i="0" dirty="0">
                <a:solidFill>
                  <a:srgbClr val="1F3238"/>
                </a:solidFill>
                <a:latin typeface="Roboto Medium"/>
                <a:ea typeface="Roboto Medium"/>
                <a:cs typeface="Roboto Medium"/>
              </a:rPr>
              <a:t>PASSO 4</a:t>
            </a:r>
          </a:p>
          <a:p>
            <a:pPr algn="ctr">
              <a:buNone/>
            </a:pPr>
            <a:r>
              <a:rPr lang="pt-BR" sz="1200" b="0" i="0" dirty="0">
                <a:solidFill>
                  <a:srgbClr val="1F3238"/>
                </a:solidFill>
                <a:latin typeface="Roboto"/>
                <a:ea typeface="Roboto"/>
                <a:cs typeface="Roboto"/>
              </a:rPr>
              <a:t>(Observação e investigação adicional nos casos de probabilidade/risco intermediário)</a:t>
            </a:r>
          </a:p>
        </p:txBody>
      </p:sp>
      <p:sp>
        <p:nvSpPr>
          <p:cNvPr id="307" name="Status"/>
          <p:cNvSpPr/>
          <p:nvPr/>
        </p:nvSpPr>
        <p:spPr>
          <a:xfrm>
            <a:off x="8174736" y="2834640"/>
            <a:ext cx="3273552" cy="1188720"/>
          </a:xfrm>
          <a:prstGeom prst="rect">
            <a:avLst/>
          </a:prstGeom>
          <a:solidFill>
            <a:srgbClr val="3E8E68"/>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RULE OUT – DESCARTE DO DIAGNÓSTICO DE IAM</a:t>
            </a:r>
          </a:p>
        </p:txBody>
      </p:sp>
      <p:sp>
        <p:nvSpPr>
          <p:cNvPr id="308" name="Texto"/>
          <p:cNvSpPr txBox="1"/>
          <p:nvPr/>
        </p:nvSpPr>
        <p:spPr>
          <a:xfrm>
            <a:off x="713232" y="4160520"/>
            <a:ext cx="3273552" cy="1188720"/>
          </a:xfrm>
          <a:prstGeom prst="rect">
            <a:avLst/>
          </a:prstGeom>
          <a:noFill/>
        </p:spPr>
        <p:txBody>
          <a:bodyPr wrap="square" lIns="0" rIns="0" tIns="0" bIns="0" anchor="t">
            <a:noAutofit/>
          </a:bodyPr>
          <a:lstStyle/>
          <a:p>
            <a:pPr algn="l">
              <a:buNone/>
            </a:pPr>
            <a:r>
              <a:rPr lang="pt-BR" sz="1200" b="0" i="0" dirty="0">
                <a:solidFill>
                  <a:srgbClr val="5F6468"/>
                </a:solidFill>
                <a:latin typeface="Roboto"/>
                <a:ea typeface="Roboto"/>
                <a:cs typeface="Roboto"/>
              </a:rPr>
              <a:t>Avaliar critérios de IAM e, na ausência de critérios de IAM, buscar ativamente a causa da injúria</a:t>
            </a:r>
          </a:p>
        </p:txBody>
      </p:sp>
      <p:sp>
        <p:nvSpPr>
          <p:cNvPr id="309" name="Texto"/>
          <p:cNvSpPr txBox="1"/>
          <p:nvPr/>
        </p:nvSpPr>
        <p:spPr>
          <a:xfrm>
            <a:off x="4443984" y="4160520"/>
            <a:ext cx="3273552" cy="1188720"/>
          </a:xfrm>
          <a:prstGeom prst="rect">
            <a:avLst/>
          </a:prstGeom>
          <a:noFill/>
        </p:spPr>
        <p:txBody>
          <a:bodyPr wrap="square" lIns="0" rIns="0" tIns="0" bIns="0" anchor="t">
            <a:noAutofit/>
          </a:bodyPr>
          <a:lstStyle/>
          <a:p>
            <a:pPr algn="l">
              <a:buNone/>
            </a:pPr>
            <a:r>
              <a:rPr lang="pt-BR" sz="1200" b="0" i="0" dirty="0">
                <a:solidFill>
                  <a:srgbClr val="5F6468"/>
                </a:solidFill>
                <a:latin typeface="Roboto"/>
                <a:ea typeface="Roboto"/>
                <a:cs typeface="Roboto"/>
              </a:rPr>
              <a:t>Solicitar terceira dosagem de troponina, repetir ECG, realizar mais escores de risco (ex: GRACE) e considerar exames adicionais conforme suspeita*</a:t>
            </a:r>
          </a:p>
        </p:txBody>
      </p:sp>
      <p:sp>
        <p:nvSpPr>
          <p:cNvPr id="310" name="Texto"/>
          <p:cNvSpPr txBox="1"/>
          <p:nvPr/>
        </p:nvSpPr>
        <p:spPr>
          <a:xfrm>
            <a:off x="8174736" y="4160520"/>
            <a:ext cx="3273552" cy="1188720"/>
          </a:xfrm>
          <a:prstGeom prst="rect">
            <a:avLst/>
          </a:prstGeom>
          <a:noFill/>
        </p:spPr>
        <p:txBody>
          <a:bodyPr wrap="square" lIns="0" rIns="0" tIns="0" bIns="0" anchor="t">
            <a:noAutofit/>
          </a:bodyPr>
          <a:lstStyle/>
          <a:p>
            <a:pPr algn="l">
              <a:buNone/>
            </a:pPr>
            <a:r>
              <a:rPr lang="pt-BR" sz="1200" b="0" i="0" dirty="0">
                <a:solidFill>
                  <a:srgbClr val="5F6468"/>
                </a:solidFill>
                <a:latin typeface="Roboto"/>
                <a:ea typeface="Roboto"/>
                <a:cs typeface="Roboto"/>
              </a:rPr>
              <a:t>Na ausência de diagnósticos alternativos para a causa da dor torácica, considerar alta para casa, especialmente se HEART score &lt;4 em paciente sem antecedente de doença coronária*</a:t>
            </a:r>
          </a:p>
        </p:txBody>
      </p:sp>
      <p:sp>
        <p:nvSpPr>
          <p:cNvPr id="311" name="Nota"/>
          <p:cNvSpPr txBox="1"/>
          <p:nvPr/>
        </p:nvSpPr>
        <p:spPr>
          <a:xfrm>
            <a:off x="713232" y="5623560"/>
            <a:ext cx="10771632" cy="228600"/>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*Se suspeita de SCA persistir, seguir fluxo de investigação não-invasiva (figuras 13 e 14)</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Figura Central – Atendimento na emergência (2/4)</a:t>
            </a:r>
            <a:endParaRPr lang="pt-BR" dirty="0" sz="3200"/>
          </a:p>
        </p:txBody>
      </p:sp>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57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Etapa"/>
          <p:cNvSpPr/>
          <p:nvPr/>
        </p:nvSpPr>
        <p:spPr>
          <a:xfrm>
            <a:off x="4297680" y="1463040"/>
            <a:ext cx="4023360" cy="73152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PASSO 2</a:t>
            </a:r>
          </a:p>
          <a:p>
            <a:pPr algn="ctr">
              <a:buNone/>
            </a:pPr>
            <a:r>
              <a:rPr lang="pt-BR" sz="1200" b="0" i="0" dirty="0">
                <a:solidFill>
                  <a:srgbClr val="5F6468"/>
                </a:solidFill>
                <a:latin typeface="Roboto"/>
                <a:ea typeface="Roboto"/>
                <a:cs typeface="Roboto"/>
              </a:rPr>
              <a:t>(Avaliação inicial da rota diagnóstica)</a:t>
            </a:r>
          </a:p>
        </p:txBody>
      </p:sp>
      <p:pic>
        <p:nvPicPr>
          <p:cNvPr id="302" name="Figura" descr="Ícone de prancheta"/>
          <p:cNvPicPr>
            <a:picLocks noChangeAspect="1"/>
          </p:cNvPicPr>
          <p:nvPr/>
        </p:nvPicPr>
        <p:blipFill>
          <a:blip r:embed="rId2"/>
          <a:stretch>
            <a:fillRect/>
          </a:stretch>
        </p:blipFill>
        <p:spPr>
          <a:xfrm>
            <a:off x="3611880" y="1554480"/>
            <a:ext cx="562021" cy="548640"/>
          </a:xfrm>
          <a:prstGeom prst="rect">
            <a:avLst/>
          </a:prstGeom>
        </p:spPr>
      </p:pic>
      <p:sp>
        <p:nvSpPr>
          <p:cNvPr id="302" name="Seta"/>
          <p:cNvSpPr/>
          <p:nvPr/>
        </p:nvSpPr>
        <p:spPr>
          <a:xfrm>
            <a:off x="6309360" y="2194560"/>
            <a:ext cx="1" cy="274320"/>
          </a:xfrm>
          <a:custGeom>
            <a:avLst/>
            <a:gdLst/>
            <a:ahLst/>
            <a:cxnLst/>
            <a:rect l="0" t="0" r="r" b="b"/>
            <a:pathLst>
              <a:path w="1" h="274320" fill="none">
                <a:moveTo>
                  <a:pt x="0" y="0"/>
                </a:moveTo>
                <a:lnTo>
                  <a:pt x="0" y="274320"/>
                </a:lnTo>
              </a:path>
            </a:pathLst>
          </a:custGeom>
          <a:noFill/>
          <a:ln w="19050">
            <a:solidFill>
              <a:srgbClr val="6B6E70"/>
            </a:solidFill>
            <a:round/>
            <a:tailEnd type="triangle" w="med" len="med"/>
          </a:ln>
          <a:effectLst/>
        </p:spPr>
      </p:sp>
      <p:sp>
        <p:nvSpPr>
          <p:cNvPr id="303" name="Decisão"/>
          <p:cNvSpPr/>
          <p:nvPr/>
        </p:nvSpPr>
        <p:spPr>
          <a:xfrm>
            <a:off x="4572000" y="2468880"/>
            <a:ext cx="3474720" cy="1417320"/>
          </a:xfrm>
          <a:prstGeom prst="diamond">
            <a:avLst/>
          </a:prstGeom>
          <a:solidFill>
            <a:srgbClr val="8EC4CB"/>
          </a:solidFill>
          <a:ln>
            <a:noFill/>
          </a:ln>
          <a:effectLst/>
        </p:spPr>
        <p:txBody>
          <a:bodyPr rtlCol="0" anchor="ctr" wrap="square" lIns="0" rIns="0" tIns="45720" bIns="45720"/>
          <a:lstStyle/>
          <a:p>
            <a:pPr algn="ctr"/>
            <a:r>
              <a:rPr lang="pt-BR" sz="1200" b="0" i="0" dirty="0">
                <a:solidFill>
                  <a:srgbClr val="1F3238"/>
                </a:solidFill>
                <a:latin typeface="Roboto Medium"/>
                <a:ea typeface="Roboto Medium"/>
                <a:cs typeface="Roboto Medium"/>
              </a:rPr>
              <a:t>HÁ CRITÉRIO DE</a:t>
            </a:r>
          </a:p>
          <a:p>
            <a:pPr algn="ctr"/>
            <a:r>
              <a:rPr lang="pt-BR" sz="1200" b="0" i="0" dirty="0">
                <a:solidFill>
                  <a:srgbClr val="1F3238"/>
                </a:solidFill>
                <a:latin typeface="Roboto Medium"/>
                <a:ea typeface="Roboto Medium"/>
                <a:cs typeface="Roboto Medium"/>
              </a:rPr>
              <a:t>INSTABILIDADE?¹</a:t>
            </a:r>
          </a:p>
        </p:txBody>
      </p:sp>
      <p:sp>
        <p:nvSpPr>
          <p:cNvPr id="304" name="Etapa"/>
          <p:cNvSpPr/>
          <p:nvPr/>
        </p:nvSpPr>
        <p:spPr>
          <a:xfrm>
            <a:off x="8595360" y="1463040"/>
            <a:ext cx="2889504" cy="2606040"/>
          </a:xfrm>
          <a:prstGeom prst="rect">
            <a:avLst/>
          </a:prstGeom>
          <a:solidFill>
            <a:srgbClr val="F2F4F5"/>
          </a:solidFill>
          <a:ln w="12700">
            <a:solidFill>
              <a:srgbClr val="6E9DAB"/>
            </a:solidFill>
          </a:ln>
          <a:effectLst/>
        </p:spPr>
        <p:txBody>
          <a:bodyPr rtlCol="0" anchor="t" wrap="square" lIns="91440" rIns="91440" tIns="45720" bIns="45720"/>
          <a:lstStyle/>
          <a:p>
            <a:pPr algn="l">
              <a:buNone/>
            </a:pPr>
            <a:r>
              <a:rPr lang="pt-BR" sz="1300" b="0" i="0" dirty="0">
                <a:solidFill>
                  <a:srgbClr val="3B3F42"/>
                </a:solidFill>
                <a:latin typeface="Roboto Medium"/>
                <a:ea typeface="Roboto Medium"/>
                <a:cs typeface="Roboto Medium"/>
              </a:rPr>
              <a:t>SEGUIR ROTA DE PACIENTE INSTÁVEL:</a:t>
            </a:r>
          </a:p>
          <a:p>
            <a:pPr algn="l">
              <a:buNone/>
            </a:pPr>
            <a:r>
              <a:rPr lang="pt-BR" sz="1200" b="0" i="0" dirty="0">
                <a:solidFill>
                  <a:srgbClr val="5F6468"/>
                </a:solidFill>
                <a:latin typeface="Roboto"/>
                <a:ea typeface="Roboto"/>
                <a:cs typeface="Roboto"/>
              </a:rPr>
              <a:t>Avaliação clínica + dosagem de troponina</a:t>
            </a:r>
          </a:p>
          <a:p>
            <a:pPr algn="l">
              <a:buNone/>
            </a:pPr>
            <a:r>
              <a:rPr lang="pt-BR" sz="1200" b="0" i="0" dirty="0">
                <a:solidFill>
                  <a:srgbClr val="5F6468"/>
                </a:solidFill>
                <a:latin typeface="Roboto"/>
                <a:ea typeface="Roboto"/>
                <a:cs typeface="Roboto"/>
              </a:rPr>
              <a:t>Repetir ECG a cada 10-20 minutos (apoio de médico experiente)</a:t>
            </a:r>
          </a:p>
          <a:p>
            <a:pPr algn="l">
              <a:buNone/>
            </a:pPr>
            <a:r>
              <a:rPr lang="pt-BR" sz="1200" b="0" i="0" dirty="0">
                <a:solidFill>
                  <a:srgbClr val="5F6468"/>
                </a:solidFill>
                <a:latin typeface="Roboto"/>
                <a:ea typeface="Roboto"/>
                <a:cs typeface="Roboto"/>
              </a:rPr>
              <a:t>Buscar ativamente diagnósticos diferenciais (POCUS, outros exames)</a:t>
            </a:r>
          </a:p>
          <a:p>
            <a:pPr algn="l">
              <a:buNone/>
            </a:pPr>
            <a:r>
              <a:rPr lang="pt-BR" sz="1200" b="0" i="0" dirty="0">
                <a:solidFill>
                  <a:srgbClr val="5F6468"/>
                </a:solidFill>
                <a:latin typeface="Roboto"/>
                <a:ea typeface="Roboto"/>
                <a:cs typeface="Roboto"/>
              </a:rPr>
              <a:t>Admissão na unidade</a:t>
            </a:r>
          </a:p>
          <a:p>
            <a:pPr algn="l">
              <a:buNone/>
            </a:pPr>
            <a:r>
              <a:rPr lang="pt-BR" sz="1200" b="0" i="0" dirty="0">
                <a:solidFill>
                  <a:srgbClr val="5F6468"/>
                </a:solidFill>
                <a:latin typeface="Roboto"/>
                <a:ea typeface="Roboto"/>
                <a:cs typeface="Roboto"/>
              </a:rPr>
              <a:t>Tratar conforme diagnóstico estabelecido</a:t>
            </a:r>
          </a:p>
          <a:p>
            <a:pPr algn="l">
              <a:buNone/>
            </a:pPr>
            <a:r>
              <a:rPr lang="pt-BR" sz="1200" b="0" i="0" dirty="0">
                <a:solidFill>
                  <a:srgbClr val="5F6468"/>
                </a:solidFill>
                <a:latin typeface="Roboto"/>
                <a:ea typeface="Roboto"/>
                <a:cs typeface="Roboto"/>
              </a:rPr>
              <a:t>Avaliar indicação de time de choque</a:t>
            </a:r>
          </a:p>
        </p:txBody>
      </p:sp>
      <p:sp>
        <p:nvSpPr>
          <p:cNvPr id="305" name="Seta"/>
          <p:cNvSpPr/>
          <p:nvPr/>
        </p:nvSpPr>
        <p:spPr>
          <a:xfrm>
            <a:off x="8046720" y="3177540"/>
            <a:ext cx="548640" cy="1"/>
          </a:xfrm>
          <a:custGeom>
            <a:avLst/>
            <a:gdLst/>
            <a:ahLst/>
            <a:cxnLst/>
            <a:rect l="0" t="0" r="r" b="b"/>
            <a:pathLst>
              <a:path w="548640" h="1" fill="none">
                <a:moveTo>
                  <a:pt x="0" y="0"/>
                </a:moveTo>
                <a:lnTo>
                  <a:pt x="548640" y="0"/>
                </a:lnTo>
              </a:path>
            </a:pathLst>
          </a:custGeom>
          <a:noFill/>
          <a:ln w="19050">
            <a:solidFill>
              <a:srgbClr val="6B6E70"/>
            </a:solidFill>
            <a:round/>
            <a:tailEnd type="triangle" w="med" len="med"/>
          </a:ln>
          <a:effectLst/>
        </p:spPr>
      </p:sp>
      <p:sp>
        <p:nvSpPr>
          <p:cNvPr id="306" name="Rótulo"/>
          <p:cNvSpPr txBox="1"/>
          <p:nvPr/>
        </p:nvSpPr>
        <p:spPr>
          <a:xfrm>
            <a:off x="8092440" y="2921508"/>
            <a:ext cx="41148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Sim</a:t>
            </a:r>
          </a:p>
        </p:txBody>
      </p:sp>
      <p:sp>
        <p:nvSpPr>
          <p:cNvPr id="307" name="Fim/Início"/>
          <p:cNvSpPr/>
          <p:nvPr/>
        </p:nvSpPr>
        <p:spPr>
          <a:xfrm>
            <a:off x="1097280" y="4343400"/>
            <a:ext cx="3291840" cy="603504"/>
          </a:xfrm>
          <a:prstGeom prst="roundRect">
            <a:avLst>
              <a:gd name="adj" fmla="val 50000"/>
            </a:avLst>
          </a:prstGeom>
          <a:solidFill>
            <a:srgbClr val="4E7C8B"/>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PASSO 3</a:t>
            </a:r>
          </a:p>
        </p:txBody>
      </p:sp>
      <p:sp>
        <p:nvSpPr>
          <p:cNvPr id="308" name="Seta"/>
          <p:cNvSpPr/>
          <p:nvPr/>
        </p:nvSpPr>
        <p:spPr>
          <a:xfrm>
            <a:off x="2743200" y="3177540"/>
            <a:ext cx="1828800" cy="1165860"/>
          </a:xfrm>
          <a:custGeom>
            <a:avLst/>
            <a:gdLst/>
            <a:ahLst/>
            <a:cxnLst/>
            <a:rect l="0" t="0" r="r" b="b"/>
            <a:pathLst>
              <a:path w="1828800" h="1165860" fill="none">
                <a:moveTo>
                  <a:pt x="1828800" y="0"/>
                </a:moveTo>
                <a:lnTo>
                  <a:pt x="0" y="0"/>
                </a:lnTo>
                <a:lnTo>
                  <a:pt x="0" y="1165860"/>
                </a:lnTo>
              </a:path>
            </a:pathLst>
          </a:custGeom>
          <a:noFill/>
          <a:ln w="19050">
            <a:solidFill>
              <a:srgbClr val="6B6E70"/>
            </a:solidFill>
            <a:round/>
            <a:tailEnd type="triangle" w="med" len="med"/>
          </a:ln>
          <a:effectLst/>
        </p:spPr>
      </p:sp>
      <p:sp>
        <p:nvSpPr>
          <p:cNvPr id="309" name="Rótulo"/>
          <p:cNvSpPr txBox="1"/>
          <p:nvPr/>
        </p:nvSpPr>
        <p:spPr>
          <a:xfrm>
            <a:off x="4023360" y="2921508"/>
            <a:ext cx="457200" cy="201168"/>
          </a:xfrm>
          <a:prstGeom prst="rect">
            <a:avLst/>
          </a:prstGeom>
          <a:noFill/>
        </p:spPr>
        <p:txBody>
          <a:bodyPr wrap="square" lIns="0" rIns="0" tIns="0" bIns="0" anchor="t">
            <a:noAutofit/>
          </a:bodyPr>
          <a:lstStyle/>
          <a:p>
            <a:pPr algn="r"/>
            <a:r>
              <a:rPr lang="pt-BR" sz="1200" b="0" i="0" dirty="0">
                <a:solidFill>
                  <a:srgbClr val="4E7C8B"/>
                </a:solidFill>
                <a:latin typeface="Roboto Medium"/>
                <a:ea typeface="Roboto Medium"/>
                <a:cs typeface="Roboto Medium"/>
              </a:rPr>
              <a:t>Não</a:t>
            </a:r>
          </a:p>
        </p:txBody>
      </p:sp>
      <p:sp>
        <p:nvSpPr>
          <p:cNvPr id="311" name="Card"/>
          <p:cNvSpPr/>
          <p:nvPr/>
        </p:nvSpPr>
        <p:spPr>
          <a:xfrm>
            <a:off x="4846320" y="4343400"/>
            <a:ext cx="6638544" cy="1691640"/>
          </a:xfrm>
          <a:prstGeom prst="rect">
            <a:avLst/>
          </a:prstGeom>
          <a:solidFill>
            <a:srgbClr val="F2F4F5"/>
          </a:solidFill>
          <a:ln>
            <a:noFill/>
          </a:ln>
          <a:effectLst/>
        </p:spPr>
      </p:sp>
      <p:sp>
        <p:nvSpPr>
          <p:cNvPr id="312" name="Faixa"/>
          <p:cNvSpPr/>
          <p:nvPr/>
        </p:nvSpPr>
        <p:spPr>
          <a:xfrm>
            <a:off x="4846320" y="4343400"/>
            <a:ext cx="6638544" cy="38100"/>
          </a:xfrm>
          <a:prstGeom prst="rect">
            <a:avLst/>
          </a:prstGeom>
          <a:solidFill>
            <a:srgbClr val="4E7C8B"/>
          </a:solidFill>
          <a:ln>
            <a:noFill/>
          </a:ln>
          <a:effectLst/>
        </p:spPr>
      </p:sp>
      <p:sp>
        <p:nvSpPr>
          <p:cNvPr id="313" name="Título do card"/>
          <p:cNvSpPr txBox="1"/>
          <p:nvPr/>
        </p:nvSpPr>
        <p:spPr>
          <a:xfrm>
            <a:off x="5074920" y="4526280"/>
            <a:ext cx="6181344" cy="260000"/>
          </a:xfrm>
          <a:prstGeom prst="rect">
            <a:avLst/>
          </a:prstGeom>
          <a:noFill/>
        </p:spPr>
        <p:txBody>
          <a:bodyPr wrap="square" lIns="0" rIns="0" tIns="0" bIns="0" anchor="t">
            <a:noAutofit/>
          </a:bodyPr>
          <a:lstStyle/>
          <a:p>
            <a:pPr algn="l">
              <a:buNone/>
            </a:pPr>
            <a:r>
              <a:rPr lang="pt-BR" sz="1500" b="0" i="0" dirty="0">
                <a:solidFill>
                  <a:srgbClr val="3B3F42"/>
                </a:solidFill>
                <a:latin typeface="Roboto Medium"/>
                <a:ea typeface="Roboto Medium"/>
                <a:cs typeface="Roboto Medium"/>
              </a:rPr>
              <a:t>1. CRITÉRIOS DE INSTABILIDADE:</a:t>
            </a:r>
          </a:p>
        </p:txBody>
      </p:sp>
      <p:sp>
        <p:nvSpPr>
          <p:cNvPr id="314" name="Corpo do card"/>
          <p:cNvSpPr txBox="1"/>
          <p:nvPr/>
        </p:nvSpPr>
        <p:spPr>
          <a:xfrm>
            <a:off x="5074920" y="4866280"/>
            <a:ext cx="6181344" cy="1068760"/>
          </a:xfrm>
          <a:prstGeom prst="rect">
            <a:avLst/>
          </a:prstGeom>
          <a:noFill/>
        </p:spPr>
        <p:txBody>
          <a:bodyPr wrap="square" lIns="0" rIns="0" tIns="0" bIns="0" anchor="t">
            <a:noAutofit/>
          </a:bodyPr>
          <a:lstStyle/>
          <a:p>
            <a:pPr algn="l" marL="171450" indent="-171450">
              <a:buClr>
                <a:srgbClr val="4E7C8B"/>
              </a:buClr>
              <a:buFont typeface="Roboto"/>
              <a:buChar char="•"/>
            </a:pPr>
            <a:r>
              <a:rPr lang="pt-BR" sz="1200" b="0" i="0" dirty="0">
                <a:solidFill>
                  <a:srgbClr val="5F6468"/>
                </a:solidFill>
                <a:latin typeface="Roboto"/>
                <a:ea typeface="Roboto"/>
                <a:cs typeface="Roboto"/>
              </a:rPr>
              <a:t>ECG limítrofe</a:t>
            </a:r>
          </a:p>
          <a:p>
            <a:pPr algn="l" marL="171450" indent="-171450">
              <a:buClr>
                <a:srgbClr val="4E7C8B"/>
              </a:buClr>
              <a:buFont typeface="Roboto"/>
              <a:buChar char="•"/>
            </a:pPr>
            <a:r>
              <a:rPr lang="pt-BR" sz="1200" b="0" i="0" dirty="0">
                <a:solidFill>
                  <a:srgbClr val="5F6468"/>
                </a:solidFill>
                <a:latin typeface="Roboto"/>
                <a:ea typeface="Roboto"/>
                <a:cs typeface="Roboto"/>
              </a:rPr>
              <a:t>Dor persistente</a:t>
            </a:r>
          </a:p>
          <a:p>
            <a:pPr algn="l" marL="171450" indent="-171450">
              <a:buClr>
                <a:srgbClr val="4E7C8B"/>
              </a:buClr>
              <a:buFont typeface="Roboto"/>
              <a:buChar char="•"/>
            </a:pPr>
            <a:r>
              <a:rPr lang="pt-BR" sz="1200" b="0" i="0" dirty="0">
                <a:solidFill>
                  <a:srgbClr val="5F6468"/>
                </a:solidFill>
                <a:latin typeface="Roboto"/>
                <a:ea typeface="Roboto"/>
                <a:cs typeface="Roboto"/>
              </a:rPr>
              <a:t>Instabilidade hemodinâmica/Má perfusão (perda de consciência, etc)</a:t>
            </a:r>
          </a:p>
          <a:p>
            <a:pPr algn="l" marL="171450" indent="-171450">
              <a:buClr>
                <a:srgbClr val="4E7C8B"/>
              </a:buClr>
              <a:buFont typeface="Roboto"/>
              <a:buChar char="•"/>
            </a:pPr>
            <a:r>
              <a:rPr lang="pt-BR" sz="1200" b="0" i="0" dirty="0">
                <a:solidFill>
                  <a:srgbClr val="5F6468"/>
                </a:solidFill>
                <a:latin typeface="Roboto"/>
                <a:ea typeface="Roboto"/>
                <a:cs typeface="Roboto"/>
              </a:rPr>
              <a:t>Congestão pulmonar aguda</a:t>
            </a:r>
          </a:p>
          <a:p>
            <a:pPr algn="l" marL="171450" indent="-171450">
              <a:buClr>
                <a:srgbClr val="4E7C8B"/>
              </a:buClr>
              <a:buFont typeface="Roboto"/>
              <a:buChar char="•"/>
            </a:pPr>
            <a:r>
              <a:rPr lang="pt-BR" sz="1200" b="0" i="0" dirty="0">
                <a:solidFill>
                  <a:srgbClr val="5F6468"/>
                </a:solidFill>
                <a:latin typeface="Roboto"/>
                <a:ea typeface="Roboto"/>
                <a:cs typeface="Roboto"/>
              </a:rPr>
              <a:t>Taquiarritmia / bradiarritmia no cenário de dor torácica aguda</a:t>
            </a:r>
          </a:p>
        </p:txBody>
      </p:sp>
      <p:pic>
        <p:nvPicPr>
          <p:cNvPr id="315" name="Figura" descr="Ícone de sirene"/>
          <p:cNvPicPr>
            <a:picLocks noChangeAspect="1"/>
          </p:cNvPicPr>
          <p:nvPr/>
        </p:nvPicPr>
        <p:blipFill>
          <a:blip r:embed="rId3"/>
          <a:stretch>
            <a:fillRect/>
          </a:stretch>
        </p:blipFill>
        <p:spPr>
          <a:xfrm>
            <a:off x="10698480" y="4526280"/>
            <a:ext cx="566928" cy="566928"/>
          </a:xfrm>
          <a:prstGeom prst="rect">
            <a:avLst/>
          </a:prstGeom>
        </p:spPr>
      </p:pic>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Figura Central – Atendimento na emergência (3/4)</a:t>
            </a:r>
            <a:endParaRPr lang="pt-BR" dirty="0" sz="3200"/>
          </a:p>
        </p:txBody>
      </p:sp>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58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Etapa"/>
          <p:cNvSpPr/>
          <p:nvPr/>
        </p:nvSpPr>
        <p:spPr>
          <a:xfrm>
            <a:off x="4023360" y="1463040"/>
            <a:ext cx="4572000" cy="114300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PASSO 3</a:t>
            </a:r>
          </a:p>
          <a:p>
            <a:pPr algn="ctr">
              <a:buNone/>
            </a:pPr>
            <a:r>
              <a:rPr lang="pt-BR" sz="1200" b="0" i="0" dirty="0">
                <a:solidFill>
                  <a:srgbClr val="5F6468"/>
                </a:solidFill>
                <a:latin typeface="Roboto"/>
                <a:ea typeface="Roboto"/>
                <a:cs typeface="Roboto"/>
              </a:rPr>
              <a:t>(Decisão após avaliação clínica detalhada com apoio de algoritmos e exames iniciais conforme suspeita clínica)</a:t>
            </a:r>
          </a:p>
        </p:txBody>
      </p:sp>
      <p:pic>
        <p:nvPicPr>
          <p:cNvPr id="302" name="Figura" descr="Ícone de cápsula"/>
          <p:cNvPicPr>
            <a:picLocks noChangeAspect="1"/>
          </p:cNvPicPr>
          <p:nvPr/>
        </p:nvPicPr>
        <p:blipFill>
          <a:blip r:embed="rId2"/>
          <a:stretch>
            <a:fillRect/>
          </a:stretch>
        </p:blipFill>
        <p:spPr>
          <a:xfrm>
            <a:off x="3337560" y="1737360"/>
            <a:ext cx="548640" cy="548640"/>
          </a:xfrm>
          <a:prstGeom prst="rect">
            <a:avLst/>
          </a:prstGeom>
        </p:spPr>
      </p:pic>
      <p:pic>
        <p:nvPicPr>
          <p:cNvPr id="303" name="Figura" descr="Ícone de microscópio"/>
          <p:cNvPicPr>
            <a:picLocks noChangeAspect="1"/>
          </p:cNvPicPr>
          <p:nvPr/>
        </p:nvPicPr>
        <p:blipFill>
          <a:blip r:embed="rId3"/>
          <a:stretch>
            <a:fillRect/>
          </a:stretch>
        </p:blipFill>
        <p:spPr>
          <a:xfrm>
            <a:off x="8732520" y="1737360"/>
            <a:ext cx="535577" cy="548640"/>
          </a:xfrm>
          <a:prstGeom prst="rect">
            <a:avLst/>
          </a:prstGeom>
        </p:spPr>
      </p:pic>
      <p:sp>
        <p:nvSpPr>
          <p:cNvPr id="302" name="Seta"/>
          <p:cNvSpPr/>
          <p:nvPr/>
        </p:nvSpPr>
        <p:spPr>
          <a:xfrm>
            <a:off x="6309360" y="2606040"/>
            <a:ext cx="1" cy="274320"/>
          </a:xfrm>
          <a:custGeom>
            <a:avLst/>
            <a:gdLst/>
            <a:ahLst/>
            <a:cxnLst/>
            <a:rect l="0" t="0" r="r" b="b"/>
            <a:pathLst>
              <a:path w="1" h="274320" fill="none">
                <a:moveTo>
                  <a:pt x="0" y="0"/>
                </a:moveTo>
                <a:lnTo>
                  <a:pt x="0" y="274320"/>
                </a:lnTo>
              </a:path>
            </a:pathLst>
          </a:custGeom>
          <a:noFill/>
          <a:ln w="19050">
            <a:solidFill>
              <a:srgbClr val="6B6E70"/>
            </a:solidFill>
            <a:round/>
            <a:tailEnd type="triangle" w="med" len="med"/>
          </a:ln>
          <a:effectLst/>
        </p:spPr>
      </p:sp>
      <p:sp>
        <p:nvSpPr>
          <p:cNvPr id="303" name="Decisão"/>
          <p:cNvSpPr/>
          <p:nvPr/>
        </p:nvSpPr>
        <p:spPr>
          <a:xfrm>
            <a:off x="4572000" y="2880360"/>
            <a:ext cx="3474720" cy="1371600"/>
          </a:xfrm>
          <a:prstGeom prst="diamond">
            <a:avLst/>
          </a:prstGeom>
          <a:solidFill>
            <a:srgbClr val="8EC4CB"/>
          </a:solidFill>
          <a:ln>
            <a:noFill/>
          </a:ln>
          <a:effectLst/>
        </p:spPr>
        <p:txBody>
          <a:bodyPr rtlCol="0" anchor="ctr" wrap="square" lIns="0" rIns="0" tIns="45720" bIns="45720"/>
          <a:lstStyle/>
          <a:p>
            <a:pPr algn="ctr"/>
            <a:r>
              <a:rPr lang="pt-BR" sz="1200" b="0" i="0" dirty="0">
                <a:solidFill>
                  <a:srgbClr val="1F3238"/>
                </a:solidFill>
                <a:latin typeface="Roboto Medium"/>
                <a:ea typeface="Roboto Medium"/>
                <a:cs typeface="Roboto Medium"/>
              </a:rPr>
              <a:t>DIAGNÓSTICO</a:t>
            </a:r>
          </a:p>
          <a:p>
            <a:pPr algn="ctr"/>
            <a:r>
              <a:rPr lang="pt-BR" sz="1200" b="0" i="0" dirty="0">
                <a:solidFill>
                  <a:srgbClr val="1F3238"/>
                </a:solidFill>
                <a:latin typeface="Roboto Medium"/>
                <a:ea typeface="Roboto Medium"/>
                <a:cs typeface="Roboto Medium"/>
              </a:rPr>
              <a:t>ESTABELECIDO?</a:t>
            </a:r>
          </a:p>
        </p:txBody>
      </p:sp>
      <p:sp>
        <p:nvSpPr>
          <p:cNvPr id="304" name="Fim/Início"/>
          <p:cNvSpPr/>
          <p:nvPr/>
        </p:nvSpPr>
        <p:spPr>
          <a:xfrm>
            <a:off x="8778240" y="3264408"/>
            <a:ext cx="2706624" cy="603504"/>
          </a:xfrm>
          <a:prstGeom prst="roundRect">
            <a:avLst>
              <a:gd name="adj" fmla="val 50000"/>
            </a:avLst>
          </a:prstGeom>
          <a:solidFill>
            <a:srgbClr val="4E7C8B"/>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SEGUIR ROTA TERAPÊUTICA</a:t>
            </a:r>
          </a:p>
        </p:txBody>
      </p:sp>
      <p:sp>
        <p:nvSpPr>
          <p:cNvPr id="305" name="Seta"/>
          <p:cNvSpPr/>
          <p:nvPr/>
        </p:nvSpPr>
        <p:spPr>
          <a:xfrm>
            <a:off x="8046720" y="3566160"/>
            <a:ext cx="731520" cy="1"/>
          </a:xfrm>
          <a:custGeom>
            <a:avLst/>
            <a:gdLst/>
            <a:ahLst/>
            <a:cxnLst/>
            <a:rect l="0" t="0" r="r" b="b"/>
            <a:pathLst>
              <a:path w="731520" h="1" fill="none">
                <a:moveTo>
                  <a:pt x="0" y="0"/>
                </a:moveTo>
                <a:lnTo>
                  <a:pt x="731520" y="0"/>
                </a:lnTo>
              </a:path>
            </a:pathLst>
          </a:custGeom>
          <a:noFill/>
          <a:ln w="19050">
            <a:solidFill>
              <a:srgbClr val="6B6E70"/>
            </a:solidFill>
            <a:round/>
            <a:tailEnd type="triangle" w="med" len="med"/>
          </a:ln>
          <a:effectLst/>
        </p:spPr>
      </p:sp>
      <p:sp>
        <p:nvSpPr>
          <p:cNvPr id="306" name="Rótulo"/>
          <p:cNvSpPr txBox="1"/>
          <p:nvPr/>
        </p:nvSpPr>
        <p:spPr>
          <a:xfrm>
            <a:off x="8092440" y="3310128"/>
            <a:ext cx="41148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Sim</a:t>
            </a:r>
          </a:p>
        </p:txBody>
      </p:sp>
      <p:sp>
        <p:nvSpPr>
          <p:cNvPr id="307" name="Fim/Início"/>
          <p:cNvSpPr/>
          <p:nvPr/>
        </p:nvSpPr>
        <p:spPr>
          <a:xfrm>
            <a:off x="822960" y="4846320"/>
            <a:ext cx="4023360" cy="868680"/>
          </a:xfrm>
          <a:prstGeom prst="roundRect">
            <a:avLst>
              <a:gd name="adj" fmla="val 50000"/>
            </a:avLst>
          </a:prstGeom>
          <a:solidFill>
            <a:srgbClr val="4E7C8B"/>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CLASSIFICAR CONFORME ALGORITMOS DE TROPONINA E ESCORES DE RISCO</a:t>
            </a:r>
          </a:p>
        </p:txBody>
      </p:sp>
      <p:sp>
        <p:nvSpPr>
          <p:cNvPr id="308" name="Seta"/>
          <p:cNvSpPr/>
          <p:nvPr/>
        </p:nvSpPr>
        <p:spPr>
          <a:xfrm>
            <a:off x="2834640" y="3566160"/>
            <a:ext cx="1737360" cy="1280160"/>
          </a:xfrm>
          <a:custGeom>
            <a:avLst/>
            <a:gdLst/>
            <a:ahLst/>
            <a:cxnLst/>
            <a:rect l="0" t="0" r="r" b="b"/>
            <a:pathLst>
              <a:path w="1737360" h="1280160" fill="none">
                <a:moveTo>
                  <a:pt x="1737360" y="0"/>
                </a:moveTo>
                <a:lnTo>
                  <a:pt x="0" y="0"/>
                </a:lnTo>
                <a:lnTo>
                  <a:pt x="0" y="1280160"/>
                </a:lnTo>
              </a:path>
            </a:pathLst>
          </a:custGeom>
          <a:noFill/>
          <a:ln w="19050">
            <a:solidFill>
              <a:srgbClr val="6B6E70"/>
            </a:solidFill>
            <a:round/>
            <a:tailEnd type="triangle" w="med" len="med"/>
          </a:ln>
          <a:effectLst/>
        </p:spPr>
      </p:sp>
      <p:sp>
        <p:nvSpPr>
          <p:cNvPr id="309" name="Rótulo"/>
          <p:cNvSpPr txBox="1"/>
          <p:nvPr/>
        </p:nvSpPr>
        <p:spPr>
          <a:xfrm>
            <a:off x="4023360" y="3310128"/>
            <a:ext cx="457200" cy="201168"/>
          </a:xfrm>
          <a:prstGeom prst="rect">
            <a:avLst/>
          </a:prstGeom>
          <a:noFill/>
        </p:spPr>
        <p:txBody>
          <a:bodyPr wrap="square" lIns="0" rIns="0" tIns="0" bIns="0" anchor="t">
            <a:noAutofit/>
          </a:bodyPr>
          <a:lstStyle/>
          <a:p>
            <a:pPr algn="r"/>
            <a:r>
              <a:rPr lang="pt-BR" sz="1200" b="0" i="0" dirty="0">
                <a:solidFill>
                  <a:srgbClr val="4E7C8B"/>
                </a:solidFill>
                <a:latin typeface="Roboto Medium"/>
                <a:ea typeface="Roboto Medium"/>
                <a:cs typeface="Roboto Medium"/>
              </a:rPr>
              <a:t>Não</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Figura Central – Atendimento na emergência (4/4)</a:t>
            </a:r>
            <a:endParaRPr lang="pt-BR" dirty="0" sz="3200"/>
          </a:p>
        </p:txBody>
      </p:sp>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59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Fim/Início"/>
          <p:cNvSpPr/>
          <p:nvPr/>
        </p:nvSpPr>
        <p:spPr>
          <a:xfrm>
            <a:off x="3447288" y="1463040"/>
            <a:ext cx="5303520" cy="777240"/>
          </a:xfrm>
          <a:prstGeom prst="roundRect">
            <a:avLst>
              <a:gd name="adj" fmla="val 50000"/>
            </a:avLst>
          </a:prstGeom>
          <a:solidFill>
            <a:srgbClr val="4E7C8B"/>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CLASSIFICAR CONFORME ALGORITMOS DE TROPONINA E ESCORES DE RISCO</a:t>
            </a:r>
          </a:p>
        </p:txBody>
      </p:sp>
      <p:pic>
        <p:nvPicPr>
          <p:cNvPr id="302" name="Figura" descr="Ícone de microscópio"/>
          <p:cNvPicPr>
            <a:picLocks noChangeAspect="1"/>
          </p:cNvPicPr>
          <p:nvPr/>
        </p:nvPicPr>
        <p:blipFill>
          <a:blip r:embed="rId2"/>
          <a:stretch>
            <a:fillRect/>
          </a:stretch>
        </p:blipFill>
        <p:spPr>
          <a:xfrm>
            <a:off x="8887968" y="1572768"/>
            <a:ext cx="535577" cy="548640"/>
          </a:xfrm>
          <a:prstGeom prst="rect">
            <a:avLst/>
          </a:prstGeom>
        </p:spPr>
      </p:pic>
      <p:sp>
        <p:nvSpPr>
          <p:cNvPr id="302" name="Seta"/>
          <p:cNvSpPr/>
          <p:nvPr/>
        </p:nvSpPr>
        <p:spPr>
          <a:xfrm>
            <a:off x="2350008" y="2240280"/>
            <a:ext cx="3749040" cy="594360"/>
          </a:xfrm>
          <a:custGeom>
            <a:avLst/>
            <a:gdLst/>
            <a:ahLst/>
            <a:cxnLst/>
            <a:rect l="0" t="0" r="r" b="b"/>
            <a:pathLst>
              <a:path w="3749040" h="594360" fill="none">
                <a:moveTo>
                  <a:pt x="3749040" y="0"/>
                </a:moveTo>
                <a:lnTo>
                  <a:pt x="3749040" y="320040"/>
                </a:lnTo>
                <a:lnTo>
                  <a:pt x="0" y="320040"/>
                </a:lnTo>
                <a:lnTo>
                  <a:pt x="0" y="594360"/>
                </a:lnTo>
              </a:path>
            </a:pathLst>
          </a:custGeom>
          <a:noFill/>
          <a:ln w="19050">
            <a:solidFill>
              <a:srgbClr val="6B6E70"/>
            </a:solidFill>
            <a:round/>
            <a:tailEnd type="triangle" w="med" len="med"/>
          </a:ln>
          <a:effectLst/>
        </p:spPr>
      </p:sp>
      <p:sp>
        <p:nvSpPr>
          <p:cNvPr id="303" name="Seta"/>
          <p:cNvSpPr/>
          <p:nvPr/>
        </p:nvSpPr>
        <p:spPr>
          <a:xfrm>
            <a:off x="6080760" y="2240280"/>
            <a:ext cx="18288" cy="594360"/>
          </a:xfrm>
          <a:custGeom>
            <a:avLst/>
            <a:gdLst/>
            <a:ahLst/>
            <a:cxnLst/>
            <a:rect l="0" t="0" r="r" b="b"/>
            <a:pathLst>
              <a:path w="18288" h="594360" fill="none">
                <a:moveTo>
                  <a:pt x="18288" y="0"/>
                </a:moveTo>
                <a:lnTo>
                  <a:pt x="18288" y="320040"/>
                </a:lnTo>
                <a:lnTo>
                  <a:pt x="0" y="320040"/>
                </a:lnTo>
                <a:lnTo>
                  <a:pt x="0" y="594360"/>
                </a:lnTo>
              </a:path>
            </a:pathLst>
          </a:custGeom>
          <a:noFill/>
          <a:ln w="19050">
            <a:solidFill>
              <a:srgbClr val="6B6E70"/>
            </a:solidFill>
            <a:round/>
            <a:tailEnd type="triangle" w="med" len="med"/>
          </a:ln>
          <a:effectLst/>
        </p:spPr>
      </p:sp>
      <p:sp>
        <p:nvSpPr>
          <p:cNvPr id="304" name="Seta"/>
          <p:cNvSpPr/>
          <p:nvPr/>
        </p:nvSpPr>
        <p:spPr>
          <a:xfrm>
            <a:off x="6099048" y="2240280"/>
            <a:ext cx="3712464" cy="594360"/>
          </a:xfrm>
          <a:custGeom>
            <a:avLst/>
            <a:gdLst/>
            <a:ahLst/>
            <a:cxnLst/>
            <a:rect l="0" t="0" r="r" b="b"/>
            <a:pathLst>
              <a:path w="3712464" h="594360" fill="none">
                <a:moveTo>
                  <a:pt x="0" y="0"/>
                </a:moveTo>
                <a:lnTo>
                  <a:pt x="0" y="320040"/>
                </a:lnTo>
                <a:lnTo>
                  <a:pt x="3712464" y="320040"/>
                </a:lnTo>
                <a:lnTo>
                  <a:pt x="3712464" y="594360"/>
                </a:lnTo>
              </a:path>
            </a:pathLst>
          </a:custGeom>
          <a:noFill/>
          <a:ln w="19050">
            <a:solidFill>
              <a:srgbClr val="6B6E70"/>
            </a:solidFill>
            <a:round/>
            <a:tailEnd type="triangle" w="med" len="med"/>
          </a:ln>
          <a:effectLst/>
        </p:spPr>
      </p:sp>
      <p:sp>
        <p:nvSpPr>
          <p:cNvPr id="305" name="Status"/>
          <p:cNvSpPr/>
          <p:nvPr/>
        </p:nvSpPr>
        <p:spPr>
          <a:xfrm>
            <a:off x="713232" y="2834640"/>
            <a:ext cx="3273552" cy="1188720"/>
          </a:xfrm>
          <a:prstGeom prst="rect">
            <a:avLst/>
          </a:prstGeom>
          <a:solidFill>
            <a:srgbClr val="B5533C"/>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RULE IN – ADMISSÃO DO PACIENTE</a:t>
            </a:r>
          </a:p>
        </p:txBody>
      </p:sp>
      <p:sp>
        <p:nvSpPr>
          <p:cNvPr id="306" name="Status"/>
          <p:cNvSpPr/>
          <p:nvPr/>
        </p:nvSpPr>
        <p:spPr>
          <a:xfrm>
            <a:off x="4443984" y="2834640"/>
            <a:ext cx="3273552" cy="1188720"/>
          </a:xfrm>
          <a:prstGeom prst="rect">
            <a:avLst/>
          </a:prstGeom>
          <a:solidFill>
            <a:srgbClr val="C98A2B"/>
          </a:solidFill>
          <a:ln>
            <a:noFill/>
          </a:ln>
          <a:effectLst/>
        </p:spPr>
        <p:txBody>
          <a:bodyPr rtlCol="0" anchor="ctr" wrap="square" lIns="91440" rIns="91440" tIns="45720" bIns="45720"/>
          <a:lstStyle/>
          <a:p>
            <a:pPr algn="ctr">
              <a:buNone/>
            </a:pPr>
            <a:r>
              <a:rPr lang="pt-BR" sz="1300" b="0" i="0" dirty="0">
                <a:solidFill>
                  <a:srgbClr val="1F3238"/>
                </a:solidFill>
                <a:latin typeface="Roboto Medium"/>
                <a:ea typeface="Roboto Medium"/>
                <a:cs typeface="Roboto Medium"/>
              </a:rPr>
              <a:t>PASSO 4</a:t>
            </a:r>
          </a:p>
          <a:p>
            <a:pPr algn="ctr">
              <a:buNone/>
            </a:pPr>
            <a:r>
              <a:rPr lang="pt-BR" sz="1200" b="0" i="0" dirty="0">
                <a:solidFill>
                  <a:srgbClr val="1F3238"/>
                </a:solidFill>
                <a:latin typeface="Roboto"/>
                <a:ea typeface="Roboto"/>
                <a:cs typeface="Roboto"/>
              </a:rPr>
              <a:t>(Observação e investigação adicional nos casos de probabilidade/risco intermediário)</a:t>
            </a:r>
          </a:p>
        </p:txBody>
      </p:sp>
      <p:sp>
        <p:nvSpPr>
          <p:cNvPr id="307" name="Status"/>
          <p:cNvSpPr/>
          <p:nvPr/>
        </p:nvSpPr>
        <p:spPr>
          <a:xfrm>
            <a:off x="8174736" y="2834640"/>
            <a:ext cx="3273552" cy="1188720"/>
          </a:xfrm>
          <a:prstGeom prst="rect">
            <a:avLst/>
          </a:prstGeom>
          <a:solidFill>
            <a:srgbClr val="3E8E68"/>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RULE OUT – DESCARTE DO DIAGNÓSTICO DE IAM</a:t>
            </a:r>
          </a:p>
        </p:txBody>
      </p:sp>
      <p:sp>
        <p:nvSpPr>
          <p:cNvPr id="308" name="Texto"/>
          <p:cNvSpPr txBox="1"/>
          <p:nvPr/>
        </p:nvSpPr>
        <p:spPr>
          <a:xfrm>
            <a:off x="713232" y="4160520"/>
            <a:ext cx="3273552" cy="1188720"/>
          </a:xfrm>
          <a:prstGeom prst="rect">
            <a:avLst/>
          </a:prstGeom>
          <a:noFill/>
        </p:spPr>
        <p:txBody>
          <a:bodyPr wrap="square" lIns="0" rIns="0" tIns="0" bIns="0" anchor="t">
            <a:noAutofit/>
          </a:bodyPr>
          <a:lstStyle/>
          <a:p>
            <a:pPr algn="l">
              <a:buNone/>
            </a:pPr>
            <a:r>
              <a:rPr lang="pt-BR" sz="1200" b="0" i="0" dirty="0">
                <a:solidFill>
                  <a:srgbClr val="5F6468"/>
                </a:solidFill>
                <a:latin typeface="Roboto"/>
                <a:ea typeface="Roboto"/>
                <a:cs typeface="Roboto"/>
              </a:rPr>
              <a:t>Avaliar critérios de IAM e, na ausência de critérios de IAM, buscar ativamente a causa da injúria</a:t>
            </a:r>
          </a:p>
        </p:txBody>
      </p:sp>
      <p:sp>
        <p:nvSpPr>
          <p:cNvPr id="309" name="Texto"/>
          <p:cNvSpPr txBox="1"/>
          <p:nvPr/>
        </p:nvSpPr>
        <p:spPr>
          <a:xfrm>
            <a:off x="4443984" y="4160520"/>
            <a:ext cx="3273552" cy="1188720"/>
          </a:xfrm>
          <a:prstGeom prst="rect">
            <a:avLst/>
          </a:prstGeom>
          <a:noFill/>
        </p:spPr>
        <p:txBody>
          <a:bodyPr wrap="square" lIns="0" rIns="0" tIns="0" bIns="0" anchor="t">
            <a:noAutofit/>
          </a:bodyPr>
          <a:lstStyle/>
          <a:p>
            <a:pPr algn="l">
              <a:buNone/>
            </a:pPr>
            <a:r>
              <a:rPr lang="pt-BR" sz="1200" b="0" i="0" dirty="0">
                <a:solidFill>
                  <a:srgbClr val="5F6468"/>
                </a:solidFill>
                <a:latin typeface="Roboto"/>
                <a:ea typeface="Roboto"/>
                <a:cs typeface="Roboto"/>
              </a:rPr>
              <a:t>Solicitar terceira dosagem de troponina, repetir ECG, realizar mais escores de risco (ex: GRACE) e considerar exames adicionais conforme suspeita*</a:t>
            </a:r>
          </a:p>
        </p:txBody>
      </p:sp>
      <p:sp>
        <p:nvSpPr>
          <p:cNvPr id="310" name="Texto"/>
          <p:cNvSpPr txBox="1"/>
          <p:nvPr/>
        </p:nvSpPr>
        <p:spPr>
          <a:xfrm>
            <a:off x="8174736" y="4160520"/>
            <a:ext cx="3273552" cy="1188720"/>
          </a:xfrm>
          <a:prstGeom prst="rect">
            <a:avLst/>
          </a:prstGeom>
          <a:noFill/>
        </p:spPr>
        <p:txBody>
          <a:bodyPr wrap="square" lIns="0" rIns="0" tIns="0" bIns="0" anchor="t">
            <a:noAutofit/>
          </a:bodyPr>
          <a:lstStyle/>
          <a:p>
            <a:pPr algn="l">
              <a:buNone/>
            </a:pPr>
            <a:r>
              <a:rPr lang="pt-BR" sz="1200" b="0" i="0" dirty="0">
                <a:solidFill>
                  <a:srgbClr val="5F6468"/>
                </a:solidFill>
                <a:latin typeface="Roboto"/>
                <a:ea typeface="Roboto"/>
                <a:cs typeface="Roboto"/>
              </a:rPr>
              <a:t>Na ausência de diagnósticos alternativos para a causa da dor torácica, considerar alta para casa, especialmente se HEART score &lt;4 em paciente sem antecedente de doença coronária*</a:t>
            </a:r>
          </a:p>
        </p:txBody>
      </p:sp>
      <p:sp>
        <p:nvSpPr>
          <p:cNvPr id="311" name="Nota"/>
          <p:cNvSpPr txBox="1"/>
          <p:nvPr/>
        </p:nvSpPr>
        <p:spPr>
          <a:xfrm>
            <a:off x="713232" y="5623560"/>
            <a:ext cx="10771632" cy="228600"/>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*Se suspeita de SCA persistir, seguir fluxo de investigação não-invasiva (figuras 13 e 14)</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Rota diagnóstica – ECG inicial não-diagnóstico (2/2)</a:t>
            </a:r>
            <a:endParaRPr lang="pt-BR" dirty="0" sz="3200"/>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42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900" name="Subtítulo"/>
          <p:cNvSpPr txBox="1"/>
          <p:nvPr/>
        </p:nvSpPr>
        <p:spPr>
          <a:xfrm>
            <a:off x="711403" y="1040000"/>
            <a:ext cx="10771632" cy="213167"/>
          </a:xfrm>
          <a:prstGeom prst="rect">
            <a:avLst/>
          </a:prstGeom>
          <a:noFill/>
        </p:spPr>
        <p:txBody>
          <a:bodyPr wrap="square" lIns="0" rIns="0" tIns="0" bIns="0" anchor="t">
            <a:noAutofit/>
          </a:bodyPr>
          <a:lstStyle/>
          <a:p>
            <a:pPr algn="l" marL="0" indent="0">
              <a:buNone/>
            </a:pPr>
            <a:r>
              <a:rPr lang="pt-BR" sz="1300" b="0" i="0" dirty="0">
                <a:solidFill>
                  <a:srgbClr val="737A7F"/>
                </a:solidFill>
                <a:latin typeface="Roboto"/>
                <a:ea typeface="Roboto"/>
                <a:cs typeface="Roboto"/>
              </a:rPr>
              <a:t>Figura 6 – Passo 2: avaliação inicial da rota diagnóstica.</a:t>
            </a:r>
          </a:p>
        </p:txBody>
      </p:sp>
      <p:pic>
        <p:nvPicPr>
          <p:cNvPr id="901" name="Figura" descr="Paciente com dor torácica (ilustração recortada da figura original)"/>
          <p:cNvPicPr>
            <a:picLocks noChangeAspect="1"/>
          </p:cNvPicPr>
          <p:nvPr/>
        </p:nvPicPr>
        <p:blipFill>
          <a:blip r:embed="rId2"/>
          <a:stretch>
            <a:fillRect/>
          </a:stretch>
        </p:blipFill>
        <p:spPr>
          <a:xfrm>
            <a:off x="896112" y="1463040"/>
            <a:ext cx="2743200" cy="2051636"/>
          </a:xfrm>
          <a:prstGeom prst="rect">
            <a:avLst/>
          </a:prstGeom>
        </p:spPr>
      </p:pic>
      <p:sp>
        <p:nvSpPr>
          <p:cNvPr id="301" name="Decisão"/>
          <p:cNvSpPr/>
          <p:nvPr/>
        </p:nvSpPr>
        <p:spPr>
          <a:xfrm>
            <a:off x="713232" y="3611880"/>
            <a:ext cx="4023360" cy="2286000"/>
          </a:xfrm>
          <a:prstGeom prst="diamond">
            <a:avLst/>
          </a:prstGeom>
          <a:solidFill>
            <a:srgbClr val="8EC4CB"/>
          </a:solidFill>
          <a:ln>
            <a:noFill/>
          </a:ln>
          <a:effectLst/>
        </p:spPr>
        <p:txBody>
          <a:bodyPr rtlCol="0" anchor="ctr" wrap="square" lIns="0" rIns="0" tIns="45720" bIns="45720"/>
          <a:lstStyle/>
          <a:p>
            <a:pPr algn="ctr"/>
            <a:r>
              <a:rPr lang="pt-BR" sz="1200" b="0" i="0" dirty="0">
                <a:solidFill>
                  <a:srgbClr val="1F3238"/>
                </a:solidFill>
                <a:latin typeface="Roboto Medium"/>
                <a:ea typeface="Roboto Medium"/>
                <a:cs typeface="Roboto Medium"/>
              </a:rPr>
              <a:t>ECG LIMÍTROFE/</a:t>
            </a:r>
          </a:p>
          <a:p>
            <a:pPr algn="ctr"/>
            <a:r>
              <a:rPr lang="pt-BR" sz="1200" b="0" i="0" dirty="0">
                <a:solidFill>
                  <a:srgbClr val="1F3238"/>
                </a:solidFill>
                <a:latin typeface="Roboto Medium"/>
                <a:ea typeface="Roboto Medium"/>
                <a:cs typeface="Roboto Medium"/>
              </a:rPr>
              <a:t>DUVIDOSO OU</a:t>
            </a:r>
          </a:p>
          <a:p>
            <a:pPr algn="ctr"/>
            <a:r>
              <a:rPr lang="pt-BR" sz="1200" b="0" i="0" dirty="0">
                <a:solidFill>
                  <a:srgbClr val="1F3238"/>
                </a:solidFill>
                <a:latin typeface="Roboto Medium"/>
                <a:ea typeface="Roboto Medium"/>
                <a:cs typeface="Roboto Medium"/>
              </a:rPr>
              <a:t>CRITÉRIOS DE</a:t>
            </a:r>
          </a:p>
          <a:p>
            <a:pPr algn="ctr"/>
            <a:r>
              <a:rPr lang="pt-BR" sz="1200" b="0" i="0" dirty="0">
                <a:solidFill>
                  <a:srgbClr val="1F3238"/>
                </a:solidFill>
                <a:latin typeface="Roboto Medium"/>
                <a:ea typeface="Roboto Medium"/>
                <a:cs typeface="Roboto Medium"/>
              </a:rPr>
              <a:t>INSTABILIDADE CLÍNICA</a:t>
            </a:r>
          </a:p>
          <a:p>
            <a:pPr algn="ctr"/>
            <a:r>
              <a:rPr lang="pt-BR" sz="1200" b="0" i="0" dirty="0">
                <a:solidFill>
                  <a:srgbClr val="1F3238"/>
                </a:solidFill>
                <a:latin typeface="Roboto Medium"/>
                <a:ea typeface="Roboto Medium"/>
                <a:cs typeface="Roboto Medium"/>
              </a:rPr>
              <a:t>(incluindo dor persistente)?</a:t>
            </a:r>
          </a:p>
        </p:txBody>
      </p:sp>
      <p:sp>
        <p:nvSpPr>
          <p:cNvPr id="302" name="Nota"/>
          <p:cNvSpPr txBox="1"/>
          <p:nvPr/>
        </p:nvSpPr>
        <p:spPr>
          <a:xfrm>
            <a:off x="5394960" y="5779008"/>
            <a:ext cx="6089904" cy="228600"/>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*Algoritmos de troponina conforme figuras 11A e 11B</a:t>
            </a:r>
          </a:p>
        </p:txBody>
      </p:sp>
      <p:sp>
        <p:nvSpPr>
          <p:cNvPr id="303" name="Status"/>
          <p:cNvSpPr/>
          <p:nvPr/>
        </p:nvSpPr>
        <p:spPr>
          <a:xfrm>
            <a:off x="5394960" y="3291840"/>
            <a:ext cx="2606040" cy="2194560"/>
          </a:xfrm>
          <a:prstGeom prst="rect">
            <a:avLst/>
          </a:prstGeom>
          <a:solidFill>
            <a:srgbClr val="4E7C8B"/>
          </a:solidFill>
          <a:ln>
            <a:noFill/>
          </a:ln>
          <a:effectLst/>
        </p:spPr>
        <p:txBody>
          <a:bodyPr rtlCol="0" anchor="b" wrap="square" lIns="91440" rIns="91440" tIns="45720" bIns="45720"/>
          <a:lstStyle/>
          <a:p>
            <a:pPr algn="ctr">
              <a:buNone/>
            </a:pPr>
            <a:r>
              <a:rPr lang="pt-BR" sz="1300" b="0" i="0" dirty="0">
                <a:solidFill>
                  <a:srgbClr val="FBFCFC"/>
                </a:solidFill>
                <a:latin typeface="Roboto Medium"/>
                <a:ea typeface="Roboto Medium"/>
                <a:cs typeface="Roboto Medium"/>
              </a:rPr>
              <a:t>REPETIR ECG SE PIORA CLÍNICA</a:t>
            </a:r>
          </a:p>
          <a:p>
            <a:pPr algn="ctr">
              <a:buNone/>
            </a:pPr>
            <a:r>
              <a:rPr lang="pt-BR" sz="1200" b="0" i="0" dirty="0">
                <a:solidFill>
                  <a:srgbClr val="E4EEF0"/>
                </a:solidFill>
                <a:latin typeface="Roboto"/>
                <a:ea typeface="Roboto"/>
                <a:cs typeface="Roboto"/>
              </a:rPr>
              <a:t>(imediatamente)</a:t>
            </a:r>
          </a:p>
        </p:txBody>
      </p:sp>
      <p:pic>
        <p:nvPicPr>
          <p:cNvPr id="902" name="Figura" descr="Traçado de ECG (ícone recortado)"/>
          <p:cNvPicPr>
            <a:picLocks noChangeAspect="1"/>
          </p:cNvPicPr>
          <p:nvPr/>
        </p:nvPicPr>
        <p:blipFill>
          <a:blip r:embed="rId3"/>
          <a:stretch>
            <a:fillRect/>
          </a:stretch>
        </p:blipFill>
        <p:spPr>
          <a:xfrm>
            <a:off x="5806440" y="3383280"/>
            <a:ext cx="1783080" cy="573132"/>
          </a:xfrm>
          <a:prstGeom prst="rect">
            <a:avLst/>
          </a:prstGeom>
        </p:spPr>
      </p:pic>
      <p:sp>
        <p:nvSpPr>
          <p:cNvPr id="304" name="Status"/>
          <p:cNvSpPr/>
          <p:nvPr/>
        </p:nvSpPr>
        <p:spPr>
          <a:xfrm>
            <a:off x="8458200" y="3291840"/>
            <a:ext cx="3026664" cy="2194560"/>
          </a:xfrm>
          <a:prstGeom prst="rect">
            <a:avLst/>
          </a:prstGeom>
          <a:solidFill>
            <a:srgbClr val="4E7C8B"/>
          </a:solidFill>
          <a:ln>
            <a:noFill/>
          </a:ln>
          <a:effectLst/>
        </p:spPr>
        <p:txBody>
          <a:bodyPr rtlCol="0" anchor="b" wrap="square" lIns="91440" rIns="91440" tIns="45720" bIns="45720"/>
          <a:lstStyle/>
          <a:p>
            <a:pPr algn="ctr">
              <a:buNone/>
            </a:pPr>
            <a:r>
              <a:rPr lang="pt-BR" sz="1300" b="0" i="0" dirty="0">
                <a:solidFill>
                  <a:srgbClr val="FBFCFC"/>
                </a:solidFill>
                <a:latin typeface="Roboto Medium"/>
                <a:ea typeface="Roboto Medium"/>
                <a:cs typeface="Roboto Medium"/>
              </a:rPr>
              <a:t>AVALIAÇÃO CLÍNICA DETALHADA</a:t>
            </a:r>
          </a:p>
          <a:p>
            <a:pPr algn="ctr">
              <a:buNone/>
            </a:pPr>
            <a:r>
              <a:rPr lang="pt-BR" sz="1200" b="0" i="0" dirty="0">
                <a:solidFill>
                  <a:srgbClr val="E4EEF0"/>
                </a:solidFill>
                <a:latin typeface="Roboto"/>
                <a:ea typeface="Roboto"/>
                <a:cs typeface="Roboto"/>
              </a:rPr>
              <a:t>(incluindo escores clínicos)</a:t>
            </a:r>
          </a:p>
          <a:p>
            <a:pPr algn="ctr">
              <a:buNone/>
            </a:pPr>
            <a:r>
              <a:rPr lang="pt-BR" sz="1300" b="0" i="0" dirty="0">
                <a:solidFill>
                  <a:srgbClr val="FBFCFC"/>
                </a:solidFill>
                <a:latin typeface="Roboto Medium"/>
                <a:ea typeface="Roboto Medium"/>
                <a:cs typeface="Roboto Medium"/>
              </a:rPr>
              <a:t>E ALGORITMOS DE TROPONINA*</a:t>
            </a:r>
          </a:p>
          <a:p>
            <a:pPr algn="ctr">
              <a:buNone/>
            </a:pPr>
            <a:r>
              <a:rPr lang="pt-BR" sz="1200" b="0" i="0" dirty="0">
                <a:solidFill>
                  <a:srgbClr val="E4EEF0"/>
                </a:solidFill>
                <a:latin typeface="Roboto"/>
                <a:ea typeface="Roboto"/>
                <a:cs typeface="Roboto"/>
              </a:rPr>
              <a:t>(outros exames conforme suspeita diagnóstica)</a:t>
            </a:r>
          </a:p>
        </p:txBody>
      </p:sp>
      <p:sp>
        <p:nvSpPr>
          <p:cNvPr id="305" name="Rótulo"/>
          <p:cNvSpPr txBox="1"/>
          <p:nvPr/>
        </p:nvSpPr>
        <p:spPr>
          <a:xfrm>
            <a:off x="8001000" y="4251960"/>
            <a:ext cx="457200" cy="274320"/>
          </a:xfrm>
          <a:prstGeom prst="rect">
            <a:avLst/>
          </a:prstGeom>
          <a:noFill/>
        </p:spPr>
        <p:txBody>
          <a:bodyPr wrap="square" lIns="0" rIns="0" tIns="0" bIns="0" anchor="t">
            <a:noAutofit/>
          </a:bodyPr>
          <a:lstStyle/>
          <a:p>
            <a:pPr algn="ctr">
              <a:buNone/>
            </a:pPr>
            <a:r>
              <a:rPr lang="pt-BR" sz="1500" b="0" i="0" dirty="0">
                <a:solidFill>
                  <a:srgbClr val="4E7C8B"/>
                </a:solidFill>
                <a:latin typeface="Roboto Medium"/>
                <a:ea typeface="Roboto Medium"/>
                <a:cs typeface="Roboto Medium"/>
              </a:rPr>
              <a:t>+</a:t>
            </a:r>
          </a:p>
        </p:txBody>
      </p:sp>
      <p:pic>
        <p:nvPicPr>
          <p:cNvPr id="903" name="Figura" descr="Estetoscópio (ícone recortado)"/>
          <p:cNvPicPr>
            <a:picLocks noChangeAspect="1"/>
          </p:cNvPicPr>
          <p:nvPr/>
        </p:nvPicPr>
        <p:blipFill>
          <a:blip r:embed="rId4"/>
          <a:stretch>
            <a:fillRect/>
          </a:stretch>
        </p:blipFill>
        <p:spPr>
          <a:xfrm>
            <a:off x="9738360" y="3364992"/>
            <a:ext cx="546977" cy="640080"/>
          </a:xfrm>
          <a:prstGeom prst="rect">
            <a:avLst/>
          </a:prstGeom>
        </p:spPr>
      </p:pic>
      <p:sp>
        <p:nvSpPr>
          <p:cNvPr id="306" name="Seta"/>
          <p:cNvSpPr/>
          <p:nvPr/>
        </p:nvSpPr>
        <p:spPr>
          <a:xfrm>
            <a:off x="4736592" y="4389120"/>
            <a:ext cx="658368" cy="365760"/>
          </a:xfrm>
          <a:custGeom>
            <a:avLst/>
            <a:gdLst/>
            <a:ahLst/>
            <a:cxnLst/>
            <a:rect l="0" t="0" r="r" b="b"/>
            <a:pathLst>
              <a:path w="658368" h="365760" fill="none">
                <a:moveTo>
                  <a:pt x="0" y="365760"/>
                </a:moveTo>
                <a:lnTo>
                  <a:pt x="493776" y="365760"/>
                </a:lnTo>
                <a:lnTo>
                  <a:pt x="493776" y="0"/>
                </a:lnTo>
                <a:lnTo>
                  <a:pt x="658368" y="0"/>
                </a:lnTo>
              </a:path>
            </a:pathLst>
          </a:custGeom>
          <a:noFill/>
          <a:ln w="19050">
            <a:solidFill>
              <a:srgbClr val="6B6E70"/>
            </a:solidFill>
            <a:round/>
            <a:tailEnd type="triangle" w="med" len="med"/>
          </a:ln>
          <a:effectLst/>
        </p:spPr>
      </p:sp>
      <p:sp>
        <p:nvSpPr>
          <p:cNvPr id="307" name="Rótulo"/>
          <p:cNvSpPr txBox="1"/>
          <p:nvPr/>
        </p:nvSpPr>
        <p:spPr>
          <a:xfrm>
            <a:off x="4773168" y="4498848"/>
            <a:ext cx="41148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Não</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Rota diagnóstica – ECG inicial não-diagnóstico (2/2)</a:t>
            </a:r>
            <a:endParaRPr lang="pt-BR" dirty="0" sz="3200"/>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103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900" name="Subtítulo"/>
          <p:cNvSpPr txBox="1"/>
          <p:nvPr/>
        </p:nvSpPr>
        <p:spPr>
          <a:xfrm>
            <a:off x="711403" y="1040000"/>
            <a:ext cx="10771632" cy="213167"/>
          </a:xfrm>
          <a:prstGeom prst="rect">
            <a:avLst/>
          </a:prstGeom>
          <a:noFill/>
        </p:spPr>
        <p:txBody>
          <a:bodyPr wrap="square" lIns="0" rIns="0" tIns="0" bIns="0" anchor="t">
            <a:noAutofit/>
          </a:bodyPr>
          <a:lstStyle/>
          <a:p>
            <a:pPr algn="l" marL="0" indent="0">
              <a:buNone/>
            </a:pPr>
            <a:r>
              <a:rPr lang="pt-BR" sz="1300" b="0" i="0" dirty="0">
                <a:solidFill>
                  <a:srgbClr val="737A7F"/>
                </a:solidFill>
                <a:latin typeface="Roboto"/>
                <a:ea typeface="Roboto"/>
                <a:cs typeface="Roboto"/>
              </a:rPr>
              <a:t>Figura 6 – Passo 2: avaliação inicial da rota diagnóstica.</a:t>
            </a:r>
          </a:p>
        </p:txBody>
      </p:sp>
      <p:pic>
        <p:nvPicPr>
          <p:cNvPr id="901" name="Figura" descr="Paciente com dor torácica (ilustração recortada da figura original)"/>
          <p:cNvPicPr>
            <a:picLocks noChangeAspect="1"/>
          </p:cNvPicPr>
          <p:nvPr/>
        </p:nvPicPr>
        <p:blipFill>
          <a:blip r:embed="rId3"/>
          <a:stretch>
            <a:fillRect/>
          </a:stretch>
        </p:blipFill>
        <p:spPr>
          <a:xfrm>
            <a:off x="896112" y="1463040"/>
            <a:ext cx="2743200" cy="2051636"/>
          </a:xfrm>
          <a:prstGeom prst="rect">
            <a:avLst/>
          </a:prstGeom>
        </p:spPr>
      </p:pic>
      <p:sp>
        <p:nvSpPr>
          <p:cNvPr id="301" name="Decisão"/>
          <p:cNvSpPr/>
          <p:nvPr/>
        </p:nvSpPr>
        <p:spPr>
          <a:xfrm>
            <a:off x="713232" y="3611880"/>
            <a:ext cx="4023360" cy="2286000"/>
          </a:xfrm>
          <a:prstGeom prst="diamond">
            <a:avLst/>
          </a:prstGeom>
          <a:solidFill>
            <a:srgbClr val="8EC4CB"/>
          </a:solidFill>
          <a:ln>
            <a:noFill/>
          </a:ln>
          <a:effectLst/>
        </p:spPr>
        <p:txBody>
          <a:bodyPr rtlCol="0" anchor="ctr" wrap="square" lIns="0" rIns="0" tIns="45720" bIns="45720"/>
          <a:lstStyle/>
          <a:p>
            <a:pPr algn="ctr"/>
            <a:r>
              <a:rPr lang="pt-BR" sz="1200" b="0" i="0" dirty="0">
                <a:solidFill>
                  <a:srgbClr val="1F3238"/>
                </a:solidFill>
                <a:latin typeface="Roboto Medium"/>
                <a:ea typeface="Roboto Medium"/>
                <a:cs typeface="Roboto Medium"/>
              </a:rPr>
              <a:t>ECG LIMÍTROFE/</a:t>
            </a:r>
          </a:p>
          <a:p>
            <a:pPr algn="ctr"/>
            <a:r>
              <a:rPr lang="pt-BR" sz="1200" b="0" i="0" dirty="0">
                <a:solidFill>
                  <a:srgbClr val="1F3238"/>
                </a:solidFill>
                <a:latin typeface="Roboto Medium"/>
                <a:ea typeface="Roboto Medium"/>
                <a:cs typeface="Roboto Medium"/>
              </a:rPr>
              <a:t>DUVIDOSO OU</a:t>
            </a:r>
          </a:p>
          <a:p>
            <a:pPr algn="ctr"/>
            <a:r>
              <a:rPr lang="pt-BR" sz="1200" b="0" i="0" dirty="0">
                <a:solidFill>
                  <a:srgbClr val="1F3238"/>
                </a:solidFill>
                <a:latin typeface="Roboto Medium"/>
                <a:ea typeface="Roboto Medium"/>
                <a:cs typeface="Roboto Medium"/>
              </a:rPr>
              <a:t>CRITÉRIOS DE</a:t>
            </a:r>
          </a:p>
          <a:p>
            <a:pPr algn="ctr"/>
            <a:r>
              <a:rPr lang="pt-BR" sz="1200" b="0" i="0" dirty="0">
                <a:solidFill>
                  <a:srgbClr val="1F3238"/>
                </a:solidFill>
                <a:latin typeface="Roboto Medium"/>
                <a:ea typeface="Roboto Medium"/>
                <a:cs typeface="Roboto Medium"/>
              </a:rPr>
              <a:t>INSTABILIDADE CLÍNICA</a:t>
            </a:r>
          </a:p>
          <a:p>
            <a:pPr algn="ctr"/>
            <a:r>
              <a:rPr lang="pt-BR" sz="1200" b="0" i="0" dirty="0">
                <a:solidFill>
                  <a:srgbClr val="1F3238"/>
                </a:solidFill>
                <a:latin typeface="Roboto Medium"/>
                <a:ea typeface="Roboto Medium"/>
                <a:cs typeface="Roboto Medium"/>
              </a:rPr>
              <a:t>(incluindo dor persistente)?</a:t>
            </a:r>
          </a:p>
        </p:txBody>
      </p:sp>
      <p:sp>
        <p:nvSpPr>
          <p:cNvPr id="302" name="Nota"/>
          <p:cNvSpPr txBox="1"/>
          <p:nvPr/>
        </p:nvSpPr>
        <p:spPr>
          <a:xfrm>
            <a:off x="5394960" y="5779008"/>
            <a:ext cx="6089904" cy="228600"/>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*Algoritmos de troponina conforme figuras 11A e 11B</a:t>
            </a:r>
          </a:p>
        </p:txBody>
      </p:sp>
      <p:sp>
        <p:nvSpPr>
          <p:cNvPr id="303" name="Status"/>
          <p:cNvSpPr/>
          <p:nvPr/>
        </p:nvSpPr>
        <p:spPr>
          <a:xfrm>
            <a:off x="5394960" y="3291840"/>
            <a:ext cx="2606040" cy="2194560"/>
          </a:xfrm>
          <a:prstGeom prst="rect">
            <a:avLst/>
          </a:prstGeom>
          <a:solidFill>
            <a:srgbClr val="4E7C8B"/>
          </a:solidFill>
          <a:ln>
            <a:noFill/>
          </a:ln>
          <a:effectLst/>
        </p:spPr>
        <p:txBody>
          <a:bodyPr rtlCol="0" anchor="b" wrap="square" lIns="91440" rIns="91440" tIns="45720" bIns="45720"/>
          <a:lstStyle/>
          <a:p>
            <a:pPr algn="ctr">
              <a:buNone/>
            </a:pPr>
            <a:r>
              <a:rPr lang="pt-BR" sz="1300" b="0" i="0" dirty="0">
                <a:solidFill>
                  <a:srgbClr val="FBFCFC"/>
                </a:solidFill>
                <a:latin typeface="Roboto Medium"/>
                <a:ea typeface="Roboto Medium"/>
                <a:cs typeface="Roboto Medium"/>
              </a:rPr>
              <a:t>REPETIR ECG SE PIORA CLÍNICA</a:t>
            </a:r>
          </a:p>
          <a:p>
            <a:pPr algn="ctr">
              <a:buNone/>
            </a:pPr>
            <a:r>
              <a:rPr lang="pt-BR" sz="1200" b="0" i="0" dirty="0">
                <a:solidFill>
                  <a:srgbClr val="E4EEF0"/>
                </a:solidFill>
                <a:latin typeface="Roboto"/>
                <a:ea typeface="Roboto"/>
                <a:cs typeface="Roboto"/>
              </a:rPr>
              <a:t>(imediatamente)</a:t>
            </a:r>
          </a:p>
        </p:txBody>
      </p:sp>
      <p:pic>
        <p:nvPicPr>
          <p:cNvPr id="902" name="Figura" descr="Traçado de ECG (ícone recortado)"/>
          <p:cNvPicPr>
            <a:picLocks noChangeAspect="1"/>
          </p:cNvPicPr>
          <p:nvPr/>
        </p:nvPicPr>
        <p:blipFill>
          <a:blip r:embed="rId4"/>
          <a:stretch>
            <a:fillRect/>
          </a:stretch>
        </p:blipFill>
        <p:spPr>
          <a:xfrm>
            <a:off x="5806440" y="3383280"/>
            <a:ext cx="1783080" cy="573132"/>
          </a:xfrm>
          <a:prstGeom prst="rect">
            <a:avLst/>
          </a:prstGeom>
        </p:spPr>
      </p:pic>
      <p:sp>
        <p:nvSpPr>
          <p:cNvPr id="304" name="Status"/>
          <p:cNvSpPr/>
          <p:nvPr/>
        </p:nvSpPr>
        <p:spPr>
          <a:xfrm>
            <a:off x="8458200" y="3291840"/>
            <a:ext cx="3026664" cy="2194560"/>
          </a:xfrm>
          <a:prstGeom prst="rect">
            <a:avLst/>
          </a:prstGeom>
          <a:solidFill>
            <a:srgbClr val="4E7C8B"/>
          </a:solidFill>
          <a:ln>
            <a:noFill/>
          </a:ln>
          <a:effectLst/>
        </p:spPr>
        <p:txBody>
          <a:bodyPr rtlCol="0" anchor="b" wrap="square" lIns="91440" rIns="91440" tIns="45720" bIns="45720"/>
          <a:lstStyle/>
          <a:p>
            <a:pPr algn="ctr">
              <a:buNone/>
            </a:pPr>
            <a:r>
              <a:rPr lang="pt-BR" sz="1300" b="0" i="0" dirty="0">
                <a:solidFill>
                  <a:srgbClr val="FBFCFC"/>
                </a:solidFill>
                <a:latin typeface="Roboto Medium"/>
                <a:ea typeface="Roboto Medium"/>
                <a:cs typeface="Roboto Medium"/>
              </a:rPr>
              <a:t>AVALIAÇÃO CLÍNICA DETALHADA</a:t>
            </a:r>
          </a:p>
          <a:p>
            <a:pPr algn="ctr">
              <a:buNone/>
            </a:pPr>
            <a:r>
              <a:rPr lang="pt-BR" sz="1200" b="0" i="0" dirty="0">
                <a:solidFill>
                  <a:srgbClr val="E4EEF0"/>
                </a:solidFill>
                <a:latin typeface="Roboto"/>
                <a:ea typeface="Roboto"/>
                <a:cs typeface="Roboto"/>
              </a:rPr>
              <a:t>(incluindo escores clínicos)</a:t>
            </a:r>
          </a:p>
          <a:p>
            <a:pPr algn="ctr">
              <a:buNone/>
            </a:pPr>
            <a:r>
              <a:rPr lang="pt-BR" sz="1300" b="0" i="0" dirty="0">
                <a:solidFill>
                  <a:srgbClr val="FBFCFC"/>
                </a:solidFill>
                <a:latin typeface="Roboto Medium"/>
                <a:ea typeface="Roboto Medium"/>
                <a:cs typeface="Roboto Medium"/>
              </a:rPr>
              <a:t>E ALGORITMOS DE TROPONINA*</a:t>
            </a:r>
          </a:p>
          <a:p>
            <a:pPr algn="ctr">
              <a:buNone/>
            </a:pPr>
            <a:r>
              <a:rPr lang="pt-BR" sz="1200" b="0" i="0" dirty="0">
                <a:solidFill>
                  <a:srgbClr val="E4EEF0"/>
                </a:solidFill>
                <a:latin typeface="Roboto"/>
                <a:ea typeface="Roboto"/>
                <a:cs typeface="Roboto"/>
              </a:rPr>
              <a:t>(outros exames conforme suspeita diagnóstica)</a:t>
            </a:r>
          </a:p>
        </p:txBody>
      </p:sp>
      <p:sp>
        <p:nvSpPr>
          <p:cNvPr id="305" name="Rótulo"/>
          <p:cNvSpPr txBox="1"/>
          <p:nvPr/>
        </p:nvSpPr>
        <p:spPr>
          <a:xfrm>
            <a:off x="8001000" y="4251960"/>
            <a:ext cx="457200" cy="274320"/>
          </a:xfrm>
          <a:prstGeom prst="rect">
            <a:avLst/>
          </a:prstGeom>
          <a:noFill/>
        </p:spPr>
        <p:txBody>
          <a:bodyPr wrap="square" lIns="0" rIns="0" tIns="0" bIns="0" anchor="t">
            <a:noAutofit/>
          </a:bodyPr>
          <a:lstStyle/>
          <a:p>
            <a:pPr algn="ctr">
              <a:buNone/>
            </a:pPr>
            <a:r>
              <a:rPr lang="pt-BR" sz="1500" b="0" i="0" dirty="0">
                <a:solidFill>
                  <a:srgbClr val="4E7C8B"/>
                </a:solidFill>
                <a:latin typeface="Roboto Medium"/>
                <a:ea typeface="Roboto Medium"/>
                <a:cs typeface="Roboto Medium"/>
              </a:rPr>
              <a:t>+</a:t>
            </a:r>
          </a:p>
        </p:txBody>
      </p:sp>
      <p:pic>
        <p:nvPicPr>
          <p:cNvPr id="903" name="Figura" descr="Estetoscópio (ícone recortado)"/>
          <p:cNvPicPr>
            <a:picLocks noChangeAspect="1"/>
          </p:cNvPicPr>
          <p:nvPr/>
        </p:nvPicPr>
        <p:blipFill>
          <a:blip r:embed="rId5"/>
          <a:stretch>
            <a:fillRect/>
          </a:stretch>
        </p:blipFill>
        <p:spPr>
          <a:xfrm>
            <a:off x="9738360" y="3364992"/>
            <a:ext cx="546977" cy="640080"/>
          </a:xfrm>
          <a:prstGeom prst="rect">
            <a:avLst/>
          </a:prstGeom>
        </p:spPr>
      </p:pic>
      <p:sp>
        <p:nvSpPr>
          <p:cNvPr id="306" name="Seta"/>
          <p:cNvSpPr/>
          <p:nvPr/>
        </p:nvSpPr>
        <p:spPr>
          <a:xfrm>
            <a:off x="4736592" y="4389120"/>
            <a:ext cx="658368" cy="365760"/>
          </a:xfrm>
          <a:custGeom>
            <a:avLst/>
            <a:gdLst/>
            <a:ahLst/>
            <a:cxnLst/>
            <a:rect l="0" t="0" r="r" b="b"/>
            <a:pathLst>
              <a:path w="658368" h="365760" fill="none">
                <a:moveTo>
                  <a:pt x="0" y="365760"/>
                </a:moveTo>
                <a:lnTo>
                  <a:pt x="493776" y="365760"/>
                </a:lnTo>
                <a:lnTo>
                  <a:pt x="493776" y="0"/>
                </a:lnTo>
                <a:lnTo>
                  <a:pt x="658368" y="0"/>
                </a:lnTo>
              </a:path>
            </a:pathLst>
          </a:custGeom>
          <a:noFill/>
          <a:ln w="19050">
            <a:solidFill>
              <a:srgbClr val="6B6E70"/>
            </a:solidFill>
            <a:round/>
            <a:tailEnd type="triangle" w="med" len="med"/>
          </a:ln>
          <a:effectLst/>
        </p:spPr>
      </p:sp>
      <p:sp>
        <p:nvSpPr>
          <p:cNvPr id="307" name="Rótulo"/>
          <p:cNvSpPr txBox="1"/>
          <p:nvPr/>
        </p:nvSpPr>
        <p:spPr>
          <a:xfrm>
            <a:off x="4773168" y="4498848"/>
            <a:ext cx="41148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Não</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Fluxos 0-1h e 0-2h – Troponina cardíaca de alta sensibilidade (TCas) (2/2)</a:t>
            </a:r>
            <a:endParaRPr lang="pt-BR" dirty="0" sz="3200"/>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53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Fim/Início"/>
          <p:cNvSpPr/>
          <p:nvPr/>
        </p:nvSpPr>
        <p:spPr>
          <a:xfrm>
            <a:off x="713232" y="1691640"/>
            <a:ext cx="2194560" cy="457200"/>
          </a:xfrm>
          <a:prstGeom prst="roundRect">
            <a:avLst>
              <a:gd name="adj" fmla="val 50000"/>
            </a:avLst>
          </a:prstGeom>
          <a:solidFill>
            <a:srgbClr val="4E7C8B"/>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PRIMEIRA ESCOLHA</a:t>
            </a:r>
          </a:p>
        </p:txBody>
      </p:sp>
      <p:sp>
        <p:nvSpPr>
          <p:cNvPr id="302" name="Etapa"/>
          <p:cNvSpPr/>
          <p:nvPr/>
        </p:nvSpPr>
        <p:spPr>
          <a:xfrm>
            <a:off x="4544568" y="1691640"/>
            <a:ext cx="3108960" cy="54864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Realizar novas coletas em 1 ou 2 horas*</a:t>
            </a:r>
          </a:p>
        </p:txBody>
      </p:sp>
      <p:sp>
        <p:nvSpPr>
          <p:cNvPr id="303" name="Seta"/>
          <p:cNvSpPr/>
          <p:nvPr/>
        </p:nvSpPr>
        <p:spPr>
          <a:xfrm>
            <a:off x="6099048" y="2240280"/>
            <a:ext cx="1" cy="274320"/>
          </a:xfrm>
          <a:custGeom>
            <a:avLst/>
            <a:gdLst/>
            <a:ahLst/>
            <a:cxnLst/>
            <a:rect l="0" t="0" r="r" b="b"/>
            <a:pathLst>
              <a:path w="1" h="274320" fill="none">
                <a:moveTo>
                  <a:pt x="0" y="0"/>
                </a:moveTo>
                <a:lnTo>
                  <a:pt x="0" y="274320"/>
                </a:lnTo>
              </a:path>
            </a:pathLst>
          </a:custGeom>
          <a:noFill/>
          <a:ln w="19050">
            <a:solidFill>
              <a:srgbClr val="6B6E70"/>
            </a:solidFill>
            <a:round/>
            <a:tailEnd type="triangle" w="med" len="med"/>
          </a:ln>
          <a:effectLst/>
        </p:spPr>
      </p:sp>
      <p:sp>
        <p:nvSpPr>
          <p:cNvPr id="304" name="Decisão"/>
          <p:cNvSpPr/>
          <p:nvPr/>
        </p:nvSpPr>
        <p:spPr>
          <a:xfrm>
            <a:off x="4361688" y="2514600"/>
            <a:ext cx="3474720" cy="1645920"/>
          </a:xfrm>
          <a:prstGeom prst="diamond">
            <a:avLst/>
          </a:prstGeom>
          <a:solidFill>
            <a:srgbClr val="8EC4CB"/>
          </a:solidFill>
          <a:ln>
            <a:noFill/>
          </a:ln>
          <a:effectLst/>
        </p:spPr>
        <p:txBody>
          <a:bodyPr rtlCol="0" anchor="ctr" wrap="square" lIns="0" rIns="0" tIns="45720" bIns="45720"/>
          <a:lstStyle/>
          <a:p>
            <a:pPr algn="ctr"/>
            <a:r>
              <a:rPr lang="pt-BR" sz="1200" b="0" i="0" dirty="0">
                <a:solidFill>
                  <a:srgbClr val="1F3238"/>
                </a:solidFill>
                <a:latin typeface="Roboto Medium"/>
                <a:ea typeface="Roboto Medium"/>
                <a:cs typeface="Roboto Medium"/>
              </a:rPr>
              <a:t>Conduta</a:t>
            </a:r>
          </a:p>
          <a:p>
            <a:pPr algn="ctr"/>
            <a:r>
              <a:rPr lang="pt-BR" sz="1200" b="0" i="0" dirty="0">
                <a:solidFill>
                  <a:srgbClr val="1F3238"/>
                </a:solidFill>
                <a:latin typeface="Roboto Medium"/>
                <a:ea typeface="Roboto Medium"/>
                <a:cs typeface="Roboto Medium"/>
              </a:rPr>
              <a:t>conforme</a:t>
            </a:r>
          </a:p>
          <a:p>
            <a:pPr algn="ctr"/>
            <a:r>
              <a:rPr lang="pt-BR" sz="1200" b="0" i="0" dirty="0">
                <a:solidFill>
                  <a:srgbClr val="1F3238"/>
                </a:solidFill>
                <a:latin typeface="Roboto Medium"/>
                <a:ea typeface="Roboto Medium"/>
                <a:cs typeface="Roboto Medium"/>
              </a:rPr>
              <a:t>tabela 26</a:t>
            </a:r>
          </a:p>
        </p:txBody>
      </p:sp>
      <p:sp>
        <p:nvSpPr>
          <p:cNvPr id="305" name="Status"/>
          <p:cNvSpPr/>
          <p:nvPr/>
        </p:nvSpPr>
        <p:spPr>
          <a:xfrm>
            <a:off x="713232" y="2971800"/>
            <a:ext cx="2834640" cy="731520"/>
          </a:xfrm>
          <a:prstGeom prst="rect">
            <a:avLst/>
          </a:prstGeom>
          <a:solidFill>
            <a:srgbClr val="B5533C"/>
          </a:solidFill>
          <a:ln>
            <a:noFill/>
          </a:ln>
          <a:effectLst/>
        </p:spPr>
        <p:txBody>
          <a:bodyPr rtlCol="0" anchor="ctr" wrap="square" lIns="91440" rIns="91440" tIns="45720" bIns="45720"/>
          <a:lstStyle/>
          <a:p>
            <a:pPr algn="ctr">
              <a:buNone/>
            </a:pPr>
            <a:r>
              <a:rPr lang="pt-BR" sz="1200" b="0" i="0" dirty="0">
                <a:solidFill>
                  <a:srgbClr val="FBFCFC"/>
                </a:solidFill>
                <a:latin typeface="Roboto Medium"/>
                <a:ea typeface="Roboto Medium"/>
                <a:cs typeface="Roboto Medium"/>
              </a:rPr>
              <a:t>RULE IN – ADMISSÃO DO PACIENTE</a:t>
            </a:r>
          </a:p>
        </p:txBody>
      </p:sp>
      <p:sp>
        <p:nvSpPr>
          <p:cNvPr id="306" name="Texto"/>
          <p:cNvSpPr txBox="1"/>
          <p:nvPr/>
        </p:nvSpPr>
        <p:spPr>
          <a:xfrm>
            <a:off x="713232" y="3794760"/>
            <a:ext cx="2834640" cy="1188720"/>
          </a:xfrm>
          <a:prstGeom prst="rect">
            <a:avLst/>
          </a:prstGeom>
          <a:noFill/>
        </p:spPr>
        <p:txBody>
          <a:bodyPr wrap="square" lIns="0" rIns="0" tIns="0" bIns="0" anchor="t">
            <a:noAutofit/>
          </a:bodyPr>
          <a:lstStyle/>
          <a:p>
            <a:pPr algn="l">
              <a:buNone/>
            </a:pPr>
            <a:r>
              <a:rPr lang="pt-BR" sz="1200" b="0" i="0" dirty="0">
                <a:solidFill>
                  <a:srgbClr val="5F6468"/>
                </a:solidFill>
                <a:latin typeface="Roboto"/>
                <a:ea typeface="Roboto"/>
                <a:cs typeface="Roboto"/>
              </a:rPr>
              <a:t>Avaliar critérios de IAM e, na ausência de critérios de IAM, buscar ativamente a causa da injúria</a:t>
            </a:r>
          </a:p>
        </p:txBody>
      </p:sp>
      <p:sp>
        <p:nvSpPr>
          <p:cNvPr id="307" name="Seta"/>
          <p:cNvSpPr/>
          <p:nvPr/>
        </p:nvSpPr>
        <p:spPr>
          <a:xfrm>
            <a:off x="3547872" y="3337560"/>
            <a:ext cx="813816" cy="1"/>
          </a:xfrm>
          <a:custGeom>
            <a:avLst/>
            <a:gdLst/>
            <a:ahLst/>
            <a:cxnLst/>
            <a:rect l="0" t="0" r="r" b="b"/>
            <a:pathLst>
              <a:path w="813816" h="1" fill="none">
                <a:moveTo>
                  <a:pt x="813816" y="0"/>
                </a:moveTo>
                <a:lnTo>
                  <a:pt x="0" y="0"/>
                </a:lnTo>
              </a:path>
            </a:pathLst>
          </a:custGeom>
          <a:noFill/>
          <a:ln w="19050">
            <a:solidFill>
              <a:srgbClr val="6B6E70"/>
            </a:solidFill>
            <a:round/>
            <a:tailEnd type="triangle" w="med" len="med"/>
          </a:ln>
          <a:effectLst/>
        </p:spPr>
      </p:sp>
      <p:sp>
        <p:nvSpPr>
          <p:cNvPr id="308" name="Rótulo"/>
          <p:cNvSpPr txBox="1"/>
          <p:nvPr/>
        </p:nvSpPr>
        <p:spPr>
          <a:xfrm>
            <a:off x="1920240" y="2770632"/>
            <a:ext cx="2377440" cy="457200"/>
          </a:xfrm>
          <a:prstGeom prst="rect">
            <a:avLst/>
          </a:prstGeom>
          <a:noFill/>
        </p:spPr>
        <p:txBody>
          <a:bodyPr wrap="square" lIns="0" rIns="0" tIns="0" bIns="0" anchor="t">
            <a:noAutofit/>
          </a:bodyPr>
          <a:lstStyle/>
          <a:p>
            <a:pPr algn="r">
              <a:buNone/>
            </a:pPr>
            <a:r>
              <a:rPr lang="pt-BR" sz="1200" b="0" i="0" dirty="0">
                <a:solidFill>
                  <a:srgbClr val="3B3F42"/>
                </a:solidFill>
                <a:latin typeface="Roboto"/>
                <a:ea typeface="Roboto"/>
                <a:cs typeface="Roboto"/>
              </a:rPr>
              <a:t>Níveis elevados e/ou com delta</a:t>
            </a:r>
          </a:p>
        </p:txBody>
      </p:sp>
      <p:sp>
        <p:nvSpPr>
          <p:cNvPr id="309" name="Status"/>
          <p:cNvSpPr/>
          <p:nvPr/>
        </p:nvSpPr>
        <p:spPr>
          <a:xfrm>
            <a:off x="8503920" y="2971800"/>
            <a:ext cx="2980944" cy="731520"/>
          </a:xfrm>
          <a:prstGeom prst="rect">
            <a:avLst/>
          </a:prstGeom>
          <a:solidFill>
            <a:srgbClr val="3E8E68"/>
          </a:solidFill>
          <a:ln>
            <a:noFill/>
          </a:ln>
          <a:effectLst/>
        </p:spPr>
        <p:txBody>
          <a:bodyPr rtlCol="0" anchor="ctr" wrap="square" lIns="91440" rIns="91440" tIns="45720" bIns="45720"/>
          <a:lstStyle/>
          <a:p>
            <a:pPr algn="ctr">
              <a:buNone/>
            </a:pPr>
            <a:r>
              <a:rPr lang="pt-BR" sz="1200" b="0" i="0" dirty="0">
                <a:solidFill>
                  <a:srgbClr val="FBFCFC"/>
                </a:solidFill>
                <a:latin typeface="Roboto Medium"/>
                <a:ea typeface="Roboto Medium"/>
                <a:cs typeface="Roboto Medium"/>
              </a:rPr>
              <a:t>RULE OUT – DESCARTE DO DIAGNÓSTICO DE IAM</a:t>
            </a:r>
          </a:p>
        </p:txBody>
      </p:sp>
      <p:sp>
        <p:nvSpPr>
          <p:cNvPr id="310" name="Texto"/>
          <p:cNvSpPr txBox="1"/>
          <p:nvPr/>
        </p:nvSpPr>
        <p:spPr>
          <a:xfrm>
            <a:off x="8503920" y="3794760"/>
            <a:ext cx="2980944" cy="1371600"/>
          </a:xfrm>
          <a:prstGeom prst="rect">
            <a:avLst/>
          </a:prstGeom>
          <a:noFill/>
        </p:spPr>
        <p:txBody>
          <a:bodyPr wrap="square" lIns="0" rIns="0" tIns="0" bIns="0" anchor="t">
            <a:noAutofit/>
          </a:bodyPr>
          <a:lstStyle/>
          <a:p>
            <a:pPr algn="l">
              <a:buNone/>
            </a:pPr>
            <a:r>
              <a:rPr lang="pt-BR" sz="1200" b="0" i="0" dirty="0">
                <a:solidFill>
                  <a:srgbClr val="5F6468"/>
                </a:solidFill>
                <a:latin typeface="Roboto"/>
                <a:ea typeface="Roboto"/>
                <a:cs typeface="Roboto"/>
              </a:rPr>
              <a:t>Na ausência de diagnósticos alternativos para a causa da dor torácica, considerar alta para casa, especialmente se HEART score &lt;4 em paciente sem antecedente de doença coronária *</a:t>
            </a:r>
          </a:p>
        </p:txBody>
      </p:sp>
      <p:sp>
        <p:nvSpPr>
          <p:cNvPr id="311" name="Seta"/>
          <p:cNvSpPr/>
          <p:nvPr/>
        </p:nvSpPr>
        <p:spPr>
          <a:xfrm>
            <a:off x="7836408" y="3337560"/>
            <a:ext cx="667512" cy="1"/>
          </a:xfrm>
          <a:custGeom>
            <a:avLst/>
            <a:gdLst/>
            <a:ahLst/>
            <a:cxnLst/>
            <a:rect l="0" t="0" r="r" b="b"/>
            <a:pathLst>
              <a:path w="667512" h="1" fill="none">
                <a:moveTo>
                  <a:pt x="0" y="0"/>
                </a:moveTo>
                <a:lnTo>
                  <a:pt x="667512" y="0"/>
                </a:lnTo>
              </a:path>
            </a:pathLst>
          </a:custGeom>
          <a:noFill/>
          <a:ln w="19050">
            <a:solidFill>
              <a:srgbClr val="6B6E70"/>
            </a:solidFill>
            <a:round/>
            <a:tailEnd type="triangle" w="med" len="med"/>
          </a:ln>
          <a:effectLst/>
        </p:spPr>
      </p:sp>
      <p:sp>
        <p:nvSpPr>
          <p:cNvPr id="312" name="Rótulo"/>
          <p:cNvSpPr txBox="1"/>
          <p:nvPr/>
        </p:nvSpPr>
        <p:spPr>
          <a:xfrm>
            <a:off x="7863840" y="2770632"/>
            <a:ext cx="1828800" cy="457200"/>
          </a:xfrm>
          <a:prstGeom prst="rect">
            <a:avLst/>
          </a:prstGeom>
          <a:noFill/>
        </p:spPr>
        <p:txBody>
          <a:bodyPr wrap="square" lIns="0" rIns="0" tIns="0" bIns="0" anchor="t">
            <a:noAutofit/>
          </a:bodyPr>
          <a:lstStyle/>
          <a:p>
            <a:pPr algn="l">
              <a:buNone/>
            </a:pPr>
            <a:r>
              <a:rPr lang="pt-BR" sz="1200" b="0" i="0" dirty="0">
                <a:solidFill>
                  <a:srgbClr val="3B3F42"/>
                </a:solidFill>
                <a:latin typeface="Roboto"/>
                <a:ea typeface="Roboto"/>
                <a:cs typeface="Roboto"/>
              </a:rPr>
              <a:t>Níveis baixos e sem delta</a:t>
            </a:r>
          </a:p>
        </p:txBody>
      </p:sp>
      <p:sp>
        <p:nvSpPr>
          <p:cNvPr id="313" name="Status"/>
          <p:cNvSpPr/>
          <p:nvPr/>
        </p:nvSpPr>
        <p:spPr>
          <a:xfrm>
            <a:off x="4636008" y="4572000"/>
            <a:ext cx="2926080" cy="502920"/>
          </a:xfrm>
          <a:prstGeom prst="rect">
            <a:avLst/>
          </a:prstGeom>
          <a:solidFill>
            <a:srgbClr val="C98A2B"/>
          </a:solidFill>
          <a:ln>
            <a:noFill/>
          </a:ln>
          <a:effectLst/>
        </p:spPr>
        <p:txBody>
          <a:bodyPr rtlCol="0" anchor="ctr" wrap="square" lIns="91440" rIns="91440" tIns="45720" bIns="45720"/>
          <a:lstStyle/>
          <a:p>
            <a:pPr algn="ctr">
              <a:buNone/>
            </a:pPr>
            <a:r>
              <a:rPr lang="pt-BR" sz="1300" b="0" i="0" dirty="0">
                <a:solidFill>
                  <a:srgbClr val="1F3238"/>
                </a:solidFill>
                <a:latin typeface="Roboto Medium"/>
                <a:ea typeface="Roboto Medium"/>
                <a:cs typeface="Roboto Medium"/>
              </a:rPr>
              <a:t>OBSERVAÇÃO</a:t>
            </a:r>
          </a:p>
        </p:txBody>
      </p:sp>
      <p:sp>
        <p:nvSpPr>
          <p:cNvPr id="314" name="Seta"/>
          <p:cNvSpPr/>
          <p:nvPr/>
        </p:nvSpPr>
        <p:spPr>
          <a:xfrm>
            <a:off x="6099048" y="4160520"/>
            <a:ext cx="1" cy="411480"/>
          </a:xfrm>
          <a:custGeom>
            <a:avLst/>
            <a:gdLst/>
            <a:ahLst/>
            <a:cxnLst/>
            <a:rect l="0" t="0" r="r" b="b"/>
            <a:pathLst>
              <a:path w="1" h="411480" fill="none">
                <a:moveTo>
                  <a:pt x="0" y="0"/>
                </a:moveTo>
                <a:lnTo>
                  <a:pt x="0" y="411480"/>
                </a:lnTo>
              </a:path>
            </a:pathLst>
          </a:custGeom>
          <a:noFill/>
          <a:ln w="19050">
            <a:solidFill>
              <a:srgbClr val="6B6E70"/>
            </a:solidFill>
            <a:round/>
            <a:tailEnd type="triangle" w="med" len="med"/>
          </a:ln>
          <a:effectLst/>
        </p:spPr>
      </p:sp>
      <p:sp>
        <p:nvSpPr>
          <p:cNvPr id="315" name="Rótulo"/>
          <p:cNvSpPr txBox="1"/>
          <p:nvPr/>
        </p:nvSpPr>
        <p:spPr>
          <a:xfrm>
            <a:off x="6217920" y="4224528"/>
            <a:ext cx="2011680" cy="274320"/>
          </a:xfrm>
          <a:prstGeom prst="rect">
            <a:avLst/>
          </a:prstGeom>
          <a:noFill/>
        </p:spPr>
        <p:txBody>
          <a:bodyPr wrap="square" lIns="0" rIns="0" tIns="0" bIns="0" anchor="t">
            <a:noAutofit/>
          </a:bodyPr>
          <a:lstStyle/>
          <a:p>
            <a:pPr algn="l">
              <a:buNone/>
            </a:pPr>
            <a:r>
              <a:rPr lang="pt-BR" sz="1200" b="0" i="0" dirty="0">
                <a:solidFill>
                  <a:srgbClr val="3B3F42"/>
                </a:solidFill>
                <a:latin typeface="Roboto"/>
                <a:ea typeface="Roboto"/>
                <a:cs typeface="Roboto"/>
              </a:rPr>
              <a:t>Níveis intermediários</a:t>
            </a:r>
          </a:p>
        </p:txBody>
      </p:sp>
      <p:sp>
        <p:nvSpPr>
          <p:cNvPr id="316" name="Texto"/>
          <p:cNvSpPr txBox="1"/>
          <p:nvPr/>
        </p:nvSpPr>
        <p:spPr>
          <a:xfrm>
            <a:off x="4087368" y="5120640"/>
            <a:ext cx="4023360" cy="548640"/>
          </a:xfrm>
          <a:prstGeom prst="rect">
            <a:avLst/>
          </a:prstGeom>
          <a:noFill/>
        </p:spPr>
        <p:txBody>
          <a:bodyPr wrap="square" lIns="0" rIns="0" tIns="0" bIns="0" anchor="t">
            <a:noAutofit/>
          </a:bodyPr>
          <a:lstStyle/>
          <a:p>
            <a:pPr algn="ctr">
              <a:buNone/>
            </a:pPr>
            <a:r>
              <a:rPr lang="pt-BR" sz="1200" b="0" i="0" dirty="0">
                <a:solidFill>
                  <a:srgbClr val="5F6468"/>
                </a:solidFill>
                <a:latin typeface="Roboto"/>
                <a:ea typeface="Roboto"/>
                <a:cs typeface="Roboto"/>
              </a:rPr>
              <a:t>Solicitar terceira dosagem de troponina, repetir ECG, realizar escores de risco e considerar exames adicionais conforme suspeita*</a:t>
            </a:r>
          </a:p>
        </p:txBody>
      </p:sp>
      <p:sp>
        <p:nvSpPr>
          <p:cNvPr id="317" name="Nota"/>
          <p:cNvSpPr txBox="1"/>
          <p:nvPr/>
        </p:nvSpPr>
        <p:spPr>
          <a:xfrm>
            <a:off x="713232" y="5715000"/>
            <a:ext cx="10771632" cy="384048"/>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*Se suspeita de SCA persistir, seguir fluxo de investigação não-invasiva (ver tópico 4.3.3 e figuras 13 e 14). Na impossibilidade de realizar coleta em 1 ou 2 horas, coletar em 3 horas (ver figura 11B).</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Fluxo 0-3h – Troponina cardíaca de alta sensibilidade (TCas) (2/2)</a:t>
            </a:r>
            <a:endParaRPr lang="pt-BR" dirty="0" sz="3200"/>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55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Fim/Início"/>
          <p:cNvSpPr/>
          <p:nvPr/>
        </p:nvSpPr>
        <p:spPr>
          <a:xfrm>
            <a:off x="713232" y="1691640"/>
            <a:ext cx="2194560" cy="457200"/>
          </a:xfrm>
          <a:prstGeom prst="roundRect">
            <a:avLst>
              <a:gd name="adj" fmla="val 50000"/>
            </a:avLst>
          </a:prstGeom>
          <a:solidFill>
            <a:srgbClr val="4E7C8B"/>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SEGUNDA ESCOLHA</a:t>
            </a:r>
          </a:p>
        </p:txBody>
      </p:sp>
      <p:sp>
        <p:nvSpPr>
          <p:cNvPr id="302" name="Etapa"/>
          <p:cNvSpPr/>
          <p:nvPr/>
        </p:nvSpPr>
        <p:spPr>
          <a:xfrm>
            <a:off x="4544568" y="1691640"/>
            <a:ext cx="3108960" cy="54864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Realizar nova coleta em 3 horas</a:t>
            </a:r>
          </a:p>
        </p:txBody>
      </p:sp>
      <p:sp>
        <p:nvSpPr>
          <p:cNvPr id="303" name="Seta"/>
          <p:cNvSpPr/>
          <p:nvPr/>
        </p:nvSpPr>
        <p:spPr>
          <a:xfrm>
            <a:off x="6099048" y="2240280"/>
            <a:ext cx="1" cy="274320"/>
          </a:xfrm>
          <a:custGeom>
            <a:avLst/>
            <a:gdLst/>
            <a:ahLst/>
            <a:cxnLst/>
            <a:rect l="0" t="0" r="r" b="b"/>
            <a:pathLst>
              <a:path w="1" h="274320" fill="none">
                <a:moveTo>
                  <a:pt x="0" y="0"/>
                </a:moveTo>
                <a:lnTo>
                  <a:pt x="0" y="274320"/>
                </a:lnTo>
              </a:path>
            </a:pathLst>
          </a:custGeom>
          <a:noFill/>
          <a:ln w="19050">
            <a:solidFill>
              <a:srgbClr val="6B6E70"/>
            </a:solidFill>
            <a:round/>
            <a:tailEnd type="triangle" w="med" len="med"/>
          </a:ln>
          <a:effectLst/>
        </p:spPr>
      </p:sp>
      <p:sp>
        <p:nvSpPr>
          <p:cNvPr id="304" name="Decisão"/>
          <p:cNvSpPr/>
          <p:nvPr/>
        </p:nvSpPr>
        <p:spPr>
          <a:xfrm>
            <a:off x="4361688" y="2514600"/>
            <a:ext cx="3474720" cy="1645920"/>
          </a:xfrm>
          <a:prstGeom prst="diamond">
            <a:avLst/>
          </a:prstGeom>
          <a:solidFill>
            <a:srgbClr val="8EC4CB"/>
          </a:solidFill>
          <a:ln>
            <a:noFill/>
          </a:ln>
          <a:effectLst/>
        </p:spPr>
        <p:txBody>
          <a:bodyPr rtlCol="0" anchor="ctr" wrap="square" lIns="0" rIns="0" tIns="45720" bIns="45720"/>
          <a:lstStyle/>
          <a:p>
            <a:pPr algn="ctr"/>
            <a:r>
              <a:rPr lang="pt-BR" sz="1200" b="0" i="0" dirty="0">
                <a:solidFill>
                  <a:srgbClr val="1F3238"/>
                </a:solidFill>
                <a:latin typeface="Roboto Medium"/>
                <a:ea typeface="Roboto Medium"/>
                <a:cs typeface="Roboto Medium"/>
              </a:rPr>
              <a:t>Acima do</a:t>
            </a:r>
          </a:p>
          <a:p>
            <a:pPr algn="ctr"/>
            <a:r>
              <a:rPr lang="pt-BR" sz="1200" b="0" i="0" dirty="0">
                <a:solidFill>
                  <a:srgbClr val="1F3238"/>
                </a:solidFill>
                <a:latin typeface="Roboto Medium"/>
                <a:ea typeface="Roboto Medium"/>
                <a:cs typeface="Roboto Medium"/>
              </a:rPr>
              <a:t>percentil 99</a:t>
            </a:r>
          </a:p>
          <a:p>
            <a:pPr algn="ctr"/>
            <a:r>
              <a:rPr lang="pt-BR" sz="1200" b="0" i="0" dirty="0">
                <a:solidFill>
                  <a:srgbClr val="1F3238"/>
                </a:solidFill>
                <a:latin typeface="Roboto Medium"/>
                <a:ea typeface="Roboto Medium"/>
                <a:cs typeface="Roboto Medium"/>
              </a:rPr>
              <a:t>e variação</a:t>
            </a:r>
          </a:p>
          <a:p>
            <a:pPr algn="ctr"/>
            <a:r>
              <a:rPr lang="pt-BR" sz="1200" b="0" i="0" dirty="0">
                <a:solidFill>
                  <a:srgbClr val="1F3238"/>
                </a:solidFill>
                <a:latin typeface="Roboto Medium"/>
                <a:ea typeface="Roboto Medium"/>
                <a:cs typeface="Roboto Medium"/>
              </a:rPr>
              <a:t>&gt;20%?</a:t>
            </a:r>
          </a:p>
        </p:txBody>
      </p:sp>
      <p:sp>
        <p:nvSpPr>
          <p:cNvPr id="305" name="Status"/>
          <p:cNvSpPr/>
          <p:nvPr/>
        </p:nvSpPr>
        <p:spPr>
          <a:xfrm>
            <a:off x="713232" y="2971800"/>
            <a:ext cx="2834640" cy="731520"/>
          </a:xfrm>
          <a:prstGeom prst="rect">
            <a:avLst/>
          </a:prstGeom>
          <a:solidFill>
            <a:srgbClr val="3E8E68"/>
          </a:solidFill>
          <a:ln>
            <a:noFill/>
          </a:ln>
          <a:effectLst/>
        </p:spPr>
        <p:txBody>
          <a:bodyPr rtlCol="0" anchor="ctr" wrap="square" lIns="91440" rIns="91440" tIns="45720" bIns="45720"/>
          <a:lstStyle/>
          <a:p>
            <a:pPr algn="ctr">
              <a:buNone/>
            </a:pPr>
            <a:r>
              <a:rPr lang="pt-BR" sz="1200" b="0" i="0" dirty="0">
                <a:solidFill>
                  <a:srgbClr val="FBFCFC"/>
                </a:solidFill>
                <a:latin typeface="Roboto Medium"/>
                <a:ea typeface="Roboto Medium"/>
                <a:cs typeface="Roboto Medium"/>
              </a:rPr>
              <a:t>RULE OUT – DESCARTE DO DIAGNÓSTICO DE IAM</a:t>
            </a:r>
          </a:p>
        </p:txBody>
      </p:sp>
      <p:sp>
        <p:nvSpPr>
          <p:cNvPr id="306" name="Texto"/>
          <p:cNvSpPr txBox="1"/>
          <p:nvPr/>
        </p:nvSpPr>
        <p:spPr>
          <a:xfrm>
            <a:off x="713232" y="3794760"/>
            <a:ext cx="2834640" cy="1463040"/>
          </a:xfrm>
          <a:prstGeom prst="rect">
            <a:avLst/>
          </a:prstGeom>
          <a:noFill/>
        </p:spPr>
        <p:txBody>
          <a:bodyPr wrap="square" lIns="0" rIns="0" tIns="0" bIns="0" anchor="t">
            <a:noAutofit/>
          </a:bodyPr>
          <a:lstStyle/>
          <a:p>
            <a:pPr algn="l">
              <a:buNone/>
            </a:pPr>
            <a:r>
              <a:rPr lang="pt-BR" sz="1200" b="0" i="0" dirty="0">
                <a:solidFill>
                  <a:srgbClr val="5F6468"/>
                </a:solidFill>
                <a:latin typeface="Roboto"/>
                <a:ea typeface="Roboto"/>
                <a:cs typeface="Roboto"/>
              </a:rPr>
              <a:t>Na ausência de diagnósticos alternativos para a causa da dor torácica, considerar alta para casa, especialmente se HEART score &lt;4 em paciente sem antecedente de doença coronária*</a:t>
            </a:r>
          </a:p>
        </p:txBody>
      </p:sp>
      <p:sp>
        <p:nvSpPr>
          <p:cNvPr id="307" name="Seta"/>
          <p:cNvSpPr/>
          <p:nvPr/>
        </p:nvSpPr>
        <p:spPr>
          <a:xfrm>
            <a:off x="3547872" y="3337560"/>
            <a:ext cx="813816" cy="1"/>
          </a:xfrm>
          <a:custGeom>
            <a:avLst/>
            <a:gdLst/>
            <a:ahLst/>
            <a:cxnLst/>
            <a:rect l="0" t="0" r="r" b="b"/>
            <a:pathLst>
              <a:path w="813816" h="1" fill="none">
                <a:moveTo>
                  <a:pt x="813816" y="0"/>
                </a:moveTo>
                <a:lnTo>
                  <a:pt x="0" y="0"/>
                </a:lnTo>
              </a:path>
            </a:pathLst>
          </a:custGeom>
          <a:noFill/>
          <a:ln w="19050">
            <a:solidFill>
              <a:srgbClr val="6B6E70"/>
            </a:solidFill>
            <a:round/>
            <a:tailEnd type="triangle" w="med" len="med"/>
          </a:ln>
          <a:effectLst/>
        </p:spPr>
      </p:sp>
      <p:sp>
        <p:nvSpPr>
          <p:cNvPr id="308" name="Rótulo"/>
          <p:cNvSpPr txBox="1"/>
          <p:nvPr/>
        </p:nvSpPr>
        <p:spPr>
          <a:xfrm>
            <a:off x="3840480" y="3081528"/>
            <a:ext cx="457200" cy="201168"/>
          </a:xfrm>
          <a:prstGeom prst="rect">
            <a:avLst/>
          </a:prstGeom>
          <a:noFill/>
        </p:spPr>
        <p:txBody>
          <a:bodyPr wrap="square" lIns="0" rIns="0" tIns="0" bIns="0" anchor="t">
            <a:noAutofit/>
          </a:bodyPr>
          <a:lstStyle/>
          <a:p>
            <a:pPr algn="r"/>
            <a:r>
              <a:rPr lang="pt-BR" sz="1200" b="0" i="0" dirty="0">
                <a:solidFill>
                  <a:srgbClr val="4E7C8B"/>
                </a:solidFill>
                <a:latin typeface="Roboto Medium"/>
                <a:ea typeface="Roboto Medium"/>
                <a:cs typeface="Roboto Medium"/>
              </a:rPr>
              <a:t>Não</a:t>
            </a:r>
          </a:p>
        </p:txBody>
      </p:sp>
      <p:sp>
        <p:nvSpPr>
          <p:cNvPr id="309" name="Status"/>
          <p:cNvSpPr/>
          <p:nvPr/>
        </p:nvSpPr>
        <p:spPr>
          <a:xfrm>
            <a:off x="8503920" y="2971800"/>
            <a:ext cx="2980944" cy="731520"/>
          </a:xfrm>
          <a:prstGeom prst="rect">
            <a:avLst/>
          </a:prstGeom>
          <a:solidFill>
            <a:srgbClr val="B5533C"/>
          </a:solidFill>
          <a:ln>
            <a:noFill/>
          </a:ln>
          <a:effectLst/>
        </p:spPr>
        <p:txBody>
          <a:bodyPr rtlCol="0" anchor="ctr" wrap="square" lIns="91440" rIns="91440" tIns="45720" bIns="45720"/>
          <a:lstStyle/>
          <a:p>
            <a:pPr algn="ctr">
              <a:buNone/>
            </a:pPr>
            <a:r>
              <a:rPr lang="pt-BR" sz="1200" b="0" i="0" dirty="0">
                <a:solidFill>
                  <a:srgbClr val="FBFCFC"/>
                </a:solidFill>
                <a:latin typeface="Roboto Medium"/>
                <a:ea typeface="Roboto Medium"/>
                <a:cs typeface="Roboto Medium"/>
              </a:rPr>
              <a:t>RULE IN – ADMISSÃO DO PACIENTE</a:t>
            </a:r>
          </a:p>
        </p:txBody>
      </p:sp>
      <p:sp>
        <p:nvSpPr>
          <p:cNvPr id="310" name="Texto"/>
          <p:cNvSpPr txBox="1"/>
          <p:nvPr/>
        </p:nvSpPr>
        <p:spPr>
          <a:xfrm>
            <a:off x="8503920" y="3794760"/>
            <a:ext cx="2980944" cy="1188720"/>
          </a:xfrm>
          <a:prstGeom prst="rect">
            <a:avLst/>
          </a:prstGeom>
          <a:noFill/>
        </p:spPr>
        <p:txBody>
          <a:bodyPr wrap="square" lIns="0" rIns="0" tIns="0" bIns="0" anchor="t">
            <a:noAutofit/>
          </a:bodyPr>
          <a:lstStyle/>
          <a:p>
            <a:pPr algn="l">
              <a:buNone/>
            </a:pPr>
            <a:r>
              <a:rPr lang="pt-BR" sz="1200" b="0" i="0" dirty="0">
                <a:solidFill>
                  <a:srgbClr val="5F6468"/>
                </a:solidFill>
                <a:latin typeface="Roboto"/>
                <a:ea typeface="Roboto"/>
                <a:cs typeface="Roboto"/>
              </a:rPr>
              <a:t>Avaliar critérios de IAM e, na ausência de critérios de IAM, buscar ativamente a causa da injúria</a:t>
            </a:r>
          </a:p>
        </p:txBody>
      </p:sp>
      <p:sp>
        <p:nvSpPr>
          <p:cNvPr id="311" name="Seta"/>
          <p:cNvSpPr/>
          <p:nvPr/>
        </p:nvSpPr>
        <p:spPr>
          <a:xfrm>
            <a:off x="7836408" y="3337560"/>
            <a:ext cx="667512" cy="1"/>
          </a:xfrm>
          <a:custGeom>
            <a:avLst/>
            <a:gdLst/>
            <a:ahLst/>
            <a:cxnLst/>
            <a:rect l="0" t="0" r="r" b="b"/>
            <a:pathLst>
              <a:path w="667512" h="1" fill="none">
                <a:moveTo>
                  <a:pt x="0" y="0"/>
                </a:moveTo>
                <a:lnTo>
                  <a:pt x="667512" y="0"/>
                </a:lnTo>
              </a:path>
            </a:pathLst>
          </a:custGeom>
          <a:noFill/>
          <a:ln w="19050">
            <a:solidFill>
              <a:srgbClr val="6B6E70"/>
            </a:solidFill>
            <a:round/>
            <a:tailEnd type="triangle" w="med" len="med"/>
          </a:ln>
          <a:effectLst/>
        </p:spPr>
      </p:sp>
      <p:sp>
        <p:nvSpPr>
          <p:cNvPr id="312" name="Rótulo"/>
          <p:cNvSpPr txBox="1"/>
          <p:nvPr/>
        </p:nvSpPr>
        <p:spPr>
          <a:xfrm>
            <a:off x="7882128" y="3081528"/>
            <a:ext cx="41148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Sim</a:t>
            </a:r>
          </a:p>
        </p:txBody>
      </p:sp>
      <p:sp>
        <p:nvSpPr>
          <p:cNvPr id="313" name="Nota"/>
          <p:cNvSpPr txBox="1"/>
          <p:nvPr/>
        </p:nvSpPr>
        <p:spPr>
          <a:xfrm>
            <a:off x="713232" y="5715000"/>
            <a:ext cx="10771632" cy="384048"/>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*Se suspeita de SCA persistir, seguir fluxo de investigação não-invasiva (ver tópico 4.3.3 e figuras 13 e 14).</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Escore de risco para detecção de dissecção de aorta (ADD-RS) (2/3)</a:t>
            </a:r>
            <a:endParaRPr lang="pt-BR" dirty="0" sz="3200"/>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65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Etapa"/>
          <p:cNvSpPr/>
          <p:nvPr/>
        </p:nvSpPr>
        <p:spPr>
          <a:xfrm>
            <a:off x="4407408" y="1691640"/>
            <a:ext cx="3383280" cy="73152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Realizar ECG e POCUS/Radiografia de tórax*</a:t>
            </a:r>
          </a:p>
          <a:p>
            <a:pPr algn="ctr">
              <a:buNone/>
            </a:pPr>
            <a:r>
              <a:rPr lang="pt-BR" sz="1200" b="0" i="0" dirty="0">
                <a:solidFill>
                  <a:srgbClr val="5F6468"/>
                </a:solidFill>
                <a:latin typeface="Roboto"/>
                <a:ea typeface="Roboto"/>
                <a:cs typeface="Roboto"/>
              </a:rPr>
              <a:t>(quando disponível)</a:t>
            </a:r>
          </a:p>
        </p:txBody>
      </p:sp>
      <p:sp>
        <p:nvSpPr>
          <p:cNvPr id="302" name="Seta"/>
          <p:cNvSpPr/>
          <p:nvPr/>
        </p:nvSpPr>
        <p:spPr>
          <a:xfrm>
            <a:off x="2404872" y="2057400"/>
            <a:ext cx="2002536" cy="777240"/>
          </a:xfrm>
          <a:custGeom>
            <a:avLst/>
            <a:gdLst/>
            <a:ahLst/>
            <a:cxnLst/>
            <a:rect l="0" t="0" r="r" b="b"/>
            <a:pathLst>
              <a:path w="2002536" h="777240" fill="none">
                <a:moveTo>
                  <a:pt x="2002536" y="0"/>
                </a:moveTo>
                <a:lnTo>
                  <a:pt x="0" y="0"/>
                </a:lnTo>
                <a:lnTo>
                  <a:pt x="0" y="777240"/>
                </a:lnTo>
              </a:path>
            </a:pathLst>
          </a:custGeom>
          <a:noFill/>
          <a:ln w="19050">
            <a:solidFill>
              <a:srgbClr val="6B6E70"/>
            </a:solidFill>
            <a:round/>
            <a:tailEnd type="triangle" w="med" len="med"/>
          </a:ln>
          <a:effectLst/>
        </p:spPr>
      </p:sp>
      <p:sp>
        <p:nvSpPr>
          <p:cNvPr id="303" name="Seta"/>
          <p:cNvSpPr/>
          <p:nvPr/>
        </p:nvSpPr>
        <p:spPr>
          <a:xfrm>
            <a:off x="7790688" y="2057400"/>
            <a:ext cx="2002536" cy="777240"/>
          </a:xfrm>
          <a:custGeom>
            <a:avLst/>
            <a:gdLst/>
            <a:ahLst/>
            <a:cxnLst/>
            <a:rect l="0" t="0" r="r" b="b"/>
            <a:pathLst>
              <a:path w="2002536" h="777240" fill="none">
                <a:moveTo>
                  <a:pt x="0" y="0"/>
                </a:moveTo>
                <a:lnTo>
                  <a:pt x="2002536" y="0"/>
                </a:lnTo>
                <a:lnTo>
                  <a:pt x="2002536" y="777240"/>
                </a:lnTo>
              </a:path>
            </a:pathLst>
          </a:custGeom>
          <a:noFill/>
          <a:ln w="19050">
            <a:solidFill>
              <a:srgbClr val="6B6E70"/>
            </a:solidFill>
            <a:round/>
            <a:tailEnd type="triangle" w="med" len="med"/>
          </a:ln>
          <a:effectLst/>
        </p:spPr>
      </p:sp>
      <p:sp>
        <p:nvSpPr>
          <p:cNvPr id="304" name="Etapa"/>
          <p:cNvSpPr/>
          <p:nvPr/>
        </p:nvSpPr>
        <p:spPr>
          <a:xfrm>
            <a:off x="713232" y="2834640"/>
            <a:ext cx="3383280" cy="82296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&gt; 1 ponto no ADD-RS ou com sinais sugestivos</a:t>
            </a:r>
          </a:p>
          <a:p>
            <a:pPr algn="ctr">
              <a:buNone/>
            </a:pPr>
            <a:r>
              <a:rPr lang="pt-BR" sz="1200" b="0" i="0" dirty="0">
                <a:solidFill>
                  <a:srgbClr val="5F6468"/>
                </a:solidFill>
                <a:latin typeface="Roboto"/>
                <a:ea typeface="Roboto"/>
                <a:cs typeface="Roboto"/>
              </a:rPr>
              <a:t>no POCUS/Radiografia de tórax*</a:t>
            </a:r>
          </a:p>
        </p:txBody>
      </p:sp>
      <p:sp>
        <p:nvSpPr>
          <p:cNvPr id="305" name="Etapa"/>
          <p:cNvSpPr/>
          <p:nvPr/>
        </p:nvSpPr>
        <p:spPr>
          <a:xfrm>
            <a:off x="8101584" y="2834640"/>
            <a:ext cx="3383280" cy="82296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 1 ponto no ADD-RS e sem sinais sugestivos</a:t>
            </a:r>
          </a:p>
          <a:p>
            <a:pPr algn="ctr">
              <a:buNone/>
            </a:pPr>
            <a:r>
              <a:rPr lang="pt-BR" sz="1200" b="0" i="0" dirty="0">
                <a:solidFill>
                  <a:srgbClr val="5F6468"/>
                </a:solidFill>
                <a:latin typeface="Roboto"/>
                <a:ea typeface="Roboto"/>
                <a:cs typeface="Roboto"/>
              </a:rPr>
              <a:t>no POCUS/Radiografia de tórax*</a:t>
            </a:r>
          </a:p>
        </p:txBody>
      </p:sp>
      <p:sp>
        <p:nvSpPr>
          <p:cNvPr id="306" name="Seta"/>
          <p:cNvSpPr/>
          <p:nvPr/>
        </p:nvSpPr>
        <p:spPr>
          <a:xfrm>
            <a:off x="2404872" y="3657600"/>
            <a:ext cx="1" cy="274320"/>
          </a:xfrm>
          <a:custGeom>
            <a:avLst/>
            <a:gdLst/>
            <a:ahLst/>
            <a:cxnLst/>
            <a:rect l="0" t="0" r="r" b="b"/>
            <a:pathLst>
              <a:path w="1" h="274320" fill="none">
                <a:moveTo>
                  <a:pt x="0" y="0"/>
                </a:moveTo>
                <a:lnTo>
                  <a:pt x="0" y="274320"/>
                </a:lnTo>
              </a:path>
            </a:pathLst>
          </a:custGeom>
          <a:noFill/>
          <a:ln w="19050">
            <a:solidFill>
              <a:srgbClr val="6B6E70"/>
            </a:solidFill>
            <a:round/>
            <a:tailEnd type="triangle" w="med" len="med"/>
          </a:ln>
          <a:effectLst/>
        </p:spPr>
      </p:sp>
      <p:sp>
        <p:nvSpPr>
          <p:cNvPr id="307" name="Seta"/>
          <p:cNvSpPr/>
          <p:nvPr/>
        </p:nvSpPr>
        <p:spPr>
          <a:xfrm>
            <a:off x="9793224" y="3657600"/>
            <a:ext cx="1" cy="274320"/>
          </a:xfrm>
          <a:custGeom>
            <a:avLst/>
            <a:gdLst/>
            <a:ahLst/>
            <a:cxnLst/>
            <a:rect l="0" t="0" r="r" b="b"/>
            <a:pathLst>
              <a:path w="1" h="274320" fill="none">
                <a:moveTo>
                  <a:pt x="0" y="0"/>
                </a:moveTo>
                <a:lnTo>
                  <a:pt x="0" y="274320"/>
                </a:lnTo>
              </a:path>
            </a:pathLst>
          </a:custGeom>
          <a:noFill/>
          <a:ln w="19050">
            <a:solidFill>
              <a:srgbClr val="6B6E70"/>
            </a:solidFill>
            <a:round/>
            <a:tailEnd type="triangle" w="med" len="med"/>
          </a:ln>
          <a:effectLst/>
        </p:spPr>
      </p:sp>
      <p:sp>
        <p:nvSpPr>
          <p:cNvPr id="308" name="Status"/>
          <p:cNvSpPr/>
          <p:nvPr/>
        </p:nvSpPr>
        <p:spPr>
          <a:xfrm>
            <a:off x="713232" y="3931920"/>
            <a:ext cx="3383280" cy="502920"/>
          </a:xfrm>
          <a:prstGeom prst="rect">
            <a:avLst/>
          </a:prstGeom>
          <a:solidFill>
            <a:srgbClr val="B5533C"/>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Alta probabilidade</a:t>
            </a:r>
          </a:p>
        </p:txBody>
      </p:sp>
      <p:sp>
        <p:nvSpPr>
          <p:cNvPr id="309" name="Status"/>
          <p:cNvSpPr/>
          <p:nvPr/>
        </p:nvSpPr>
        <p:spPr>
          <a:xfrm>
            <a:off x="8101584" y="3931920"/>
            <a:ext cx="3383280" cy="502920"/>
          </a:xfrm>
          <a:prstGeom prst="rect">
            <a:avLst/>
          </a:prstGeom>
          <a:solidFill>
            <a:srgbClr val="C98A2B"/>
          </a:solidFill>
          <a:ln>
            <a:noFill/>
          </a:ln>
          <a:effectLst/>
        </p:spPr>
        <p:txBody>
          <a:bodyPr rtlCol="0" anchor="ctr" wrap="square" lIns="91440" rIns="91440" tIns="45720" bIns="45720"/>
          <a:lstStyle/>
          <a:p>
            <a:pPr algn="ctr">
              <a:buNone/>
            </a:pPr>
            <a:r>
              <a:rPr lang="pt-BR" sz="1300" b="0" i="0" dirty="0">
                <a:solidFill>
                  <a:srgbClr val="1F3238"/>
                </a:solidFill>
                <a:latin typeface="Roboto Medium"/>
                <a:ea typeface="Roboto Medium"/>
                <a:cs typeface="Roboto Medium"/>
              </a:rPr>
              <a:t>Baixa probabilidade</a:t>
            </a:r>
          </a:p>
        </p:txBody>
      </p:sp>
      <p:sp>
        <p:nvSpPr>
          <p:cNvPr id="310" name="Seta"/>
          <p:cNvSpPr/>
          <p:nvPr/>
        </p:nvSpPr>
        <p:spPr>
          <a:xfrm>
            <a:off x="2404872" y="4434840"/>
            <a:ext cx="1" cy="274320"/>
          </a:xfrm>
          <a:custGeom>
            <a:avLst/>
            <a:gdLst/>
            <a:ahLst/>
            <a:cxnLst/>
            <a:rect l="0" t="0" r="r" b="b"/>
            <a:pathLst>
              <a:path w="1" h="274320" fill="none">
                <a:moveTo>
                  <a:pt x="0" y="0"/>
                </a:moveTo>
                <a:lnTo>
                  <a:pt x="0" y="274320"/>
                </a:lnTo>
              </a:path>
            </a:pathLst>
          </a:custGeom>
          <a:noFill/>
          <a:ln w="19050">
            <a:solidFill>
              <a:srgbClr val="6B6E70"/>
            </a:solidFill>
            <a:round/>
            <a:tailEnd type="triangle" w="med" len="med"/>
          </a:ln>
          <a:effectLst/>
        </p:spPr>
      </p:sp>
      <p:sp>
        <p:nvSpPr>
          <p:cNvPr id="311" name="Etapa"/>
          <p:cNvSpPr/>
          <p:nvPr/>
        </p:nvSpPr>
        <p:spPr>
          <a:xfrm>
            <a:off x="713232" y="4709160"/>
            <a:ext cx="3383280" cy="73152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Realizar angiotomografia de aorta torácica e abdominal</a:t>
            </a:r>
          </a:p>
        </p:txBody>
      </p:sp>
      <p:sp>
        <p:nvSpPr>
          <p:cNvPr id="312" name="Nota"/>
          <p:cNvSpPr txBox="1"/>
          <p:nvPr/>
        </p:nvSpPr>
        <p:spPr>
          <a:xfrm>
            <a:off x="713232" y="5532120"/>
            <a:ext cx="10771632" cy="228600"/>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*Casos suspeitos com sinais radiográficos sugestivos de dissecção de aorta (ex: alargamento de mediastino), seguir fluxo de alta probabilidade.</a:t>
            </a:r>
          </a:p>
        </p:txBody>
      </p:sp>
      <p:sp>
        <p:nvSpPr>
          <p:cNvPr id="313" name="Legenda"/>
          <p:cNvSpPr txBox="1"/>
          <p:nvPr/>
        </p:nvSpPr>
        <p:spPr>
          <a:xfrm>
            <a:off x="713232" y="5806440"/>
            <a:ext cx="10771632" cy="228600"/>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Figura 9 – Fluxograma para investigação de síndrome aórtica aguda.</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Escore de risco para detecção de dissecção de aorta (ADD-RS) (3/3)</a:t>
            </a:r>
            <a:endParaRPr lang="pt-BR" dirty="0" sz="3200"/>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66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Status"/>
          <p:cNvSpPr/>
          <p:nvPr/>
        </p:nvSpPr>
        <p:spPr>
          <a:xfrm>
            <a:off x="4544568" y="1691640"/>
            <a:ext cx="3108960" cy="548640"/>
          </a:xfrm>
          <a:prstGeom prst="rect">
            <a:avLst/>
          </a:prstGeom>
          <a:solidFill>
            <a:srgbClr val="C98A2B"/>
          </a:solidFill>
          <a:ln>
            <a:noFill/>
          </a:ln>
          <a:effectLst/>
        </p:spPr>
        <p:txBody>
          <a:bodyPr rtlCol="0" anchor="ctr" wrap="square" lIns="91440" rIns="91440" tIns="45720" bIns="45720"/>
          <a:lstStyle/>
          <a:p>
            <a:pPr algn="ctr">
              <a:buNone/>
            </a:pPr>
            <a:r>
              <a:rPr lang="pt-BR" sz="1300" b="0" i="0" dirty="0">
                <a:solidFill>
                  <a:srgbClr val="1F3238"/>
                </a:solidFill>
                <a:latin typeface="Roboto Medium"/>
                <a:ea typeface="Roboto Medium"/>
                <a:cs typeface="Roboto Medium"/>
              </a:rPr>
              <a:t>Baixa probabilidade</a:t>
            </a:r>
          </a:p>
        </p:txBody>
      </p:sp>
      <p:sp>
        <p:nvSpPr>
          <p:cNvPr id="302" name="Seta"/>
          <p:cNvSpPr/>
          <p:nvPr/>
        </p:nvSpPr>
        <p:spPr>
          <a:xfrm>
            <a:off x="6099048" y="2240280"/>
            <a:ext cx="1" cy="320040"/>
          </a:xfrm>
          <a:custGeom>
            <a:avLst/>
            <a:gdLst/>
            <a:ahLst/>
            <a:cxnLst/>
            <a:rect l="0" t="0" r="r" b="b"/>
            <a:pathLst>
              <a:path w="1" h="320040" fill="none">
                <a:moveTo>
                  <a:pt x="0" y="0"/>
                </a:moveTo>
                <a:lnTo>
                  <a:pt x="0" y="320040"/>
                </a:lnTo>
              </a:path>
            </a:pathLst>
          </a:custGeom>
          <a:noFill/>
          <a:ln w="19050">
            <a:solidFill>
              <a:srgbClr val="6B6E70"/>
            </a:solidFill>
            <a:round/>
            <a:tailEnd type="triangle" w="med" len="med"/>
          </a:ln>
          <a:effectLst/>
        </p:spPr>
      </p:sp>
      <p:sp>
        <p:nvSpPr>
          <p:cNvPr id="303" name="Etapa"/>
          <p:cNvSpPr/>
          <p:nvPr/>
        </p:nvSpPr>
        <p:spPr>
          <a:xfrm>
            <a:off x="4544568" y="2560320"/>
            <a:ext cx="3108960" cy="54864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D-Dímero</a:t>
            </a:r>
          </a:p>
        </p:txBody>
      </p:sp>
      <p:sp>
        <p:nvSpPr>
          <p:cNvPr id="304" name="Seta"/>
          <p:cNvSpPr/>
          <p:nvPr/>
        </p:nvSpPr>
        <p:spPr>
          <a:xfrm>
            <a:off x="2651760" y="2834640"/>
            <a:ext cx="1892808" cy="1097280"/>
          </a:xfrm>
          <a:custGeom>
            <a:avLst/>
            <a:gdLst/>
            <a:ahLst/>
            <a:cxnLst/>
            <a:rect l="0" t="0" r="r" b="b"/>
            <a:pathLst>
              <a:path w="1892808" h="1097280" fill="none">
                <a:moveTo>
                  <a:pt x="1892808" y="0"/>
                </a:moveTo>
                <a:lnTo>
                  <a:pt x="0" y="0"/>
                </a:lnTo>
                <a:lnTo>
                  <a:pt x="0" y="1097280"/>
                </a:lnTo>
              </a:path>
            </a:pathLst>
          </a:custGeom>
          <a:noFill/>
          <a:ln w="19050">
            <a:solidFill>
              <a:srgbClr val="6B6E70"/>
            </a:solidFill>
            <a:round/>
            <a:tailEnd type="triangle" w="med" len="med"/>
          </a:ln>
          <a:effectLst/>
        </p:spPr>
      </p:sp>
      <p:sp>
        <p:nvSpPr>
          <p:cNvPr id="305" name="Seta"/>
          <p:cNvSpPr/>
          <p:nvPr/>
        </p:nvSpPr>
        <p:spPr>
          <a:xfrm>
            <a:off x="7653528" y="2834640"/>
            <a:ext cx="1856232" cy="1097280"/>
          </a:xfrm>
          <a:custGeom>
            <a:avLst/>
            <a:gdLst/>
            <a:ahLst/>
            <a:cxnLst/>
            <a:rect l="0" t="0" r="r" b="b"/>
            <a:pathLst>
              <a:path w="1856232" h="1097280" fill="none">
                <a:moveTo>
                  <a:pt x="0" y="0"/>
                </a:moveTo>
                <a:lnTo>
                  <a:pt x="1856232" y="0"/>
                </a:lnTo>
                <a:lnTo>
                  <a:pt x="1856232" y="1097280"/>
                </a:lnTo>
              </a:path>
            </a:pathLst>
          </a:custGeom>
          <a:noFill/>
          <a:ln w="19050">
            <a:solidFill>
              <a:srgbClr val="6B6E70"/>
            </a:solidFill>
            <a:round/>
            <a:tailEnd type="triangle" w="med" len="med"/>
          </a:ln>
          <a:effectLst/>
        </p:spPr>
      </p:sp>
      <p:sp>
        <p:nvSpPr>
          <p:cNvPr id="306" name="Rótulo"/>
          <p:cNvSpPr txBox="1"/>
          <p:nvPr/>
        </p:nvSpPr>
        <p:spPr>
          <a:xfrm>
            <a:off x="2743200" y="2880360"/>
            <a:ext cx="128016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 500 ng/ml</a:t>
            </a:r>
          </a:p>
        </p:txBody>
      </p:sp>
      <p:sp>
        <p:nvSpPr>
          <p:cNvPr id="307" name="Rótulo"/>
          <p:cNvSpPr txBox="1"/>
          <p:nvPr/>
        </p:nvSpPr>
        <p:spPr>
          <a:xfrm>
            <a:off x="7772400" y="2880360"/>
            <a:ext cx="128016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&lt;500 ng/ml</a:t>
            </a:r>
          </a:p>
        </p:txBody>
      </p:sp>
      <p:sp>
        <p:nvSpPr>
          <p:cNvPr id="308" name="Etapa"/>
          <p:cNvSpPr/>
          <p:nvPr/>
        </p:nvSpPr>
        <p:spPr>
          <a:xfrm>
            <a:off x="1097280" y="3931920"/>
            <a:ext cx="3108960" cy="82296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Realizar angiotomografia de aorta torácica e abdominal</a:t>
            </a:r>
          </a:p>
        </p:txBody>
      </p:sp>
      <p:sp>
        <p:nvSpPr>
          <p:cNvPr id="309" name="Status"/>
          <p:cNvSpPr/>
          <p:nvPr/>
        </p:nvSpPr>
        <p:spPr>
          <a:xfrm>
            <a:off x="7955280" y="3931920"/>
            <a:ext cx="3108960" cy="822960"/>
          </a:xfrm>
          <a:prstGeom prst="rect">
            <a:avLst/>
          </a:prstGeom>
          <a:solidFill>
            <a:srgbClr val="3E8E68"/>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Rule-out para dissecção de aorta</a:t>
            </a:r>
          </a:p>
          <a:p>
            <a:pPr algn="ctr">
              <a:buNone/>
            </a:pPr>
            <a:r>
              <a:rPr lang="pt-BR" sz="1300" b="0" i="0" dirty="0">
                <a:solidFill>
                  <a:srgbClr val="FBFCFC"/>
                </a:solidFill>
                <a:latin typeface="Roboto Medium"/>
                <a:ea typeface="Roboto Medium"/>
                <a:cs typeface="Roboto Medium"/>
              </a:rPr>
              <a:t>Procurar outro diagnóstico</a:t>
            </a:r>
          </a:p>
        </p:txBody>
      </p:sp>
      <p:sp>
        <p:nvSpPr>
          <p:cNvPr id="310" name="Legenda"/>
          <p:cNvSpPr txBox="1"/>
          <p:nvPr/>
        </p:nvSpPr>
        <p:spPr>
          <a:xfrm>
            <a:off x="713232" y="5760720"/>
            <a:ext cx="10771632" cy="228600"/>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Figura 9 – Fluxograma para investigação de síndrome aórtica aguda.</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Fluxograma TEP diagnóstico (2/3)</a:t>
            </a:r>
            <a:endParaRPr lang="pt-BR" dirty="0" sz="3200"/>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78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Status"/>
          <p:cNvSpPr/>
          <p:nvPr/>
        </p:nvSpPr>
        <p:spPr>
          <a:xfrm>
            <a:off x="2926080" y="1600200"/>
            <a:ext cx="2926080" cy="457200"/>
          </a:xfrm>
          <a:prstGeom prst="rect">
            <a:avLst/>
          </a:prstGeom>
          <a:solidFill>
            <a:srgbClr val="B5533C"/>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ALTO RISCO</a:t>
            </a:r>
          </a:p>
        </p:txBody>
      </p:sp>
      <p:sp>
        <p:nvSpPr>
          <p:cNvPr id="302" name="Seta"/>
          <p:cNvSpPr/>
          <p:nvPr/>
        </p:nvSpPr>
        <p:spPr>
          <a:xfrm>
            <a:off x="4389120" y="2057400"/>
            <a:ext cx="1" cy="137160"/>
          </a:xfrm>
          <a:custGeom>
            <a:avLst/>
            <a:gdLst/>
            <a:ahLst/>
            <a:cxnLst/>
            <a:rect l="0" t="0" r="r" b="b"/>
            <a:pathLst>
              <a:path w="1" h="137160" fill="none">
                <a:moveTo>
                  <a:pt x="0" y="0"/>
                </a:moveTo>
                <a:lnTo>
                  <a:pt x="0" y="137160"/>
                </a:lnTo>
              </a:path>
            </a:pathLst>
          </a:custGeom>
          <a:noFill/>
          <a:ln w="19050">
            <a:solidFill>
              <a:srgbClr val="6B6E70"/>
            </a:solidFill>
            <a:round/>
            <a:tailEnd type="triangle" w="med" len="med"/>
          </a:ln>
          <a:effectLst/>
        </p:spPr>
      </p:sp>
      <p:sp>
        <p:nvSpPr>
          <p:cNvPr id="303" name="Decisão"/>
          <p:cNvSpPr/>
          <p:nvPr/>
        </p:nvSpPr>
        <p:spPr>
          <a:xfrm>
            <a:off x="2468880" y="2194560"/>
            <a:ext cx="3840480" cy="1280160"/>
          </a:xfrm>
          <a:prstGeom prst="diamond">
            <a:avLst/>
          </a:prstGeom>
          <a:solidFill>
            <a:srgbClr val="8EC4CB"/>
          </a:solidFill>
          <a:ln>
            <a:noFill/>
          </a:ln>
          <a:effectLst/>
        </p:spPr>
        <p:txBody>
          <a:bodyPr rtlCol="0" anchor="ctr" wrap="square" lIns="0" rIns="0" tIns="45720" bIns="45720"/>
          <a:lstStyle/>
          <a:p>
            <a:pPr algn="ctr"/>
            <a:r>
              <a:rPr lang="pt-BR" sz="1200" b="0" i="0" dirty="0">
                <a:solidFill>
                  <a:srgbClr val="1F3238"/>
                </a:solidFill>
                <a:latin typeface="Roboto Medium"/>
                <a:ea typeface="Roboto Medium"/>
                <a:cs typeface="Roboto Medium"/>
              </a:rPr>
              <a:t>ECOTT COM</a:t>
            </a:r>
          </a:p>
          <a:p>
            <a:pPr algn="ctr"/>
            <a:r>
              <a:rPr lang="pt-BR" sz="1200" b="0" i="0" dirty="0">
                <a:solidFill>
                  <a:srgbClr val="1F3238"/>
                </a:solidFill>
                <a:latin typeface="Roboto Medium"/>
                <a:ea typeface="Roboto Medium"/>
                <a:cs typeface="Roboto Medium"/>
              </a:rPr>
              <a:t>SOBRECARGA</a:t>
            </a:r>
          </a:p>
          <a:p>
            <a:pPr algn="ctr"/>
            <a:r>
              <a:rPr lang="pt-BR" sz="1200" b="0" i="0" dirty="0">
                <a:solidFill>
                  <a:srgbClr val="1F3238"/>
                </a:solidFill>
                <a:latin typeface="Roboto Medium"/>
                <a:ea typeface="Roboto Medium"/>
                <a:cs typeface="Roboto Medium"/>
              </a:rPr>
              <a:t>DE VD²?</a:t>
            </a:r>
          </a:p>
        </p:txBody>
      </p:sp>
      <p:sp>
        <p:nvSpPr>
          <p:cNvPr id="304" name="Etapa"/>
          <p:cNvSpPr/>
          <p:nvPr/>
        </p:nvSpPr>
        <p:spPr>
          <a:xfrm>
            <a:off x="7863840" y="2423160"/>
            <a:ext cx="3621024" cy="82296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Tratar a causa de instabilidade conforme avaliação clínica-ecocardiográfica</a:t>
            </a:r>
          </a:p>
          <a:p>
            <a:pPr algn="ctr">
              <a:buNone/>
            </a:pPr>
            <a:r>
              <a:rPr lang="pt-BR" sz="1200" b="0" i="0" dirty="0">
                <a:solidFill>
                  <a:srgbClr val="5F6468"/>
                </a:solidFill>
                <a:latin typeface="Roboto"/>
                <a:ea typeface="Roboto"/>
                <a:cs typeface="Roboto"/>
              </a:rPr>
              <a:t>(exames adicionais de acordo com a suspeita diagnóstica)</a:t>
            </a:r>
          </a:p>
        </p:txBody>
      </p:sp>
      <p:sp>
        <p:nvSpPr>
          <p:cNvPr id="305" name="Seta"/>
          <p:cNvSpPr/>
          <p:nvPr/>
        </p:nvSpPr>
        <p:spPr>
          <a:xfrm>
            <a:off x="6309360" y="2834640"/>
            <a:ext cx="1554480" cy="1"/>
          </a:xfrm>
          <a:custGeom>
            <a:avLst/>
            <a:gdLst/>
            <a:ahLst/>
            <a:cxnLst/>
            <a:rect l="0" t="0" r="r" b="b"/>
            <a:pathLst>
              <a:path w="1554480" h="1" fill="none">
                <a:moveTo>
                  <a:pt x="0" y="0"/>
                </a:moveTo>
                <a:lnTo>
                  <a:pt x="1554480" y="0"/>
                </a:lnTo>
              </a:path>
            </a:pathLst>
          </a:custGeom>
          <a:noFill/>
          <a:ln w="19050">
            <a:solidFill>
              <a:srgbClr val="6B6E70"/>
            </a:solidFill>
            <a:round/>
            <a:tailEnd type="triangle" w="med" len="med"/>
          </a:ln>
          <a:effectLst/>
        </p:spPr>
      </p:sp>
      <p:sp>
        <p:nvSpPr>
          <p:cNvPr id="306" name="Rótulo"/>
          <p:cNvSpPr txBox="1"/>
          <p:nvPr/>
        </p:nvSpPr>
        <p:spPr>
          <a:xfrm>
            <a:off x="6355080" y="2578608"/>
            <a:ext cx="45720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Não</a:t>
            </a:r>
          </a:p>
        </p:txBody>
      </p:sp>
      <p:sp>
        <p:nvSpPr>
          <p:cNvPr id="307" name="Seta"/>
          <p:cNvSpPr/>
          <p:nvPr/>
        </p:nvSpPr>
        <p:spPr>
          <a:xfrm>
            <a:off x="4389120" y="3474720"/>
            <a:ext cx="1" cy="274320"/>
          </a:xfrm>
          <a:custGeom>
            <a:avLst/>
            <a:gdLst/>
            <a:ahLst/>
            <a:cxnLst/>
            <a:rect l="0" t="0" r="r" b="b"/>
            <a:pathLst>
              <a:path w="1" h="274320" fill="none">
                <a:moveTo>
                  <a:pt x="0" y="0"/>
                </a:moveTo>
                <a:lnTo>
                  <a:pt x="0" y="274320"/>
                </a:lnTo>
              </a:path>
            </a:pathLst>
          </a:custGeom>
          <a:noFill/>
          <a:ln w="19050">
            <a:solidFill>
              <a:srgbClr val="6B6E70"/>
            </a:solidFill>
            <a:round/>
            <a:tailEnd type="triangle" w="med" len="med"/>
          </a:ln>
          <a:effectLst/>
        </p:spPr>
      </p:sp>
      <p:sp>
        <p:nvSpPr>
          <p:cNvPr id="308" name="Rótulo"/>
          <p:cNvSpPr txBox="1"/>
          <p:nvPr/>
        </p:nvSpPr>
        <p:spPr>
          <a:xfrm>
            <a:off x="4480560" y="3493008"/>
            <a:ext cx="41148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Sim</a:t>
            </a:r>
          </a:p>
        </p:txBody>
      </p:sp>
      <p:sp>
        <p:nvSpPr>
          <p:cNvPr id="309" name="Etapa"/>
          <p:cNvSpPr/>
          <p:nvPr/>
        </p:nvSpPr>
        <p:spPr>
          <a:xfrm>
            <a:off x="3291840" y="3749040"/>
            <a:ext cx="2194560" cy="41148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Fazer TC</a:t>
            </a:r>
          </a:p>
        </p:txBody>
      </p:sp>
      <p:sp>
        <p:nvSpPr>
          <p:cNvPr id="310" name="Seta"/>
          <p:cNvSpPr/>
          <p:nvPr/>
        </p:nvSpPr>
        <p:spPr>
          <a:xfrm>
            <a:off x="1463040" y="2834640"/>
            <a:ext cx="1828800" cy="1115568"/>
          </a:xfrm>
          <a:custGeom>
            <a:avLst/>
            <a:gdLst/>
            <a:ahLst/>
            <a:cxnLst/>
            <a:rect l="0" t="0" r="r" b="b"/>
            <a:pathLst>
              <a:path w="1828800" h="1115568" fill="none">
                <a:moveTo>
                  <a:pt x="1005840" y="0"/>
                </a:moveTo>
                <a:lnTo>
                  <a:pt x="0" y="0"/>
                </a:lnTo>
                <a:lnTo>
                  <a:pt x="0" y="1115568"/>
                </a:lnTo>
                <a:lnTo>
                  <a:pt x="1828800" y="1115568"/>
                </a:lnTo>
              </a:path>
            </a:pathLst>
          </a:custGeom>
          <a:noFill/>
          <a:ln w="19050">
            <a:solidFill>
              <a:srgbClr val="6B6E70"/>
            </a:solidFill>
            <a:prstDash val="dash"/>
            <a:round/>
            <a:tailEnd type="triangle" w="med" len="med"/>
          </a:ln>
          <a:effectLst/>
        </p:spPr>
      </p:sp>
      <p:sp>
        <p:nvSpPr>
          <p:cNvPr id="311" name="Rótulo"/>
          <p:cNvSpPr txBox="1"/>
          <p:nvPr/>
        </p:nvSpPr>
        <p:spPr>
          <a:xfrm>
            <a:off x="713232" y="2487168"/>
            <a:ext cx="1645920" cy="274320"/>
          </a:xfrm>
          <a:prstGeom prst="rect">
            <a:avLst/>
          </a:prstGeom>
          <a:noFill/>
        </p:spPr>
        <p:txBody>
          <a:bodyPr wrap="square" lIns="0" rIns="0" tIns="0" bIns="0" anchor="t">
            <a:noAutofit/>
          </a:bodyPr>
          <a:lstStyle/>
          <a:p>
            <a:pPr algn="l">
              <a:buNone/>
            </a:pPr>
            <a:r>
              <a:rPr lang="pt-BR" sz="1200" b="0" i="0" dirty="0">
                <a:solidFill>
                  <a:srgbClr val="5F6468"/>
                </a:solidFill>
                <a:latin typeface="Roboto"/>
                <a:ea typeface="Roboto"/>
                <a:cs typeface="Roboto"/>
              </a:rPr>
              <a:t>ECOTT indisponível</a:t>
            </a:r>
          </a:p>
        </p:txBody>
      </p:sp>
      <p:sp>
        <p:nvSpPr>
          <p:cNvPr id="312" name="Seta"/>
          <p:cNvSpPr/>
          <p:nvPr/>
        </p:nvSpPr>
        <p:spPr>
          <a:xfrm>
            <a:off x="2176272" y="4160520"/>
            <a:ext cx="2212848" cy="274320"/>
          </a:xfrm>
          <a:custGeom>
            <a:avLst/>
            <a:gdLst/>
            <a:ahLst/>
            <a:cxnLst/>
            <a:rect l="0" t="0" r="r" b="b"/>
            <a:pathLst>
              <a:path w="2212848" h="274320" fill="none">
                <a:moveTo>
                  <a:pt x="2212848" y="0"/>
                </a:moveTo>
                <a:lnTo>
                  <a:pt x="2212848" y="137160"/>
                </a:lnTo>
                <a:lnTo>
                  <a:pt x="0" y="137160"/>
                </a:lnTo>
                <a:lnTo>
                  <a:pt x="0" y="274320"/>
                </a:lnTo>
              </a:path>
            </a:pathLst>
          </a:custGeom>
          <a:noFill/>
          <a:ln w="19050">
            <a:solidFill>
              <a:srgbClr val="6B6E70"/>
            </a:solidFill>
            <a:round/>
            <a:tailEnd type="triangle" w="med" len="med"/>
          </a:ln>
          <a:effectLst/>
        </p:spPr>
      </p:sp>
      <p:sp>
        <p:nvSpPr>
          <p:cNvPr id="313" name="Seta"/>
          <p:cNvSpPr/>
          <p:nvPr/>
        </p:nvSpPr>
        <p:spPr>
          <a:xfrm>
            <a:off x="4389120" y="4297680"/>
            <a:ext cx="1188720" cy="137160"/>
          </a:xfrm>
          <a:custGeom>
            <a:avLst/>
            <a:gdLst/>
            <a:ahLst/>
            <a:cxnLst/>
            <a:rect l="0" t="0" r="r" b="b"/>
            <a:pathLst>
              <a:path w="1188720" h="137160" fill="none">
                <a:moveTo>
                  <a:pt x="0" y="0"/>
                </a:moveTo>
                <a:lnTo>
                  <a:pt x="1188720" y="0"/>
                </a:lnTo>
                <a:lnTo>
                  <a:pt x="1188720" y="137160"/>
                </a:lnTo>
              </a:path>
            </a:pathLst>
          </a:custGeom>
          <a:noFill/>
          <a:ln w="19050">
            <a:solidFill>
              <a:srgbClr val="6B6E70"/>
            </a:solidFill>
            <a:round/>
            <a:tailEnd type="triangle" w="med" len="med"/>
          </a:ln>
          <a:effectLst/>
        </p:spPr>
      </p:sp>
      <p:sp>
        <p:nvSpPr>
          <p:cNvPr id="314" name="Etapa"/>
          <p:cNvSpPr/>
          <p:nvPr/>
        </p:nvSpPr>
        <p:spPr>
          <a:xfrm>
            <a:off x="713232" y="4434840"/>
            <a:ext cx="2926080" cy="100584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TC negativa para TEP</a:t>
            </a:r>
          </a:p>
          <a:p>
            <a:pPr algn="ctr">
              <a:buNone/>
            </a:pPr>
            <a:r>
              <a:rPr lang="pt-BR" sz="1200" b="0" i="0" dirty="0">
                <a:solidFill>
                  <a:srgbClr val="5F6468"/>
                </a:solidFill>
                <a:latin typeface="Roboto"/>
                <a:ea typeface="Roboto"/>
                <a:cs typeface="Roboto"/>
              </a:rPr>
              <a:t>Procurar outra causa de instabilidade</a:t>
            </a:r>
          </a:p>
        </p:txBody>
      </p:sp>
      <p:sp>
        <p:nvSpPr>
          <p:cNvPr id="315" name="Etapa"/>
          <p:cNvSpPr/>
          <p:nvPr/>
        </p:nvSpPr>
        <p:spPr>
          <a:xfrm>
            <a:off x="4114800" y="4434840"/>
            <a:ext cx="2926080" cy="100584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TC positiva para TEP</a:t>
            </a:r>
          </a:p>
          <a:p>
            <a:pPr algn="ctr">
              <a:buNone/>
            </a:pPr>
            <a:r>
              <a:rPr lang="pt-BR" sz="1200" b="0" i="0" dirty="0">
                <a:solidFill>
                  <a:srgbClr val="5F6468"/>
                </a:solidFill>
                <a:latin typeface="Roboto"/>
                <a:ea typeface="Roboto"/>
                <a:cs typeface="Roboto"/>
              </a:rPr>
              <a:t>Fibrinólise e/ou tratamento intervencionista (seguir diretrizes clínicas de TEP)</a:t>
            </a:r>
          </a:p>
        </p:txBody>
      </p:sp>
      <p:sp>
        <p:nvSpPr>
          <p:cNvPr id="316" name="Seta"/>
          <p:cNvSpPr/>
          <p:nvPr/>
        </p:nvSpPr>
        <p:spPr>
          <a:xfrm>
            <a:off x="5486400" y="3950208"/>
            <a:ext cx="2194560" cy="987552"/>
          </a:xfrm>
          <a:custGeom>
            <a:avLst/>
            <a:gdLst/>
            <a:ahLst/>
            <a:cxnLst/>
            <a:rect l="0" t="0" r="r" b="b"/>
            <a:pathLst>
              <a:path w="2194560" h="987552" fill="none">
                <a:moveTo>
                  <a:pt x="0" y="0"/>
                </a:moveTo>
                <a:lnTo>
                  <a:pt x="2194560" y="0"/>
                </a:lnTo>
                <a:lnTo>
                  <a:pt x="2194560" y="987552"/>
                </a:lnTo>
                <a:lnTo>
                  <a:pt x="1554480" y="987552"/>
                </a:lnTo>
              </a:path>
            </a:pathLst>
          </a:custGeom>
          <a:noFill/>
          <a:ln w="19050">
            <a:solidFill>
              <a:srgbClr val="6B6E70"/>
            </a:solidFill>
            <a:prstDash val="dash"/>
            <a:round/>
            <a:tailEnd type="triangle" w="med" len="med"/>
          </a:ln>
          <a:effectLst/>
        </p:spPr>
      </p:sp>
      <p:sp>
        <p:nvSpPr>
          <p:cNvPr id="317" name="Rótulo"/>
          <p:cNvSpPr txBox="1"/>
          <p:nvPr/>
        </p:nvSpPr>
        <p:spPr>
          <a:xfrm>
            <a:off x="7863840" y="3931920"/>
            <a:ext cx="3566160" cy="822960"/>
          </a:xfrm>
          <a:prstGeom prst="rect">
            <a:avLst/>
          </a:prstGeom>
          <a:noFill/>
        </p:spPr>
        <p:txBody>
          <a:bodyPr wrap="square" lIns="0" rIns="0" tIns="0" bIns="0" anchor="t">
            <a:noAutofit/>
          </a:bodyPr>
          <a:lstStyle/>
          <a:p>
            <a:pPr algn="l">
              <a:buNone/>
            </a:pPr>
            <a:r>
              <a:rPr lang="pt-BR" sz="1200" b="0" i="0" dirty="0">
                <a:solidFill>
                  <a:srgbClr val="5F6468"/>
                </a:solidFill>
                <a:latin typeface="Roboto"/>
                <a:ea typeface="Roboto"/>
                <a:cs typeface="Roboto"/>
              </a:rPr>
              <a:t>TC indisponível e/ou sem condições de transporte em paciente com sobrecarga de VD</a:t>
            </a:r>
          </a:p>
        </p:txBody>
      </p:sp>
      <p:sp>
        <p:nvSpPr>
          <p:cNvPr id="318" name="Nota"/>
          <p:cNvSpPr txBox="1"/>
          <p:nvPr/>
        </p:nvSpPr>
        <p:spPr>
          <a:xfrm>
            <a:off x="713232" y="5504688"/>
            <a:ext cx="10771632" cy="228600"/>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²Razão do diâmetro VD/VE ≥1.0; TAPSE &lt;16 mm</a:t>
            </a:r>
          </a:p>
        </p:txBody>
      </p:sp>
      <p:sp>
        <p:nvSpPr>
          <p:cNvPr id="319" name="Legenda"/>
          <p:cNvSpPr txBox="1"/>
          <p:nvPr/>
        </p:nvSpPr>
        <p:spPr>
          <a:xfrm>
            <a:off x="713232" y="5715000"/>
            <a:ext cx="10771632" cy="365760"/>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TEP: tromboembolismo pulmonar; PAS: pressão arterial sistólica; ECOTT: ecocardiograma transtorácico; VD: ventrículo direito; TC: angiotomografia computadorizada (protocolo TEP).</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Fluxograma TEP diagnóstico (3/3)</a:t>
            </a:r>
            <a:endParaRPr lang="pt-BR" dirty="0" sz="3200"/>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79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Status"/>
          <p:cNvSpPr/>
          <p:nvPr/>
        </p:nvSpPr>
        <p:spPr>
          <a:xfrm>
            <a:off x="4453128" y="1645920"/>
            <a:ext cx="3291840" cy="548640"/>
          </a:xfrm>
          <a:prstGeom prst="rect">
            <a:avLst/>
          </a:prstGeom>
          <a:solidFill>
            <a:srgbClr val="3E8E68"/>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CHECAR PROBABILIDADE DIAGNÓSTICA</a:t>
            </a:r>
          </a:p>
        </p:txBody>
      </p:sp>
      <p:sp>
        <p:nvSpPr>
          <p:cNvPr id="302" name="Texto"/>
          <p:cNvSpPr txBox="1"/>
          <p:nvPr/>
        </p:nvSpPr>
        <p:spPr>
          <a:xfrm>
            <a:off x="1097280" y="1737360"/>
            <a:ext cx="3200400" cy="274320"/>
          </a:xfrm>
          <a:prstGeom prst="rect">
            <a:avLst/>
          </a:prstGeom>
          <a:noFill/>
        </p:spPr>
        <p:txBody>
          <a:bodyPr wrap="square" lIns="0" rIns="0" tIns="0" bIns="0" anchor="t">
            <a:noAutofit/>
          </a:bodyPr>
          <a:lstStyle/>
          <a:p>
            <a:pPr algn="r">
              <a:buNone/>
            </a:pPr>
            <a:r>
              <a:rPr lang="pt-BR" sz="1200" b="0" i="0" dirty="0">
                <a:solidFill>
                  <a:srgbClr val="5F6468"/>
                </a:solidFill>
                <a:latin typeface="Roboto"/>
                <a:ea typeface="Roboto"/>
                <a:cs typeface="Roboto"/>
              </a:rPr>
              <a:t>Wells, Genebra, PERC</a:t>
            </a:r>
          </a:p>
        </p:txBody>
      </p:sp>
      <p:sp>
        <p:nvSpPr>
          <p:cNvPr id="303" name="Seta"/>
          <p:cNvSpPr/>
          <p:nvPr/>
        </p:nvSpPr>
        <p:spPr>
          <a:xfrm>
            <a:off x="2560320" y="2194560"/>
            <a:ext cx="3538728" cy="320040"/>
          </a:xfrm>
          <a:custGeom>
            <a:avLst/>
            <a:gdLst/>
            <a:ahLst/>
            <a:cxnLst/>
            <a:rect l="0" t="0" r="r" b="b"/>
            <a:pathLst>
              <a:path w="3538728" h="320040" fill="none">
                <a:moveTo>
                  <a:pt x="3538728" y="0"/>
                </a:moveTo>
                <a:lnTo>
                  <a:pt x="3538728" y="137160"/>
                </a:lnTo>
                <a:lnTo>
                  <a:pt x="0" y="137160"/>
                </a:lnTo>
                <a:lnTo>
                  <a:pt x="0" y="320040"/>
                </a:lnTo>
              </a:path>
            </a:pathLst>
          </a:custGeom>
          <a:noFill/>
          <a:ln w="19050">
            <a:solidFill>
              <a:srgbClr val="6B6E70"/>
            </a:solidFill>
            <a:round/>
            <a:tailEnd type="triangle" w="med" len="med"/>
          </a:ln>
          <a:effectLst/>
        </p:spPr>
      </p:sp>
      <p:sp>
        <p:nvSpPr>
          <p:cNvPr id="304" name="Seta"/>
          <p:cNvSpPr/>
          <p:nvPr/>
        </p:nvSpPr>
        <p:spPr>
          <a:xfrm>
            <a:off x="6099048" y="2331720"/>
            <a:ext cx="3593592" cy="182880"/>
          </a:xfrm>
          <a:custGeom>
            <a:avLst/>
            <a:gdLst/>
            <a:ahLst/>
            <a:cxnLst/>
            <a:rect l="0" t="0" r="r" b="b"/>
            <a:pathLst>
              <a:path w="3593592" h="182880" fill="none">
                <a:moveTo>
                  <a:pt x="0" y="0"/>
                </a:moveTo>
                <a:lnTo>
                  <a:pt x="3593592" y="0"/>
                </a:lnTo>
                <a:lnTo>
                  <a:pt x="3593592" y="182880"/>
                </a:lnTo>
              </a:path>
            </a:pathLst>
          </a:custGeom>
          <a:noFill/>
          <a:ln w="19050">
            <a:solidFill>
              <a:srgbClr val="6B6E70"/>
            </a:solidFill>
            <a:round/>
            <a:tailEnd type="triangle" w="med" len="med"/>
          </a:ln>
          <a:effectLst/>
        </p:spPr>
      </p:sp>
      <p:sp>
        <p:nvSpPr>
          <p:cNvPr id="305" name="Status"/>
          <p:cNvSpPr/>
          <p:nvPr/>
        </p:nvSpPr>
        <p:spPr>
          <a:xfrm>
            <a:off x="1097280" y="2514600"/>
            <a:ext cx="2926080" cy="640080"/>
          </a:xfrm>
          <a:prstGeom prst="rect">
            <a:avLst/>
          </a:prstGeom>
          <a:solidFill>
            <a:srgbClr val="C98A2B"/>
          </a:solidFill>
          <a:ln>
            <a:noFill/>
          </a:ln>
          <a:effectLst/>
        </p:spPr>
        <p:txBody>
          <a:bodyPr rtlCol="0" anchor="ctr" wrap="square" lIns="91440" rIns="91440" tIns="45720" bIns="45720"/>
          <a:lstStyle/>
          <a:p>
            <a:pPr algn="ctr">
              <a:buNone/>
            </a:pPr>
            <a:r>
              <a:rPr lang="pt-BR" sz="1300" b="0" i="0" dirty="0">
                <a:solidFill>
                  <a:srgbClr val="1F3238"/>
                </a:solidFill>
                <a:latin typeface="Roboto Medium"/>
                <a:ea typeface="Roboto Medium"/>
                <a:cs typeface="Roboto Medium"/>
              </a:rPr>
              <a:t>Baixa¹ ou Intermediária</a:t>
            </a:r>
          </a:p>
          <a:p>
            <a:pPr algn="ctr">
              <a:buNone/>
            </a:pPr>
            <a:r>
              <a:rPr lang="pt-BR" sz="1200" b="0" i="0" dirty="0">
                <a:solidFill>
                  <a:srgbClr val="1F3238"/>
                </a:solidFill>
                <a:latin typeface="Roboto"/>
                <a:ea typeface="Roboto"/>
                <a:cs typeface="Roboto"/>
              </a:rPr>
              <a:t>(improvável)</a:t>
            </a:r>
          </a:p>
        </p:txBody>
      </p:sp>
      <p:sp>
        <p:nvSpPr>
          <p:cNvPr id="306" name="Status"/>
          <p:cNvSpPr/>
          <p:nvPr/>
        </p:nvSpPr>
        <p:spPr>
          <a:xfrm>
            <a:off x="8229600" y="2514600"/>
            <a:ext cx="2926080" cy="640080"/>
          </a:xfrm>
          <a:prstGeom prst="rect">
            <a:avLst/>
          </a:prstGeom>
          <a:solidFill>
            <a:srgbClr val="B5533C"/>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Alta probabilidade</a:t>
            </a:r>
          </a:p>
          <a:p>
            <a:pPr algn="ctr">
              <a:buNone/>
            </a:pPr>
            <a:r>
              <a:rPr lang="pt-BR" sz="1200" b="0" i="0" dirty="0">
                <a:solidFill>
                  <a:srgbClr val="FBFCFC"/>
                </a:solidFill>
                <a:latin typeface="Roboto"/>
                <a:ea typeface="Roboto"/>
                <a:cs typeface="Roboto"/>
              </a:rPr>
              <a:t>(provável)</a:t>
            </a:r>
          </a:p>
        </p:txBody>
      </p:sp>
      <p:sp>
        <p:nvSpPr>
          <p:cNvPr id="307" name="Seta"/>
          <p:cNvSpPr/>
          <p:nvPr/>
        </p:nvSpPr>
        <p:spPr>
          <a:xfrm>
            <a:off x="2560320" y="3154680"/>
            <a:ext cx="1" cy="182880"/>
          </a:xfrm>
          <a:custGeom>
            <a:avLst/>
            <a:gdLst/>
            <a:ahLst/>
            <a:cxnLst/>
            <a:rect l="0" t="0" r="r" b="b"/>
            <a:pathLst>
              <a:path w="1" h="182880" fill="none">
                <a:moveTo>
                  <a:pt x="0" y="0"/>
                </a:moveTo>
                <a:lnTo>
                  <a:pt x="0" y="182880"/>
                </a:lnTo>
              </a:path>
            </a:pathLst>
          </a:custGeom>
          <a:noFill/>
          <a:ln w="19050">
            <a:solidFill>
              <a:srgbClr val="6B6E70"/>
            </a:solidFill>
            <a:round/>
            <a:tailEnd type="triangle" w="med" len="med"/>
          </a:ln>
          <a:effectLst/>
        </p:spPr>
      </p:sp>
      <p:sp>
        <p:nvSpPr>
          <p:cNvPr id="308" name="Etapa"/>
          <p:cNvSpPr/>
          <p:nvPr/>
        </p:nvSpPr>
        <p:spPr>
          <a:xfrm>
            <a:off x="1097280" y="3337560"/>
            <a:ext cx="2926080" cy="45720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Fazer D-dímero</a:t>
            </a:r>
          </a:p>
        </p:txBody>
      </p:sp>
      <p:sp>
        <p:nvSpPr>
          <p:cNvPr id="309" name="Seta"/>
          <p:cNvSpPr/>
          <p:nvPr/>
        </p:nvSpPr>
        <p:spPr>
          <a:xfrm>
            <a:off x="2560320" y="3794760"/>
            <a:ext cx="1" cy="365760"/>
          </a:xfrm>
          <a:custGeom>
            <a:avLst/>
            <a:gdLst/>
            <a:ahLst/>
            <a:cxnLst/>
            <a:rect l="0" t="0" r="r" b="b"/>
            <a:pathLst>
              <a:path w="1" h="365760" fill="none">
                <a:moveTo>
                  <a:pt x="0" y="0"/>
                </a:moveTo>
                <a:lnTo>
                  <a:pt x="0" y="365760"/>
                </a:lnTo>
              </a:path>
            </a:pathLst>
          </a:custGeom>
          <a:noFill/>
          <a:ln w="19050">
            <a:solidFill>
              <a:srgbClr val="6B6E70"/>
            </a:solidFill>
            <a:round/>
            <a:tailEnd type="triangle" w="med" len="med"/>
          </a:ln>
          <a:effectLst/>
        </p:spPr>
      </p:sp>
      <p:sp>
        <p:nvSpPr>
          <p:cNvPr id="310" name="Rótulo"/>
          <p:cNvSpPr txBox="1"/>
          <p:nvPr/>
        </p:nvSpPr>
        <p:spPr>
          <a:xfrm>
            <a:off x="2651760" y="3840480"/>
            <a:ext cx="91440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Negativo³</a:t>
            </a:r>
          </a:p>
        </p:txBody>
      </p:sp>
      <p:sp>
        <p:nvSpPr>
          <p:cNvPr id="311" name="Status"/>
          <p:cNvSpPr/>
          <p:nvPr/>
        </p:nvSpPr>
        <p:spPr>
          <a:xfrm>
            <a:off x="1097280" y="4160520"/>
            <a:ext cx="2926080" cy="502920"/>
          </a:xfrm>
          <a:prstGeom prst="rect">
            <a:avLst/>
          </a:prstGeom>
          <a:solidFill>
            <a:srgbClr val="3E8E68"/>
          </a:solidFill>
          <a:ln>
            <a:noFill/>
          </a:ln>
          <a:effectLst/>
        </p:spPr>
        <p:txBody>
          <a:bodyPr rtlCol="0" anchor="ctr" wrap="square" lIns="91440" rIns="91440" tIns="45720" bIns="45720"/>
          <a:lstStyle/>
          <a:p>
            <a:pPr algn="ctr">
              <a:buNone/>
            </a:pPr>
            <a:r>
              <a:rPr lang="pt-BR" sz="1300" b="0" i="0" dirty="0">
                <a:solidFill>
                  <a:srgbClr val="FBFCFC"/>
                </a:solidFill>
                <a:latin typeface="Roboto Medium"/>
                <a:ea typeface="Roboto Medium"/>
                <a:cs typeface="Roboto Medium"/>
              </a:rPr>
              <a:t>Procurar outro diagnóstico</a:t>
            </a:r>
          </a:p>
        </p:txBody>
      </p:sp>
      <p:sp>
        <p:nvSpPr>
          <p:cNvPr id="312" name="Seta"/>
          <p:cNvSpPr/>
          <p:nvPr/>
        </p:nvSpPr>
        <p:spPr>
          <a:xfrm>
            <a:off x="4023360" y="3566160"/>
            <a:ext cx="2926080" cy="594360"/>
          </a:xfrm>
          <a:custGeom>
            <a:avLst/>
            <a:gdLst/>
            <a:ahLst/>
            <a:cxnLst/>
            <a:rect l="0" t="0" r="r" b="b"/>
            <a:pathLst>
              <a:path w="2926080" h="594360" fill="none">
                <a:moveTo>
                  <a:pt x="0" y="0"/>
                </a:moveTo>
                <a:lnTo>
                  <a:pt x="2926080" y="0"/>
                </a:lnTo>
                <a:lnTo>
                  <a:pt x="2926080" y="594360"/>
                </a:lnTo>
              </a:path>
            </a:pathLst>
          </a:custGeom>
          <a:noFill/>
          <a:ln w="19050">
            <a:solidFill>
              <a:srgbClr val="6B6E70"/>
            </a:solidFill>
            <a:round/>
            <a:tailEnd type="triangle" w="med" len="med"/>
          </a:ln>
          <a:effectLst/>
        </p:spPr>
      </p:sp>
      <p:sp>
        <p:nvSpPr>
          <p:cNvPr id="313" name="Rótulo"/>
          <p:cNvSpPr txBox="1"/>
          <p:nvPr/>
        </p:nvSpPr>
        <p:spPr>
          <a:xfrm>
            <a:off x="4114800" y="3310128"/>
            <a:ext cx="91440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Positivo³</a:t>
            </a:r>
          </a:p>
        </p:txBody>
      </p:sp>
      <p:sp>
        <p:nvSpPr>
          <p:cNvPr id="314" name="Etapa"/>
          <p:cNvSpPr/>
          <p:nvPr/>
        </p:nvSpPr>
        <p:spPr>
          <a:xfrm>
            <a:off x="5852160" y="4160520"/>
            <a:ext cx="2194560" cy="502920"/>
          </a:xfrm>
          <a:prstGeom prst="rect">
            <a:avLst/>
          </a:prstGeom>
          <a:solidFill>
            <a:srgbClr val="F2F4F5"/>
          </a:solidFill>
          <a:ln w="12700">
            <a:solidFill>
              <a:srgbClr val="6E9DAB"/>
            </a:solidFill>
          </a:ln>
          <a:effectLst/>
        </p:spPr>
        <p:txBody>
          <a:bodyPr rtlCol="0" anchor="ctr" wrap="square" lIns="91440" rIns="91440" tIns="45720" bIns="45720"/>
          <a:lstStyle/>
          <a:p>
            <a:pPr algn="ctr">
              <a:buNone/>
            </a:pPr>
            <a:r>
              <a:rPr lang="pt-BR" sz="1300" b="0" i="0" dirty="0">
                <a:solidFill>
                  <a:srgbClr val="3B3F42"/>
                </a:solidFill>
                <a:latin typeface="Roboto Medium"/>
                <a:ea typeface="Roboto Medium"/>
                <a:cs typeface="Roboto Medium"/>
              </a:rPr>
              <a:t>TC</a:t>
            </a:r>
          </a:p>
        </p:txBody>
      </p:sp>
      <p:sp>
        <p:nvSpPr>
          <p:cNvPr id="315" name="Seta"/>
          <p:cNvSpPr/>
          <p:nvPr/>
        </p:nvSpPr>
        <p:spPr>
          <a:xfrm>
            <a:off x="8046720" y="3154680"/>
            <a:ext cx="1645920" cy="1252728"/>
          </a:xfrm>
          <a:custGeom>
            <a:avLst/>
            <a:gdLst/>
            <a:ahLst/>
            <a:cxnLst/>
            <a:rect l="0" t="0" r="r" b="b"/>
            <a:pathLst>
              <a:path w="1645920" h="1252728" fill="none">
                <a:moveTo>
                  <a:pt x="1645920" y="0"/>
                </a:moveTo>
                <a:lnTo>
                  <a:pt x="1645920" y="1252728"/>
                </a:lnTo>
                <a:lnTo>
                  <a:pt x="0" y="1252728"/>
                </a:lnTo>
              </a:path>
            </a:pathLst>
          </a:custGeom>
          <a:noFill/>
          <a:ln w="19050">
            <a:solidFill>
              <a:srgbClr val="6B6E70"/>
            </a:solidFill>
            <a:round/>
            <a:tailEnd type="triangle" w="med" len="med"/>
          </a:ln>
          <a:effectLst/>
        </p:spPr>
      </p:sp>
      <p:sp>
        <p:nvSpPr>
          <p:cNvPr id="316" name="Nota"/>
          <p:cNvSpPr txBox="1"/>
          <p:nvPr/>
        </p:nvSpPr>
        <p:spPr>
          <a:xfrm>
            <a:off x="713232" y="4800600"/>
            <a:ext cx="10771632" cy="822960"/>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¹Pacientes de baixa probabilidade clínica (Wells, Genebra) que não possuam nenhum critério do PERC presente são considerados de probabilidade muito baixa para o diagnóstico de TEP (em casos selecionados pode ser dispensável o D-dímero).</a:t>
            </a:r>
          </a:p>
          <a:p>
            <a:pPr algn="l">
              <a:buNone/>
            </a:pPr>
            <a:r>
              <a:rPr lang="pt-BR" sz="1200" b="0" i="0" dirty="0">
                <a:solidFill>
                  <a:srgbClr val="737A7F"/>
                </a:solidFill>
                <a:latin typeface="Roboto"/>
                <a:ea typeface="Roboto"/>
                <a:cs typeface="Roboto"/>
              </a:rPr>
              <a:t>³D-dímero positivo ≥500 ng/mL (µg/L) ou, a partir dos usar 50 anos de idade, pode usar ponto de corte ajustado por idade (idade x 10) para melhor especificidade do ponto de corte do exame (abaixo do ponto de corte é D-dímero negativo).</a:t>
            </a:r>
          </a:p>
        </p:txBody>
      </p:sp>
      <p:sp>
        <p:nvSpPr>
          <p:cNvPr id="317" name="Legenda"/>
          <p:cNvSpPr txBox="1"/>
          <p:nvPr/>
        </p:nvSpPr>
        <p:spPr>
          <a:xfrm>
            <a:off x="713232" y="5715000"/>
            <a:ext cx="10771632" cy="365760"/>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TEP: tromboembolismo pulmonar; PAS: pressão arterial sistólica; ECOTT: ecocardiograma transtorácico; VD: ventrículo direito; TC: angiotomografia computadorizada (protocolo TEP).</a:t>
            </a:r>
          </a:p>
        </p:txBody>
      </p:sp>
    </p:spTree>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Roboto"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boto"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2617</TotalTime>
  <Words>595</Words>
  <Application>Microsoft Office PowerPoint</Application>
  <PresentationFormat>Widescreen</PresentationFormat>
  <Paragraphs>224</Paragraphs>
  <Slides>92</Slides>
  <Notes>6</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92</vt:i4>
      </vt:variant>
    </vt:vector>
  </HeadingPairs>
  <TitlesOfParts>
    <vt:vector size="97" baseType="lpstr">
      <vt:lpstr>Arial</vt:lpstr>
      <vt:lpstr>Bahnschrift SemiBold</vt:lpstr>
      <vt:lpstr>Calibri</vt:lpstr>
      <vt:lpstr>Calibri Light</vt:lpstr>
      <vt:lpstr>Tema do Office</vt:lpstr>
      <vt:lpstr>Apresentação do PowerPoint</vt:lpstr>
      <vt:lpstr>O PROTOCOLO</vt:lpstr>
      <vt:lpstr>CLASSIFICAÇÃO DOS SINTOMAS</vt:lpstr>
      <vt:lpstr>Apresentação do PowerPoint</vt:lpstr>
      <vt:lpstr>OBJETIVOS</vt:lpstr>
      <vt:lpstr>QUEM VAMOS COLOCAR NO PROTOCOLO ?</vt:lpstr>
      <vt:lpstr>AÇÕES </vt:lpstr>
      <vt:lpstr>ECG</vt:lpstr>
      <vt:lpstr>ECG BEM FEITO</vt:lpstr>
      <vt:lpstr>DERIVAÇÕES COMPLEMENTARES ANTERIORES</vt:lpstr>
      <vt:lpstr>DERIVAÇÕES COMPLEMENTARES POSTERIORES</vt:lpstr>
      <vt:lpstr>Apresentação do PowerPoint</vt:lpstr>
      <vt:lpstr>Apresentação do PowerPoint</vt:lpstr>
      <vt:lpstr>ECG</vt:lpstr>
      <vt:lpstr>Apresentação do PowerPoint</vt:lpstr>
      <vt:lpstr>CAUSAS DE SUPRA DESNIVELAMENTO DO ST</vt:lpstr>
      <vt:lpstr>ALTERAÇÕES ECG DIAGNÓSTICAS SCA SEM BRE</vt:lpstr>
      <vt:lpstr>IMAGEM EM ESPELHO</vt:lpstr>
      <vt:lpstr>Apresentação do PowerPoint</vt:lpstr>
      <vt:lpstr>Apresentação do PowerPoint</vt:lpstr>
      <vt:lpstr>IAM POSTERIOR</vt:lpstr>
      <vt:lpstr>Apresentação do PowerPoint</vt:lpstr>
      <vt:lpstr>CLASSIFICAÇÃO DA ISQUEMIA MIOCÁRDICA SEGUNDO A OCLUSÃO CORONARIANA</vt:lpstr>
      <vt:lpstr>Apresentação do PowerPoint</vt:lpstr>
      <vt:lpstr>E SE O ECG NÃO FOR DIAGNÓSTICO ?</vt:lpstr>
      <vt:lpstr>CRITÉRIOS DE INSTABILIDADE</vt:lpstr>
      <vt:lpstr>Apresentação do PowerPoint</vt:lpstr>
      <vt:lpstr>Apresentação do PowerPoint</vt:lpstr>
      <vt:lpstr>Apresentação do PowerPoint</vt:lpstr>
      <vt:lpstr>E SE O ECG NÃO FOR DIAGNÓSTICO COM PACIENTE ESTÁVEL?</vt:lpstr>
      <vt:lpstr>Apresentação do PowerPoint</vt:lpstr>
      <vt:lpstr>AVALIAÇÃO CLINICA DETALHADA</vt:lpstr>
      <vt:lpstr>Apresentação do PowerPoint</vt:lpstr>
      <vt:lpstr>Apresentação do PowerPoint</vt:lpstr>
      <vt:lpstr>ALGORITMO DA TROPONINA</vt:lpstr>
      <vt:lpstr>OUTROS MECANISMOS DE INJÚRIA</vt:lpstr>
      <vt:lpstr>ESTRATÉGIAS DE ANÁLISE DA TROPONINA</vt:lpstr>
      <vt:lpstr>TIPOS DE IAM</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NUANCES DO ECG</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Conta da Microsoft</dc:creator>
  <cp:lastModifiedBy>Conta da Microsoft</cp:lastModifiedBy>
  <cp:revision>113</cp:revision>
  <dcterms:created xsi:type="dcterms:W3CDTF">2025-09-24T23:45:30Z</dcterms:created>
  <dcterms:modified xsi:type="dcterms:W3CDTF">2026-09-28T23:13:12Z</dcterms:modified>
</cp:coreProperties>
</file>