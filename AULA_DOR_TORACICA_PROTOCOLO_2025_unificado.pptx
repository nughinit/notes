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7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452" r:id="rId101"/>
    <p:sldId id="381" r:id="rId2"/>
    <p:sldId id="329" r:id="rId3"/>
    <p:sldId id="385" r:id="rId4"/>
    <p:sldId id="382" r:id="rId5"/>
    <p:sldId id="393" r:id="rId6"/>
    <p:sldId id="395" r:id="rId7"/>
    <p:sldId id="394" r:id="rId8"/>
    <p:sldId id="397" r:id="rId9"/>
    <p:sldId id="443" r:id="rId10"/>
    <p:sldId id="390" r:id="rId11"/>
    <p:sldId id="351" r:id="rId12"/>
    <p:sldId id="447" r:id="rId13"/>
    <p:sldId id="396" r:id="rId14"/>
    <p:sldId id="389" r:id="rId15"/>
    <p:sldId id="264" r:id="rId16"/>
    <p:sldId id="398" r:id="rId17"/>
    <p:sldId id="361" r:id="rId18"/>
    <p:sldId id="444" r:id="rId19"/>
    <p:sldId id="383" r:id="rId20"/>
    <p:sldId id="384" r:id="rId21"/>
    <p:sldId id="399" r:id="rId22"/>
    <p:sldId id="445" r:id="rId23"/>
    <p:sldId id="387" r:id="rId24"/>
    <p:sldId id="265" r:id="rId25"/>
    <p:sldId id="400" r:id="rId26"/>
    <p:sldId id="420" r:id="rId27"/>
    <p:sldId id="364" r:id="rId28"/>
    <p:sldId id="257" r:id="rId29"/>
    <p:sldId id="419" r:id="rId30"/>
    <p:sldId id="421" r:id="rId31"/>
    <p:sldId id="278" r:id="rId32"/>
    <p:sldId id="446" r:id="rId33"/>
    <p:sldId id="437" r:id="rId34"/>
    <p:sldId id="392" r:id="rId35"/>
    <p:sldId id="422" r:id="rId36"/>
    <p:sldId id="436" r:id="rId37"/>
    <p:sldId id="438" r:id="rId38"/>
    <p:sldId id="435" r:id="rId39"/>
    <p:sldId id="449" r:id="rId40"/>
    <p:sldId id="430" r:id="rId41"/>
    <p:sldId id="431" r:id="rId42"/>
    <p:sldId id="439" r:id="rId43"/>
    <p:sldId id="281" r:id="rId44"/>
    <p:sldId id="457" r:id="rId106"/>
    <p:sldId id="283" r:id="rId46"/>
    <p:sldId id="286" r:id="rId47"/>
    <p:sldId id="287" r:id="rId48"/>
    <p:sldId id="288" r:id="rId49"/>
    <p:sldId id="289" r:id="rId50"/>
    <p:sldId id="290" r:id="rId51"/>
    <p:sldId id="292" r:id="rId52"/>
    <p:sldId id="441" r:id="rId53"/>
    <p:sldId id="442" r:id="rId54"/>
    <p:sldId id="440" r:id="rId55"/>
    <p:sldId id="300" r:id="rId56"/>
    <p:sldId id="456" r:id="rId105"/>
    <p:sldId id="301" r:id="rId57"/>
    <p:sldId id="455" r:id="rId104"/>
    <p:sldId id="303" r:id="rId58"/>
    <p:sldId id="304" r:id="rId59"/>
    <p:sldId id="306" r:id="rId60"/>
    <p:sldId id="307" r:id="rId61"/>
    <p:sldId id="305" r:id="rId62"/>
    <p:sldId id="308" r:id="rId63"/>
    <p:sldId id="309" r:id="rId64"/>
    <p:sldId id="310" r:id="rId65"/>
    <p:sldId id="312" r:id="rId66"/>
    <p:sldId id="334" r:id="rId67"/>
    <p:sldId id="335" r:id="rId68"/>
    <p:sldId id="337" r:id="rId69"/>
    <p:sldId id="338" r:id="rId70"/>
    <p:sldId id="339" r:id="rId71"/>
    <p:sldId id="347" r:id="rId72"/>
    <p:sldId id="454" r:id="rId103"/>
    <p:sldId id="348" r:id="rId73"/>
    <p:sldId id="349" r:id="rId74"/>
    <p:sldId id="350" r:id="rId75"/>
    <p:sldId id="401" r:id="rId76"/>
    <p:sldId id="402" r:id="rId77"/>
    <p:sldId id="403" r:id="rId78"/>
    <p:sldId id="404" r:id="rId79"/>
    <p:sldId id="405" r:id="rId80"/>
    <p:sldId id="406" r:id="rId81"/>
    <p:sldId id="407" r:id="rId82"/>
    <p:sldId id="408" r:id="rId83"/>
    <p:sldId id="409" r:id="rId84"/>
    <p:sldId id="410" r:id="rId85"/>
    <p:sldId id="411" r:id="rId86"/>
    <p:sldId id="412" r:id="rId87"/>
    <p:sldId id="413" r:id="rId88"/>
    <p:sldId id="414" r:id="rId89"/>
    <p:sldId id="415" r:id="rId90"/>
    <p:sldId id="416" r:id="rId91"/>
    <p:sldId id="418" r:id="rId93"/>
    <p:sldId id="453" r:id="rId10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34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696" y="32"/>
      </p:cViewPr>
      <p:guideLst/>
    </p:cSldViewPr>
  </p:slideViewPr>
  <p:notesTextViewPr>
    <p:cViewPr>
      <p:scale>
        <a:sx n="1" d="1"/>
        <a:sy n="1" d="1"/>
      </p:scale>
      <p:origin x="0" y="0"/>
    </p:cViewPr>
  </p:notesTextViewPr>
  <p:sorterViewPr>
    <p:cViewPr>
      <p:scale>
        <a:sx n="100" d="100"/>
        <a:sy n="100" d="100"/>
      </p:scale>
      <p:origin x="0" y="-151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8.xml"/><Relationship Id="rId58" Type="http://schemas.openxmlformats.org/officeDocument/2006/relationships/slide" Target="slides/slide60.xml"/><Relationship Id="rId59" Type="http://schemas.openxmlformats.org/officeDocument/2006/relationships/slide" Target="slides/slide61.xml"/><Relationship Id="rId60" Type="http://schemas.openxmlformats.org/officeDocument/2006/relationships/slide" Target="slides/slide62.xml"/><Relationship Id="rId61" Type="http://schemas.openxmlformats.org/officeDocument/2006/relationships/slide" Target="slides/slide63.xml"/><Relationship Id="rId62" Type="http://schemas.openxmlformats.org/officeDocument/2006/relationships/slide" Target="slides/slide64.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slide" Target="slides/slide68.xml"/><Relationship Id="rId67" Type="http://schemas.openxmlformats.org/officeDocument/2006/relationships/slide" Target="slides/slide69.xml"/><Relationship Id="rId68" Type="http://schemas.openxmlformats.org/officeDocument/2006/relationships/slide" Target="slides/slide70.xml"/><Relationship Id="rId69" Type="http://schemas.openxmlformats.org/officeDocument/2006/relationships/slide" Target="slides/slide71.xml"/><Relationship Id="rId70" Type="http://schemas.openxmlformats.org/officeDocument/2006/relationships/slide" Target="slides/slide72.xml"/><Relationship Id="rId71" Type="http://schemas.openxmlformats.org/officeDocument/2006/relationships/slide" Target="slides/slide73.xml"/><Relationship Id="rId72" Type="http://schemas.openxmlformats.org/officeDocument/2006/relationships/slide" Target="slides/slide74.xml"/><Relationship Id="rId73" Type="http://schemas.openxmlformats.org/officeDocument/2006/relationships/slide" Target="slides/slide76.xml"/><Relationship Id="rId74" Type="http://schemas.openxmlformats.org/officeDocument/2006/relationships/slide" Target="slides/slide77.xml"/><Relationship Id="rId75" Type="http://schemas.openxmlformats.org/officeDocument/2006/relationships/slide" Target="slides/slide78.xml"/><Relationship Id="rId76" Type="http://schemas.openxmlformats.org/officeDocument/2006/relationships/slide" Target="slides/slide79.xml"/><Relationship Id="rId77" Type="http://schemas.openxmlformats.org/officeDocument/2006/relationships/slide" Target="slides/slide80.xml"/><Relationship Id="rId78" Type="http://schemas.openxmlformats.org/officeDocument/2006/relationships/slide" Target="slides/slide81.xml"/><Relationship Id="rId79" Type="http://schemas.openxmlformats.org/officeDocument/2006/relationships/slide" Target="slides/slide82.xml"/><Relationship Id="rId80" Type="http://schemas.openxmlformats.org/officeDocument/2006/relationships/slide" Target="slides/slide83.xml"/><Relationship Id="rId81" Type="http://schemas.openxmlformats.org/officeDocument/2006/relationships/slide" Target="slides/slide84.xml"/><Relationship Id="rId82" Type="http://schemas.openxmlformats.org/officeDocument/2006/relationships/slide" Target="slides/slide85.xml"/><Relationship Id="rId83" Type="http://schemas.openxmlformats.org/officeDocument/2006/relationships/slide" Target="slides/slide86.xml"/><Relationship Id="rId84" Type="http://schemas.openxmlformats.org/officeDocument/2006/relationships/slide" Target="slides/slide87.xml"/><Relationship Id="rId85" Type="http://schemas.openxmlformats.org/officeDocument/2006/relationships/slide" Target="slides/slide88.xml"/><Relationship Id="rId86" Type="http://schemas.openxmlformats.org/officeDocument/2006/relationships/slide" Target="slides/slide89.xml"/><Relationship Id="rId87" Type="http://schemas.openxmlformats.org/officeDocument/2006/relationships/slide" Target="slides/slide90.xml"/><Relationship Id="rId88" Type="http://schemas.openxmlformats.org/officeDocument/2006/relationships/slide" Target="slides/slide91.xml"/><Relationship Id="rId89" Type="http://schemas.openxmlformats.org/officeDocument/2006/relationships/slide" Target="slides/slide92.xml"/><Relationship Id="rId90" Type="http://schemas.openxmlformats.org/officeDocument/2006/relationships/slide" Target="slides/slide93.xml"/><Relationship Id="rId91" Type="http://schemas.openxmlformats.org/officeDocument/2006/relationships/slide" Target="slides/slide94.xml"/><Relationship Id="rId93" Type="http://schemas.openxmlformats.org/officeDocument/2006/relationships/slide" Target="slides/slide95.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96.xml"/><Relationship Id="rId103" Type="http://schemas.openxmlformats.org/officeDocument/2006/relationships/slide" Target="slides/slide75.xml"/><Relationship Id="rId104" Type="http://schemas.openxmlformats.org/officeDocument/2006/relationships/slide" Target="slides/slide59.xml"/><Relationship Id="rId105" Type="http://schemas.openxmlformats.org/officeDocument/2006/relationships/slide" Target="slides/slide57.xml"/><Relationship Id="rId106" Type="http://schemas.openxmlformats.org/officeDocument/2006/relationships/slide" Target="slides/slide4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IAM ST</c:v>
                </c:pt>
              </c:strCache>
            </c:strRef>
          </c:tx>
          <c:spPr>
            <a:solidFill>
              <a:srgbClr val="4E7C8B"/>
            </a:solidFill>
            <a:ln>
              <a:noFill/>
            </a:ln>
          </c:spPr>
          <c:dLbls>
            <c:dLbl>
              <c:idx val="0"/>
              <c:tx>
                <c:rich>
                  <a:bodyPr/>
                  <a:lstStyle/>
                  <a:p>
                    <a:r>
                      <a:rPr sz="1200" b="1">
                        <a:solidFill>
                          <a:srgbClr val="FBFCFC"/>
                        </a:solidFill>
                        <a:latin typeface="Roboto"/>
                      </a:rPr>
                      <a:t>527</a:t>
                    </a:r>
                  </a:p>
                  <a:p>
                    <a:r>
                      <a:rPr sz="1200" b="1">
                        <a:solidFill>
                          <a:srgbClr val="FBFCFC"/>
                        </a:solidFill>
                        <a:latin typeface="Roboto"/>
                      </a:rPr>
                      <a:t>79%</a:t>
                    </a:r>
                  </a:p>
                </c:rich>
              </c:tx>
              <c:dLblPos val="ctr"/>
              <c:showLegendKey val="0"/>
              <c:showVal val="1"/>
              <c:showCatName val="0"/>
              <c:showSerName val="0"/>
              <c:showPercent val="0"/>
              <c:showBubbleSize val="0"/>
            </c:dLbl>
            <c:dLbl>
              <c:idx val="1"/>
              <c:tx>
                <c:rich>
                  <a:bodyPr/>
                  <a:lstStyle/>
                  <a:p>
                    <a:r>
                      <a:rPr sz="1200" b="1">
                        <a:solidFill>
                          <a:srgbClr val="FBFCFC"/>
                        </a:solidFill>
                        <a:latin typeface="Roboto"/>
                      </a:rPr>
                      <a:t>423</a:t>
                    </a:r>
                  </a:p>
                  <a:p>
                    <a:r>
                      <a:rPr sz="1200" b="1">
                        <a:solidFill>
                          <a:srgbClr val="FBFCFC"/>
                        </a:solidFill>
                        <a:latin typeface="Roboto"/>
                      </a:rPr>
                      <a:t>79%</a:t>
                    </a:r>
                  </a:p>
                </c:rich>
              </c:tx>
              <c:dLblPos val="ctr"/>
              <c:showLegendKey val="0"/>
              <c:showVal val="1"/>
              <c:showCatName val="0"/>
              <c:showSerName val="0"/>
              <c:showPercent val="0"/>
              <c:showBubbleSize val="0"/>
            </c:dLbl>
            <c:dLbl>
              <c:idx val="2"/>
              <c:tx>
                <c:rich>
                  <a:bodyPr/>
                  <a:lstStyle/>
                  <a:p>
                    <a:r>
                      <a:rPr sz="1200" b="1">
                        <a:solidFill>
                          <a:srgbClr val="FBFCFC"/>
                        </a:solidFill>
                        <a:latin typeface="Roboto"/>
                      </a:rPr>
                      <a:t>127</a:t>
                    </a:r>
                  </a:p>
                  <a:p>
                    <a:r>
                      <a:rPr sz="1200" b="1">
                        <a:solidFill>
                          <a:srgbClr val="FBFCFC"/>
                        </a:solidFill>
                        <a:latin typeface="Roboto"/>
                      </a:rPr>
                      <a:t>43%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CD</c:v>
                </c:pt>
                <c:pt idx="1">
                  <c:v>DA</c:v>
                </c:pt>
                <c:pt idx="2">
                  <c:v>Cx</c:v>
                </c:pt>
              </c:strCache>
            </c:strRef>
          </c:cat>
          <c:val>
            <c:numRef>
              <c:f>Sheet1!$B$2:$B$4</c:f>
              <c:numCache>
                <c:formatCode>General</c:formatCode>
                <c:ptCount val="3"/>
                <c:pt idx="0">
                  <c:v>527</c:v>
                </c:pt>
                <c:pt idx="1">
                  <c:v>423</c:v>
                </c:pt>
                <c:pt idx="2">
                  <c:v>127</c:v>
                </c:pt>
              </c:numCache>
            </c:numRef>
          </c:val>
        </c:ser>
        <c:ser>
          <c:idx val="1"/>
          <c:order val="1"/>
          <c:tx>
            <c:strRef>
              <c:f>Sheet1!$C$1</c:f>
              <c:strCache>
                <c:ptCount val="1"/>
                <c:pt idx="0">
                  <c:v>IAM NST</c:v>
                </c:pt>
              </c:strCache>
            </c:strRef>
          </c:tx>
          <c:spPr>
            <a:solidFill>
              <a:srgbClr val="8EC4CB"/>
            </a:solidFill>
            <a:ln>
              <a:noFill/>
            </a:ln>
          </c:spPr>
          <c:dLbls>
            <c:dLbl>
              <c:idx val="0"/>
              <c:tx>
                <c:rich>
                  <a:bodyPr/>
                  <a:lstStyle/>
                  <a:p>
                    <a:r>
                      <a:rPr sz="1200" b="1">
                        <a:solidFill>
                          <a:srgbClr val="1F3238"/>
                        </a:solidFill>
                        <a:latin typeface="Roboto"/>
                      </a:rPr>
                      <a:t>143</a:t>
                    </a:r>
                  </a:p>
                </c:rich>
              </c:tx>
              <c:dLblPos val="ctr"/>
              <c:showLegendKey val="0"/>
              <c:showVal val="1"/>
              <c:showCatName val="0"/>
              <c:showSerName val="0"/>
              <c:showPercent val="0"/>
              <c:showBubbleSize val="0"/>
            </c:dLbl>
            <c:dLbl>
              <c:idx val="1"/>
              <c:tx>
                <c:rich>
                  <a:bodyPr/>
                  <a:lstStyle/>
                  <a:p>
                    <a:r>
                      <a:rPr sz="1200" b="1">
                        <a:solidFill>
                          <a:srgbClr val="1F3238"/>
                        </a:solidFill>
                        <a:latin typeface="Roboto"/>
                      </a:rPr>
                      <a:t>114</a:t>
                    </a:r>
                  </a:p>
                </c:rich>
              </c:tx>
              <c:dLblPos val="ctr"/>
              <c:showLegendKey val="0"/>
              <c:showVal val="1"/>
              <c:showCatName val="0"/>
              <c:showSerName val="0"/>
              <c:showPercent val="0"/>
              <c:showBubbleSize val="0"/>
            </c:dLbl>
            <c:dLbl>
              <c:idx val="2"/>
              <c:tx>
                <c:rich>
                  <a:bodyPr/>
                  <a:lstStyle/>
                  <a:p>
                    <a:r>
                      <a:rPr sz="1200" b="1">
                        <a:solidFill>
                          <a:srgbClr val="1F3238"/>
                        </a:solidFill>
                        <a:latin typeface="Roboto"/>
                      </a:rPr>
                      <a:t>166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CD</c:v>
                </c:pt>
                <c:pt idx="1">
                  <c:v>DA</c:v>
                </c:pt>
                <c:pt idx="2">
                  <c:v>Cx</c:v>
                </c:pt>
              </c:strCache>
            </c:strRef>
          </c:cat>
          <c:val>
            <c:numRef>
              <c:f>Sheet1!$C$2:$C$4</c:f>
              <c:numCache>
                <c:formatCode>General</c:formatCode>
                <c:ptCount val="3"/>
                <c:pt idx="0">
                  <c:v>143</c:v>
                </c:pt>
                <c:pt idx="1">
                  <c:v>114</c:v>
                </c:pt>
                <c:pt idx="2">
                  <c:v>166</c:v>
                </c:pt>
              </c:numCache>
            </c:numRef>
          </c:val>
        </c:ser>
        <c:gapWidth val="60"/>
        <c:overlap val="100"/>
        <c:axId val="-2068027336"/>
        <c:axId val="-2113994440"/>
      </c:barChart>
      <c:catAx>
        <c:axId val="-2068027336"/>
        <c:scaling>
          <c:orientation val="minMax"/>
        </c:scaling>
        <c:delete val="0"/>
        <c:axPos val="b"/>
        <c:majorTickMark val="none"/>
        <c:minorTickMark val="none"/>
        <c:tickLblPos val="nextTo"/>
        <c:spPr>
          <a:ln w="19050">
            <a:solidFill>
              <a:srgbClr val="A3A6A8"/>
            </a:solidFill>
          </a:ln>
        </c:spPr>
        <c:txPr>
          <a:bodyPr/>
          <a:lstStyle/>
          <a:p>
            <a:pPr>
              <a:defRPr sz="1200" b="0">
                <a:solidFill>
                  <a:srgbClr val="1F3238"/>
                </a:solidFill>
                <a:latin typeface="Roboto"/>
              </a:defRPr>
            </a:pPr>
          </a:p>
        </c:txPr>
        <c:crossAx val="-2113994440"/>
        <c:crosses val="autoZero"/>
        <c:auto val="1"/>
        <c:lblAlgn val="ctr"/>
        <c:lblOffset val="100"/>
        <c:noMultiLvlLbl val="0"/>
      </c:catAx>
      <c:valAx>
        <c:axId val="-2113994440"/>
        <c:scaling/>
        <c:delete val="0"/>
        <c:axPos val="l"/>
        <c:majorGridlines>
          <c:spPr>
            <a:ln w="9525">
              <a:solidFill>
                <a:srgbClr val="E4E6E7"/>
              </a:solidFill>
            </a:ln>
          </c:spPr>
        </c:majorGridlines>
        <c:numFmt formatCode="0%" sourceLinked="0"/>
        <c:majorTickMark val="none"/>
        <c:minorTickMark val="none"/>
        <c:tickLblPos val="nextTo"/>
        <c:spPr>
          <a:ln>
            <a:noFill/>
          </a:ln>
        </c:spPr>
        <c:txPr>
          <a:bodyPr/>
          <a:lstStyle/>
          <a:p>
            <a:pPr>
              <a:defRPr sz="1200" b="0">
                <a:solidFill>
                  <a:srgbClr val="5F6468"/>
                </a:solidFill>
                <a:latin typeface="Roboto"/>
              </a:defRPr>
            </a:pPr>
          </a:p>
        </c:txPr>
        <c:crossAx val="-2068027336"/>
        <c:crosses val="autoZero"/>
      </c:valAx>
    </c:plotArea>
    <c:legend>
      <c:legendPos val="t"/>
      <c:overlay val="0"/>
      <c:txPr>
        <a:bodyPr/>
        <a:lstStyle/>
        <a:p>
          <a:pPr>
            <a:defRPr sz="1200" b="0">
              <a:solidFill>
                <a:srgbClr val="5F6468"/>
              </a:solidFill>
              <a:latin typeface="Roboto"/>
            </a:defRPr>
          </a:pPr>
        </a:p>
      </c:txPr>
    </c:legend>
    <c:dispBlanksAs val="gap"/>
  </c:chart>
  <c:txPr>
    <a:bodyPr/>
    <a:lstStyle/>
    <a:p>
      <a:pPr>
        <a:defRPr sz="1200">
          <a:solidFill>
            <a:srgbClr val="5F6468"/>
          </a:solidFill>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Low-Risk</c:v>
                </c:pt>
              </c:strCache>
            </c:strRef>
          </c:tx>
          <c:spPr>
            <a:solidFill>
              <a:srgbClr val="4E7C8B"/>
            </a:solidFill>
            <a:ln>
              <a:noFill/>
            </a:ln>
          </c:spPr>
          <c:dLbls>
            <c:dLbl>
              <c:idx val="0"/>
              <c:tx>
                <c:rich>
                  <a:bodyPr/>
                  <a:lstStyle/>
                  <a:p>
                    <a:r>
                      <a:rPr sz="609" b="1">
                        <a:solidFill>
                          <a:srgbClr val="1F3238"/>
                        </a:solidFill>
                        <a:latin typeface="Roboto"/>
                      </a:rPr>
                      <a:t>0,3%</a:t>
                    </a:r>
                  </a:p>
                </c:rich>
              </c:tx>
              <c:dLblPos val="outEnd"/>
              <c:showLegendKey val="0"/>
              <c:showVal val="1"/>
              <c:showCatName val="0"/>
              <c:showSerName val="0"/>
              <c:showPercent val="0"/>
              <c:showBubbleSize val="0"/>
            </c:dLbl>
            <c:dLbl>
              <c:idx val="1"/>
              <c:tx>
                <c:rich>
                  <a:bodyPr/>
                  <a:lstStyle/>
                  <a:p>
                    <a:r>
                      <a:rPr sz="609" b="1">
                        <a:solidFill>
                          <a:srgbClr val="1F3238"/>
                        </a:solidFill>
                        <a:latin typeface="Roboto"/>
                      </a:rPr>
                      <a:t>0,1%</a:t>
                    </a:r>
                  </a:p>
                </c:rich>
              </c:tx>
              <c:dLblPos val="outEnd"/>
              <c:showLegendKey val="0"/>
              <c:showVal val="1"/>
              <c:showCatName val="0"/>
              <c:showSerName val="0"/>
              <c:showPercent val="0"/>
              <c:showBubbleSize val="0"/>
            </c:dLbl>
            <c:dLbl>
              <c:idx val="2"/>
              <c:tx>
                <c:rich>
                  <a:bodyPr/>
                  <a:lstStyle/>
                  <a:p>
                    <a:r>
                      <a:rPr sz="609" b="1">
                        <a:solidFill>
                          <a:srgbClr val="1F3238"/>
                        </a:solidFill>
                        <a:latin typeface="Roboto"/>
                      </a:rPr>
                      <a:t>0,4%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Death</c:v>
                </c:pt>
                <c:pt idx="1">
                  <c:v>AMI</c:v>
                </c:pt>
                <c:pt idx="2">
                  <c:v>Composite</c:v>
                </c:pt>
              </c:strCache>
            </c:strRef>
          </c:cat>
          <c:val>
            <c:numRef>
              <c:f>Sheet1!$B$2:$B$4</c:f>
              <c:numCache>
                <c:formatCode>General</c:formatCode>
                <c:ptCount val="3"/>
                <c:pt idx="0">
                  <c:v>0.3</c:v>
                </c:pt>
                <c:pt idx="1">
                  <c:v>0.1</c:v>
                </c:pt>
                <c:pt idx="2">
                  <c:v>0.4</c:v>
                </c:pt>
              </c:numCache>
            </c:numRef>
          </c:val>
        </c:ser>
        <c:ser>
          <c:idx val="1"/>
          <c:order val="1"/>
          <c:tx>
            <c:strRef>
              <c:f>Sheet1!$C$1</c:f>
              <c:strCache>
                <c:ptCount val="1"/>
                <c:pt idx="0">
                  <c:v>High-Risk</c:v>
                </c:pt>
              </c:strCache>
            </c:strRef>
          </c:tx>
          <c:spPr>
            <a:solidFill>
              <a:srgbClr val="8EC4CB"/>
            </a:solidFill>
            <a:ln>
              <a:noFill/>
            </a:ln>
          </c:spPr>
          <c:dLbls>
            <c:dLbl>
              <c:idx val="0"/>
              <c:tx>
                <c:rich>
                  <a:bodyPr/>
                  <a:lstStyle/>
                  <a:p>
                    <a:r>
                      <a:rPr sz="609" b="1">
                        <a:solidFill>
                          <a:srgbClr val="1F3238"/>
                        </a:solidFill>
                        <a:latin typeface="Roboto"/>
                      </a:rPr>
                      <a:t>1,2%</a:t>
                    </a:r>
                  </a:p>
                </c:rich>
              </c:tx>
              <c:dLblPos val="outEnd"/>
              <c:showLegendKey val="0"/>
              <c:showVal val="1"/>
              <c:showCatName val="0"/>
              <c:showSerName val="0"/>
              <c:showPercent val="0"/>
              <c:showBubbleSize val="0"/>
            </c:dLbl>
            <c:dLbl>
              <c:idx val="1"/>
              <c:tx>
                <c:rich>
                  <a:bodyPr/>
                  <a:lstStyle/>
                  <a:p>
                    <a:r>
                      <a:rPr sz="609" b="1">
                        <a:solidFill>
                          <a:srgbClr val="1F3238"/>
                        </a:solidFill>
                        <a:latin typeface="Roboto"/>
                      </a:rPr>
                      <a:t>12,6%</a:t>
                    </a:r>
                  </a:p>
                </c:rich>
              </c:tx>
              <c:dLblPos val="outEnd"/>
              <c:showLegendKey val="0"/>
              <c:showVal val="1"/>
              <c:showCatName val="0"/>
              <c:showSerName val="0"/>
              <c:showPercent val="0"/>
              <c:showBubbleSize val="0"/>
            </c:dLbl>
            <c:dLbl>
              <c:idx val="2"/>
              <c:tx>
                <c:rich>
                  <a:bodyPr/>
                  <a:lstStyle/>
                  <a:p>
                    <a:r>
                      <a:rPr sz="609" b="1">
                        <a:solidFill>
                          <a:srgbClr val="1F3238"/>
                        </a:solidFill>
                        <a:latin typeface="Roboto"/>
                      </a:rPr>
                      <a:t>13,5%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Death</c:v>
                </c:pt>
                <c:pt idx="1">
                  <c:v>AMI</c:v>
                </c:pt>
                <c:pt idx="2">
                  <c:v>Composite</c:v>
                </c:pt>
              </c:strCache>
            </c:strRef>
          </c:cat>
          <c:val>
            <c:numRef>
              <c:f>Sheet1!$C$2:$C$4</c:f>
              <c:numCache>
                <c:formatCode>General</c:formatCode>
                <c:ptCount val="3"/>
                <c:pt idx="0">
                  <c:v>1.2</c:v>
                </c:pt>
                <c:pt idx="1">
                  <c:v>12.6</c:v>
                </c:pt>
                <c:pt idx="2">
                  <c:v>13.5</c:v>
                </c:pt>
              </c:numCache>
            </c:numRef>
          </c:val>
        </c:ser>
        <c:gapWidth val="60"/>
        <c:axId val="-2068027336"/>
        <c:axId val="-2113994440"/>
      </c:barChart>
      <c:catAx>
        <c:axId val="-2068027336"/>
        <c:scaling>
          <c:orientation val="minMax"/>
        </c:scaling>
        <c:delete val="0"/>
        <c:axPos val="b"/>
        <c:majorTickMark val="none"/>
        <c:minorTickMark val="none"/>
        <c:tickLblPos val="nextTo"/>
        <c:spPr>
          <a:ln w="19050">
            <a:solidFill>
              <a:srgbClr val="A3A6A8"/>
            </a:solidFill>
          </a:ln>
        </c:spPr>
        <c:txPr>
          <a:bodyPr/>
          <a:lstStyle/>
          <a:p>
            <a:pPr>
              <a:defRPr sz="609" b="0">
                <a:solidFill>
                  <a:srgbClr val="1F3238"/>
                </a:solidFill>
                <a:latin typeface="Roboto"/>
              </a:defRPr>
            </a:pPr>
          </a:p>
        </c:txPr>
        <c:crossAx val="-2113994440"/>
        <c:crosses val="autoZero"/>
        <c:auto val="1"/>
        <c:lblAlgn val="ctr"/>
        <c:lblOffset val="100"/>
        <c:noMultiLvlLbl val="0"/>
      </c:catAx>
      <c:valAx>
        <c:axId val="-2113994440"/>
        <c:scaling>
          <c:max val="16.0"/>
          <c:min val="0.0"/>
        </c:scaling>
        <c:delete val="0"/>
        <c:axPos val="l"/>
        <c:majorGridlines>
          <c:spPr>
            <a:ln w="9525">
              <a:solidFill>
                <a:srgbClr val="E4E6E7"/>
              </a:solidFill>
            </a:ln>
          </c:spPr>
        </c:majorGridlines>
        <c:numFmt formatCode="0&quot;%&quot;" sourceLinked="0"/>
        <c:majorTickMark val="none"/>
        <c:minorTickMark val="none"/>
        <c:tickLblPos val="nextTo"/>
        <c:spPr>
          <a:ln>
            <a:noFill/>
          </a:ln>
        </c:spPr>
        <c:txPr>
          <a:bodyPr/>
          <a:lstStyle/>
          <a:p>
            <a:pPr>
              <a:defRPr sz="609" b="0">
                <a:solidFill>
                  <a:srgbClr val="5F6468"/>
                </a:solidFill>
                <a:latin typeface="Roboto"/>
              </a:defRPr>
            </a:pPr>
          </a:p>
        </c:txPr>
        <c:crossAx val="-2068027336"/>
        <c:crosses val="autoZero"/>
        <c:majorUnit val="4.0"/>
      </c:valAx>
    </c:plotArea>
    <c:legend>
      <c:legendPos val="t"/>
      <c:overlay val="0"/>
      <c:txPr>
        <a:bodyPr/>
        <a:lstStyle/>
        <a:p>
          <a:pPr>
            <a:defRPr sz="609" b="0">
              <a:solidFill>
                <a:srgbClr val="5F6468"/>
              </a:solidFill>
              <a:latin typeface="Roboto"/>
            </a:defRPr>
          </a:pPr>
        </a:p>
      </c:txPr>
    </c:legend>
    <c:dispBlanksAs val="gap"/>
  </c:chart>
  <c:txPr>
    <a:bodyPr/>
    <a:lstStyle/>
    <a:p>
      <a:pPr>
        <a:defRPr sz="609">
          <a:solidFill>
            <a:srgbClr val="5F6468"/>
          </a:solidFill>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746AD-4320-44D4-A130-E742BD4E7119}" type="datetimeFigureOut">
              <a:rPr lang="pt-BR" smtClean="0"/>
              <a:t>27/09/2026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6BBC14-F423-4804-B09E-8508B5DBBF05}" type="slidenum">
              <a:rPr lang="pt-BR" smtClean="0"/>
              <a:t>‹nº›</a:t>
            </a:fld>
            <a:endParaRPr lang="pt-BR"/>
          </a:p>
        </p:txBody>
      </p:sp>
    </p:spTree>
    <p:extLst>
      <p:ext uri="{BB962C8B-B14F-4D97-AF65-F5344CB8AC3E}">
        <p14:creationId xmlns:p14="http://schemas.microsoft.com/office/powerpoint/2010/main" val="297773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Em vermelho: os que irão se beneficiar com a </a:t>
            </a:r>
            <a:r>
              <a:rPr lang="pt-BR" dirty="0" err="1" smtClean="0"/>
              <a:t>trombólise</a:t>
            </a:r>
            <a:r>
              <a:rPr lang="pt-BR" dirty="0" smtClean="0"/>
              <a:t> esse é o foco</a:t>
            </a:r>
            <a:endParaRPr lang="pt-BR" dirty="0"/>
          </a:p>
          <a:p/>
          <a:p>
            <a:r>
              <a:t>[VALIDAR] '&lt; 5% serão SCA': a diretriz de 2025 (seção 1.1) cita que apenas 5 a 20% dos pacientes com dor torácica no PS têm SCA. Sugestão: conferir o número e a que grupo ele se refere. Fonte: Diretriz Brasileira de Dor Torácica na Unidade de Emergência 2025 (SBC).</a:t>
            </a:r>
          </a:p>
          <a:p>
            <a:r>
              <a:t>[VALIDAR] 'MOV (mse)': a diretriz define MOV = monitorização, avaliação da saturação de O2 e acesso venoso; o sentido de '(mse)' não está claro. Sugestão: confirmar e explicitar.</a:t>
            </a:r>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2</a:t>
            </a:fld>
            <a:endParaRPr lang="pt-BR"/>
          </a:p>
        </p:txBody>
      </p:sp>
    </p:spTree>
    <p:extLst>
      <p:ext uri="{BB962C8B-B14F-4D97-AF65-F5344CB8AC3E}">
        <p14:creationId xmlns:p14="http://schemas.microsoft.com/office/powerpoint/2010/main" val="2629133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4</a:t>
            </a:fld>
            <a:endParaRPr lang="pt-BR"/>
          </a:p>
        </p:txBody>
      </p:sp>
    </p:spTree>
    <p:extLst>
      <p:ext uri="{BB962C8B-B14F-4D97-AF65-F5344CB8AC3E}">
        <p14:creationId xmlns:p14="http://schemas.microsoft.com/office/powerpoint/2010/main" val="390666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err="1" smtClean="0"/>
              <a:t>Brugada</a:t>
            </a:r>
            <a:r>
              <a:rPr lang="pt-BR" dirty="0" smtClean="0"/>
              <a:t>:</a:t>
            </a:r>
            <a:r>
              <a:rPr lang="pt-BR" baseline="0" dirty="0" smtClean="0"/>
              <a:t> doença genética rara, potencialmente fatal (arritmias), mutações genéticas nos canais de sódio</a:t>
            </a:r>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16</a:t>
            </a:fld>
            <a:endParaRPr lang="pt-BR"/>
          </a:p>
        </p:txBody>
      </p:sp>
    </p:spTree>
    <p:extLst>
      <p:ext uri="{BB962C8B-B14F-4D97-AF65-F5344CB8AC3E}">
        <p14:creationId xmlns:p14="http://schemas.microsoft.com/office/powerpoint/2010/main" val="1101822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143(21,34% ) + 527 (78,66% ) = 670 (100%)   114 (21,23% ) + 423 (78,77% ) = 537 (100%)  166 (55,66%) + 127 (43,34% ) = 293 (100%</a:t>
            </a:r>
            <a:endParaRPr lang="pt-BR" dirty="0"/>
          </a:p>
          <a:p/>
          <a:p>
            <a:r>
              <a:t>[VALIDAR] Nota do autor: '166 (55,66%) + 127 (43,34%) = 293': 166/293 = 56,66%, e só 56,66% + 43,34% fecha 100%. Sugestão: corrigir para 56,66% na nota e conferir o gráfico. Fonte: artigo original do registro (Korea AMI Registry) citado na figura.</a:t>
            </a:r>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20</a:t>
            </a:fld>
            <a:endParaRPr lang="pt-BR"/>
          </a:p>
        </p:txBody>
      </p:sp>
    </p:spTree>
    <p:extLst>
      <p:ext uri="{BB962C8B-B14F-4D97-AF65-F5344CB8AC3E}">
        <p14:creationId xmlns:p14="http://schemas.microsoft.com/office/powerpoint/2010/main" val="4010324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Acionar o time de choque</a:t>
            </a:r>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26</a:t>
            </a:fld>
            <a:endParaRPr lang="pt-BR"/>
          </a:p>
        </p:txBody>
      </p:sp>
    </p:spTree>
    <p:extLst>
      <p:ext uri="{BB962C8B-B14F-4D97-AF65-F5344CB8AC3E}">
        <p14:creationId xmlns:p14="http://schemas.microsoft.com/office/powerpoint/2010/main" val="2688439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t>[BACKUP?] Tabela/figura completa da diretriz. Candidato a mover para o backup; não foi movido.</a:t>
            </a:r>
            <a:endParaRPr lang="pt-BR" dirty="0"/>
          </a:p>
        </p:txBody>
      </p:sp>
      <p:sp>
        <p:nvSpPr>
          <p:cNvPr id="4" name="Espaço Reservado para Número de Slide 3"/>
          <p:cNvSpPr>
            <a:spLocks noGrp="1"/>
          </p:cNvSpPr>
          <p:nvPr>
            <p:ph type="sldNum" sz="quarter" idx="10"/>
          </p:nvPr>
        </p:nvSpPr>
        <p:spPr/>
        <p:txBody>
          <a:bodyPr/>
          <a:lstStyle/>
          <a:p>
            <a:fld id="{866BBC14-F423-4804-B09E-8508B5DBBF05}" type="slidenum">
              <a:rPr lang="pt-BR" smtClean="0"/>
              <a:t>45</a:t>
            </a:fld>
            <a:endParaRPr lang="pt-BR"/>
          </a:p>
        </p:txBody>
      </p:sp>
    </p:spTree>
    <p:extLst>
      <p:ext uri="{BB962C8B-B14F-4D97-AF65-F5344CB8AC3E}">
        <p14:creationId xmlns:p14="http://schemas.microsoft.com/office/powerpoint/2010/main" val="1323486947"/>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'TX' e 'Bb' são siglas ambíguas e não foram expandidas (ex.: TX = transplantado? Bb = betabloqueador?). Sugestão: confirmar o significado e defini-las. Ao dividir o slide em dois, o conteúdo original foi mantido integralmente.</a:t>
            </a:r>
          </a:p>
          <a:p/>
          <a:p>
            <a:r>
              <a:t>[REVISÃO] Este slide é a segunda metade do slide 'Quem vamos colocar no protocolo?', dividido para caber em fonte legível. Conteúdo original mantido.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'Sensibilidade de 50%' para o 1º ECG: a diretriz diz que o ECG isolado detecta menos de 50% dos IAMs (seção 3.4.2). Sugestão: considerar '&lt; 50%'.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Título diz 'Derivações complementares anteriores', mas o conteúdo é de derivações direitas (V3R–V6R) e parede posterior do VD. Sugestão: ajustar o título ou o conteúdo.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[SUGESTÃO] Rótulos em inglês (V7–V9). Sugestão: traduzir para português para manter o idioma da aula.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'Maior 40 anos': a diretriz usa '≥ 40 anos' (≥ 2 mm em V2–V3) e exige elevação em pelo menos 2 derivações contíguas. Sugestão: alinhar com o texto da diretriz. Reformatei o slide para 'Homem, menor 40 anos: ...', sem alterar valores.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Slide 'SVE/BRE/IAM' (imagem): confirmar o significado de SVE (ex.: sobrecarga ventricular esquerda?) e defini-lo.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'OMI: 28% SSST': o número 28% não foi localizado na diretriz anexa. Sugestão: citar a fonte primária. Os nomes MINOCA/ANOCA/INOCA/TINOCA estão só parcialmente expandidos no slide (só a 1ª palavra); expandi o restante no rodapé.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[SUGESTÃO] As letras R-E-P-I-T-A ficam sem conteúdo no slide (apenas a letra A está preenchida). A figura do slide 28 traz a lista completa (Ruptura de esôfago, Embolia pulmonar, Pneumotórax, Infarto, Tamponamento, Aorta). Sugestão: completar o slide com essa lista, se for o objetivo.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'Sintomas &gt; 3 horas: Uma dosagem': na diretriz, uma única dosagem só descarta IAM se a troponina de alta sensibilidade estiver abaixo do valor 'muito baixo' e sem recorrência de sintomas. Sugestão: explicitar a condição.</a:t>
            </a:r>
          </a:p>
          <a:p>
            <a:r>
              <a:t>[VALIDAR] '5 xx em qualquer momento': o texto original ('5 xx') não é claro. A diretriz cita valores acima de 5x o limite da normalidade como muito elevados. Sugestão: reescrever ('&gt; 5x o limite superior') após conferir.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slide 47).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conteúdo dos slides 49 e 50).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(repete o slide 66 com destaque).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Tabela/figura completa da diretriz. Candidato a mover para o backup; não foi movido.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idêntico ao slide 30. Candidato a remoção ou backup; não foi movido.</a:t>
            </a:r>
          </a:p>
          <a:p/>
          <a:p>
            <a:r>
              <a:t>[TEXTO COMPLETO DO FLUXOGRAMA – movido das caixas para as notas para permitir fonte legível no projetor]</a:t>
            </a:r>
          </a:p>
          <a:p>
            <a:r>
              <a:t>SINTOMAS SUSPEITOS (BUSCAR ATENDIMENTO IMEDIATAMENTE)</a:t>
            </a:r>
          </a:p>
          <a:p>
            <a:r>
              <a:t>Suspeita clínica confirmada (dor torácica ou sintoma equivalente)</a:t>
            </a:r>
          </a:p>
          <a:p>
            <a:r>
              <a:t>PASSO 1 (Realizar ECG até 10 minutos) → ECG COM CRITÉRIOS DIAGNÓSTICOS? Sim: SEGUIR ROTA TERAPÊUTICA (diretriz específica de acordo com o diagnóstico estabelecido). Não: PASSO 2.</a:t>
            </a:r>
          </a:p>
          <a:p>
            <a:r>
              <a:t>PASSO 2 (Avaliação inicial da rota diagnóstica) → HÁ CRITÉRIO DE INSTABILIDADE?¹ Sim: SEGUIR ROTA DE PACIENTE INSTÁVEL.</a:t>
            </a:r>
          </a:p>
          <a:p>
            <a:r>
              <a:t>SEGUIR ROTA DE PACIENTE INSTÁVEL: Avaliação clínica + dosagem de troponina; Repetir ECG a cada 10-20 minutos (apoio de médico experiente); Buscar ativamente diagnósticos diferenciais (POCUS, outros exames); Admissão na unidade; Tratar conforme diagnóstico estabelecido; Avaliar indicação de time de choque.</a:t>
            </a:r>
          </a:p>
          <a:p>
            <a:r>
              <a:t>¹ 1. CRITÉRIOS DE INSTABILIDADE: ECG limítrofe; Dor persistente; Instabilidade hemodinâmica/Má perfusão (perda de consciência, etc); Congestão pulmonar aguda; Taquiarritmia / bradiarritmia no cenário de dor torácica aguda.</a:t>
            </a:r>
          </a:p>
          <a:p>
            <a:r>
              <a:t>Não: PASSO 3 (Decisão após avaliação clínica detalhada com apoio de algoritmos e exames iniciais conforme suspeita clínica) → DIAGNÓSTICO ESTABELECIDO? Sim: SEGUIR ROTA TERAPÊUTICA. Não: CLASSIFICAR CONFORME ALGORITMOS DE TROPONINA E ESCORES DE RISCO.</a:t>
            </a:r>
          </a:p>
          <a:p>
            <a:r>
              <a:t>RULE IN – ADMISSÃO DO PACIENTE: Avaliar critérios de IAM e, na ausência de critérios de IAM, buscar ativamente a causa da injúria.</a:t>
            </a:r>
          </a:p>
          <a:p>
            <a:r>
              <a:t>PASSO 4 (Observação e investigação adicional nos casos de probabilidade/risco intermediário): Solicitar terceira dosagem de troponina, repetir ECG, realizar mais escores de risco (ex: GRACE) e considerar exames adicionais conforme suspeita*.</a:t>
            </a:r>
          </a:p>
          <a:p>
            <a:r>
              <a:t>RULE OUT – DESCARTE DO DIAGNÓSTICO DE IAM: Na ausência de diagnósticos alternativos para a causa da dor torácica, considerar alta para casa, especialmente se HEART score &lt;4 em paciente sem antecedente de doença coronária*.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idêntico ao slide 29. Candidato a remoção ou backup; não foi movido.</a:t>
            </a:r>
          </a:p>
          <a:p/>
          <a:p>
            <a:r>
              <a:t>[TEXTO COMPLETO DO FLUXOGRAMA – movido das caixas para as notas para permitir fonte legível no projetor]</a:t>
            </a:r>
          </a:p>
          <a:p>
            <a:r>
              <a:t>SINTOMAS SUSPEITOS (BUSCAR ATENDIMENTO IMEDIATAMENTE)</a:t>
            </a:r>
          </a:p>
          <a:p>
            <a:r>
              <a:t>Suspeita clínica confirmada (dor torácica ou sintoma equivalente)</a:t>
            </a:r>
          </a:p>
          <a:p>
            <a:r>
              <a:t>PASSO 1 (Realizar ECG até 10 minutos) → ECG COM CRITÉRIOS DIAGNÓSTICOS? Sim: SEGUIR ROTA TERAPÊUTICA (diretriz específica de acordo com o diagnóstico estabelecido). Não: PASSO 2.</a:t>
            </a:r>
          </a:p>
          <a:p>
            <a:r>
              <a:t>PASSO 2 (Avaliação inicial da rota diagnóstica) → HÁ CRITÉRIO DE INSTABILIDADE?¹ Sim: SEGUIR ROTA DE PACIENTE INSTÁVEL.</a:t>
            </a:r>
          </a:p>
          <a:p>
            <a:r>
              <a:t>SEGUIR ROTA DE PACIENTE INSTÁVEL: Avaliação clínica + dosagem de troponina; Repetir ECG a cada 10-20 minutos (apoio de médico experiente); Buscar ativamente diagnósticos diferenciais (POCUS, outros exames); Admissão na unidade; Tratar conforme diagnóstico estabelecido; Avaliar indicação de time de choque.</a:t>
            </a:r>
          </a:p>
          <a:p>
            <a:r>
              <a:t>¹ 1. CRITÉRIOS DE INSTABILIDADE: ECG limítrofe; Dor persistente; Instabilidade hemodinâmica/Má perfusão (perda de consciência, etc); Congestão pulmonar aguda; Taquiarritmia / bradiarritmia no cenário de dor torácica aguda.</a:t>
            </a:r>
          </a:p>
          <a:p>
            <a:r>
              <a:t>Não: PASSO 3 (Decisão após avaliação clínica detalhada com apoio de algoritmos e exames iniciais conforme suspeita clínica) → DIAGNÓSTICO ESTABELECIDO? Sim: SEGUIR ROTA TERAPÊUTICA. Não: CLASSIFICAR CONFORME ALGORITMOS DE TROPONINA E ESCORES DE RISCO.</a:t>
            </a:r>
          </a:p>
          <a:p>
            <a:r>
              <a:t>RULE IN – ADMISSÃO DO PACIENTE: Avaliar critérios de IAM e, na ausência de critérios de IAM, buscar ativamente a causa da injúria.</a:t>
            </a:r>
          </a:p>
          <a:p>
            <a:r>
              <a:t>PASSO 4 (Observação e investigação adicional nos casos de probabilidade/risco intermediário): Solicitar terceira dosagem de troponina, repetir ECG, realizar mais escores de risco (ex: GRACE) e considerar exames adicionais conforme suspeita*.</a:t>
            </a:r>
          </a:p>
          <a:p>
            <a:r>
              <a:t>RULE OUT – DESCARTE DO DIAGNÓSTICO DE IAM: Na ausência de diagnósticos alternativos para a causa da dor torácica, considerar alta para casa, especialmente se HEART score &lt;4 em paciente sem antecedente de doença coronária*.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repete o slide 32. Candidato a remoção ou backup; não foi movido.</a:t>
            </a:r>
          </a:p>
          <a:p/>
          <a:p>
            <a:r>
              <a:t>[TEXTO COMPLETO DO FLUXOGRAMA – movido das caixas para as notas para permitir fonte legível no projetor]</a:t>
            </a:r>
          </a:p>
          <a:p>
            <a:r>
              <a:t>Pergunta (repetida nas duas saídas): ECG LIMÍTROFE/ DUVIDOSO OU CRITÉRIOS DE INSTABILIDADE CLÍNICA (incluindo dor persistente)?</a:t>
            </a:r>
          </a:p>
          <a:p>
            <a:r>
              <a:t>SIM → REPETIR ECG A CADA 10-20 MINUTOS (apoio de médico experiente), MANTER MONITORIZAÇÃO E TRATAR CRITÉRIOS DE INSTABILIDADE (acionar time de choque se instabilidade hemodinâmica) + BUSCAR ATIVAMENTE OUTROS DIAGNÓSTICOS (avaliação clínica detalhada; uso de escores diagnósticos; RX; POCUS; outros exames conforme suspeita) + ALGORITMOS DE TROPONINA*.</a:t>
            </a:r>
          </a:p>
          <a:p>
            <a:r>
              <a:t>NÃO → REPETIR ECG SE PIORA CLÍNICA (imediatamente) | AVALIAÇÃO CLÍNICA DETALHADA (incluindo escores clínicos) E ALGORITMOS DE TROPONINA* (outros exames conforme suspeita diagnóstica).</a:t>
            </a:r>
          </a:p>
          <a:p>
            <a:r>
              <a:t>*Algoritmos de troponina conforme figuras 11A e 11B. Os dois losangos idênticos do original (um para Sim, outro para Não) foram unidos em um único losango; as imagens decorativas (tórax, ECG, POCUS, estetoscópio) foram retiradas para dar espaço.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[REVISÃO] Slide sem conteúdo visível. Sugestão: remover ou preencher.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[REVISÃO] Slide sem conteúdo visível. Sugestão: remover ou preencher.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[REVISÃO] Slide sem conteúdo visível. Sugestão: remover ou preencher.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DO FLUXOGRAMA – movido das caixas para as notas para permitir fonte legível no projetor]</a:t>
            </a:r>
          </a:p>
          <a:p>
            <a:r>
              <a:t>SINTOMAS SUSPEITOS (BUSCAR ATENDIMENTO IMEDIATAMENTE)</a:t>
            </a:r>
          </a:p>
          <a:p>
            <a:r>
              <a:t>Suspeita clínica confirmada (dor torácica ou sintoma equivalente)</a:t>
            </a:r>
          </a:p>
          <a:p>
            <a:r>
              <a:t>PASSO 1 (Realizar ECG até 10 minutos) → ECG COM CRITÉRIOS DIAGNÓSTICOS? Sim: SEGUIR ROTA TERAPÊUTICA (diretriz específica de acordo com o diagnóstico estabelecido). Não: PASSO 2.</a:t>
            </a:r>
          </a:p>
          <a:p>
            <a:r>
              <a:t>PASSO 2 (Avaliação inicial da rota diagnóstica) → HÁ CRITÉRIO DE INSTABILIDADE?¹ Sim: SEGUIR ROTA DE PACIENTE INSTÁVEL.</a:t>
            </a:r>
          </a:p>
          <a:p>
            <a:r>
              <a:t>SEGUIR ROTA DE PACIENTE INSTÁVEL: Avaliação clínica + dosagem de troponina; Repetir ECG a cada 10-20 minutos (apoio de médico experiente); Buscar ativamente diagnósticos diferenciais (POCUS, outros exames); Admissão na unidade; Tratar conforme diagnóstico estabelecido; Avaliar indicação de time de choque.</a:t>
            </a:r>
          </a:p>
          <a:p>
            <a:r>
              <a:t>¹ 1. CRITÉRIOS DE INSTABILIDADE: ECG limítrofe; Dor persistente; Instabilidade hemodinâmica/Má perfusão (perda de consciência, etc); Congestão pulmonar aguda; Taquiarritmia / bradiarritmia no cenário de dor torácica aguda.</a:t>
            </a:r>
          </a:p>
          <a:p>
            <a:r>
              <a:t>Não: PASSO 3 (Decisão após avaliação clínica detalhada com apoio de algoritmos e exames iniciais conforme suspeita clínica) → DIAGNÓSTICO ESTABELECIDO? Sim: SEGUIR ROTA TERAPÊUTICA. Não: CLASSIFICAR CONFORME ALGORITMOS DE TROPONINA E ESCORES DE RISCO.</a:t>
            </a:r>
          </a:p>
          <a:p>
            <a:r>
              <a:t>RULE IN – ADMISSÃO DO PACIENTE: Avaliar critérios de IAM e, na ausência de critérios de IAM, buscar ativamente a causa da injúria.</a:t>
            </a:r>
          </a:p>
          <a:p>
            <a:r>
              <a:t>PASSO 4 (Observação e investigação adicional nos casos de probabilidade/risco intermediário): Solicitar terceira dosagem de troponina, repetir ECG, realizar mais escores de risco (ex: GRACE) e considerar exames adicionais conforme suspeita*.</a:t>
            </a:r>
          </a:p>
          <a:p>
            <a:r>
              <a:t>RULE OUT – DESCARTE DO DIAGNÓSTICO DE IAM: Na ausência de diagnósticos alternativos para a causa da dor torácica, considerar alta para casa, especialmente se HEART score &lt;4 em paciente sem antecedente de doença coronária*.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DO FLUXOGRAMA – movido das caixas para as notas para permitir fonte legível no projetor]</a:t>
            </a:r>
          </a:p>
          <a:p>
            <a:r>
              <a:t>Pergunta (repetida nas duas saídas): ECG LIMÍTROFE/ DUVIDOSO OU CRITÉRIOS DE INSTABILIDADE CLÍNICA (incluindo dor persistente)?</a:t>
            </a:r>
          </a:p>
          <a:p>
            <a:r>
              <a:t>SIM → REPETIR ECG A CADA 10-20 MINUTOS (apoio de médico experiente), MANTER MONITORIZAÇÃO E TRATAR CRITÉRIOS DE INSTABILIDADE (acionar time de choque se instabilidade hemodinâmica) + BUSCAR ATIVAMENTE OUTROS DIAGNÓSTICOS (avaliação clínica detalhada; uso de escores diagnósticos; RX; POCUS; outros exames conforme suspeita) + ALGORITMOS DE TROPONINA*.</a:t>
            </a:r>
          </a:p>
          <a:p>
            <a:r>
              <a:t>NÃO → REPETIR ECG SE PIORA CLÍNICA (imediatamente) | AVALIAÇÃO CLÍNICA DETALHADA (incluindo escores clínicos) E ALGORITMOS DE TROPONINA* (outros exames conforme suspeita diagnóstica).</a:t>
            </a:r>
          </a:p>
          <a:p>
            <a:r>
              <a:t>*Algoritmos de troponina conforme figuras 11A e 11B. Os dois losangos idênticos do original (um para Sim, outro para Não) foram unidos em um único losango; as imagens decorativas (tórax, ECG, POCUS, estetoscópio) foram retiradas para dar espaço.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DO FLUXOGRAMA – movido das caixas para as notas para permitir fonte legível no projetor]</a:t>
            </a:r>
          </a:p>
          <a:p>
            <a:r>
              <a:t>Tempo do sintoma &gt; 3h e valor muito baixo de TCas (indetectável)?</a:t>
            </a:r>
          </a:p>
          <a:p>
            <a:r>
              <a:t>RULE IN – ADMISSÃO DO PACIENTE: Avaliar critérios de IAM e, na ausência de critérios de IAM, buscar ativamente a causa da injúria.</a:t>
            </a:r>
          </a:p>
          <a:p>
            <a:r>
              <a:t>RULE OUT – DESCARTE DO DIAGNÓSTICO DE IAM: Na ausência de diagnósticos alternativos para a causa da dor torácica, considerar alta para casa, especialmente se HEART score &lt;4 em paciente sem antecedente de doença coronária *</a:t>
            </a:r>
          </a:p>
          <a:p>
            <a:r>
              <a:t>Realizar novas coletas em 1 ou 2 horas* → Conduta conforme tabela 26: Níveis elevados e/ou com delta → RULE IN – ADMISSÃO DO PACIENTE; Níveis baixos e sem delta → RULE OUT – DESCARTE DO DIAGNÓSTICO DE IAM; Níveis intermediários → OBSERVAÇÃO: Solicitar terceira dosagem de troponina, repetir ECG, realizar escores de risco e considerar exames adicionais conforme suspeita*.</a:t>
            </a:r>
          </a:p>
          <a:p>
            <a:r>
              <a:t>O rótulo PRIMEIRA ESCOLHA aparecia duas vezes no original (uma por fluxo); foi mantido uma vez.</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DO FLUXOGRAMA – movido das caixas para as notas para permitir fonte legível no projetor]</a:t>
            </a:r>
          </a:p>
          <a:p>
            <a:r>
              <a:t>Tempo do sintoma &gt; 3h e valor muito baixo de TCas (indetectável)?</a:t>
            </a:r>
          </a:p>
          <a:p>
            <a:r>
              <a:t>RULE IN – ADMISSÃO DO PACIENTE: Avaliar critérios de IAM e, na ausência de critérios de IAM, buscar ativamente a causa da injúria.</a:t>
            </a:r>
          </a:p>
          <a:p>
            <a:r>
              <a:t>RULE OUT – DESCARTE DO DIAGNÓSTICO DE IAM: Na ausência de diagnósticos alternativos para a causa da dor torácica, considerar alta para casa, especialmente se HEART score &lt;4 em paciente sem antecedente de doença coronária*</a:t>
            </a:r>
          </a:p>
          <a:p>
            <a:r>
              <a:t>Realizar nova coleta em 3 horas → Acima do percentil 99 e variação &gt;20%? No original as duas saídas (RULE OUT e RULE IN) não tinham rótulo Sim/Não; foram mantidas sem rótulo. [VALIDAR] se deseja acrescentar Sim/Não.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DO FLUXOGRAMA – movido das caixas para as notas para permitir fonte legível no projetor]</a:t>
            </a:r>
          </a:p>
          <a:p>
            <a:r>
              <a:t>CONDIÇÃO DE ALTO RISCO: Síndrome de Marfan ou outra doença do tecido conjuntivo; História familiar de doença de aorta; Doença valvar aórtica conhecida; Manipulação aórtica recente; Aneurisma de aorta torácica conhecido.</a:t>
            </a:r>
          </a:p>
          <a:p>
            <a:r>
              <a:t>CARACTERÍSTICAS DA DOR DE ALTO RISCO: Dor torácica, em dorso ou abdominal conforme descrição a seguir: Início abrupto; Intensa; Rasgante.</a:t>
            </a:r>
          </a:p>
          <a:p>
            <a:r>
              <a:t>ACHADOS DE ALTO RISCO EM EXAMES: Sinais de má perfusão orgânica: Assimetria de pulso; Assimetria de pressão arterial; Déficit neurológico focal; Sopro de insuficiência aórtica (novo ou desconhecido); Hipotensão ou choque.</a:t>
            </a:r>
          </a:p>
          <a:p>
            <a:r>
              <a:t>Avaliação pelo POCUS: Sinais diretos: Presença de Flap, hematoma ou úlcera. Sinais indiretos: Dilatação de aorta, derrame pericárdico ou insuficiência valvar aórtica.</a:t>
            </a:r>
          </a:p>
          <a:p>
            <a:r>
              <a:t>Realizar ECG e POCUS/Radiografia de tórax* (quando disponível).</a:t>
            </a:r>
          </a:p>
          <a:p>
            <a:r>
              <a:t>Rule-out para dissecção de aorta / Procurar outro diagnóstico.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DO FLUXOGRAMA – movido das caixas para as notas para permitir fonte legível no projetor]</a:t>
            </a:r>
          </a:p>
          <a:p>
            <a:r>
              <a:t>CHOQUE OU HIPOTENSÃO? Definição: PAS ≤ 90 mmHg ou queda ≥ 40 mmHg por &gt; 15’ não causada por arritmia aguda, sepse ou hipovolemia.</a:t>
            </a:r>
          </a:p>
          <a:p>
            <a:r>
              <a:t>ALTO RISCO: Acionar time de choque. ECOTT COM SOBRECARGA DE VD²? → Tratar a causa de instabilidade conforme avaliação clínica-ecocardiográfica (exames adicionais de acordo com a suspeita diagnóstica).</a:t>
            </a:r>
          </a:p>
          <a:p>
            <a:r>
              <a:t>ECOTT indisponível → Fazer TC. Seta tracejada de Fazer TC para Tratar a causa: TC indisponível e/ou sem condições de transporte em paciente com sobrecarga de VD.</a:t>
            </a:r>
          </a:p>
          <a:p>
            <a:r>
              <a:t>TC negativa para TEP: Procurar outra causa de instabilidade. TC positiva para TEP: Fibrinólise e/ou tratamento intervencionista (seguir diretrizes clínicas de TEP).</a:t>
            </a:r>
          </a:p>
          <a:p>
            <a:r>
              <a:t>CHECAR PROBABILIDADE DIAGNÓSTICA (Wells, Genebra, PERC): Baixa¹ ou Intermediária (improvável) → Fazer D-dímero → Negativo³: Procurar outro diagnóstico; Positivo³: TC. Alta probabilidade (provável) → TC.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Dor torácica instável – Raciocínio diagnóstico</a:t>
            </a:r>
          </a:p>
          <a:p>
            <a:r>
              <a:t>• Início: Paciente com dor torácica e instabilidade hemodinâmica</a:t>
            </a:r>
          </a:p>
          <a:p>
            <a:r>
              <a:t>• Etapa 1: Pense nas principais causas</a:t>
            </a:r>
          </a:p>
          <a:p>
            <a:r>
              <a:t>• Etapa 2: História e exame físico</a:t>
            </a:r>
          </a:p>
          <a:p>
            <a:r>
              <a:t>• Decisão: Principal hipótese definida?</a:t>
            </a:r>
          </a:p>
          <a:p>
            <a:r>
              <a:t>• Não: ECOCARDIOGRAMA</a:t>
            </a:r>
          </a:p>
          <a:p>
            <a:r>
              <a:t>• Sim: Seguir a propedêutica da hipótese diagnóstica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Sem DAC conhecida</a:t>
            </a:r>
          </a:p>
          <a:p>
            <a:r>
              <a:t>• Início: Sem doença arterial coronariana conhecida</a:t>
            </a:r>
          </a:p>
          <a:p>
            <a:r>
              <a:t>• Decisão: Teste prévio?</a:t>
            </a:r>
          </a:p>
          <a:p>
            <a:r>
              <a:t>• Sim → resultado (slide de detalhe): caixa de resumo “Resultado do teste” criada na divisão do fluxo (não existia no original)</a:t>
            </a:r>
          </a:p>
          <a:p>
            <a:r>
              <a:t>• Sim, etapa 1: Negativo e recente → Considerar Alta</a:t>
            </a:r>
          </a:p>
          <a:p>
            <a:r>
              <a:t>• Sim, etapa 2: Teste de estresse inconclusivo ou anormalidade discreta → Angio-TC</a:t>
            </a:r>
          </a:p>
          <a:p>
            <a:r>
              <a:t>• Sim, etapa 3: Teste de estresse com isquemia moderada a importante / Sem CATE prévio → CATE</a:t>
            </a:r>
          </a:p>
          <a:p>
            <a:r>
              <a:t>• Não: Angio-TC ou teste de estresse*</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DAC conhecida</a:t>
            </a:r>
          </a:p>
          <a:p>
            <a:r>
              <a:t>• Início: DAC conhecida</a:t>
            </a:r>
          </a:p>
          <a:p>
            <a:r>
              <a:t>• Decisão: Obstrutiva?</a:t>
            </a:r>
          </a:p>
          <a:p>
            <a:r>
              <a:t>• Sim → critérios (slide de detalhe): caixa de resumo “Critérios de risco” criada na divisão do fluxo (não existia no original)</a:t>
            </a:r>
          </a:p>
          <a:p>
            <a:r>
              <a:t>• Sim, etapa 1: Critérios de alto risco → CATE</a:t>
            </a:r>
          </a:p>
          <a:p>
            <a:r>
              <a:t>• Sim, etapa 2: Sem critérios de alto risco → Teste de estresse (preferência)*</a:t>
            </a:r>
          </a:p>
          <a:p>
            <a:r>
              <a:t>• Não: Angio-TC (preferência)*</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Diagnóstico – IAM com coronariografia normal (1/2)</a:t>
            </a:r>
          </a:p>
          <a:p>
            <a:r>
              <a:t>• Início: Elevação de troponina + Angiografia normal ou lesão &lt; 50%</a:t>
            </a:r>
          </a:p>
          <a:p>
            <a:r>
              <a:t>• Etapa: Excluir diagnósticos alternativos: - Sepse - TEP - Contusão cardíaca - Outras causas de elevação de troponina não cardiológica</a:t>
            </a:r>
          </a:p>
          <a:p>
            <a:r>
              <a:t>• Primeira etapa, caixa 1: Rever achados da angiografia: DAC; Dissecção coronariana; Embolia e trombo coronariano</a:t>
            </a:r>
          </a:p>
          <a:p>
            <a:r>
              <a:t>• Primeira etapa, caixa 2: Rever função do VE (Eco e ventriculografia): Takotsubo; Outras cardiomiopatias</a:t>
            </a:r>
          </a:p>
          <a:p/>
          <a:p>
            <a:r>
              <a:t>TEXTO ORIGINAL DAS CAIXAS (antes de reduzir para 1–3 palavras) – Diagnóstico – IAM com coronariografia normal (2/2)</a:t>
            </a:r>
          </a:p>
          <a:p>
            <a:r>
              <a:t>• Segunda etapa, caixa 1: RM cardíaca: DAC; Miocardite; Outras cardiomiopatias</a:t>
            </a:r>
          </a:p>
          <a:p>
            <a:r>
              <a:t>• Segunda etapa, caixa 2: Imagem vascular intracoronariana (IVUS e OCT): Ruptura de placa; Embolia e trombo coronariano; Dissecção coronariana</a:t>
            </a:r>
          </a:p>
          <a:p>
            <a:r>
              <a:t>• Segunda etapa, caixa 3: Testes provocativos e funcionais: Espasmo coronariano; Doença microvascular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Paciente sem critérios de instabilidade</a:t>
            </a:r>
          </a:p>
          <a:p>
            <a:r>
              <a:t>• Decisão: Suspeita de SCA ou Síndromes Aórticas Agudas ou TEP ?</a:t>
            </a:r>
          </a:p>
          <a:p>
            <a:r>
              <a:t>• Não: Propedêutica Específica</a:t>
            </a:r>
          </a:p>
          <a:p>
            <a:r>
              <a:t>• Sim: Escores Clínicos de Risco e Probabilidade Diagnóstica</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ORIGINAL DAS CAIXAS (antes de reduzir para 1–3 palavras) – Investigação não invasiva – Sem DAC conhecida</a:t>
            </a:r>
          </a:p>
          <a:p>
            <a:r>
              <a:t>• Início: Sem doença arterial coronariana conhecida</a:t>
            </a:r>
          </a:p>
          <a:p>
            <a:r>
              <a:t>• Decisão: Teste prévio?</a:t>
            </a:r>
          </a:p>
          <a:p>
            <a:r>
              <a:t>• Sim → resultado (slide de detalhe): caixa de resumo “Resultado do teste” criada na divisão do fluxo (não existia no original)</a:t>
            </a:r>
          </a:p>
          <a:p>
            <a:r>
              <a:t>• Sim, etapa 1: Negativo e recente → Considerar Alta</a:t>
            </a:r>
          </a:p>
          <a:p>
            <a:r>
              <a:t>• Sim, etapa 2: Teste de estresse inconclusivo ou anormalidade discreta → Angio-TC</a:t>
            </a:r>
          </a:p>
          <a:p>
            <a:r>
              <a:t>• Sim, etapa 3: Teste de estresse com isquemia moderada a importante / Sem CATE prévio → CATE</a:t>
            </a:r>
          </a:p>
          <a:p>
            <a:r>
              <a:t>• Não: Angio-TC ou teste de estresse*</a:t>
            </a:r>
          </a:p>
          <a:p>
            <a:r>
              <a:t>• Nota: *Escolha do teste deve ser guiada pela disponibilidade e expertise.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[VALIDAR] 'IR' pode significar insuficiência renal ou respiratória. Sugestão: definir. (Slide dividido em dois; conteúdo original mantido.)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3211380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1240244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3169340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BD369FCB-0806-413A-AB6B-A3AD5F3930F6}" type="datetimeFigureOut">
              <a:rPr lang="pt-BR" smtClean="0"/>
              <a:t>27/09/2026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586998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BD369FCB-0806-413A-AB6B-A3AD5F3930F6}" type="datetimeFigureOut">
              <a:rPr lang="pt-BR" smtClean="0"/>
              <a:t>27/09/2026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4159780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BD369FCB-0806-413A-AB6B-A3AD5F3930F6}" type="datetimeFigureOut">
              <a:rPr lang="pt-BR" smtClean="0"/>
              <a:t>27/09/2026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2377795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D369FCB-0806-413A-AB6B-A3AD5F3930F6}" type="datetimeFigureOut">
              <a:rPr lang="pt-BR" smtClean="0"/>
              <a:t>27/09/2026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2017575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BD369FCB-0806-413A-AB6B-A3AD5F3930F6}" type="datetimeFigureOut">
              <a:rPr lang="pt-BR" smtClean="0"/>
              <a:t>27/09/2026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824894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BD369FCB-0806-413A-AB6B-A3AD5F3930F6}" type="datetimeFigureOut">
              <a:rPr lang="pt-BR" smtClean="0"/>
              <a:t>27/09/2026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896956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4282154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E26F845-71FE-4AB4-84E8-461DBCD1E889}" type="slidenum">
              <a:rPr lang="pt-BR" smtClean="0"/>
              <a:t>‹nº›</a:t>
            </a:fld>
            <a:endParaRPr lang="pt-BR"/>
          </a:p>
        </p:txBody>
      </p:sp>
    </p:spTree>
    <p:extLst>
      <p:ext uri="{BB962C8B-B14F-4D97-AF65-F5344CB8AC3E}">
        <p14:creationId xmlns:p14="http://schemas.microsoft.com/office/powerpoint/2010/main" val="1741110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369FCB-0806-413A-AB6B-A3AD5F3930F6}" type="datetimeFigureOut">
              <a:rPr lang="pt-BR" smtClean="0"/>
              <a:t>27/09/2026</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26F845-71FE-4AB4-84E8-461DBCD1E889}" type="slidenum">
              <a:rPr lang="pt-BR" smtClean="0"/>
              <a:t>‹nº›</a:t>
            </a:fld>
            <a:endParaRPr lang="pt-BR"/>
          </a:p>
        </p:txBody>
      </p:sp>
    </p:spTree>
    <p:extLst>
      <p:ext uri="{BB962C8B-B14F-4D97-AF65-F5344CB8AC3E}">
        <p14:creationId xmlns:p14="http://schemas.microsoft.com/office/powerpoint/2010/main" val="1462257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4" Type="http://schemas.openxmlformats.org/officeDocument/2006/relationships/image" Target="../media/image7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4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4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3.xml"/><Relationship Id="rId10" Type="http://schemas.openxmlformats.org/officeDocument/2006/relationships/image" Target="../media/crop_21a.png"/><Relationship Id="rId11" Type="http://schemas.openxmlformats.org/officeDocument/2006/relationships/image" Target="../media/crop_21b.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5" Type="http://schemas.openxmlformats.org/officeDocument/2006/relationships/chart" Target="../charts/chart1.xml"/><Relationship Id="rId10" Type="http://schemas.openxmlformats.org/officeDocument/2006/relationships/image" Target="../media/crop_22a.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chart" Target="../charts/char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7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7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7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5_0.png"/><Relationship Id="rId11" Type="http://schemas.openxmlformats.org/officeDocument/2006/relationships/image" Target="../media/crop_85_1.png"/><Relationship Id="rId12" Type="http://schemas.openxmlformats.org/officeDocument/2006/relationships/image" Target="../media/crop_85_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89a.png"/><Relationship Id="rId11" Type="http://schemas.openxmlformats.org/officeDocument/2006/relationships/image" Target="../media/crop_89b.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crop_90a.png"/><Relationship Id="rId11" Type="http://schemas.openxmlformats.org/officeDocument/2006/relationships/image" Target="../media/crop_90b.png"/><Relationship Id="rId12" Type="http://schemas.openxmlformats.org/officeDocument/2006/relationships/image" Target="../media/crop_90c.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E7C8B"/>
        </a:solidFill>
        <a:effectLst/>
      </p:bgPr>
    </p:bg>
    <p:spTree>
      <p:nvGrpSpPr>
        <p:cNvPr id="1" name=""/>
        <p:cNvGrpSpPr/>
        <p:nvPr/>
      </p:nvGrpSpPr>
      <p:grpSpPr/>
      <p:sp>
        <p:nvSpPr>
          <p:cNvPr id="2" name="TextBox 1"/>
          <p:cNvSpPr txBox="1"/>
          <p:nvPr/>
        </p:nvSpPr>
        <p:spPr>
          <a:xfrm>
            <a:off x="711403" y="1828800"/>
            <a:ext cx="6949440" cy="365760"/>
          </a:xfrm>
          <a:prstGeom prst="rect">
            <a:avLst/>
          </a:prstGeom>
          <a:noFill/>
        </p:spPr>
        <p:txBody>
          <a:bodyPr wrap="square" lIns="0" rIns="0" tIns="0" bIns="0" anchor="t">
            <a:spAutoFit/>
          </a:bodyPr>
          <a:lstStyle/>
          <a:p>
            <a:pPr algn="l"/>
            <a:r>
              <a:rPr sz="1200" b="0" spc="300">
                <a:solidFill>
                  <a:srgbClr val="C9E3E6"/>
                </a:solidFill>
                <a:latin typeface="Roboto Medium"/>
                <a:ea typeface="Roboto Medium"/>
                <a:cs typeface="Roboto Medium"/>
              </a:rPr>
              <a:t>AULA</a:t>
            </a:r>
          </a:p>
        </p:txBody>
      </p:sp>
      <p:sp>
        <p:nvSpPr>
          <p:cNvPr id="3" name="TextBox 2"/>
          <p:cNvSpPr txBox="1"/>
          <p:nvPr/>
        </p:nvSpPr>
        <p:spPr>
          <a:xfrm>
            <a:off x="711403" y="2286000"/>
            <a:ext cx="7315200" cy="1737360"/>
          </a:xfrm>
          <a:prstGeom prst="rect">
            <a:avLst/>
          </a:prstGeom>
          <a:noFill/>
        </p:spPr>
        <p:txBody>
          <a:bodyPr wrap="square" lIns="0" rIns="0" tIns="0" bIns="0" anchor="t">
            <a:spAutoFit/>
          </a:bodyPr>
          <a:lstStyle/>
          <a:p>
            <a:pPr algn="l"/>
            <a:r>
              <a:rPr sz="4400" b="1">
                <a:solidFill>
                  <a:srgbClr val="FBFCFC"/>
                </a:solidFill>
                <a:latin typeface="Roboto"/>
                <a:ea typeface="Roboto"/>
                <a:cs typeface="Roboto"/>
              </a:rPr>
              <a:t>Dor torácica na unidade de emergência</a:t>
            </a:r>
          </a:p>
        </p:txBody>
      </p:sp>
      <p:sp>
        <p:nvSpPr>
          <p:cNvPr id="4" name="TextBox 3"/>
          <p:cNvSpPr txBox="1"/>
          <p:nvPr/>
        </p:nvSpPr>
        <p:spPr>
          <a:xfrm>
            <a:off x="711403" y="4526280"/>
            <a:ext cx="6949440" cy="822960"/>
          </a:xfrm>
          <a:prstGeom prst="rect">
            <a:avLst/>
          </a:prstGeom>
          <a:noFill/>
        </p:spPr>
        <p:txBody>
          <a:bodyPr wrap="square" lIns="0" rIns="0" tIns="0" bIns="0" anchor="t">
            <a:spAutoFit/>
          </a:bodyPr>
          <a:lstStyle/>
          <a:p>
            <a:pPr algn="l"/>
            <a:r>
              <a:rPr sz="1500">
                <a:solidFill>
                  <a:srgbClr val="E4EEF0"/>
                </a:solidFill>
                <a:latin typeface="Roboto"/>
                <a:ea typeface="Roboto"/>
                <a:cs typeface="Roboto"/>
              </a:rPr>
              <a:t>Protocolo 2025 · Diretriz Brasileira de Atendimento à Dor Torácica</a:t>
            </a:r>
          </a:p>
        </p:txBody>
      </p:sp>
      <p:sp>
        <p:nvSpPr>
          <p:cNvPr id="5" name="Rectangle 4"/>
          <p:cNvSpPr/>
          <p:nvPr/>
        </p:nvSpPr>
        <p:spPr>
          <a:xfrm>
            <a:off x="711403" y="5440680"/>
            <a:ext cx="761695" cy="38404"/>
          </a:xfrm>
          <a:prstGeom prst="rect">
            <a:avLst/>
          </a:prstGeom>
          <a:solidFill>
            <a:srgbClr val="8EC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403" y="5715000"/>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[nome do palestrante]</a:t>
            </a:r>
          </a:p>
        </p:txBody>
      </p:sp>
      <p:sp>
        <p:nvSpPr>
          <p:cNvPr id="7" name="TextBox 6"/>
          <p:cNvSpPr txBox="1"/>
          <p:nvPr/>
        </p:nvSpPr>
        <p:spPr>
          <a:xfrm>
            <a:off x="711403" y="6044184"/>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[instituição]</a:t>
            </a:r>
          </a:p>
        </p:txBody>
      </p:sp>
      <p:sp>
        <p:nvSpPr>
          <p:cNvPr id="8" name="Oval 7"/>
          <p:cNvSpPr/>
          <p:nvPr/>
        </p:nvSpPr>
        <p:spPr>
          <a:xfrm>
            <a:off x="8138160" y="1463040"/>
            <a:ext cx="2794406" cy="2794406"/>
          </a:xfrm>
          <a:prstGeom prst="ellipse">
            <a:avLst/>
          </a:prstGeom>
          <a:noFill/>
          <a:ln w="12700">
            <a:solidFill>
              <a:srgbClr val="6E9D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0" y="3291840"/>
            <a:ext cx="1524304" cy="1524304"/>
          </a:xfrm>
          <a:prstGeom prst="ellipse">
            <a:avLst/>
          </a:prstGeom>
          <a:solidFill>
            <a:srgbClr val="5B8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C9E3E6"/>
                </a:solidFill>
                <a:latin typeface="Roboto"/>
                <a:ea typeface="Roboto"/>
                <a:cs typeface="Roboto"/>
              </a:rPr>
              <a:t>1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C9E3E6"/>
                </a:solidFill>
                <a:latin typeface="Roboto"/>
                <a:ea typeface="Roboto"/>
                <a:cs typeface="Roboto"/>
              </a:rPr>
              <a:t>SEU LOGO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Diretriz Brasileira de Atendimento à Dor Torácica na Unidade de Emergência – 2025</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640000"/>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1" dirty="0">
                <a:solidFill>
                  <a:srgbClr val="737A7F"/>
                </a:solidFill>
                <a:latin typeface="Roboto"/>
                <a:ea typeface="Roboto"/>
                <a:cs typeface="Roboto"/>
              </a:rPr>
              <a:t>Brazilian Guideline for the Evaluation and Diagnosis of Chest Pain in the Emergency Department – 2025</a:t>
            </a:r>
            <a:endParaRPr lang="pt-BR" sz="1300" dirty="0"/>
          </a:p>
        </p:txBody>
      </p:sp>
      <p:sp>
        <p:nvSpPr>
          <p:cNvPr id="7" name="Realização"/>
          <p:cNvSpPr txBox="1"/>
          <p:nvPr/>
        </p:nvSpPr>
        <p:spPr>
          <a:xfrm>
            <a:off x="711403" y="2093167"/>
            <a:ext cx="10771632" cy="599501"/>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1" i="0" dirty="0">
                <a:solidFill>
                  <a:srgbClr val="5F6468"/>
                </a:solidFill>
                <a:latin typeface="Roboto"/>
                <a:ea typeface="Roboto"/>
                <a:cs typeface="Roboto"/>
              </a:rPr>
              <a:t>Realização:</a:t>
            </a:r>
            <a:r>
              <a:rPr lang="pt-BR" sz="1300" b="0" i="0" dirty="0">
                <a:solidFill>
                  <a:srgbClr val="5F6468"/>
                </a:solidFill>
                <a:latin typeface="Roboto"/>
                <a:ea typeface="Roboto"/>
                <a:cs typeface="Roboto"/>
              </a:rPr>
              <a:t> Grupos de Estudos em Coronariopatias, Emergências e Terapia Intensiva (GECETI) do Departamento de Cardiologia Clínica da Sociedade Brasileira de Cardiologia (DCC), Sociedade Brasileira de Cardiologia (SBC) Federación Latinoamericana de Medicina de Emergencias (FLAME)</a:t>
            </a:r>
            <a:endParaRPr lang="pt-BR" sz="1300" dirty="0"/>
          </a:p>
        </p:txBody>
      </p:sp>
      <p:sp>
        <p:nvSpPr>
          <p:cNvPr id="8" name="Coordenadores"/>
          <p:cNvSpPr txBox="1"/>
          <p:nvPr/>
        </p:nvSpPr>
        <p:spPr>
          <a:xfrm>
            <a:off x="711403" y="2852668"/>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1" i="0" dirty="0">
                <a:solidFill>
                  <a:srgbClr val="5F6468"/>
                </a:solidFill>
                <a:latin typeface="Roboto"/>
                <a:ea typeface="Roboto"/>
                <a:cs typeface="Roboto"/>
              </a:rPr>
              <a:t>Coordenadores:</a:t>
            </a:r>
            <a:r>
              <a:rPr lang="pt-BR" sz="1300" b="0" i="0" dirty="0">
                <a:solidFill>
                  <a:srgbClr val="5F6468"/>
                </a:solidFill>
                <a:latin typeface="Roboto"/>
                <a:ea typeface="Roboto"/>
                <a:cs typeface="Roboto"/>
              </a:rPr>
              <a:t> Pedro Gabriel Melo de Barros e Silva, Alexandre de Matos Soeiro</a:t>
            </a:r>
            <a:endParaRPr lang="pt-BR" sz="1300" dirty="0"/>
          </a:p>
        </p:txBody>
      </p:sp>
      <p:sp>
        <p:nvSpPr>
          <p:cNvPr id="9" name="Fonte"/>
          <p:cNvSpPr txBox="1"/>
          <p:nvPr/>
        </p:nvSpPr>
        <p:spPr>
          <a:xfrm>
            <a:off x="711403" y="565000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737A7F"/>
                </a:solidFill>
                <a:latin typeface="Roboto"/>
                <a:ea typeface="Roboto"/>
                <a:cs typeface="Roboto"/>
              </a:rPr>
              <a:t>de Barros e Silva et al.  ·  Diretriz Brasileira de Atendimento à Dor Torácica na Unidade de Emergência – 2025  ·  Diretrizes</a:t>
            </a:r>
            <a:endParaRPr lang="pt-BR" sz="1200" dirty="0"/>
          </a:p>
        </p:txBody>
      </p:sp>
    </p:spTree>
    <p:extLst>
      <p:ext uri="{BB962C8B-B14F-4D97-AF65-F5344CB8AC3E}">
        <p14:creationId xmlns:p14="http://schemas.microsoft.com/office/powerpoint/2010/main" val="11175501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O protocolo</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1960 </a:t>
            </a:r>
            <a:r>
              <a:rPr lang="pt-BR" dirty="0" err="1" smtClean="0" sz="1300" b="0">
                <a:solidFill>
                  <a:srgbClr val="5F6468"/>
                </a:solidFill>
                <a:latin typeface="Roboto"/>
                <a:ea typeface="Roboto"/>
                <a:cs typeface="Roboto"/>
              </a:rPr>
              <a:t>unidades coronarianas (UCOs)</a:t>
            </a:r>
            <a:r>
              <a:rPr lang="pt-BR" dirty="0" smtClean="0" sz="1300" b="0">
                <a:solidFill>
                  <a:srgbClr val="5F6468"/>
                </a:solidFill>
                <a:latin typeface="Roboto"/>
                <a:ea typeface="Roboto"/>
                <a:cs typeface="Roboto"/>
              </a:rPr>
              <a:t> 50% redução mortalidade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Nome engloba mais sintomas (equivalentes anginosos)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Última diretriz 2002</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Mudança da análise do eletrocardiograma (ECG) = procura de nuances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a:solidFill>
                  <a:srgbClr val="4E7C8B"/>
                </a:solidFill>
                <a:latin typeface="Roboto Medium"/>
                <a:ea typeface="Roboto Medium"/>
                <a:cs typeface="Roboto Medium"/>
              </a:rPr>
              <a:t>Além do supra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a:solidFill>
                  <a:srgbClr val="4E7C8B"/>
                </a:solidFill>
                <a:latin typeface="Roboto Medium"/>
                <a:ea typeface="Roboto Medium"/>
                <a:cs typeface="Roboto Medium"/>
              </a:rPr>
              <a:t>Oclusão coronariana aguda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Feito </a:t>
            </a:r>
            <a:r>
              <a:rPr lang="pt-BR" dirty="0" sz="1300" b="0">
                <a:solidFill>
                  <a:srgbClr val="5F6468"/>
                </a:solidFill>
                <a:latin typeface="Roboto"/>
                <a:ea typeface="Roboto"/>
                <a:cs typeface="Roboto"/>
              </a:rPr>
              <a:t>um diagnóstico passa para diretriz de tratamento</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&lt; 5% serão de síndrome coronariana aguda (SCA)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Colocou no protocolo: MOV (</a:t>
            </a:r>
            <a:r>
              <a:rPr lang="pt-BR" dirty="0" err="1" smtClean="0" sz="1300" b="0">
                <a:solidFill>
                  <a:srgbClr val="5F6468"/>
                </a:solidFill>
                <a:latin typeface="Roboto"/>
                <a:ea typeface="Roboto"/>
                <a:cs typeface="Roboto"/>
              </a:rPr>
              <a:t>mse</a:t>
            </a:r>
            <a:r>
              <a:rPr lang="pt-BR" dirty="0" smtClean="0" sz="1300" b="0">
                <a:solidFill>
                  <a:srgbClr val="5F6468"/>
                </a:solidFill>
                <a:latin typeface="Roboto"/>
                <a:ea typeface="Roboto"/>
                <a:cs typeface="Roboto"/>
              </a:rPr>
              <a:t>)</a:t>
            </a:r>
            <a:endParaRPr lang="pt-BR" dirty="0" sz="2400"/>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MOV = monitorização, avaliação da saturação de O₂ e acesso venoso (definição conforme a diretriz de 2025 anexa).</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558347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Classificação dos sintomas</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Sintomas altamente suspeitos de SCA (certo)</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Sintomas </a:t>
            </a:r>
            <a:r>
              <a:rPr lang="pt-BR" dirty="0" smtClean="0" sz="1300" b="0">
                <a:solidFill>
                  <a:srgbClr val="5F6468"/>
                </a:solidFill>
                <a:latin typeface="Roboto"/>
                <a:ea typeface="Roboto"/>
                <a:cs typeface="Roboto"/>
              </a:rPr>
              <a:t>moderadamente suspeitos </a:t>
            </a:r>
            <a:r>
              <a:rPr lang="pt-BR" dirty="0" sz="1300" b="0">
                <a:solidFill>
                  <a:srgbClr val="5F6468"/>
                </a:solidFill>
                <a:latin typeface="Roboto"/>
                <a:ea typeface="Roboto"/>
                <a:cs typeface="Roboto"/>
              </a:rPr>
              <a:t>de </a:t>
            </a:r>
            <a:r>
              <a:rPr lang="pt-BR" dirty="0" smtClean="0" sz="1300" b="0">
                <a:solidFill>
                  <a:srgbClr val="5F6468"/>
                </a:solidFill>
                <a:latin typeface="Roboto"/>
                <a:ea typeface="Roboto"/>
                <a:cs typeface="Roboto"/>
              </a:rPr>
              <a:t>SCA (provável)</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Sintomas </a:t>
            </a:r>
            <a:r>
              <a:rPr lang="pt-BR" dirty="0" smtClean="0" sz="1300" b="0">
                <a:solidFill>
                  <a:srgbClr val="5F6468"/>
                </a:solidFill>
                <a:latin typeface="Roboto"/>
                <a:ea typeface="Roboto"/>
                <a:cs typeface="Roboto"/>
              </a:rPr>
              <a:t>pouco ou nada suspeitos </a:t>
            </a:r>
            <a:r>
              <a:rPr lang="pt-BR" dirty="0" sz="1300" b="0">
                <a:solidFill>
                  <a:srgbClr val="5F6468"/>
                </a:solidFill>
                <a:latin typeface="Roboto"/>
                <a:ea typeface="Roboto"/>
                <a:cs typeface="Roboto"/>
              </a:rPr>
              <a:t>de </a:t>
            </a:r>
            <a:r>
              <a:rPr lang="pt-BR" dirty="0" smtClean="0" sz="1300" b="0">
                <a:solidFill>
                  <a:srgbClr val="5F6468"/>
                </a:solidFill>
                <a:latin typeface="Roboto"/>
                <a:ea typeface="Roboto"/>
                <a:cs typeface="Roboto"/>
              </a:rPr>
              <a:t>SCA (improvável)</a:t>
            </a:r>
            <a:endParaRPr sz="2400" lang="pt-BR"/>
          </a:p>
          <a:p>
            <a:pPr marL="0" indent="0" algn="l">
              <a:lnSpc>
                <a:spcPct val="140000"/>
              </a:lnSpc>
              <a:spcBef>
                <a:spcPts val="0"/>
              </a:spcBef>
              <a:spcAft>
                <a:spcPts val="0"/>
              </a:spcAft>
              <a:buFont typeface="Arial" panose="020B0604020202020204" pitchFamily="34" charset="0"/>
              <a:buNone/>
              <a:buAutoNum type="arabicPeriod"/>
            </a:pPr>
            <a:endParaRPr lang="pt-BR" dirty="0" sz="2400"/>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Dor típica e atípica está em desuso</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054900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10"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Principais causas de dor torácica</a:t>
            </a:r>
          </a:p>
        </p:txBody>
      </p:sp>
      <p:sp>
        <p:nvSpPr>
          <p:cNvPr id="12" name="Coluna esquerda"/>
          <p:cNvSpPr txBox="1"/>
          <p:nvPr/>
        </p:nvSpPr>
        <p:spPr>
          <a:xfrm>
            <a:off x="711403" y="1417320"/>
            <a:ext cx="3800000" cy="4000000"/>
          </a:xfrm>
          <a:prstGeom prst="rect">
            <a:avLst/>
          </a:prstGeom>
          <a:noFill/>
        </p:spPr>
        <p:txBody>
          <a:bodyPr wrap="square" lIns="0" rIns="0" tIns="0" bIns="0" anchor="t">
            <a:noAutofit/>
          </a:bodyPr>
          <a:lstStyle/>
          <a:p>
            <a:pPr marL="0" indent="0" algn="l">
              <a:lnSpc>
                <a:spcPct val="120000"/>
              </a:lnSpc>
              <a:spcBef>
                <a:spcPts val="0"/>
              </a:spcBef>
              <a:spcAft>
                <a:spcPts val="200"/>
              </a:spcAft>
              <a:buNone/>
            </a:pPr>
            <a:r>
              <a:rPr lang="pt-BR" sz="1500" b="0" dirty="0">
                <a:solidFill>
                  <a:srgbClr val="3B3F42"/>
                </a:solidFill>
                <a:latin typeface="Roboto Medium"/>
                <a:ea typeface="Roboto Medium"/>
                <a:cs typeface="Roboto Medium"/>
              </a:rPr>
              <a:t>Cardiovasculares</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Síndrome Coronariana Aguda</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Doença Valvar</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Pericardite</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Tamponamento cardíaco</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Dissecção de Aorta</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Pulmonares</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Embolia Pulmonar</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Pneumonia</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Pneumotórax</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Pleurite</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Psiquiátricos</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Ansiedade</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Depressão</a:t>
            </a:r>
          </a:p>
        </p:txBody>
      </p:sp>
      <p:pic>
        <p:nvPicPr>
          <p:cNvPr id="11" name="Ilustração dor torácica" descr="Homem com a mão sobre o peito, expressão de dor"/>
          <p:cNvPicPr>
            <a:picLocks noChangeAspect="1"/>
          </p:cNvPicPr>
          <p:nvPr/>
        </p:nvPicPr>
        <p:blipFill>
          <a:blip r:embed="rId4"/>
          <a:stretch>
            <a:fillRect/>
          </a:stretch>
        </p:blipFill>
        <p:spPr>
          <a:xfrm>
            <a:off x="4650000" y="1500000"/>
            <a:ext cx="3000000" cy="3873000"/>
          </a:xfrm>
          <a:prstGeom prst="rect">
            <a:avLst/>
          </a:prstGeom>
        </p:spPr>
      </p:pic>
      <p:sp>
        <p:nvSpPr>
          <p:cNvPr id="13" name="Coluna direita"/>
          <p:cNvSpPr txBox="1"/>
          <p:nvPr/>
        </p:nvSpPr>
        <p:spPr>
          <a:xfrm>
            <a:off x="7950000" y="1417320"/>
            <a:ext cx="3533035" cy="4000000"/>
          </a:xfrm>
          <a:prstGeom prst="rect">
            <a:avLst/>
          </a:prstGeom>
          <a:noFill/>
        </p:spPr>
        <p:txBody>
          <a:bodyPr wrap="square" lIns="0" rIns="0" tIns="0" bIns="0" anchor="t">
            <a:noAutofit/>
          </a:bodyPr>
          <a:lstStyle/>
          <a:p>
            <a:pPr marL="0" indent="0" algn="l">
              <a:lnSpc>
                <a:spcPct val="120000"/>
              </a:lnSpc>
              <a:spcBef>
                <a:spcPts val="0"/>
              </a:spcBef>
              <a:spcAft>
                <a:spcPts val="200"/>
              </a:spcAft>
              <a:buNone/>
            </a:pPr>
            <a:r>
              <a:rPr lang="pt-BR" sz="1500" b="0" dirty="0">
                <a:solidFill>
                  <a:srgbClr val="3B3F42"/>
                </a:solidFill>
                <a:latin typeface="Roboto Medium"/>
                <a:ea typeface="Roboto Medium"/>
                <a:cs typeface="Roboto Medium"/>
              </a:rPr>
              <a:t>Musculoesquelético</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Costocondrite</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Artrite</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Gastrointestinais</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Úlcera gástrica</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Hérnia de Hiato</a:t>
            </a:r>
          </a:p>
          <a:p>
            <a:pPr marL="285750" indent="-285750" algn="l">
              <a:lnSpc>
                <a:spcPct val="120000"/>
              </a:lnSpc>
              <a:spcBef>
                <a:spcPts val="0"/>
              </a:spcBef>
              <a:spcAft>
                <a:spcPts val="200"/>
              </a:spcAft>
              <a:buClr>
                <a:srgbClr val="B5533C"/>
              </a:buClr>
              <a:buFont typeface="Arial"/>
              <a:buChar char="•"/>
            </a:pPr>
            <a:r>
              <a:rPr lang="pt-BR" sz="1300" b="0" dirty="0">
                <a:solidFill>
                  <a:srgbClr val="B5533C"/>
                </a:solidFill>
                <a:latin typeface="Roboto"/>
                <a:ea typeface="Roboto"/>
                <a:cs typeface="Roboto"/>
              </a:rPr>
              <a:t>Perfuração de esôfago</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Espasmo esofageano</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Pancreatite</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Colecistite</a:t>
            </a:r>
          </a:p>
          <a:p>
            <a:pPr marL="0" indent="0" algn="l">
              <a:lnSpc>
                <a:spcPct val="120000"/>
              </a:lnSpc>
              <a:spcBef>
                <a:spcPts val="900"/>
              </a:spcBef>
              <a:spcAft>
                <a:spcPts val="200"/>
              </a:spcAft>
              <a:buNone/>
            </a:pPr>
            <a:r>
              <a:rPr lang="pt-BR" sz="1500" b="0" dirty="0">
                <a:solidFill>
                  <a:srgbClr val="3B3F42"/>
                </a:solidFill>
                <a:latin typeface="Roboto Medium"/>
                <a:ea typeface="Roboto Medium"/>
                <a:cs typeface="Roboto Medium"/>
              </a:rPr>
              <a:t>Trauma</a:t>
            </a:r>
          </a:p>
          <a:p>
            <a:pPr marL="285750" indent="-285750" algn="l">
              <a:lnSpc>
                <a:spcPct val="120000"/>
              </a:lnSpc>
              <a:spcBef>
                <a:spcPts val="0"/>
              </a:spcBef>
              <a:spcAft>
                <a:spcPts val="200"/>
              </a:spcAft>
              <a:buClr>
                <a:srgbClr val="4E7C8B"/>
              </a:buClr>
              <a:buFont typeface="Arial"/>
              <a:buChar char="•"/>
            </a:pPr>
            <a:r>
              <a:rPr lang="pt-BR" sz="1300" b="0" dirty="0">
                <a:solidFill>
                  <a:srgbClr val="5F6468"/>
                </a:solidFill>
                <a:latin typeface="Roboto"/>
                <a:ea typeface="Roboto"/>
                <a:cs typeface="Roboto"/>
              </a:rPr>
              <a:t>Fratura de arcos costais</a:t>
            </a:r>
          </a:p>
        </p:txBody>
      </p:sp>
      <p:sp>
        <p:nvSpPr>
          <p:cNvPr id="14" name="Nota"/>
          <p:cNvSpPr txBox="1"/>
          <p:nvPr/>
        </p:nvSpPr>
        <p:spPr>
          <a:xfrm>
            <a:off x="711403" y="5560000"/>
            <a:ext cx="10771632" cy="300000"/>
          </a:xfrm>
          <a:prstGeom prst="rect">
            <a:avLst/>
          </a:prstGeom>
          <a:noFill/>
        </p:spPr>
        <p:txBody>
          <a:bodyPr wrap="square" lIns="0" rIns="0" tIns="0" bIns="0" anchor="t">
            <a:noAutofit/>
          </a:bodyPr>
          <a:lstStyle/>
          <a:p>
            <a:pPr algn="l"/>
            <a:r>
              <a:rPr lang="pt-BR" sz="1300" b="0" dirty="0">
                <a:solidFill>
                  <a:srgbClr val="3B3F42"/>
                </a:solidFill>
                <a:latin typeface="Roboto Medium"/>
                <a:ea typeface="Roboto Medium"/>
                <a:cs typeface="Roboto Medium"/>
              </a:rPr>
              <a:t>* Todas podem apresentar ECG não diagnóstico...</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649741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Objetivos</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Identificar ou afastar SCA</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Identificar ou afastar </a:t>
            </a:r>
            <a:r>
              <a:rPr lang="pt-BR" dirty="0" smtClean="0" sz="1300" b="0">
                <a:solidFill>
                  <a:srgbClr val="5F6468"/>
                </a:solidFill>
                <a:latin typeface="Roboto"/>
                <a:ea typeface="Roboto"/>
                <a:cs typeface="Roboto"/>
              </a:rPr>
              <a:t>doenças tempo sensíveis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a:solidFill>
                  <a:srgbClr val="4E7C8B"/>
                </a:solidFill>
                <a:latin typeface="Roboto Medium"/>
                <a:ea typeface="Roboto Medium"/>
                <a:cs typeface="Roboto Medium"/>
              </a:rPr>
              <a:t>REPITA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Internar quem precisa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Evitar internações desnecessárias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Salvar vidas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Reduzir sequelas</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415196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Quem vamos colocar no protocolo?</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no momento do atendimento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10% a 30% não terão dor (idoso, DM, TX, </a:t>
            </a:r>
            <a:r>
              <a:rPr lang="pt-BR" dirty="0" err="1" smtClean="0" sz="1300" b="0">
                <a:solidFill>
                  <a:srgbClr val="5F6468"/>
                </a:solidFill>
                <a:latin typeface="Roboto"/>
                <a:ea typeface="Roboto"/>
                <a:cs typeface="Roboto"/>
              </a:rPr>
              <a:t>Bb</a:t>
            </a:r>
            <a:r>
              <a:rPr lang="pt-BR" dirty="0" smtClean="0" sz="130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entre a cicatriz umbilical e o mento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História de dor torácica com mais de 10 min de duração (mesmo assintomático)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Desconforto epigástrico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nos braços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Equivalentes isquêmicos</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Dispneia</a:t>
            </a:r>
            <a:r>
              <a:rPr lang="pt-BR" dirty="0" smtClean="0" sz="1300" b="0">
                <a:solidFill>
                  <a:srgbClr val="5F6468"/>
                </a:solidFill>
                <a:latin typeface="Roboto"/>
                <a:ea typeface="Roboto"/>
                <a:cs typeface="Roboto"/>
              </a:rPr>
              <a:t>, sudorese, hipotensão, síncope, arritmias agudas, AVC, pós PCR</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Pacientes sempre de risco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DM, IRC, DAC, DAOP, AVC</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DM = diabetes mellitus.</a:t>
            </a:r>
          </a:p>
          <a:p>
            <a:pPr algn="l">
              <a:lnSpc>
                <a:spcPct val="120000"/>
              </a:lnSpc>
              <a:spcBef>
                <a:spcPts val="0"/>
              </a:spcBef>
              <a:spcAft>
                <a:spcPts val="0"/>
              </a:spcAft>
            </a:pPr>
            <a:r>
              <a:rPr sz="1200">
                <a:solidFill>
                  <a:srgbClr val="4E7C8B"/>
                </a:solidFill>
                <a:latin typeface="Roboto Medium"/>
                <a:ea typeface="Roboto Medium"/>
                <a:cs typeface="Roboto Medium"/>
              </a:rPr>
              <a:t>Siglas: AVC = acidente vascular cerebral; PCR = parada cardiorrespiratória; IRC = insuficiência renal crônica; DAC = doença arterial coronariana; DAOP = doença arterial obstrutiva periférica; DM = diabetes mellitus.</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8855089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Ações</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Realizar ECG em 10 minutos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Colher exames: </a:t>
            </a:r>
            <a:r>
              <a:rPr lang="pt-BR" dirty="0" err="1" smtClean="0" sz="1300" b="0">
                <a:solidFill>
                  <a:srgbClr val="5F6468"/>
                </a:solidFill>
                <a:latin typeface="Roboto"/>
                <a:ea typeface="Roboto"/>
                <a:cs typeface="Roboto"/>
              </a:rPr>
              <a:t>Troponina</a:t>
            </a:r>
            <a:r>
              <a:rPr lang="pt-BR" dirty="0" smtClean="0" sz="1300" b="0">
                <a:solidFill>
                  <a:srgbClr val="5F6468"/>
                </a:solidFill>
                <a:latin typeface="Roboto"/>
                <a:ea typeface="Roboto"/>
                <a:cs typeface="Roboto"/>
              </a:rPr>
              <a:t> alta sensibilidade (</a:t>
            </a:r>
            <a:r>
              <a:rPr lang="pt-BR" dirty="0" err="1" smtClean="0" sz="1300" b="0">
                <a:solidFill>
                  <a:srgbClr val="5F6468"/>
                </a:solidFill>
                <a:latin typeface="Roboto"/>
                <a:ea typeface="Roboto"/>
                <a:cs typeface="Roboto"/>
              </a:rPr>
              <a:t>ng</a:t>
            </a:r>
            <a:r>
              <a:rPr lang="pt-BR" dirty="0" smtClean="0" sz="1300" b="0">
                <a:solidFill>
                  <a:srgbClr val="5F6468"/>
                </a:solidFill>
                <a:latin typeface="Roboto"/>
                <a:ea typeface="Roboto"/>
                <a:cs typeface="Roboto"/>
              </a:rPr>
              <a:t>/L = </a:t>
            </a:r>
            <a:r>
              <a:rPr lang="pt-BR" dirty="0" err="1" smtClean="0" sz="1300" b="0">
                <a:solidFill>
                  <a:srgbClr val="5F6468"/>
                </a:solidFill>
                <a:latin typeface="Roboto"/>
                <a:ea typeface="Roboto"/>
                <a:cs typeface="Roboto"/>
              </a:rPr>
              <a:t>pg</a:t>
            </a:r>
            <a:r>
              <a:rPr lang="pt-BR" dirty="0" smtClean="0" sz="1300" b="0">
                <a:solidFill>
                  <a:srgbClr val="5F6468"/>
                </a:solidFill>
                <a:latin typeface="Roboto"/>
                <a:ea typeface="Roboto"/>
                <a:cs typeface="Roboto"/>
              </a:rPr>
              <a:t>/</a:t>
            </a:r>
            <a:r>
              <a:rPr lang="pt-BR" dirty="0" err="1" smtClean="0" sz="1300" b="0">
                <a:solidFill>
                  <a:srgbClr val="5F6468"/>
                </a:solidFill>
                <a:latin typeface="Roboto"/>
                <a:ea typeface="Roboto"/>
                <a:cs typeface="Roboto"/>
              </a:rPr>
              <a:t>mL</a:t>
            </a:r>
            <a:r>
              <a:rPr lang="pt-BR" dirty="0" smtClean="0" sz="130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Seguir os algoritmos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Tratamento baseado em evidências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Estar preparado para o pior cenário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PCR</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Choque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Arritmias malignas</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PCR = parada cardiorrespiratória.</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297006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ECG</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Deve ser bem feito = treinamento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90% do 1</a:t>
            </a:r>
            <a:r>
              <a:rPr lang="pt-BR" dirty="0" smtClean="0" sz="1300" b="0">
                <a:solidFill>
                  <a:srgbClr val="5F6468"/>
                </a:solidFill>
                <a:latin typeface="Roboto" panose="020B0502040204020203" pitchFamily="34" charset="0"/>
                <a:ea typeface="Roboto"/>
                <a:cs typeface="Roboto"/>
              </a:rPr>
              <a:t>°</a:t>
            </a:r>
            <a:r>
              <a:rPr lang="pt-BR" dirty="0" smtClean="0" sz="1300" b="0">
                <a:solidFill>
                  <a:srgbClr val="5F6468"/>
                </a:solidFill>
                <a:latin typeface="Roboto"/>
                <a:ea typeface="Roboto"/>
                <a:cs typeface="Roboto"/>
              </a:rPr>
              <a:t> ECG é não diagnóstico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Sensibilidade de 50%</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ECG seriado (de 10 a 20 min entre um e outro)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Sensibilidade de 70 a 90%</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Mandatório: dor persistente, recorrência ou mudança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Derivações complementares: V3R, V4R, V7, V8, V9</a:t>
            </a:r>
            <a:endParaRPr lang="pt-BR" dirty="0" sz="2400"/>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1676460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12" name="Picture 11" descr="Tórax com eletrodos V1 a V6 posicionados (bolinhas roxas)"/>
          <p:cNvPicPr>
            <a:picLocks noChangeAspect="1"/>
          </p:cNvPicPr>
          <p:nvPr/>
        </p:nvPicPr>
        <p:blipFill>
          <a:blip r:embed="rId2"/>
          <a:stretch>
            <a:fillRect/>
          </a:stretch>
        </p:blipFill>
        <p:spPr>
          <a:xfrm>
            <a:off x="711403" y="1417320"/>
            <a:ext cx="5120640" cy="3581034"/>
          </a:xfrm>
          <a:prstGeom prst="rect">
            <a:avLst/>
          </a:prstGeom>
        </p:spPr>
      </p:pic>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ECG BEM feito</a:t>
            </a:r>
            <a:endParaRPr lang="pt-BR" dirty="0" sz="3200"/>
          </a:p>
        </p:txBody>
      </p:sp>
      <p:sp>
        <p:nvSpPr>
          <p:cNvPr id="5" name="Espaço Reservado para Conteúdo 4"/>
          <p:cNvSpPr>
            <a:spLocks noGrp="1"/>
          </p:cNvSpPr>
          <p:nvPr>
            <p:ph sz="half" idx="2"/>
          </p:nvPr>
        </p:nvSpPr>
        <p:spPr>
          <a:xfrm>
            <a:off x="6309360" y="1417320"/>
            <a:ext cx="5166360" cy="4425696"/>
          </a:xfrm>
        </p:spPr>
        <p:txBody>
          <a:bodyPr wrap="square" anchor="t"/>
          <a:lstStyle/>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Local limpo</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Cabos soltos</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Gel</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Eletrodo novo ou limpo</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Contato firme do eletrodo</a:t>
            </a:r>
            <a:endParaRPr sz="2400" lang="pt-BR"/>
          </a:p>
          <a:p>
            <a:pPr algn="l" marL="285750" indent="-285750">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Conferir posicionamento</a:t>
            </a:r>
            <a:endParaRPr lang="pt-BR" dirty="0" sz="2400"/>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10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7572024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11" name="Picture 10" descr="Tórax com derivações direitas V3R a V6R, além de V1 e V2"/>
          <p:cNvPicPr>
            <a:picLocks noChangeAspect="1"/>
          </p:cNvPicPr>
          <p:nvPr/>
        </p:nvPicPr>
        <p:blipFill>
          <a:blip r:embed="rId2"/>
          <a:stretch>
            <a:fillRect/>
          </a:stretch>
        </p:blipFill>
        <p:spPr>
          <a:xfrm>
            <a:off x="711403" y="1417320"/>
            <a:ext cx="5120640" cy="4179888"/>
          </a:xfrm>
          <a:prstGeom prst="rect">
            <a:avLst/>
          </a:prstGeom>
        </p:spPr>
      </p:pic>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Derivações complementares anteriores</a:t>
            </a:r>
            <a:endParaRPr lang="pt-BR" dirty="0" sz="3200"/>
          </a:p>
        </p:txBody>
      </p:sp>
      <p:sp>
        <p:nvSpPr>
          <p:cNvPr id="7" name="Espaço Reservado para Texto 6"/>
          <p:cNvSpPr>
            <a:spLocks noGrp="1"/>
          </p:cNvSpPr>
          <p:nvPr>
            <p:ph type="body" sz="quarter" idx="3"/>
          </p:nvPr>
        </p:nvSpPr>
        <p:spPr>
          <a:xfrm>
            <a:off x="6309360" y="1417320"/>
            <a:ext cx="5166360" cy="457200"/>
          </a:xfrm>
        </p:spPr>
        <p:txBody>
          <a:bodyPr wrap="square" anchor="t"/>
          <a:lstStyle/>
          <a:p>
            <a:pPr algn="l">
              <a:lnSpc>
                <a:spcPct val="120000"/>
              </a:lnSpc>
              <a:spcBef>
                <a:spcPts val="0"/>
              </a:spcBef>
              <a:spcAft>
                <a:spcPts val="600"/>
              </a:spcAft>
            </a:pPr>
            <a:r>
              <a:rPr lang="pt-BR" dirty="0" smtClean="0" sz="1500" b="0">
                <a:solidFill>
                  <a:srgbClr val="3B3F42"/>
                </a:solidFill>
                <a:latin typeface="Roboto Medium"/>
                <a:ea typeface="Roboto Medium"/>
                <a:cs typeface="Roboto Medium"/>
              </a:rPr>
              <a:t>DERIVAÇÕES DIREITAS</a:t>
            </a:r>
            <a:endParaRPr lang="pt-BR" dirty="0" sz="2400"/>
          </a:p>
        </p:txBody>
      </p:sp>
      <p:sp>
        <p:nvSpPr>
          <p:cNvPr id="8" name="Espaço Reservado para Conteúdo 7"/>
          <p:cNvSpPr>
            <a:spLocks noGrp="1"/>
          </p:cNvSpPr>
          <p:nvPr>
            <p:ph sz="quarter" idx="4"/>
          </p:nvPr>
        </p:nvSpPr>
        <p:spPr>
          <a:xfrm>
            <a:off x="6309360" y="2011680"/>
            <a:ext cx="5166360" cy="3831335"/>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Atividade elétrica do ventrículo direito (VD)</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Atividade elétrica da parede posterior</a:t>
            </a:r>
            <a:endParaRPr lang="pt-BR" dirty="0" sz="2400"/>
          </a:p>
        </p:txBody>
      </p:sp>
      <p:sp>
        <p:nvSpPr>
          <p:cNvPr id="9" name="TextBox 8"/>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11  ·  Dor torácica – Protocolo 2025 | Set 2026</a:t>
            </a:r>
          </a:p>
        </p:txBody>
      </p:sp>
      <p:sp>
        <p:nvSpPr>
          <p:cNvPr id="10" name="TextBox 9"/>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3293552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8" name="Picture 7" descr="Dorso com eletrodos posteriores V7, V8 e V9"/>
          <p:cNvPicPr>
            <a:picLocks noChangeAspect="1"/>
          </p:cNvPicPr>
          <p:nvPr/>
        </p:nvPicPr>
        <p:blipFill>
          <a:blip r:embed="rId2"/>
          <a:stretch>
            <a:fillRect/>
          </a:stretch>
        </p:blipFill>
        <p:spPr>
          <a:xfrm>
            <a:off x="4439869" y="1926138"/>
            <a:ext cx="3314699" cy="2639963"/>
          </a:xfrm>
          <a:prstGeom prst="rect">
            <a:avLst/>
          </a:prstGeom>
        </p:spPr>
      </p:pic>
      <p:sp>
        <p:nvSpPr>
          <p:cNvPr id="3" name="Retângulo 2"/>
          <p:cNvSpPr/>
          <p:nvPr/>
        </p:nvSpPr>
        <p:spPr>
          <a:xfrm>
            <a:off x="711403" y="4663440"/>
            <a:ext cx="10771632" cy="1179576"/>
          </a:xfrm>
          <a:prstGeom prst="rect">
            <a:avLst/>
          </a:prstGeom>
          <a:noFill/>
          <a:ln>
            <a:noFill/>
          </a:ln>
        </p:spPr>
        <p:txBody>
          <a:bodyPr wrap="square" anchor="t" lIns="0" rIns="0"/>
          <a:lstStyle/>
          <a:p>
            <a:pPr algn="l">
              <a:lnSpc>
                <a:spcPct val="140000"/>
              </a:lnSpc>
              <a:spcBef>
                <a:spcPts val="0"/>
              </a:spcBef>
              <a:spcAft>
                <a:spcPts val="600"/>
              </a:spcAft>
            </a:pPr>
            <a:r>
              <a:rPr lang="en-US" sz="1300" dirty="0" b="0">
                <a:solidFill>
                  <a:srgbClr val="5F6468"/>
                </a:solidFill>
                <a:latin typeface="Roboto"/>
                <a:ea typeface="Roboto"/>
                <a:cs typeface="Roboto"/>
              </a:rPr>
              <a:t>V7 – Left posterior axillary line, in the same horizontal plane as V6</a:t>
            </a:r>
          </a:p>
          <a:p>
            <a:pPr algn="l">
              <a:lnSpc>
                <a:spcPct val="140000"/>
              </a:lnSpc>
              <a:spcBef>
                <a:spcPts val="0"/>
              </a:spcBef>
              <a:spcAft>
                <a:spcPts val="600"/>
              </a:spcAft>
            </a:pPr>
            <a:r>
              <a:rPr lang="en-US" sz="1300" dirty="0" b="0">
                <a:solidFill>
                  <a:srgbClr val="5F6468"/>
                </a:solidFill>
                <a:latin typeface="Roboto"/>
                <a:ea typeface="Roboto"/>
                <a:cs typeface="Roboto"/>
              </a:rPr>
              <a:t>V8 – Tip of the left scapula, in the same horizontal plane as V6</a:t>
            </a:r>
          </a:p>
          <a:p>
            <a:pPr algn="l">
              <a:lnSpc>
                <a:spcPct val="140000"/>
              </a:lnSpc>
              <a:spcBef>
                <a:spcPts val="0"/>
              </a:spcBef>
              <a:spcAft>
                <a:spcPts val="600"/>
              </a:spcAft>
            </a:pPr>
            <a:r>
              <a:rPr lang="en-US" sz="1300" dirty="0" b="0">
                <a:solidFill>
                  <a:srgbClr val="5F6468"/>
                </a:solidFill>
                <a:latin typeface="Roboto"/>
                <a:ea typeface="Roboto"/>
                <a:cs typeface="Roboto"/>
              </a:rPr>
              <a:t>V9 – Left </a:t>
            </a:r>
            <a:r>
              <a:rPr lang="en-US" sz="1300" dirty="0" err="1" b="0">
                <a:solidFill>
                  <a:srgbClr val="5F6468"/>
                </a:solidFill>
                <a:latin typeface="Roboto"/>
                <a:ea typeface="Roboto"/>
                <a:cs typeface="Roboto"/>
              </a:rPr>
              <a:t>paraspinal</a:t>
            </a:r>
            <a:r>
              <a:rPr lang="en-US" sz="1300" dirty="0" b="0">
                <a:solidFill>
                  <a:srgbClr val="5F6468"/>
                </a:solidFill>
                <a:latin typeface="Roboto"/>
                <a:ea typeface="Roboto"/>
                <a:cs typeface="Roboto"/>
              </a:rPr>
              <a:t> region, in the same horizontal plane as V6</a:t>
            </a:r>
            <a:endParaRPr lang="pt-BR" sz="2400" dirty="0"/>
          </a:p>
        </p:txBody>
      </p:sp>
      <p:sp>
        <p:nvSpPr>
          <p:cNvPr id="4" name="Título 3"/>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Derivações complementares posteriores</a:t>
            </a:r>
            <a:endParaRPr lang="pt-BR" sz="3200" dirty="0"/>
          </a:p>
        </p:txBody>
      </p:sp>
      <p:sp>
        <p:nvSpPr>
          <p:cNvPr id="5" name="Espaço Reservado para Conteúdo 4"/>
          <p:cNvSpPr>
            <a:spLocks noGrp="1"/>
          </p:cNvSpPr>
          <p:nvPr>
            <p:ph idx="1"/>
          </p:nvPr>
        </p:nvSpPr>
        <p:spPr>
          <a:xfrm>
            <a:off x="711403" y="1417320"/>
            <a:ext cx="10771632" cy="457200"/>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Parede posterior do coração</a:t>
            </a:r>
            <a:endParaRPr lang="pt-BR" dirty="0" sz="2400"/>
          </a:p>
        </p:txBody>
      </p:sp>
      <p:sp>
        <p:nvSpPr>
          <p:cNvPr id="6" name="TextBox 5"/>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12  ·  Dor torácica – Protocolo 2025 | Set 2026</a:t>
            </a:r>
          </a:p>
        </p:txBody>
      </p:sp>
      <p:sp>
        <p:nvSpPr>
          <p:cNvPr id="7" name="TextBox 6"/>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5671192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1029"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Segmentos do ventrículo esquerdo</a:t>
            </a:r>
          </a:p>
        </p:txBody>
      </p:sp>
      <p:sp>
        <p:nvSpPr>
          <p:cNvPr id="1027" name="TextBox 1026"/>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13  ·  Dor torácica – Protocolo 2025 | Set 2026</a:t>
            </a:r>
          </a:p>
        </p:txBody>
      </p:sp>
      <p:sp>
        <p:nvSpPr>
          <p:cNvPr id="1028" name="TextBox 1027"/>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1030" name="Tabela"/>
          <p:cNvGraphicFramePr>
            <a:graphicFrameLocks noGrp="1"/>
          </p:cNvGraphicFramePr>
          <p:nvPr/>
        </p:nvGraphicFramePr>
        <p:xfrm>
          <a:off x="711403" y="1417320"/>
          <a:ext cx="3000000" cy="4553712"/>
        </p:xfrm>
        <a:graphic>
          <a:graphicData uri="http://schemas.openxmlformats.org/drawingml/2006/table">
            <a:tbl>
              <a:tblPr firstRow="1"/>
              <a:tblGrid>
                <a:gridCol w="700000"/>
                <a:gridCol w="2300000"/>
              </a:tblGrid>
              <a:tr h="252984">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Num.</a:t>
                      </a: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Segmento</a:t>
                      </a:r>
                      <a:endParaRPr lang="pt-BR" sz="1300" dirty="0"/>
                    </a:p>
                  </a:txBody>
                  <a:tcPr marL="91440" marR="91440" marT="27432" marB="27432" anchor="ctr">
                    <a:lnL w="0">
                      <a:noFill/>
                    </a:lnL>
                    <a:lnR w="0">
                      <a:noFill/>
                    </a:lnR>
                    <a:lnT w="0">
                      <a:noFill/>
                    </a:lnT>
                    <a:lnB w="0">
                      <a:noFill/>
                    </a:lnB>
                    <a:solidFill>
                      <a:srgbClr val="4E7C8B"/>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anterior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antero-septal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ínfero-septal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4</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inferior</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5</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ínfero-lateral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6</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Basal antero-lateral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7</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anterior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8</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antero-septal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9</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ínfero-septal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10</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inferior</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11</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ínfero-lateral</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12</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Medial antero-lateral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13</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anterior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14</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septal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inferior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16</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Apical lateral</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r>
              <a:tr h="252984">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17</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Ápice</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r>
            </a:tbl>
          </a:graphicData>
        </a:graphic>
      </p:graphicFrame>
      <p:pic>
        <p:nvPicPr>
          <p:cNvPr id="1031" name="Picture 1030" descr="Modelo de 17 segmentos do ventrículo esquerdo em 4, 2 e 3 câmaras e cortes basal, medial e apical, com legenda de artérias (ACD, ADA, ACx)"/>
          <p:cNvPicPr>
            <a:picLocks noChangeAspect="1"/>
          </p:cNvPicPr>
          <p:nvPr/>
        </p:nvPicPr>
        <p:blipFill>
          <a:blip r:embed="rId2"/>
          <a:stretch>
            <a:fillRect/>
          </a:stretch>
        </p:blipFill>
        <p:spPr>
          <a:xfrm>
            <a:off x="4061403" y="1780394"/>
            <a:ext cx="7421632" cy="3710816"/>
          </a:xfrm>
          <a:prstGeom prst="rect">
            <a:avLst/>
          </a:prstGeom>
        </p:spPr>
      </p:pic>
    </p:spTree>
    <p:extLst>
      <p:ext uri="{BB962C8B-B14F-4D97-AF65-F5344CB8AC3E}">
        <p14:creationId xmlns:p14="http://schemas.microsoft.com/office/powerpoint/2010/main" val="2017419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1295234" y="558698"/>
            <a:ext cx="9603970" cy="5284317"/>
          </a:xfrm>
          <a:prstGeom prst="rect">
            <a:avLst/>
          </a:prstGeom>
        </p:spPr>
      </p:pic>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14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4850601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ECG</a:t>
            </a:r>
            <a:endParaRPr lang="pt-BR" dirty="0" sz="3200"/>
          </a:p>
        </p:txBody>
      </p:sp>
      <p:sp>
        <p:nvSpPr>
          <p:cNvPr id="3" name="Espaço Reservado para Conteúdo 2"/>
          <p:cNvSpPr>
            <a:spLocks noGrp="1"/>
          </p:cNvSpPr>
          <p:nvPr>
            <p:ph idx="1"/>
          </p:nvPr>
        </p:nvSpPr>
        <p:spPr>
          <a:xfrm>
            <a:off x="711403" y="1417320"/>
            <a:ext cx="704088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Procuramos SUPRA (1920, </a:t>
            </a:r>
            <a:r>
              <a:rPr lang="pt-BR" sz="1300" dirty="0" err="1" smtClean="0" b="0">
                <a:solidFill>
                  <a:srgbClr val="5F6468"/>
                </a:solidFill>
                <a:latin typeface="Roboto"/>
                <a:ea typeface="Roboto"/>
                <a:cs typeface="Roboto"/>
              </a:rPr>
              <a:t>Pardee</a:t>
            </a:r>
            <a:r>
              <a:rPr lang="pt-BR" sz="1300" dirty="0" smtClean="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Alterações sugestivas de oclusão</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BRE - </a:t>
            </a:r>
            <a:r>
              <a:rPr lang="pt-BR" sz="1300" dirty="0" err="1" smtClean="0" b="0">
                <a:solidFill>
                  <a:srgbClr val="5F6468"/>
                </a:solidFill>
                <a:latin typeface="Roboto"/>
                <a:ea typeface="Roboto"/>
                <a:cs typeface="Roboto"/>
              </a:rPr>
              <a:t>Sgarbossa</a:t>
            </a:r>
            <a:r>
              <a:rPr lang="pt-BR" sz="1300" dirty="0" smtClean="0" b="0">
                <a:solidFill>
                  <a:srgbClr val="5F6468"/>
                </a:solidFill>
                <a:latin typeface="Roboto"/>
                <a:ea typeface="Roboto"/>
                <a:cs typeface="Roboto"/>
              </a:rPr>
              <a:t>, Smith (modificou)</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BRD</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Ondas T hiperagudas</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Distorção terminal do QRS</a:t>
            </a:r>
            <a:endParaRPr sz="2400" lang="pt-BR"/>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de </a:t>
            </a:r>
            <a:r>
              <a:rPr lang="pt-BR" sz="1300" dirty="0" err="1" smtClean="0" b="0">
                <a:solidFill>
                  <a:srgbClr val="5F6468"/>
                </a:solidFill>
                <a:latin typeface="Roboto"/>
                <a:ea typeface="Roboto"/>
                <a:cs typeface="Roboto"/>
              </a:rPr>
              <a:t>Wellens</a:t>
            </a:r>
            <a:endParaRPr lang="pt-BR" sz="2400" dirty="0" smtClean="0"/>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De </a:t>
            </a:r>
            <a:r>
              <a:rPr lang="pt-BR" sz="1300" dirty="0" err="1" smtClean="0" b="0">
                <a:solidFill>
                  <a:srgbClr val="5F6468"/>
                </a:solidFill>
                <a:latin typeface="Roboto"/>
                <a:ea typeface="Roboto"/>
                <a:cs typeface="Roboto"/>
              </a:rPr>
              <a:t>Winter</a:t>
            </a:r>
            <a:endParaRPr lang="pt-BR" sz="2400" dirty="0" smtClean="0"/>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de </a:t>
            </a:r>
            <a:r>
              <a:rPr lang="pt-BR" sz="1300" dirty="0" err="1" smtClean="0" b="0">
                <a:solidFill>
                  <a:srgbClr val="5F6468"/>
                </a:solidFill>
                <a:latin typeface="Roboto"/>
                <a:ea typeface="Roboto"/>
                <a:cs typeface="Roboto"/>
              </a:rPr>
              <a:t>Aslanger</a:t>
            </a:r>
            <a:endParaRPr lang="pt-BR" sz="2400" dirty="0" smtClean="0"/>
          </a:p>
          <a:p>
            <a:pPr marL="285750" indent="-285750" algn="l">
              <a:lnSpc>
                <a:spcPct val="140000"/>
              </a:lnSpc>
              <a:spcBef>
                <a:spcPts val="0"/>
              </a:spcBef>
              <a:spcAft>
                <a:spcPts val="600"/>
              </a:spcAft>
              <a:buClr>
                <a:srgbClr val="4E7C8B"/>
              </a:buClr>
              <a:buFont typeface="Arial"/>
              <a:buChar char="•"/>
            </a:pPr>
            <a:r>
              <a:rPr lang="pt-BR" sz="1300" dirty="0" smtClean="0" b="0">
                <a:solidFill>
                  <a:srgbClr val="5F6468"/>
                </a:solidFill>
                <a:latin typeface="Roboto"/>
                <a:ea typeface="Roboto"/>
                <a:cs typeface="Roboto"/>
              </a:rPr>
              <a:t>Padrão da bandeira da </a:t>
            </a:r>
            <a:r>
              <a:rPr lang="pt-BR" sz="1300" dirty="0" err="1" smtClean="0" b="0">
                <a:solidFill>
                  <a:srgbClr val="5F6468"/>
                </a:solidFill>
                <a:latin typeface="Roboto"/>
                <a:ea typeface="Roboto"/>
                <a:cs typeface="Roboto"/>
              </a:rPr>
              <a:t>África</a:t>
            </a:r>
            <a:r>
              <a:rPr lang="pt-BR" sz="1300" dirty="0" smtClean="0" b="0">
                <a:solidFill>
                  <a:srgbClr val="5F6468"/>
                </a:solidFill>
                <a:latin typeface="Roboto"/>
                <a:ea typeface="Roboto"/>
                <a:cs typeface="Roboto"/>
              </a:rPr>
              <a:t> do Sul</a:t>
            </a:r>
            <a:endParaRPr sz="2400" lang="pt-BR"/>
          </a:p>
        </p:txBody>
      </p:sp>
      <p:pic>
        <p:nvPicPr>
          <p:cNvPr id="4" name="Imagem 3"/>
          <p:cNvPicPr>
            <a:picLocks noChangeAspect="1"/>
          </p:cNvPicPr>
          <p:nvPr/>
        </p:nvPicPr>
        <p:blipFill rotWithShape="1">
          <a:blip r:embed="rId3"/>
          <a:srcRect l="64122" t="5161" r="20070" b="23466"/>
          <a:stretch/>
        </p:blipFill>
        <p:spPr>
          <a:xfrm>
            <a:off x="8703945" y="1417320"/>
            <a:ext cx="2114549" cy="3749039"/>
          </a:xfrm>
          <a:prstGeom prst="rect">
            <a:avLst/>
          </a:prstGeom>
        </p:spPr>
      </p:pic>
      <p:sp>
        <p:nvSpPr>
          <p:cNvPr id="5"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BRE = bloqueio de ramo esquerdo; BRD = bloqueio de ramo direito.</a:t>
            </a:r>
          </a:p>
        </p:txBody>
      </p:sp>
      <p:sp>
        <p:nvSpPr>
          <p:cNvPr id="6" name="TextBox 5"/>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15  ·  Dor torácica – Protocolo 2025 | Set 2026</a:t>
            </a:r>
          </a:p>
        </p:txBody>
      </p:sp>
      <p:sp>
        <p:nvSpPr>
          <p:cNvPr id="7" name="TextBox 6"/>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8593570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2" name="Imagem 1"/>
          <p:cNvPicPr>
            <a:picLocks noChangeAspect="1"/>
          </p:cNvPicPr>
          <p:nvPr/>
        </p:nvPicPr>
        <p:blipFill>
          <a:blip r:embed="rId3"/>
          <a:stretch>
            <a:fillRect/>
          </a:stretch>
        </p:blipFill>
        <p:spPr>
          <a:xfrm>
            <a:off x="711403" y="1085939"/>
            <a:ext cx="10771632" cy="4229835"/>
          </a:xfrm>
          <a:prstGeom prst="rect">
            <a:avLst/>
          </a:prstGeom>
        </p:spPr>
      </p:pic>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7415455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Causas de supra desnivelamento do ST</a:t>
            </a:r>
            <a:endParaRPr lang="pt-BR" dirty="0" sz="3200"/>
          </a:p>
        </p:txBody>
      </p:sp>
      <p:sp>
        <p:nvSpPr>
          <p:cNvPr id="3" name="Espaço Reservado para Conteúdo 2"/>
          <p:cNvSpPr>
            <a:spLocks noGrp="1"/>
          </p:cNvSpPr>
          <p:nvPr>
            <p:ph sz="half" idx="2"/>
          </p:nvPr>
        </p:nvSpPr>
        <p:spPr>
          <a:xfrm>
            <a:off x="711403" y="1417320"/>
            <a:ext cx="516636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IAM</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BRE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HVE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Pericardite</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Repolarização</a:t>
            </a:r>
            <a:r>
              <a:rPr lang="pt-BR" dirty="0" smtClean="0" sz="1300" b="0">
                <a:solidFill>
                  <a:srgbClr val="5F6468"/>
                </a:solidFill>
                <a:latin typeface="Roboto"/>
                <a:ea typeface="Roboto"/>
                <a:cs typeface="Roboto"/>
              </a:rPr>
              <a:t> precoce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Angina </a:t>
            </a:r>
            <a:r>
              <a:rPr lang="pt-BR" dirty="0" err="1" smtClean="0" sz="1300" b="0">
                <a:solidFill>
                  <a:srgbClr val="5F6468"/>
                </a:solidFill>
                <a:latin typeface="Roboto"/>
                <a:ea typeface="Roboto"/>
                <a:cs typeface="Roboto"/>
              </a:rPr>
              <a:t>vasoespástica</a:t>
            </a:r>
            <a:endParaRPr lang="pt-BR" dirty="0" smtClean="0" sz="2400"/>
          </a:p>
        </p:txBody>
      </p:sp>
      <p:sp>
        <p:nvSpPr>
          <p:cNvPr id="6" name="Espaço Reservado para Conteúdo 5"/>
          <p:cNvSpPr>
            <a:spLocks noGrp="1"/>
          </p:cNvSpPr>
          <p:nvPr>
            <p:ph sz="quarter" idx="4"/>
          </p:nvPr>
        </p:nvSpPr>
        <p:spPr>
          <a:xfrm>
            <a:off x="6309360" y="1417320"/>
            <a:ext cx="516636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Hipercalemia</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Takotsubo</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Marca-passo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Síndrome de </a:t>
            </a:r>
            <a:r>
              <a:rPr lang="pt-BR" dirty="0" err="1" smtClean="0" sz="1300" b="0">
                <a:solidFill>
                  <a:srgbClr val="5F6468"/>
                </a:solidFill>
                <a:latin typeface="Roboto"/>
                <a:ea typeface="Roboto"/>
                <a:cs typeface="Roboto"/>
              </a:rPr>
              <a:t>Brugada</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Síndrome</a:t>
            </a:r>
            <a:r>
              <a:rPr lang="pt-BR" dirty="0" smtClean="0" sz="1300" b="0">
                <a:solidFill>
                  <a:srgbClr val="5F6468"/>
                </a:solidFill>
                <a:latin typeface="Roboto"/>
                <a:ea typeface="Roboto"/>
                <a:cs typeface="Roboto"/>
              </a:rPr>
              <a:t> de </a:t>
            </a:r>
            <a:r>
              <a:rPr lang="pt-BR" dirty="0" err="1" smtClean="0" sz="1300" b="0">
                <a:solidFill>
                  <a:srgbClr val="5F6468"/>
                </a:solidFill>
                <a:latin typeface="Roboto"/>
                <a:ea typeface="Roboto"/>
                <a:cs typeface="Roboto"/>
              </a:rPr>
              <a:t>pré</a:t>
            </a:r>
            <a:r>
              <a:rPr lang="pt-BR" dirty="0" smtClean="0" sz="1300" b="0">
                <a:solidFill>
                  <a:srgbClr val="5F6468"/>
                </a:solidFill>
                <a:latin typeface="Roboto"/>
                <a:ea typeface="Roboto"/>
                <a:cs typeface="Roboto"/>
              </a:rPr>
              <a:t> excitação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Aneurisma de VE</a:t>
            </a:r>
            <a:endParaRPr sz="2400" lang="pt-BR"/>
          </a:p>
        </p:txBody>
      </p:sp>
      <p:sp>
        <p:nvSpPr>
          <p:cNvPr id="7"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IAM = infarto agudo do miocárdio; HVE = hipertrofia ventricular esquerda; VE = ventrículo esquerdo; BRE = bloqueio de ramo esquerdo.</a:t>
            </a:r>
          </a:p>
        </p:txBody>
      </p:sp>
      <p:sp>
        <p:nvSpPr>
          <p:cNvPr id="8" name="TextBox 7"/>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17  ·  Dor torácica – Protocolo 2025 | Set 2026</a:t>
            </a:r>
          </a:p>
        </p:txBody>
      </p:sp>
      <p:sp>
        <p:nvSpPr>
          <p:cNvPr id="9" name="TextBox 8"/>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7747454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Alterações ECG diagnósticas SCA sem BRE</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Análise de supra V2 e V3</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Homem, menor 40 anos: ST ≥ 2,5 mm</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Homem, maior 40 anos: ST ≥ 2,0 mm</a:t>
            </a:r>
            <a:r>
              <a:rPr lang="pt-BR" dirty="0" sz="1300" b="0">
                <a:solidFill>
                  <a:srgbClr val="5F6468"/>
                </a:solidFill>
                <a:latin typeface="Roboto" panose="020F0502020204030204" pitchFamily="34" charset="0"/>
                <a:ea typeface="Roboto" panose="020F0502020204030204" pitchFamily="34" charset="0"/>
                <a:cs typeface="Roboto" panose="020F0502020204030204" pitchFamily="34" charset="0"/>
              </a:rPr>
              <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Mulher: ST ≥ 1,5 mm</a:t>
            </a:r>
            <a:r>
              <a:rPr lang="pt-BR" dirty="0" sz="1300" b="0">
                <a:solidFill>
                  <a:srgbClr val="5F6468"/>
                </a:solidFill>
                <a:latin typeface="Roboto" panose="020F0502020204030204" pitchFamily="34" charset="0"/>
                <a:ea typeface="Roboto" panose="020F0502020204030204" pitchFamily="34" charset="0"/>
                <a:cs typeface="Roboto" panose="020F0502020204030204" pitchFamily="34" charset="0"/>
              </a:rPr>
              <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Outras derivações normais ST ≥ 1,0 mm derivações contíguas</a:t>
            </a:r>
            <a:endParaRPr lang="pt-BR" dirty="0" sz="2400">
              <a:latin typeface="Calibri" panose="020F0502020204030204" pitchFamily="34" charset="0"/>
              <a:ea typeface="Calibri" panose="020F0502020204030204" pitchFamily="34" charset="0"/>
              <a:cs typeface="Calibri" panose="020F0502020204030204" pitchFamily="34" charset="0"/>
            </a:endParaRP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Derivações complementares ST ≥ 0,5 mm</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Analisar derivações opostas (</a:t>
            </a:r>
            <a:r>
              <a:rPr lang="pt-BR" i="1"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efeito recíproco, imagem em espelho</a:t>
            </a:r>
            <a:r>
              <a:rPr lang="pt-BR" dirty="0" smtClean="0" sz="1300" b="0">
                <a:solidFill>
                  <a:srgbClr val="5F6468"/>
                </a:solidFill>
                <a:latin typeface="Roboto" panose="020F0502020204030204" pitchFamily="34" charset="0"/>
                <a:ea typeface="Roboto" panose="020F0502020204030204" pitchFamily="34" charset="0"/>
                <a:cs typeface="Roboto" panose="020F0502020204030204" pitchFamily="34" charset="0"/>
              </a:rPr>
              <a:t>)</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18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2520753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Imagem em espelho</a:t>
            </a:r>
            <a:endParaRPr lang="pt-BR" dirty="0" sz="320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31254851"/>
              </p:ext>
            </p:extLst>
          </p:nvPr>
        </p:nvGraphicFramePr>
        <p:xfrm>
          <a:off x="711403" y="1417320"/>
          <a:ext cx="10771632" cy="2194560"/>
        </p:xfrm>
        <a:graphic>
          <a:graphicData uri="http://schemas.openxmlformats.org/drawingml/2006/table">
            <a:tbl>
              <a:tblPr firstRow="1" bandRow="1">
                <a:tableStyleId>{5C22544A-7EE6-4342-B048-85BDC9FD1C3A}</a:tableStyleId>
              </a:tblPr>
              <a:tblGrid>
                <a:gridCol w="5385816"/>
                <a:gridCol w="5385816"/>
              </a:tblGrid>
              <a:tr h="731520">
                <a:tc>
                  <a:txBody>
                    <a:bodyPr/>
                    <a:lstStyle/>
                    <a:p>
                      <a:pPr algn="l"/>
                      <a:r>
                        <a:rPr lang="pt-BR" dirty="0" smtClean="0" sz="1300" b="0">
                          <a:solidFill>
                            <a:srgbClr val="FBFCFC"/>
                          </a:solidFill>
                          <a:latin typeface="Roboto Medium"/>
                          <a:ea typeface="Roboto Medium"/>
                          <a:cs typeface="Roboto Medium"/>
                        </a:rPr>
                        <a:t>PAREDE</a:t>
                      </a:r>
                      <a:r>
                        <a:rPr lang="pt-BR" baseline="0" dirty="0" smtClean="0" sz="1300" b="0">
                          <a:solidFill>
                            <a:srgbClr val="FBFCFC"/>
                          </a:solidFill>
                          <a:latin typeface="Roboto Medium"/>
                          <a:ea typeface="Roboto Medium"/>
                          <a:cs typeface="Roboto Medium"/>
                        </a:rPr>
                        <a:t> PRINCIPAL</a:t>
                      </a:r>
                      <a:endParaRPr lang="pt-BR" dirty="0" sz="2000"/>
                    </a:p>
                  </a:txBody>
                  <a:tcPr marL="109728" marR="109728">
                    <a:solidFill>
                      <a:srgbClr val="4E7C8B"/>
                    </a:solidFill>
                  </a:tcPr>
                </a:tc>
                <a:tc>
                  <a:txBody>
                    <a:bodyPr/>
                    <a:lstStyle/>
                    <a:p>
                      <a:pPr algn="l"/>
                      <a:r>
                        <a:rPr lang="pt-BR" dirty="0" smtClean="0" sz="1300" b="0">
                          <a:solidFill>
                            <a:srgbClr val="FBFCFC"/>
                          </a:solidFill>
                          <a:latin typeface="Roboto Medium"/>
                          <a:ea typeface="Roboto Medium"/>
                          <a:cs typeface="Roboto Medium"/>
                        </a:rPr>
                        <a:t>PAREDE</a:t>
                      </a:r>
                      <a:r>
                        <a:rPr lang="pt-BR" baseline="0" dirty="0" smtClean="0" sz="1300" b="0">
                          <a:solidFill>
                            <a:srgbClr val="FBFCFC"/>
                          </a:solidFill>
                          <a:latin typeface="Roboto Medium"/>
                          <a:ea typeface="Roboto Medium"/>
                          <a:cs typeface="Roboto Medium"/>
                        </a:rPr>
                        <a:t> DA </a:t>
                      </a:r>
                      <a:r>
                        <a:rPr lang="pt-BR" dirty="0" smtClean="0" sz="1300" b="0">
                          <a:solidFill>
                            <a:srgbClr val="FBFCFC"/>
                          </a:solidFill>
                          <a:latin typeface="Roboto Medium"/>
                          <a:ea typeface="Roboto Medium"/>
                          <a:cs typeface="Roboto Medium"/>
                        </a:rPr>
                        <a:t>IMAGEM EM ESPELHO </a:t>
                      </a:r>
                      <a:endParaRPr lang="pt-BR" dirty="0" sz="2000"/>
                    </a:p>
                  </a:txBody>
                  <a:tcPr marL="109728" marR="109728">
                    <a:solidFill>
                      <a:srgbClr val="4E7C8B"/>
                    </a:solidFill>
                  </a:tcPr>
                </a:tc>
              </a:tr>
              <a:tr h="731520">
                <a:tc>
                  <a:txBody>
                    <a:bodyPr/>
                    <a:lstStyle/>
                    <a:p>
                      <a:pPr algn="l"/>
                      <a:r>
                        <a:rPr lang="pt-BR" dirty="0" smtClean="0" sz="1300" b="0">
                          <a:solidFill>
                            <a:srgbClr val="5F6468"/>
                          </a:solidFill>
                          <a:latin typeface="Roboto"/>
                          <a:ea typeface="Roboto"/>
                          <a:cs typeface="Roboto"/>
                        </a:rPr>
                        <a:t>Inferior :</a:t>
                      </a:r>
                      <a:r>
                        <a:rPr lang="pt-BR" baseline="0" dirty="0" smtClean="0" sz="1300" b="0">
                          <a:solidFill>
                            <a:srgbClr val="5F6468"/>
                          </a:solidFill>
                          <a:latin typeface="Roboto"/>
                          <a:ea typeface="Roboto"/>
                          <a:cs typeface="Roboto"/>
                        </a:rPr>
                        <a:t> </a:t>
                      </a:r>
                      <a:r>
                        <a:rPr lang="pt-BR" dirty="0" smtClean="0" sz="1300" b="0">
                          <a:solidFill>
                            <a:srgbClr val="5F6468"/>
                          </a:solidFill>
                          <a:latin typeface="Roboto"/>
                          <a:ea typeface="Roboto"/>
                          <a:cs typeface="Roboto"/>
                        </a:rPr>
                        <a:t>DII, DIII, AVF</a:t>
                      </a:r>
                      <a:endParaRPr lang="pt-BR" dirty="0" sz="2000"/>
                    </a:p>
                  </a:txBody>
                  <a:tcPr marL="109728" marR="109728">
                    <a:solidFill>
                      <a:srgbClr val="FBFCFC"/>
                    </a:solidFill>
                  </a:tcPr>
                </a:tc>
                <a:tc>
                  <a:txBody>
                    <a:bodyPr/>
                    <a:lstStyle/>
                    <a:p>
                      <a:pPr algn="l"/>
                      <a:r>
                        <a:rPr lang="pt-BR" dirty="0" smtClean="0" sz="1300" b="0">
                          <a:solidFill>
                            <a:srgbClr val="5F6468"/>
                          </a:solidFill>
                          <a:latin typeface="Roboto"/>
                          <a:ea typeface="Roboto"/>
                          <a:cs typeface="Roboto"/>
                        </a:rPr>
                        <a:t>Lateral alta:</a:t>
                      </a:r>
                      <a:r>
                        <a:rPr lang="pt-BR" baseline="0" dirty="0" smtClean="0" sz="1300" b="0">
                          <a:solidFill>
                            <a:srgbClr val="5F6468"/>
                          </a:solidFill>
                          <a:latin typeface="Roboto"/>
                          <a:ea typeface="Roboto"/>
                          <a:cs typeface="Roboto"/>
                        </a:rPr>
                        <a:t> DI e AVL</a:t>
                      </a:r>
                      <a:endParaRPr lang="pt-BR" dirty="0" sz="2000"/>
                    </a:p>
                  </a:txBody>
                  <a:tcPr marL="109728" marR="109728">
                    <a:solidFill>
                      <a:srgbClr val="FBFCFC"/>
                    </a:solidFill>
                  </a:tcPr>
                </a:tc>
              </a:tr>
              <a:tr h="731520">
                <a:tc>
                  <a:txBody>
                    <a:bodyPr/>
                    <a:lstStyle/>
                    <a:p>
                      <a:pPr algn="l"/>
                      <a:r>
                        <a:rPr lang="pt-BR" dirty="0" smtClean="0" sz="1300" b="0">
                          <a:solidFill>
                            <a:srgbClr val="5F6468"/>
                          </a:solidFill>
                          <a:latin typeface="Roboto"/>
                          <a:ea typeface="Roboto"/>
                          <a:cs typeface="Roboto"/>
                        </a:rPr>
                        <a:t>Anterior/septal: V1 a V3</a:t>
                      </a:r>
                      <a:endParaRPr lang="pt-BR" dirty="0" sz="2000"/>
                    </a:p>
                  </a:txBody>
                  <a:tcPr marL="109728" marR="109728">
                    <a:solidFill>
                      <a:srgbClr val="F2F4F5"/>
                    </a:solidFill>
                  </a:tcPr>
                </a:tc>
                <a:tc>
                  <a:txBody>
                    <a:bodyPr/>
                    <a:lstStyle/>
                    <a:p>
                      <a:pPr algn="l"/>
                      <a:r>
                        <a:rPr lang="pt-BR" dirty="0" smtClean="0" sz="1300" b="0">
                          <a:solidFill>
                            <a:srgbClr val="5F6468"/>
                          </a:solidFill>
                          <a:latin typeface="Roboto"/>
                          <a:ea typeface="Roboto"/>
                          <a:cs typeface="Roboto"/>
                        </a:rPr>
                        <a:t>Parede posterior: V7 e V8</a:t>
                      </a:r>
                      <a:endParaRPr lang="pt-BR" dirty="0" sz="2000"/>
                    </a:p>
                  </a:txBody>
                  <a:tcPr marL="109728" marR="109728">
                    <a:solidFill>
                      <a:srgbClr val="F2F4F5"/>
                    </a:solidFill>
                  </a:tcPr>
                </a:tc>
              </a:tr>
            </a:tbl>
          </a:graphicData>
        </a:graphic>
      </p:graphicFrame>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19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8595913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Rótulo 3"/>
          <p:cNvSpPr txBox="1"/>
          <p:nvPr/>
        </p:nvSpPr>
        <p:spPr>
          <a:xfrm>
            <a:off x="711403" y="1417320"/>
            <a:ext cx="1226406" cy="300000"/>
          </a:xfrm>
          <a:prstGeom prst="rect">
            <a:avLst/>
          </a:prstGeom>
          <a:solidFill>
            <a:srgbClr val="4E7C8B"/>
          </a:solidFill>
        </p:spPr>
        <p:txBody>
          <a:bodyPr wrap="square" lIns="0" tIns="0" rIns="0" bIns="0" anchor="ctr">
            <a:noAutofit/>
          </a:bodyPr>
          <a:lstStyle/>
          <a:p>
            <a:pPr marL="0" indent="0" algn="ctr">
              <a:lnSpc>
                <a:spcPct val="100000"/>
              </a:lnSpc>
              <a:spcBef>
                <a:spcPts val="0"/>
              </a:spcBef>
              <a:spcAft>
                <a:spcPts val="0"/>
              </a:spcAft>
              <a:buNone/>
            </a:pPr>
            <a:r>
              <a:rPr lang="pt-BR" sz="1200" b="0" i="0" dirty="0">
                <a:solidFill>
                  <a:srgbClr val="FBFCFC"/>
                </a:solidFill>
                <a:latin typeface="Roboto Medium"/>
                <a:ea typeface="Roboto Medium"/>
                <a:cs typeface="Roboto Medium"/>
              </a:rPr>
              <a:t>SVE/BRE/IAM</a:t>
            </a:r>
          </a:p>
        </p:txBody>
      </p:sp>
      <p:sp>
        <p:nvSpPr>
          <p:cNvPr id="4" name="Caixa 4"/>
          <p:cNvSpPr txBox="1"/>
          <p:nvPr/>
        </p:nvSpPr>
        <p:spPr>
          <a:xfrm>
            <a:off x="711403" y="2000000"/>
            <a:ext cx="3600000" cy="2400000"/>
          </a:xfrm>
          <a:prstGeom prst="rect">
            <a:avLst/>
          </a:prstGeom>
          <a:solidFill>
            <a:srgbClr val="F2F4F5"/>
          </a:solidFill>
        </p:spPr>
        <p:txBody>
          <a:bodyPr wrap="square" lIns="240000" tIns="200000" rIns="240000" bIns="200000" anchor="ctr">
            <a:noAutofit/>
          </a:bodyPr>
          <a:lstStyle/>
          <a:p>
            <a:pPr marL="285750" indent="-285750" algn="l">
              <a:lnSpc>
                <a:spcPct val="125000"/>
              </a:lnSpc>
              <a:spcBef>
                <a:spcPts val="0"/>
              </a:spcBef>
              <a:spcAft>
                <a:spcPts val="900"/>
              </a:spcAft>
              <a:buClr>
                <a:srgbClr val="4E7C8B"/>
              </a:buClr>
              <a:buFont typeface="Arial"/>
              <a:buChar char="•"/>
            </a:pPr>
            <a:r>
              <a:rPr lang="pt-BR" sz="1500" b="0" i="0" dirty="0">
                <a:solidFill>
                  <a:srgbClr val="3B3F42"/>
                </a:solidFill>
                <a:latin typeface="Roboto Medium"/>
                <a:ea typeface="Roboto Medium"/>
                <a:cs typeface="Roboto Medium"/>
              </a:rPr>
              <a:t>Nem todo Supradesnível ST é devido a uma OCA</a:t>
            </a:r>
          </a:p>
          <a:p>
            <a:pPr marL="285750" indent="-285750" algn="l">
              <a:lnSpc>
                <a:spcPct val="125000"/>
              </a:lnSpc>
              <a:spcBef>
                <a:spcPts val="0"/>
              </a:spcBef>
              <a:spcAft>
                <a:spcPts val="0"/>
              </a:spcAft>
              <a:buClr>
                <a:srgbClr val="4E7C8B"/>
              </a:buClr>
              <a:buFont typeface="Arial"/>
              <a:buChar char="•"/>
            </a:pPr>
            <a:r>
              <a:rPr lang="pt-BR" sz="1500" b="0" i="0" dirty="0">
                <a:solidFill>
                  <a:srgbClr val="3B3F42"/>
                </a:solidFill>
                <a:latin typeface="Roboto Medium"/>
                <a:ea typeface="Roboto Medium"/>
                <a:cs typeface="Roboto Medium"/>
              </a:rPr>
              <a:t>Nem toda OCA se manifesta com Supradesnível ST</a:t>
            </a:r>
          </a:p>
        </p:txBody>
      </p:sp>
      <p:pic>
        <p:nvPicPr>
          <p:cNvPr id="5" name="Figura 5" descr="Supradesnível ST convexo e côncavo"/>
          <p:cNvPicPr>
            <a:picLocks noChangeAspect="1"/>
          </p:cNvPicPr>
          <p:nvPr/>
        </p:nvPicPr>
        <p:blipFill>
          <a:blip r:embed="rId10"/>
          <a:stretch>
            <a:fillRect/>
          </a:stretch>
        </p:blipFill>
        <p:spPr>
          <a:xfrm>
            <a:off x="5828213" y="1417320"/>
            <a:ext cx="4476607" cy="2150000"/>
          </a:xfrm>
          <a:prstGeom prst="rect">
            <a:avLst/>
          </a:prstGeom>
        </p:spPr>
      </p:pic>
      <p:pic>
        <p:nvPicPr>
          <p:cNvPr id="6" name="Figura 6" descr="O valor do infradesnivelamento recíproco ST"/>
          <p:cNvPicPr>
            <a:picLocks noChangeAspect="1"/>
          </p:cNvPicPr>
          <p:nvPr/>
        </p:nvPicPr>
        <p:blipFill>
          <a:blip r:embed="rId11"/>
          <a:stretch>
            <a:fillRect/>
          </a:stretch>
        </p:blipFill>
        <p:spPr>
          <a:xfrm>
            <a:off x="5956875" y="3667320"/>
            <a:ext cx="4219283" cy="2150000"/>
          </a:xfrm>
          <a:prstGeom prst="rect">
            <a:avLst/>
          </a:prstGeom>
        </p:spPr>
      </p:pic>
      <p:sp>
        <p:nvSpPr>
          <p:cNvPr id="7" name="Legenda 7"/>
          <p:cNvSpPr txBox="1"/>
          <p:nvPr/>
        </p:nvSpPr>
        <p:spPr>
          <a:xfrm>
            <a:off x="711403" y="5560000"/>
            <a:ext cx="3600000" cy="3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OCA: Oclusão Coronária Aguda</a:t>
            </a:r>
          </a:p>
        </p:txBody>
      </p:sp>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20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O problema da circunflexa</a:t>
            </a:r>
          </a:p>
        </p:txBody>
      </p:sp>
      <p:pic>
        <p:nvPicPr>
          <p:cNvPr id="3" name="Figura 3" descr="Korea Acute Myocardial Infarction Registry – Clinical outcomes of acute myocardial infarction with occluded left circumflex artery"/>
          <p:cNvPicPr>
            <a:picLocks noChangeAspect="1"/>
          </p:cNvPicPr>
          <p:nvPr/>
        </p:nvPicPr>
        <p:blipFill>
          <a:blip r:embed="rId10"/>
          <a:stretch>
            <a:fillRect/>
          </a:stretch>
        </p:blipFill>
        <p:spPr>
          <a:xfrm>
            <a:off x="711403" y="1500000"/>
            <a:ext cx="6000000" cy="2694610"/>
          </a:xfrm>
          <a:prstGeom prst="rect">
            <a:avLst/>
          </a:prstGeom>
        </p:spPr>
      </p:pic>
      <p:sp>
        <p:nvSpPr>
          <p:cNvPr id="4" name="Texto 4"/>
          <p:cNvSpPr txBox="1"/>
          <p:nvPr/>
        </p:nvSpPr>
        <p:spPr>
          <a:xfrm>
            <a:off x="711403" y="4450000"/>
            <a:ext cx="6000000" cy="9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2.281 pctes. com oclusão coronária aguda</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21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graphicFrame>
        <p:nvGraphicFramePr>
          <p:cNvPr id="11" name="Chart 10"/>
          <p:cNvGraphicFramePr>
            <a:graphicFrameLocks noGrp="1"/>
          </p:cNvGraphicFramePr>
          <p:nvPr/>
        </p:nvGraphicFramePr>
        <p:xfrm>
          <a:off x="6953250" y="1419225"/>
          <a:ext cx="4524375" cy="3810000"/>
        </p:xfrm>
        <a:graphic>
          <a:graphicData uri="http://schemas.openxmlformats.org/drawingml/2006/chart">
            <c:chart xmlns:c="http://schemas.openxmlformats.org/drawingml/2006/chart" r:id="rId5"/>
          </a:graphicData>
        </a:graphic>
      </p:graphicFrame>
      <p:sp>
        <p:nvSpPr>
          <p:cNvPr id="12" name="TextBox 11"/>
          <p:cNvSpPr txBox="1"/>
          <p:nvPr/>
        </p:nvSpPr>
        <p:spPr>
          <a:xfrm>
            <a:off x="6953250" y="5295900"/>
            <a:ext cx="4524375" cy="190500"/>
          </a:xfrm>
          <a:prstGeom prst="rect">
            <a:avLst/>
          </a:prstGeom>
          <a:noFill/>
        </p:spPr>
        <p:txBody>
          <a:bodyPr wrap="square" lIns="0" rIns="0" tIns="0" bIns="0">
            <a:spAutoFit/>
          </a:bodyPr>
          <a:lstStyle/>
          <a:p>
            <a:r>
              <a:rPr sz="1200" b="0">
                <a:solidFill>
                  <a:srgbClr val="737A7F"/>
                </a:solidFill>
                <a:latin typeface="Roboto"/>
              </a:rPr>
              <a:t>p &lt; 0,001 · valores em nº de pacientes</a:t>
            </a:r>
          </a:p>
        </p:txBody>
      </p:sp>
      <p:sp>
        <p:nvSpPr>
          <p:cNvPr id="13" name="TextBox 12"/>
          <p:cNvSpPr txBox="1"/>
          <p:nvPr/>
        </p:nvSpPr>
        <p:spPr>
          <a:xfrm>
            <a:off x="6953250" y="5543550"/>
            <a:ext cx="4524375" cy="190500"/>
          </a:xfrm>
          <a:prstGeom prst="rect">
            <a:avLst/>
          </a:prstGeom>
          <a:noFill/>
        </p:spPr>
        <p:txBody>
          <a:bodyPr wrap="square" lIns="0" rIns="0" tIns="0" bIns="0">
            <a:spAutoFit/>
          </a:bodyPr>
          <a:lstStyle/>
          <a:p>
            <a:r>
              <a:rPr sz="1200" b="0">
                <a:solidFill>
                  <a:srgbClr val="737A7F"/>
                </a:solidFill>
                <a:latin typeface="Roboto"/>
              </a:rPr>
              <a:t>Fonte: Korea Acute Myocardial Infarction Registry. J Cardiol 2011;57:290–296.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IAM posterior</a:t>
            </a:r>
            <a:endParaRPr lang="pt-BR" dirty="0" sz="3200"/>
          </a:p>
        </p:txBody>
      </p:sp>
      <p:sp>
        <p:nvSpPr>
          <p:cNvPr id="3" name="Espaço Reservado para Conteúdo 2"/>
          <p:cNvSpPr>
            <a:spLocks noGrp="1"/>
          </p:cNvSpPr>
          <p:nvPr>
            <p:ph idx="1"/>
          </p:nvPr>
        </p:nvSpPr>
        <p:spPr>
          <a:xfrm>
            <a:off x="711403" y="1417320"/>
            <a:ext cx="4480560"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Avaliar V1,V2 e V3</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 dominante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 larga ( &gt; 30 </a:t>
            </a:r>
            <a:r>
              <a:rPr lang="pt-BR" dirty="0" err="1" smtClean="0" sz="1300" b="0">
                <a:solidFill>
                  <a:srgbClr val="5F6468"/>
                </a:solidFill>
                <a:latin typeface="Roboto"/>
                <a:ea typeface="Roboto"/>
                <a:cs typeface="Roboto"/>
              </a:rPr>
              <a:t>ms</a:t>
            </a:r>
            <a:r>
              <a:rPr lang="pt-BR" dirty="0" smtClean="0" sz="130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 positiva terminal</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Avaliar V7, V8 e V9</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Supra ST &gt; 0,5 mm</a:t>
            </a:r>
            <a:endParaRPr sz="2400" lang="pt-BR"/>
          </a:p>
        </p:txBody>
      </p:sp>
      <p:pic>
        <p:nvPicPr>
          <p:cNvPr id="4" name="Imagem 3"/>
          <p:cNvPicPr>
            <a:picLocks noChangeAspect="1"/>
          </p:cNvPicPr>
          <p:nvPr/>
        </p:nvPicPr>
        <p:blipFill>
          <a:blip r:embed="rId2"/>
          <a:stretch>
            <a:fillRect/>
          </a:stretch>
        </p:blipFill>
        <p:spPr>
          <a:xfrm>
            <a:off x="5486400" y="1417320"/>
            <a:ext cx="5989320" cy="2368909"/>
          </a:xfrm>
          <a:prstGeom prst="rect">
            <a:avLst/>
          </a:prstGeom>
        </p:spPr>
      </p:pic>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22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5695135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3074" name="Picture 2" descr="ECG Posterior AMI 1b V7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403" y="692034"/>
            <a:ext cx="10771632" cy="5017646"/>
          </a:xfrm>
          <a:prstGeom prst="rect">
            <a:avLst/>
          </a:prstGeom>
          <a:noFill/>
          <a:extLst>
            <a:ext uri="{909E8E84-426E-40DD-AFC4-6F175D3DCCD1}">
              <a14:hiddenFill xmlns:a14="http://schemas.microsoft.com/office/drawing/2010/main">
                <a:solidFill>
                  <a:srgbClr val="FFFFFF"/>
                </a:solidFill>
              </a14:hiddenFill>
            </a:ext>
          </a:extLst>
        </p:spPr>
      </p:pic>
      <p:sp>
        <p:nvSpPr>
          <p:cNvPr id="3075" name="TextBox 307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23  ·  Dor torácica – Protocolo 2025 | Set 2026</a:t>
            </a:r>
          </a:p>
        </p:txBody>
      </p:sp>
      <p:sp>
        <p:nvSpPr>
          <p:cNvPr id="3076" name="TextBox 307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187604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Classificação da isquemia miocárdica segundo a oclusão coronariana</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OMI: 28% SSST – Procurar outros sinais ECG</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MINOCA: </a:t>
            </a:r>
            <a:r>
              <a:rPr lang="pt-BR" dirty="0" err="1" smtClean="0" sz="1300" b="0">
                <a:solidFill>
                  <a:srgbClr val="5F6468"/>
                </a:solidFill>
                <a:latin typeface="Roboto"/>
                <a:ea typeface="Roboto"/>
                <a:cs typeface="Roboto"/>
              </a:rPr>
              <a:t>Myocardial</a:t>
            </a:r>
            <a:r>
              <a:rPr lang="pt-BR" dirty="0" smtClean="0" sz="1300" b="0">
                <a:solidFill>
                  <a:srgbClr val="5F6468"/>
                </a:solidFill>
                <a:latin typeface="Roboto"/>
                <a:ea typeface="Roboto"/>
                <a:cs typeface="Roboto"/>
              </a:rPr>
              <a:t> </a:t>
            </a:r>
            <a:r>
              <a:rPr lang="pt-BR" dirty="0" err="1" smtClean="0" sz="1300" b="0">
                <a:solidFill>
                  <a:srgbClr val="5F6468"/>
                </a:solidFill>
                <a:latin typeface="Roboto"/>
                <a:ea typeface="Roboto"/>
                <a:cs typeface="Roboto"/>
              </a:rPr>
              <a:t>Infarction</a:t>
            </a:r>
            <a:endParaRPr lang="pt-BR" dirty="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ANOCA: Angina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INOCA: Isquemia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TINOCA: </a:t>
            </a:r>
            <a:r>
              <a:rPr lang="pt-BR" dirty="0" err="1" smtClean="0" sz="1300" b="0">
                <a:solidFill>
                  <a:srgbClr val="5F6468"/>
                </a:solidFill>
                <a:latin typeface="Roboto"/>
                <a:ea typeface="Roboto"/>
                <a:cs typeface="Roboto"/>
              </a:rPr>
              <a:t>Troponin</a:t>
            </a:r>
            <a:endParaRPr lang="pt-BR" dirty="0" smtClean="0" sz="2400"/>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SSST = sem supradesnivelamento do segmento ST; MINOCA / ANOCA / INOCA / TINOCA = ... with Non-Obstructive Coronary Arteries (artérias coronárias não obstrutivas).</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24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354401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711403" y="1075572"/>
            <a:ext cx="10771632" cy="4250570"/>
          </a:xfrm>
          <a:prstGeom prst="rect">
            <a:avLst/>
          </a:prstGeom>
        </p:spPr>
      </p:pic>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1510278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 se o ECG não for diagnóstico?</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ECG normal x ECG preocupante?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Preocupante: não é normal e nem é diagnóstico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Repetir ECG</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Reavaliação clínica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Há critérios de instabilidade?</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26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0590130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Critérios de instabilidade</a:t>
            </a:r>
            <a:endParaRPr lang="pt-BR" dirty="0" sz="3200"/>
          </a:p>
        </p:txBody>
      </p:sp>
      <p:sp>
        <p:nvSpPr>
          <p:cNvPr id="3" name="Espaço Reservado para Conteúdo 2"/>
          <p:cNvSpPr>
            <a:spLocks noGrp="1"/>
          </p:cNvSpPr>
          <p:nvPr>
            <p:ph sz="half" idx="1"/>
          </p:nvPr>
        </p:nvSpPr>
        <p:spPr>
          <a:xfrm>
            <a:off x="711403" y="1417320"/>
            <a:ext cx="5166360"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Dor persistente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Hipotensão arterial</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Taquiarritmia</a:t>
            </a:r>
            <a:r>
              <a:rPr lang="pt-BR" dirty="0" smtClean="0" sz="1300" b="0">
                <a:solidFill>
                  <a:srgbClr val="5F6468"/>
                </a:solidFill>
                <a:latin typeface="Roboto"/>
                <a:ea typeface="Roboto"/>
                <a:cs typeface="Roboto"/>
              </a:rPr>
              <a:t> ou </a:t>
            </a:r>
            <a:r>
              <a:rPr lang="pt-BR" dirty="0" err="1" smtClean="0" sz="1300" b="0">
                <a:solidFill>
                  <a:srgbClr val="5F6468"/>
                </a:solidFill>
                <a:latin typeface="Roboto"/>
                <a:ea typeface="Roboto"/>
                <a:cs typeface="Roboto"/>
              </a:rPr>
              <a:t>bradiarritmia</a:t>
            </a:r>
            <a:endParaRPr lang="pt-BR" dirty="0" smtClean="0" sz="2400"/>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Dispneia</a:t>
            </a:r>
            <a:r>
              <a:rPr lang="pt-BR" dirty="0" smtClean="0" sz="1300" b="0">
                <a:solidFill>
                  <a:srgbClr val="5F6468"/>
                </a:solidFill>
                <a:latin typeface="Roboto"/>
                <a:ea typeface="Roboto"/>
                <a:cs typeface="Roboto"/>
              </a:rPr>
              <a:t> (EAP)</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Diaforese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Extremidades frias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Pulsos distais filiformes</a:t>
            </a:r>
            <a:endParaRPr sz="2400" lang="pt-BR"/>
          </a:p>
        </p:txBody>
      </p:sp>
      <p:sp>
        <p:nvSpPr>
          <p:cNvPr id="7" name="Espaço Reservado para Conteúdo 6"/>
          <p:cNvSpPr>
            <a:spLocks noGrp="1"/>
          </p:cNvSpPr>
          <p:nvPr>
            <p:ph sz="half" idx="2"/>
          </p:nvPr>
        </p:nvSpPr>
        <p:spPr>
          <a:xfrm>
            <a:off x="6309360" y="1417320"/>
            <a:ext cx="5166360" cy="1463040"/>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Diminuição do débito urinário</a:t>
            </a:r>
            <a:endParaRPr lang="pt-BR" dirty="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Tempo enchimento &gt; 3 s</a:t>
            </a:r>
            <a:endParaRPr sz="2400" lang="pt-BR"/>
          </a:p>
          <a:p>
            <a:pPr marL="285750" indent="-285750" algn="l">
              <a:lnSpc>
                <a:spcPct val="140000"/>
              </a:lnSpc>
              <a:spcBef>
                <a:spcPts val="0"/>
              </a:spcBef>
              <a:spcAft>
                <a:spcPts val="600"/>
              </a:spcAft>
              <a:buClr>
                <a:srgbClr val="4E7C8B"/>
              </a:buClr>
              <a:buFont typeface="Arial"/>
              <a:buChar char="•"/>
            </a:pPr>
            <a:r>
              <a:rPr lang="pt-BR" dirty="0" sz="1300" b="0">
                <a:solidFill>
                  <a:srgbClr val="5F6468"/>
                </a:solidFill>
                <a:latin typeface="Roboto"/>
                <a:ea typeface="Roboto"/>
                <a:cs typeface="Roboto"/>
              </a:rPr>
              <a:t>Rebaixamento nível </a:t>
            </a:r>
            <a:r>
              <a:rPr lang="pt-BR" dirty="0" smtClean="0" sz="1300" b="0">
                <a:solidFill>
                  <a:srgbClr val="5F6468"/>
                </a:solidFill>
                <a:latin typeface="Roboto"/>
                <a:ea typeface="Roboto"/>
                <a:cs typeface="Roboto"/>
              </a:rPr>
              <a:t>consciência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ECG preocupante</a:t>
            </a:r>
            <a:endParaRPr lang="pt-BR" dirty="0" sz="2400"/>
          </a:p>
        </p:txBody>
      </p:sp>
      <p:sp>
        <p:nvSpPr>
          <p:cNvPr id="9"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EAP = edema agudo de pulmão.</a:t>
            </a:r>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27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12" name="Caixa de destaque"/>
          <p:cNvSpPr/>
          <p:nvPr/>
        </p:nvSpPr>
        <p:spPr>
          <a:xfrm>
            <a:off x="6309360" y="3017520"/>
            <a:ext cx="5166359" cy="1300143"/>
          </a:xfrm>
          <a:prstGeom prst="rect">
            <a:avLst/>
          </a:prstGeom>
          <a:solidFill>
            <a:srgbClr val="4E7C8B"/>
          </a:solidFill>
          <a:ln>
            <a:noFill/>
          </a:ln>
        </p:spPr>
        <p:txBody>
          <a:bodyPr wrap="square" lIns="91440" rIns="91440" tIns="45720" bIns="45720" anchor="ctr">
            <a:noAutofit/>
          </a:bodyPr>
          <a:lstStyle/>
          <a:p>
            <a:pPr algn="ctr" marL="0" indent="0">
              <a:lnSpc>
                <a:spcPct val="100000"/>
              </a:lnSpc>
              <a:spcBef>
                <a:spcPts val="0"/>
              </a:spcBef>
              <a:spcAft>
                <a:spcPts val="0"/>
              </a:spcAft>
              <a:buNone/>
            </a:pPr>
            <a:r>
              <a:rPr lang="pt-BR" sz="1500" b="0" i="0" dirty="0">
                <a:solidFill>
                  <a:srgbClr val="FBFCFC"/>
                </a:solidFill>
                <a:latin typeface="Roboto Medium"/>
                <a:ea typeface="Roboto Medium"/>
                <a:cs typeface="Roboto Medium"/>
              </a:rPr>
              <a:t>EXIGE UMA INVESTIGAÇÃO ACELERADA</a:t>
            </a:r>
            <a:endParaRPr lang="pt-BR" sz="1500" dirty="0"/>
          </a:p>
        </p:txBody>
      </p:sp>
    </p:spTree>
    <p:extLst>
      <p:ext uri="{BB962C8B-B14F-4D97-AF65-F5344CB8AC3E}">
        <p14:creationId xmlns:p14="http://schemas.microsoft.com/office/powerpoint/2010/main" val="2028234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Dor torácica instável – Raciocínio diagnóstico</a:t>
            </a:r>
            <a:endParaRPr lang="pt-BR" dirty="0" sz="3200"/>
          </a:p>
        </p:txBody>
      </p:sp>
      <p:sp>
        <p:nvSpPr>
          <p:cNvPr id="10" name="Mnemônico"/>
          <p:cNvSpPr txBox="1"/>
          <p:nvPr/>
        </p:nvSpPr>
        <p:spPr>
          <a:xfrm>
            <a:off x="8250000" y="2420000"/>
            <a:ext cx="3100000" cy="1450000"/>
          </a:xfrm>
          <a:prstGeom prst="rect">
            <a:avLst/>
          </a:prstGeom>
          <a:noFill/>
        </p:spPr>
        <p:txBody>
          <a:bodyPr wrap="square" lIns="0" rIns="0" tIns="0" bIns="0" anchor="t">
            <a:spAutoFit/>
          </a:bodyPr>
          <a:lstStyle/>
          <a:p>
            <a:pPr algn="l">
              <a:lnSpc>
                <a:spcPct val="115000"/>
              </a:lnSpc>
            </a:pPr>
            <a:r>
              <a:rPr sz="1300" b="0" i="0">
                <a:solidFill>
                  <a:srgbClr val="B5533C"/>
                </a:solidFill>
                <a:latin typeface="Roboto Medium"/>
                <a:ea typeface="Roboto Medium"/>
                <a:cs typeface="Roboto Medium"/>
              </a:rPr>
              <a:t>R</a:t>
            </a:r>
            <a:r>
              <a:rPr sz="1300" b="0" i="0">
                <a:solidFill>
                  <a:srgbClr val="5F6468"/>
                </a:solidFill>
                <a:latin typeface="Roboto"/>
                <a:ea typeface="Roboto"/>
                <a:cs typeface="Roboto"/>
              </a:rPr>
              <a:t>uptura de esôfago</a:t>
            </a:r>
          </a:p>
          <a:p>
            <a:pPr algn="l">
              <a:lnSpc>
                <a:spcPct val="115000"/>
              </a:lnSpc>
            </a:pPr>
            <a:r>
              <a:rPr sz="1300" b="0" i="0">
                <a:solidFill>
                  <a:srgbClr val="B5533C"/>
                </a:solidFill>
                <a:latin typeface="Roboto Medium"/>
                <a:ea typeface="Roboto Medium"/>
                <a:cs typeface="Roboto Medium"/>
              </a:rPr>
              <a:t>E</a:t>
            </a:r>
            <a:r>
              <a:rPr sz="1300" b="0" i="0">
                <a:solidFill>
                  <a:srgbClr val="5F6468"/>
                </a:solidFill>
                <a:latin typeface="Roboto"/>
                <a:ea typeface="Roboto"/>
                <a:cs typeface="Roboto"/>
              </a:rPr>
              <a:t>mbolia pulmonar</a:t>
            </a:r>
          </a:p>
          <a:p>
            <a:pPr algn="l">
              <a:lnSpc>
                <a:spcPct val="115000"/>
              </a:lnSpc>
            </a:pPr>
            <a:r>
              <a:rPr sz="1300" b="0" i="0">
                <a:solidFill>
                  <a:srgbClr val="B5533C"/>
                </a:solidFill>
                <a:latin typeface="Roboto Medium"/>
                <a:ea typeface="Roboto Medium"/>
                <a:cs typeface="Roboto Medium"/>
              </a:rPr>
              <a:t>P</a:t>
            </a:r>
            <a:r>
              <a:rPr sz="1300" b="0" i="0">
                <a:solidFill>
                  <a:srgbClr val="5F6468"/>
                </a:solidFill>
                <a:latin typeface="Roboto"/>
                <a:ea typeface="Roboto"/>
                <a:cs typeface="Roboto"/>
              </a:rPr>
              <a:t>neumotórax</a:t>
            </a:r>
          </a:p>
          <a:p>
            <a:pPr algn="l">
              <a:lnSpc>
                <a:spcPct val="115000"/>
              </a:lnSpc>
            </a:pPr>
            <a:r>
              <a:rPr sz="1300" b="0" i="0">
                <a:solidFill>
                  <a:srgbClr val="B5533C"/>
                </a:solidFill>
                <a:latin typeface="Roboto Medium"/>
                <a:ea typeface="Roboto Medium"/>
                <a:cs typeface="Roboto Medium"/>
              </a:rPr>
              <a:t>I</a:t>
            </a:r>
            <a:r>
              <a:rPr sz="1300" b="0" i="0">
                <a:solidFill>
                  <a:srgbClr val="5F6468"/>
                </a:solidFill>
                <a:latin typeface="Roboto"/>
                <a:ea typeface="Roboto"/>
                <a:cs typeface="Roboto"/>
              </a:rPr>
              <a:t>nfarto</a:t>
            </a:r>
          </a:p>
          <a:p>
            <a:pPr algn="l">
              <a:lnSpc>
                <a:spcPct val="115000"/>
              </a:lnSpc>
            </a:pPr>
            <a:r>
              <a:rPr sz="1300" b="0" i="0">
                <a:solidFill>
                  <a:srgbClr val="B5533C"/>
                </a:solidFill>
                <a:latin typeface="Roboto Medium"/>
                <a:ea typeface="Roboto Medium"/>
                <a:cs typeface="Roboto Medium"/>
              </a:rPr>
              <a:t>T</a:t>
            </a:r>
            <a:r>
              <a:rPr sz="1300" b="0" i="0">
                <a:solidFill>
                  <a:srgbClr val="5F6468"/>
                </a:solidFill>
                <a:latin typeface="Roboto"/>
                <a:ea typeface="Roboto"/>
                <a:cs typeface="Roboto"/>
              </a:rPr>
              <a:t>amponamento</a:t>
            </a:r>
          </a:p>
          <a:p>
            <a:pPr algn="l">
              <a:lnSpc>
                <a:spcPct val="115000"/>
              </a:lnSpc>
            </a:pPr>
            <a:r>
              <a:rPr sz="1300" b="0" i="0">
                <a:solidFill>
                  <a:srgbClr val="B5533C"/>
                </a:solidFill>
                <a:latin typeface="Roboto Medium"/>
                <a:ea typeface="Roboto Medium"/>
                <a:cs typeface="Roboto Medium"/>
              </a:rPr>
              <a:t>A</a:t>
            </a:r>
            <a:r>
              <a:rPr sz="1300" b="0" i="0">
                <a:solidFill>
                  <a:srgbClr val="5F6468"/>
                </a:solidFill>
                <a:latin typeface="Roboto"/>
                <a:ea typeface="Roboto"/>
                <a:cs typeface="Roboto"/>
              </a:rPr>
              <a:t>orta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28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Fim/Início"/>
          <p:cNvSpPr/>
          <p:nvPr/>
        </p:nvSpPr>
        <p:spPr>
          <a:xfrm>
            <a:off x="4542739" y="1371600"/>
            <a:ext cx="310896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Dor torácica instável</a:t>
            </a:r>
          </a:p>
        </p:txBody>
      </p:sp>
      <p:sp>
        <p:nvSpPr>
          <p:cNvPr id="302" name="Seta"/>
          <p:cNvSpPr/>
          <p:nvPr/>
        </p:nvSpPr>
        <p:spPr>
          <a:xfrm>
            <a:off x="6097219" y="1975104"/>
            <a:ext cx="1" cy="237744"/>
          </a:xfrm>
          <a:custGeom>
            <a:avLst/>
            <a:gdLst/>
            <a:ahLst/>
            <a:cxnLst/>
            <a:rect l="0" t="0" r="r" b="b"/>
            <a:pathLst>
              <a:path w="1" h="237744" fill="none">
                <a:moveTo>
                  <a:pt x="0" y="0"/>
                </a:moveTo>
                <a:lnTo>
                  <a:pt x="0" y="237744"/>
                </a:lnTo>
              </a:path>
            </a:pathLst>
          </a:custGeom>
          <a:noFill/>
          <a:ln w="19050">
            <a:solidFill>
              <a:srgbClr val="6B6E70"/>
            </a:solidFill>
            <a:round/>
            <a:tailEnd type="triangle" w="med" len="med"/>
          </a:ln>
          <a:effectLst/>
        </p:spPr>
        <p:txBody>
          <a:bodyPr/>
          <a:p/>
        </p:txBody>
      </p:sp>
      <p:sp>
        <p:nvSpPr>
          <p:cNvPr id="303" name="Etapa"/>
          <p:cNvSpPr/>
          <p:nvPr/>
        </p:nvSpPr>
        <p:spPr>
          <a:xfrm>
            <a:off x="4542739" y="2212848"/>
            <a:ext cx="31089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Principais causas</a:t>
            </a:r>
          </a:p>
        </p:txBody>
      </p:sp>
      <p:sp>
        <p:nvSpPr>
          <p:cNvPr id="304" name="Seta"/>
          <p:cNvSpPr/>
          <p:nvPr/>
        </p:nvSpPr>
        <p:spPr>
          <a:xfrm>
            <a:off x="6097219" y="2816352"/>
            <a:ext cx="1" cy="237744"/>
          </a:xfrm>
          <a:custGeom>
            <a:avLst/>
            <a:gdLst/>
            <a:ahLst/>
            <a:cxnLst/>
            <a:rect l="0" t="0" r="r" b="b"/>
            <a:pathLst>
              <a:path w="1" h="237744" fill="none">
                <a:moveTo>
                  <a:pt x="0" y="0"/>
                </a:moveTo>
                <a:lnTo>
                  <a:pt x="0" y="237744"/>
                </a:lnTo>
              </a:path>
            </a:pathLst>
          </a:custGeom>
          <a:noFill/>
          <a:ln w="19050">
            <a:solidFill>
              <a:srgbClr val="6B6E70"/>
            </a:solidFill>
            <a:round/>
            <a:tailEnd type="triangle" w="med" len="med"/>
          </a:ln>
          <a:effectLst/>
        </p:spPr>
        <p:txBody>
          <a:bodyPr/>
          <a:p/>
        </p:txBody>
      </p:sp>
      <p:sp>
        <p:nvSpPr>
          <p:cNvPr id="305" name="Etapa"/>
          <p:cNvSpPr/>
          <p:nvPr/>
        </p:nvSpPr>
        <p:spPr>
          <a:xfrm>
            <a:off x="4542739" y="3054096"/>
            <a:ext cx="3108960" cy="603504"/>
          </a:xfrm>
          <a:prstGeom prst="rect">
            <a:avLst/>
          </a:prstGeom>
          <a:solidFill>
            <a:srgbClr val="F2F4F5"/>
          </a:solidFill>
          <a:ln w="12700">
            <a:solidFill>
              <a:srgbClr val="6E9DAB"/>
            </a:solidFill>
          </a:ln>
          <a:effectLst/>
        </p:spPr>
        <p:txBody>
          <a:bodyPr rtlCol="0" anchor="ctr" wrap="square" lIns="91440" rIns="91440" tIns="45720" bIns="45720"/>
          <a:lstStyle/>
          <a:p>
            <a:pPr algn="ctr"/>
            <a:r>
              <a:rPr lang="pt-BR" sz="1300" b="0" i="0" dirty="0">
                <a:solidFill>
                  <a:srgbClr val="3B3F42"/>
                </a:solidFill>
                <a:latin typeface="Roboto Medium"/>
                <a:ea typeface="Roboto Medium"/>
                <a:cs typeface="Roboto Medium"/>
              </a:rPr>
              <a:t>História, exame físico</a:t>
            </a:r>
          </a:p>
        </p:txBody>
      </p:sp>
      <p:sp>
        <p:nvSpPr>
          <p:cNvPr id="306" name="Seta"/>
          <p:cNvSpPr/>
          <p:nvPr/>
        </p:nvSpPr>
        <p:spPr>
          <a:xfrm>
            <a:off x="6097219" y="3657600"/>
            <a:ext cx="1" cy="237744"/>
          </a:xfrm>
          <a:custGeom>
            <a:avLst/>
            <a:gdLst/>
            <a:ahLst/>
            <a:cxnLst/>
            <a:rect l="0" t="0" r="r" b="b"/>
            <a:pathLst>
              <a:path w="1" h="237744" fill="none">
                <a:moveTo>
                  <a:pt x="0" y="0"/>
                </a:moveTo>
                <a:lnTo>
                  <a:pt x="0" y="237744"/>
                </a:lnTo>
              </a:path>
            </a:pathLst>
          </a:custGeom>
          <a:noFill/>
          <a:ln w="19050">
            <a:solidFill>
              <a:srgbClr val="6B6E70"/>
            </a:solidFill>
            <a:round/>
            <a:tailEnd type="triangle" w="med" len="med"/>
          </a:ln>
          <a:effectLst/>
        </p:spPr>
        <p:txBody>
          <a:bodyPr/>
          <a:p/>
        </p:txBody>
      </p:sp>
      <p:sp>
        <p:nvSpPr>
          <p:cNvPr id="307" name="Decisão"/>
          <p:cNvSpPr/>
          <p:nvPr/>
        </p:nvSpPr>
        <p:spPr>
          <a:xfrm>
            <a:off x="4725619" y="3895344"/>
            <a:ext cx="2743200" cy="118872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Hipótese</a:t>
            </a:r>
          </a:p>
          <a:p>
            <a:pPr algn="ctr"/>
            <a:r>
              <a:rPr lang="pt-BR" sz="1200" b="0" i="0" dirty="0">
                <a:solidFill>
                  <a:srgbClr val="1F3238"/>
                </a:solidFill>
                <a:latin typeface="Roboto Medium"/>
                <a:ea typeface="Roboto Medium"/>
                <a:cs typeface="Roboto Medium"/>
              </a:rPr>
              <a:t>definida?</a:t>
            </a:r>
          </a:p>
        </p:txBody>
      </p:sp>
      <p:sp>
        <p:nvSpPr>
          <p:cNvPr id="308" name="Fim/Início"/>
          <p:cNvSpPr/>
          <p:nvPr/>
        </p:nvSpPr>
        <p:spPr>
          <a:xfrm>
            <a:off x="1068019" y="5285232"/>
            <a:ext cx="292608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ECOCARDIOGRAMA</a:t>
            </a:r>
          </a:p>
        </p:txBody>
      </p:sp>
      <p:sp>
        <p:nvSpPr>
          <p:cNvPr id="309" name="Fim/Início"/>
          <p:cNvSpPr/>
          <p:nvPr/>
        </p:nvSpPr>
        <p:spPr>
          <a:xfrm>
            <a:off x="8200339" y="5285232"/>
            <a:ext cx="292608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Seguir propedêutica</a:t>
            </a:r>
          </a:p>
        </p:txBody>
      </p:sp>
      <p:sp>
        <p:nvSpPr>
          <p:cNvPr id="310" name="Seta"/>
          <p:cNvSpPr/>
          <p:nvPr/>
        </p:nvSpPr>
        <p:spPr>
          <a:xfrm>
            <a:off x="2531059" y="4489704"/>
            <a:ext cx="2194560" cy="795528"/>
          </a:xfrm>
          <a:custGeom>
            <a:avLst/>
            <a:gdLst/>
            <a:ahLst/>
            <a:cxnLst/>
            <a:rect l="0" t="0" r="r" b="b"/>
            <a:pathLst>
              <a:path w="2194560" h="795528" fill="none">
                <a:moveTo>
                  <a:pt x="2194560" y="0"/>
                </a:moveTo>
                <a:lnTo>
                  <a:pt x="0" y="0"/>
                </a:lnTo>
                <a:lnTo>
                  <a:pt x="0" y="795528"/>
                </a:lnTo>
              </a:path>
            </a:pathLst>
          </a:custGeom>
          <a:noFill/>
          <a:ln w="19050">
            <a:solidFill>
              <a:srgbClr val="6B6E70"/>
            </a:solidFill>
            <a:round/>
            <a:tailEnd type="triangle" w="med" len="med"/>
          </a:ln>
          <a:effectLst/>
        </p:spPr>
        <p:txBody>
          <a:bodyPr/>
          <a:p/>
        </p:txBody>
      </p:sp>
      <p:sp>
        <p:nvSpPr>
          <p:cNvPr id="311" name="Seta"/>
          <p:cNvSpPr/>
          <p:nvPr/>
        </p:nvSpPr>
        <p:spPr>
          <a:xfrm>
            <a:off x="7468819" y="4489704"/>
            <a:ext cx="2194560" cy="795528"/>
          </a:xfrm>
          <a:custGeom>
            <a:avLst/>
            <a:gdLst/>
            <a:ahLst/>
            <a:cxnLst/>
            <a:rect l="0" t="0" r="r" b="b"/>
            <a:pathLst>
              <a:path w="2194560" h="795528" fill="none">
                <a:moveTo>
                  <a:pt x="0" y="0"/>
                </a:moveTo>
                <a:lnTo>
                  <a:pt x="2194560" y="0"/>
                </a:lnTo>
                <a:lnTo>
                  <a:pt x="2194560" y="795528"/>
                </a:lnTo>
              </a:path>
            </a:pathLst>
          </a:custGeom>
          <a:noFill/>
          <a:ln w="19050">
            <a:solidFill>
              <a:srgbClr val="6B6E70"/>
            </a:solidFill>
            <a:round/>
            <a:tailEnd type="triangle" w="med" len="med"/>
          </a:ln>
          <a:effectLst/>
        </p:spPr>
        <p:txBody>
          <a:bodyPr/>
          <a:p/>
        </p:txBody>
      </p:sp>
      <p:sp>
        <p:nvSpPr>
          <p:cNvPr id="312" name="Rótulo"/>
          <p:cNvSpPr txBox="1"/>
          <p:nvPr/>
        </p:nvSpPr>
        <p:spPr>
          <a:xfrm>
            <a:off x="4158691" y="4233672"/>
            <a:ext cx="475488"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13" name="Rótulo"/>
          <p:cNvSpPr txBox="1"/>
          <p:nvPr/>
        </p:nvSpPr>
        <p:spPr>
          <a:xfrm>
            <a:off x="7560259" y="4233672"/>
            <a:ext cx="475488"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Tree>
    <p:extLst>
      <p:ext uri="{BB962C8B-B14F-4D97-AF65-F5344CB8AC3E}">
        <p14:creationId xmlns:p14="http://schemas.microsoft.com/office/powerpoint/2010/main" val="31771171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29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1346" name="Nota"/>
          <p:cNvSpPr txBox="1"/>
          <p:nvPr/>
        </p:nvSpPr>
        <p:spPr>
          <a:xfrm>
            <a:off x="713232" y="594360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(figuras 13 e 14)</a:t>
            </a:r>
          </a:p>
        </p:txBody>
      </p:sp>
      <p:sp>
        <p:nvSpPr>
          <p:cNvPr id="1347" name="Fim/Início"/>
          <p:cNvSpPr/>
          <p:nvPr/>
        </p:nvSpPr>
        <p:spPr>
          <a:xfrm>
            <a:off x="713232" y="1371600"/>
            <a:ext cx="2487168" cy="68580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Suspeita clínica confirmada</a:t>
            </a:r>
          </a:p>
        </p:txBody>
      </p:sp>
      <p:sp>
        <p:nvSpPr>
          <p:cNvPr id="1348" name="Fim/Início"/>
          <p:cNvSpPr/>
          <p:nvPr/>
        </p:nvSpPr>
        <p:spPr>
          <a:xfrm>
            <a:off x="6236208" y="1371600"/>
            <a:ext cx="5248656" cy="68580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SINTOMAS SUSPEITOS</a:t>
            </a:r>
          </a:p>
          <a:p>
            <a:pPr algn="ctr">
              <a:lnSpc>
                <a:spcPct val="100000"/>
              </a:lnSpc>
              <a:spcAft>
                <a:spcPts val="300"/>
              </a:spcAft>
              <a:buNone/>
            </a:pPr>
            <a:r>
              <a:rPr sz="1600" b="0">
                <a:solidFill>
                  <a:srgbClr val="FBFCFC"/>
                </a:solidFill>
                <a:latin typeface="Roboto"/>
                <a:ea typeface="Roboto"/>
                <a:cs typeface="Roboto"/>
              </a:rPr>
              <a:t>(BUSCAR ATENDIMENTO IMEDIATAMENTE)</a:t>
            </a:r>
          </a:p>
        </p:txBody>
      </p:sp>
      <p:cxnSp>
        <p:nvCxnSpPr>
          <p:cNvPr id="1349" name="Seta"/>
          <p:cNvCxnSpPr/>
          <p:nvPr/>
        </p:nvCxnSpPr>
        <p:spPr>
          <a:xfrm>
            <a:off x="1956816" y="205740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0" name="Etapa"/>
          <p:cNvSpPr/>
          <p:nvPr/>
        </p:nvSpPr>
        <p:spPr>
          <a:xfrm>
            <a:off x="713232"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1</a:t>
            </a:r>
          </a:p>
          <a:p>
            <a:pPr algn="ctr">
              <a:lnSpc>
                <a:spcPct val="100000"/>
              </a:lnSpc>
              <a:spcAft>
                <a:spcPts val="300"/>
              </a:spcAft>
              <a:buNone/>
            </a:pPr>
            <a:r>
              <a:rPr sz="1600" b="0">
                <a:solidFill>
                  <a:srgbClr val="5F6468"/>
                </a:solidFill>
                <a:latin typeface="Roboto"/>
                <a:ea typeface="Roboto"/>
                <a:cs typeface="Roboto"/>
              </a:rPr>
              <a:t>Realizar ECG até 10 minutos</a:t>
            </a:r>
          </a:p>
        </p:txBody>
      </p:sp>
      <p:sp>
        <p:nvSpPr>
          <p:cNvPr id="1351" name="Etapa"/>
          <p:cNvSpPr/>
          <p:nvPr/>
        </p:nvSpPr>
        <p:spPr>
          <a:xfrm>
            <a:off x="3474720"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2</a:t>
            </a:r>
          </a:p>
          <a:p>
            <a:pPr algn="ctr">
              <a:lnSpc>
                <a:spcPct val="100000"/>
              </a:lnSpc>
              <a:spcAft>
                <a:spcPts val="300"/>
              </a:spcAft>
              <a:buNone/>
            </a:pPr>
            <a:r>
              <a:rPr sz="1600" b="0">
                <a:solidFill>
                  <a:srgbClr val="5F6468"/>
                </a:solidFill>
                <a:latin typeface="Roboto"/>
                <a:ea typeface="Roboto"/>
                <a:cs typeface="Roboto"/>
              </a:rPr>
              <a:t>Avaliação inicial da rota diagnóstica</a:t>
            </a:r>
          </a:p>
        </p:txBody>
      </p:sp>
      <p:sp>
        <p:nvSpPr>
          <p:cNvPr id="1352" name="Etapa"/>
          <p:cNvSpPr/>
          <p:nvPr/>
        </p:nvSpPr>
        <p:spPr>
          <a:xfrm>
            <a:off x="6236208"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3</a:t>
            </a:r>
          </a:p>
          <a:p>
            <a:pPr algn="ctr">
              <a:lnSpc>
                <a:spcPct val="100000"/>
              </a:lnSpc>
              <a:spcAft>
                <a:spcPts val="300"/>
              </a:spcAft>
              <a:buNone/>
            </a:pPr>
            <a:r>
              <a:rPr sz="1600" b="0">
                <a:solidFill>
                  <a:srgbClr val="5F6468"/>
                </a:solidFill>
                <a:latin typeface="Roboto"/>
                <a:ea typeface="Roboto"/>
                <a:cs typeface="Roboto"/>
              </a:rPr>
              <a:t>Decisão após avaliação clínica detalhada</a:t>
            </a:r>
          </a:p>
        </p:txBody>
      </p:sp>
      <p:sp>
        <p:nvSpPr>
          <p:cNvPr id="1353" name="Etapa"/>
          <p:cNvSpPr/>
          <p:nvPr/>
        </p:nvSpPr>
        <p:spPr>
          <a:xfrm>
            <a:off x="8997696"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CLASSIFICAR</a:t>
            </a:r>
          </a:p>
          <a:p>
            <a:pPr algn="ctr">
              <a:lnSpc>
                <a:spcPct val="100000"/>
              </a:lnSpc>
              <a:spcAft>
                <a:spcPts val="300"/>
              </a:spcAft>
              <a:buNone/>
            </a:pPr>
            <a:r>
              <a:rPr sz="1600" b="0">
                <a:solidFill>
                  <a:srgbClr val="5F6468"/>
                </a:solidFill>
                <a:latin typeface="Roboto"/>
                <a:ea typeface="Roboto"/>
                <a:cs typeface="Roboto"/>
              </a:rPr>
              <a:t>Algoritmos de troponina e escores de risco</a:t>
            </a:r>
          </a:p>
        </p:txBody>
      </p:sp>
      <p:cxnSp>
        <p:nvCxnSpPr>
          <p:cNvPr id="1354" name="Seta"/>
          <p:cNvCxnSpPr/>
          <p:nvPr/>
        </p:nvCxnSpPr>
        <p:spPr>
          <a:xfrm>
            <a:off x="1956816"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 name="Decisão"/>
          <p:cNvGrpSpPr/>
          <p:nvPr/>
        </p:nvGrpSpPr>
        <p:grpSpPr>
          <a:xfrm>
            <a:off x="713232" y="3474720"/>
            <a:ext cx="2487168" cy="1417320"/>
            <a:chOff x="713232" y="3474720"/>
            <a:chExt cx="2487168" cy="1417320"/>
          </a:xfrm>
        </p:grpSpPr>
        <p:sp>
          <p:nvSpPr>
            <p:cNvPr id="1355" name="Diamond 1354"/>
            <p:cNvSpPr/>
            <p:nvPr/>
          </p:nvSpPr>
          <p:spPr>
            <a:xfrm>
              <a:off x="713232"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TextBox 1355"/>
            <p:cNvSpPr txBox="1"/>
            <p:nvPr/>
          </p:nvSpPr>
          <p:spPr>
            <a:xfrm>
              <a:off x="986820"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ECG COM</a:t>
              </a:r>
            </a:p>
            <a:p>
              <a:pPr algn="ctr">
                <a:lnSpc>
                  <a:spcPct val="100000"/>
                </a:lnSpc>
                <a:spcAft>
                  <a:spcPts val="300"/>
                </a:spcAft>
                <a:buNone/>
              </a:pPr>
              <a:r>
                <a:rPr sz="1600" b="0">
                  <a:solidFill>
                    <a:srgbClr val="1F3238"/>
                  </a:solidFill>
                  <a:latin typeface="Roboto Medium"/>
                  <a:ea typeface="Roboto Medium"/>
                  <a:cs typeface="Roboto Medium"/>
                </a:rPr>
                <a:t>CRITÉRIOS</a:t>
              </a:r>
            </a:p>
            <a:p>
              <a:pPr algn="ctr">
                <a:lnSpc>
                  <a:spcPct val="100000"/>
                </a:lnSpc>
                <a:spcAft>
                  <a:spcPts val="300"/>
                </a:spcAft>
                <a:buNone/>
              </a:pPr>
              <a:r>
                <a:rPr sz="1600" b="0">
                  <a:solidFill>
                    <a:srgbClr val="1F3238"/>
                  </a:solidFill>
                  <a:latin typeface="Roboto Medium"/>
                  <a:ea typeface="Roboto Medium"/>
                  <a:cs typeface="Roboto Medium"/>
                </a:rPr>
                <a:t>DIAGNÓSTICOS?</a:t>
              </a:r>
            </a:p>
          </p:txBody>
        </p:sp>
      </p:grpSp>
      <p:cxnSp>
        <p:nvCxnSpPr>
          <p:cNvPr id="1357" name="Seta"/>
          <p:cNvCxnSpPr/>
          <p:nvPr/>
        </p:nvCxnSpPr>
        <p:spPr>
          <a:xfrm>
            <a:off x="1956816"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8" name="Rótulo"/>
          <p:cNvSpPr txBox="1"/>
          <p:nvPr/>
        </p:nvSpPr>
        <p:spPr>
          <a:xfrm>
            <a:off x="2029968"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59" name="Etapa"/>
          <p:cNvSpPr/>
          <p:nvPr/>
        </p:nvSpPr>
        <p:spPr>
          <a:xfrm>
            <a:off x="713232"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TERAPÊUTICA</a:t>
            </a:r>
          </a:p>
        </p:txBody>
      </p:sp>
      <p:cxnSp>
        <p:nvCxnSpPr>
          <p:cNvPr id="1360" name="Seta"/>
          <p:cNvCxnSpPr/>
          <p:nvPr/>
        </p:nvCxnSpPr>
        <p:spPr>
          <a:xfrm>
            <a:off x="3200400"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61" name="Seta"/>
          <p:cNvCxnSpPr/>
          <p:nvPr/>
        </p:nvCxnSpPr>
        <p:spPr>
          <a:xfrm flipV="1">
            <a:off x="3337560"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62" name="Seta"/>
          <p:cNvCxnSpPr/>
          <p:nvPr/>
        </p:nvCxnSpPr>
        <p:spPr>
          <a:xfrm>
            <a:off x="3337560"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3" name="Rótulo"/>
          <p:cNvSpPr txBox="1"/>
          <p:nvPr/>
        </p:nvSpPr>
        <p:spPr>
          <a:xfrm>
            <a:off x="2816352"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cxnSp>
        <p:nvCxnSpPr>
          <p:cNvPr id="1364" name="Seta"/>
          <p:cNvCxnSpPr/>
          <p:nvPr/>
        </p:nvCxnSpPr>
        <p:spPr>
          <a:xfrm>
            <a:off x="4718304"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 name="Decisão"/>
          <p:cNvGrpSpPr/>
          <p:nvPr/>
        </p:nvGrpSpPr>
        <p:grpSpPr>
          <a:xfrm>
            <a:off x="3474720" y="3474720"/>
            <a:ext cx="2487168" cy="1417320"/>
            <a:chOff x="3474720" y="3474720"/>
            <a:chExt cx="2487168" cy="1417320"/>
          </a:xfrm>
        </p:grpSpPr>
        <p:sp>
          <p:nvSpPr>
            <p:cNvPr id="1365" name="Diamond 1364"/>
            <p:cNvSpPr/>
            <p:nvPr/>
          </p:nvSpPr>
          <p:spPr>
            <a:xfrm>
              <a:off x="3474720"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TextBox 1365"/>
            <p:cNvSpPr txBox="1"/>
            <p:nvPr/>
          </p:nvSpPr>
          <p:spPr>
            <a:xfrm>
              <a:off x="3748308"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HÁ CRITÉRIO DE</a:t>
              </a:r>
            </a:p>
            <a:p>
              <a:pPr algn="ctr">
                <a:lnSpc>
                  <a:spcPct val="100000"/>
                </a:lnSpc>
                <a:spcAft>
                  <a:spcPts val="300"/>
                </a:spcAft>
                <a:buNone/>
              </a:pPr>
              <a:r>
                <a:rPr sz="1600" b="0">
                  <a:solidFill>
                    <a:srgbClr val="1F3238"/>
                  </a:solidFill>
                  <a:latin typeface="Roboto Medium"/>
                  <a:ea typeface="Roboto Medium"/>
                  <a:cs typeface="Roboto Medium"/>
                </a:rPr>
                <a:t>INSTABILIDADE?¹</a:t>
              </a:r>
            </a:p>
          </p:txBody>
        </p:sp>
      </p:grpSp>
      <p:cxnSp>
        <p:nvCxnSpPr>
          <p:cNvPr id="1367" name="Seta"/>
          <p:cNvCxnSpPr/>
          <p:nvPr/>
        </p:nvCxnSpPr>
        <p:spPr>
          <a:xfrm>
            <a:off x="4718304"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8" name="Rótulo"/>
          <p:cNvSpPr txBox="1"/>
          <p:nvPr/>
        </p:nvSpPr>
        <p:spPr>
          <a:xfrm>
            <a:off x="4791456"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69" name="Etapa"/>
          <p:cNvSpPr/>
          <p:nvPr/>
        </p:nvSpPr>
        <p:spPr>
          <a:xfrm>
            <a:off x="3474720"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DE PACIENTE INSTÁVEL</a:t>
            </a:r>
          </a:p>
        </p:txBody>
      </p:sp>
      <p:cxnSp>
        <p:nvCxnSpPr>
          <p:cNvPr id="1370" name="Seta"/>
          <p:cNvCxnSpPr/>
          <p:nvPr/>
        </p:nvCxnSpPr>
        <p:spPr>
          <a:xfrm>
            <a:off x="5961888"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1" name="Seta"/>
          <p:cNvCxnSpPr/>
          <p:nvPr/>
        </p:nvCxnSpPr>
        <p:spPr>
          <a:xfrm flipV="1">
            <a:off x="6099048"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2" name="Seta"/>
          <p:cNvCxnSpPr/>
          <p:nvPr/>
        </p:nvCxnSpPr>
        <p:spPr>
          <a:xfrm>
            <a:off x="6099048"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3" name="Rótulo"/>
          <p:cNvSpPr txBox="1"/>
          <p:nvPr/>
        </p:nvSpPr>
        <p:spPr>
          <a:xfrm>
            <a:off x="5577840"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cxnSp>
        <p:nvCxnSpPr>
          <p:cNvPr id="1374" name="Seta"/>
          <p:cNvCxnSpPr/>
          <p:nvPr/>
        </p:nvCxnSpPr>
        <p:spPr>
          <a:xfrm>
            <a:off x="7479792"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 name="Decisão"/>
          <p:cNvGrpSpPr/>
          <p:nvPr/>
        </p:nvGrpSpPr>
        <p:grpSpPr>
          <a:xfrm>
            <a:off x="6236208" y="3474720"/>
            <a:ext cx="2487168" cy="1417320"/>
            <a:chOff x="6236208" y="3474720"/>
            <a:chExt cx="2487168" cy="1417320"/>
          </a:xfrm>
        </p:grpSpPr>
        <p:sp>
          <p:nvSpPr>
            <p:cNvPr id="1375" name="Diamond 1374"/>
            <p:cNvSpPr/>
            <p:nvPr/>
          </p:nvSpPr>
          <p:spPr>
            <a:xfrm>
              <a:off x="6236208"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TextBox 1375"/>
            <p:cNvSpPr txBox="1"/>
            <p:nvPr/>
          </p:nvSpPr>
          <p:spPr>
            <a:xfrm>
              <a:off x="6509796"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DIAGNÓSTICO</a:t>
              </a:r>
            </a:p>
            <a:p>
              <a:pPr algn="ctr">
                <a:lnSpc>
                  <a:spcPct val="100000"/>
                </a:lnSpc>
                <a:spcAft>
                  <a:spcPts val="300"/>
                </a:spcAft>
                <a:buNone/>
              </a:pPr>
              <a:r>
                <a:rPr sz="1600" b="0">
                  <a:solidFill>
                    <a:srgbClr val="1F3238"/>
                  </a:solidFill>
                  <a:latin typeface="Roboto Medium"/>
                  <a:ea typeface="Roboto Medium"/>
                  <a:cs typeface="Roboto Medium"/>
                </a:rPr>
                <a:t>ESTABELECIDO?</a:t>
              </a:r>
            </a:p>
          </p:txBody>
        </p:sp>
      </p:grpSp>
      <p:cxnSp>
        <p:nvCxnSpPr>
          <p:cNvPr id="1377" name="Seta"/>
          <p:cNvCxnSpPr/>
          <p:nvPr/>
        </p:nvCxnSpPr>
        <p:spPr>
          <a:xfrm>
            <a:off x="7479792"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8" name="Rótulo"/>
          <p:cNvSpPr txBox="1"/>
          <p:nvPr/>
        </p:nvSpPr>
        <p:spPr>
          <a:xfrm>
            <a:off x="7552944"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79" name="Etapa"/>
          <p:cNvSpPr/>
          <p:nvPr/>
        </p:nvSpPr>
        <p:spPr>
          <a:xfrm>
            <a:off x="6236208"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TERAPÊUTICA</a:t>
            </a:r>
          </a:p>
        </p:txBody>
      </p:sp>
      <p:cxnSp>
        <p:nvCxnSpPr>
          <p:cNvPr id="1380" name="Seta"/>
          <p:cNvCxnSpPr/>
          <p:nvPr/>
        </p:nvCxnSpPr>
        <p:spPr>
          <a:xfrm>
            <a:off x="8723376"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1" name="Seta"/>
          <p:cNvCxnSpPr/>
          <p:nvPr/>
        </p:nvCxnSpPr>
        <p:spPr>
          <a:xfrm flipV="1">
            <a:off x="8860536"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2" name="Seta"/>
          <p:cNvCxnSpPr/>
          <p:nvPr/>
        </p:nvCxnSpPr>
        <p:spPr>
          <a:xfrm>
            <a:off x="8860536"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3" name="Rótulo"/>
          <p:cNvSpPr txBox="1"/>
          <p:nvPr/>
        </p:nvSpPr>
        <p:spPr>
          <a:xfrm>
            <a:off x="8339328"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1384" name="Status"/>
          <p:cNvSpPr/>
          <p:nvPr/>
        </p:nvSpPr>
        <p:spPr>
          <a:xfrm>
            <a:off x="9272016" y="3474720"/>
            <a:ext cx="2212848" cy="795528"/>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IN</a:t>
            </a:r>
          </a:p>
          <a:p>
            <a:pPr algn="ctr">
              <a:lnSpc>
                <a:spcPct val="100000"/>
              </a:lnSpc>
              <a:spcAft>
                <a:spcPts val="300"/>
              </a:spcAft>
              <a:buNone/>
            </a:pPr>
            <a:r>
              <a:rPr sz="1600" b="0">
                <a:solidFill>
                  <a:srgbClr val="FBFCFC"/>
                </a:solidFill>
                <a:latin typeface="Roboto"/>
                <a:ea typeface="Roboto"/>
                <a:cs typeface="Roboto"/>
              </a:rPr>
              <a:t>Admissão do paciente</a:t>
            </a:r>
          </a:p>
        </p:txBody>
      </p:sp>
      <p:cxnSp>
        <p:nvCxnSpPr>
          <p:cNvPr id="1385" name="Seta"/>
          <p:cNvCxnSpPr/>
          <p:nvPr/>
        </p:nvCxnSpPr>
        <p:spPr>
          <a:xfrm>
            <a:off x="9134856" y="3246120"/>
            <a:ext cx="0" cy="621791"/>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6" name="Seta"/>
          <p:cNvCxnSpPr/>
          <p:nvPr/>
        </p:nvCxnSpPr>
        <p:spPr>
          <a:xfrm>
            <a:off x="9134856" y="3867911"/>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7" name="Status"/>
          <p:cNvSpPr/>
          <p:nvPr/>
        </p:nvSpPr>
        <p:spPr>
          <a:xfrm>
            <a:off x="9272016" y="4315968"/>
            <a:ext cx="2212848" cy="795528"/>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1F3238"/>
                </a:solidFill>
                <a:latin typeface="Roboto Medium"/>
                <a:ea typeface="Roboto Medium"/>
                <a:cs typeface="Roboto Medium"/>
              </a:rPr>
              <a:t>PASSO 4</a:t>
            </a:r>
          </a:p>
          <a:p>
            <a:pPr algn="ctr">
              <a:lnSpc>
                <a:spcPct val="100000"/>
              </a:lnSpc>
              <a:spcAft>
                <a:spcPts val="300"/>
              </a:spcAft>
              <a:buNone/>
            </a:pPr>
            <a:r>
              <a:rPr sz="1600" b="0">
                <a:solidFill>
                  <a:srgbClr val="1F3238"/>
                </a:solidFill>
                <a:latin typeface="Roboto"/>
                <a:ea typeface="Roboto"/>
                <a:cs typeface="Roboto"/>
              </a:rPr>
              <a:t>Observação</a:t>
            </a:r>
          </a:p>
        </p:txBody>
      </p:sp>
      <p:cxnSp>
        <p:nvCxnSpPr>
          <p:cNvPr id="1388" name="Seta"/>
          <p:cNvCxnSpPr/>
          <p:nvPr/>
        </p:nvCxnSpPr>
        <p:spPr>
          <a:xfrm>
            <a:off x="9134856" y="3246120"/>
            <a:ext cx="0" cy="1463039"/>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9" name="Seta"/>
          <p:cNvCxnSpPr/>
          <p:nvPr/>
        </p:nvCxnSpPr>
        <p:spPr>
          <a:xfrm>
            <a:off x="9134856" y="4709159"/>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0" name="Status"/>
          <p:cNvSpPr/>
          <p:nvPr/>
        </p:nvSpPr>
        <p:spPr>
          <a:xfrm>
            <a:off x="9272016" y="5157216"/>
            <a:ext cx="2212848" cy="795528"/>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OUT</a:t>
            </a:r>
          </a:p>
          <a:p>
            <a:pPr algn="ctr">
              <a:lnSpc>
                <a:spcPct val="100000"/>
              </a:lnSpc>
              <a:spcAft>
                <a:spcPts val="300"/>
              </a:spcAft>
              <a:buNone/>
            </a:pPr>
            <a:r>
              <a:rPr sz="1600" b="0">
                <a:solidFill>
                  <a:srgbClr val="FBFCFC"/>
                </a:solidFill>
                <a:latin typeface="Roboto"/>
                <a:ea typeface="Roboto"/>
                <a:cs typeface="Roboto"/>
              </a:rPr>
              <a:t>Descarte do diagnóstico de IAM</a:t>
            </a:r>
          </a:p>
        </p:txBody>
      </p:sp>
      <p:cxnSp>
        <p:nvCxnSpPr>
          <p:cNvPr id="1391" name="Seta"/>
          <p:cNvCxnSpPr/>
          <p:nvPr/>
        </p:nvCxnSpPr>
        <p:spPr>
          <a:xfrm>
            <a:off x="9134856" y="3246120"/>
            <a:ext cx="0" cy="2304287"/>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92" name="Seta"/>
          <p:cNvCxnSpPr/>
          <p:nvPr/>
        </p:nvCxnSpPr>
        <p:spPr>
          <a:xfrm>
            <a:off x="9134856" y="5550407"/>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32078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30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1346" name="Nota"/>
          <p:cNvSpPr txBox="1"/>
          <p:nvPr/>
        </p:nvSpPr>
        <p:spPr>
          <a:xfrm>
            <a:off x="713232" y="594360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(figuras 13 e 14)</a:t>
            </a:r>
          </a:p>
        </p:txBody>
      </p:sp>
      <p:sp>
        <p:nvSpPr>
          <p:cNvPr id="1347" name="Fim/Início"/>
          <p:cNvSpPr/>
          <p:nvPr/>
        </p:nvSpPr>
        <p:spPr>
          <a:xfrm>
            <a:off x="713232" y="1371600"/>
            <a:ext cx="2487168" cy="68580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Suspeita clínica confirmada</a:t>
            </a:r>
          </a:p>
        </p:txBody>
      </p:sp>
      <p:sp>
        <p:nvSpPr>
          <p:cNvPr id="1348" name="Fim/Início"/>
          <p:cNvSpPr/>
          <p:nvPr/>
        </p:nvSpPr>
        <p:spPr>
          <a:xfrm>
            <a:off x="6236208" y="1371600"/>
            <a:ext cx="5248656" cy="68580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SINTOMAS SUSPEITOS</a:t>
            </a:r>
          </a:p>
          <a:p>
            <a:pPr algn="ctr">
              <a:lnSpc>
                <a:spcPct val="100000"/>
              </a:lnSpc>
              <a:spcAft>
                <a:spcPts val="300"/>
              </a:spcAft>
              <a:buNone/>
            </a:pPr>
            <a:r>
              <a:rPr sz="1600" b="0">
                <a:solidFill>
                  <a:srgbClr val="FBFCFC"/>
                </a:solidFill>
                <a:latin typeface="Roboto"/>
                <a:ea typeface="Roboto"/>
                <a:cs typeface="Roboto"/>
              </a:rPr>
              <a:t>(BUSCAR ATENDIMENTO IMEDIATAMENTE)</a:t>
            </a:r>
          </a:p>
        </p:txBody>
      </p:sp>
      <p:cxnSp>
        <p:nvCxnSpPr>
          <p:cNvPr id="1349" name="Seta"/>
          <p:cNvCxnSpPr/>
          <p:nvPr/>
        </p:nvCxnSpPr>
        <p:spPr>
          <a:xfrm>
            <a:off x="1956816" y="205740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0" name="Etapa"/>
          <p:cNvSpPr/>
          <p:nvPr/>
        </p:nvSpPr>
        <p:spPr>
          <a:xfrm>
            <a:off x="713232"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1</a:t>
            </a:r>
          </a:p>
          <a:p>
            <a:pPr algn="ctr">
              <a:lnSpc>
                <a:spcPct val="100000"/>
              </a:lnSpc>
              <a:spcAft>
                <a:spcPts val="300"/>
              </a:spcAft>
              <a:buNone/>
            </a:pPr>
            <a:r>
              <a:rPr sz="1600" b="0">
                <a:solidFill>
                  <a:srgbClr val="5F6468"/>
                </a:solidFill>
                <a:latin typeface="Roboto"/>
                <a:ea typeface="Roboto"/>
                <a:cs typeface="Roboto"/>
              </a:rPr>
              <a:t>Realizar ECG até 10 minutos</a:t>
            </a:r>
          </a:p>
        </p:txBody>
      </p:sp>
      <p:sp>
        <p:nvSpPr>
          <p:cNvPr id="1351" name="Etapa"/>
          <p:cNvSpPr/>
          <p:nvPr/>
        </p:nvSpPr>
        <p:spPr>
          <a:xfrm>
            <a:off x="3474720"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2</a:t>
            </a:r>
          </a:p>
          <a:p>
            <a:pPr algn="ctr">
              <a:lnSpc>
                <a:spcPct val="100000"/>
              </a:lnSpc>
              <a:spcAft>
                <a:spcPts val="300"/>
              </a:spcAft>
              <a:buNone/>
            </a:pPr>
            <a:r>
              <a:rPr sz="1600" b="0">
                <a:solidFill>
                  <a:srgbClr val="5F6468"/>
                </a:solidFill>
                <a:latin typeface="Roboto"/>
                <a:ea typeface="Roboto"/>
                <a:cs typeface="Roboto"/>
              </a:rPr>
              <a:t>Avaliação inicial da rota diagnóstica</a:t>
            </a:r>
          </a:p>
        </p:txBody>
      </p:sp>
      <p:sp>
        <p:nvSpPr>
          <p:cNvPr id="1352" name="Etapa"/>
          <p:cNvSpPr/>
          <p:nvPr/>
        </p:nvSpPr>
        <p:spPr>
          <a:xfrm>
            <a:off x="6236208"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3</a:t>
            </a:r>
          </a:p>
          <a:p>
            <a:pPr algn="ctr">
              <a:lnSpc>
                <a:spcPct val="100000"/>
              </a:lnSpc>
              <a:spcAft>
                <a:spcPts val="300"/>
              </a:spcAft>
              <a:buNone/>
            </a:pPr>
            <a:r>
              <a:rPr sz="1600" b="0">
                <a:solidFill>
                  <a:srgbClr val="5F6468"/>
                </a:solidFill>
                <a:latin typeface="Roboto"/>
                <a:ea typeface="Roboto"/>
                <a:cs typeface="Roboto"/>
              </a:rPr>
              <a:t>Decisão após avaliação clínica detalhada</a:t>
            </a:r>
          </a:p>
        </p:txBody>
      </p:sp>
      <p:sp>
        <p:nvSpPr>
          <p:cNvPr id="1353" name="Etapa"/>
          <p:cNvSpPr/>
          <p:nvPr/>
        </p:nvSpPr>
        <p:spPr>
          <a:xfrm>
            <a:off x="8997696"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CLASSIFICAR</a:t>
            </a:r>
          </a:p>
          <a:p>
            <a:pPr algn="ctr">
              <a:lnSpc>
                <a:spcPct val="100000"/>
              </a:lnSpc>
              <a:spcAft>
                <a:spcPts val="300"/>
              </a:spcAft>
              <a:buNone/>
            </a:pPr>
            <a:r>
              <a:rPr sz="1600" b="0">
                <a:solidFill>
                  <a:srgbClr val="5F6468"/>
                </a:solidFill>
                <a:latin typeface="Roboto"/>
                <a:ea typeface="Roboto"/>
                <a:cs typeface="Roboto"/>
              </a:rPr>
              <a:t>Algoritmos de troponina e escores de risco</a:t>
            </a:r>
          </a:p>
        </p:txBody>
      </p:sp>
      <p:cxnSp>
        <p:nvCxnSpPr>
          <p:cNvPr id="1354" name="Seta"/>
          <p:cNvCxnSpPr/>
          <p:nvPr/>
        </p:nvCxnSpPr>
        <p:spPr>
          <a:xfrm>
            <a:off x="1956816"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 name="Decisão"/>
          <p:cNvGrpSpPr/>
          <p:nvPr/>
        </p:nvGrpSpPr>
        <p:grpSpPr>
          <a:xfrm>
            <a:off x="713232" y="3474720"/>
            <a:ext cx="2487168" cy="1417320"/>
            <a:chOff x="713232" y="3474720"/>
            <a:chExt cx="2487168" cy="1417320"/>
          </a:xfrm>
        </p:grpSpPr>
        <p:sp>
          <p:nvSpPr>
            <p:cNvPr id="1355" name="Diamond 1354"/>
            <p:cNvSpPr/>
            <p:nvPr/>
          </p:nvSpPr>
          <p:spPr>
            <a:xfrm>
              <a:off x="713232"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TextBox 1355"/>
            <p:cNvSpPr txBox="1"/>
            <p:nvPr/>
          </p:nvSpPr>
          <p:spPr>
            <a:xfrm>
              <a:off x="986820"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ECG COM</a:t>
              </a:r>
            </a:p>
            <a:p>
              <a:pPr algn="ctr">
                <a:lnSpc>
                  <a:spcPct val="100000"/>
                </a:lnSpc>
                <a:spcAft>
                  <a:spcPts val="300"/>
                </a:spcAft>
                <a:buNone/>
              </a:pPr>
              <a:r>
                <a:rPr sz="1600" b="0">
                  <a:solidFill>
                    <a:srgbClr val="1F3238"/>
                  </a:solidFill>
                  <a:latin typeface="Roboto Medium"/>
                  <a:ea typeface="Roboto Medium"/>
                  <a:cs typeface="Roboto Medium"/>
                </a:rPr>
                <a:t>CRITÉRIOS</a:t>
              </a:r>
            </a:p>
            <a:p>
              <a:pPr algn="ctr">
                <a:lnSpc>
                  <a:spcPct val="100000"/>
                </a:lnSpc>
                <a:spcAft>
                  <a:spcPts val="300"/>
                </a:spcAft>
                <a:buNone/>
              </a:pPr>
              <a:r>
                <a:rPr sz="1600" b="0">
                  <a:solidFill>
                    <a:srgbClr val="1F3238"/>
                  </a:solidFill>
                  <a:latin typeface="Roboto Medium"/>
                  <a:ea typeface="Roboto Medium"/>
                  <a:cs typeface="Roboto Medium"/>
                </a:rPr>
                <a:t>DIAGNÓSTICOS?</a:t>
              </a:r>
            </a:p>
          </p:txBody>
        </p:sp>
      </p:grpSp>
      <p:cxnSp>
        <p:nvCxnSpPr>
          <p:cNvPr id="1357" name="Seta"/>
          <p:cNvCxnSpPr/>
          <p:nvPr/>
        </p:nvCxnSpPr>
        <p:spPr>
          <a:xfrm>
            <a:off x="1956816"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8" name="Rótulo"/>
          <p:cNvSpPr txBox="1"/>
          <p:nvPr/>
        </p:nvSpPr>
        <p:spPr>
          <a:xfrm>
            <a:off x="2029968"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59" name="Etapa"/>
          <p:cNvSpPr/>
          <p:nvPr/>
        </p:nvSpPr>
        <p:spPr>
          <a:xfrm>
            <a:off x="713232"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TERAPÊUTICA</a:t>
            </a:r>
          </a:p>
        </p:txBody>
      </p:sp>
      <p:cxnSp>
        <p:nvCxnSpPr>
          <p:cNvPr id="1360" name="Seta"/>
          <p:cNvCxnSpPr/>
          <p:nvPr/>
        </p:nvCxnSpPr>
        <p:spPr>
          <a:xfrm>
            <a:off x="3200400"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61" name="Seta"/>
          <p:cNvCxnSpPr/>
          <p:nvPr/>
        </p:nvCxnSpPr>
        <p:spPr>
          <a:xfrm flipV="1">
            <a:off x="3337560"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62" name="Seta"/>
          <p:cNvCxnSpPr/>
          <p:nvPr/>
        </p:nvCxnSpPr>
        <p:spPr>
          <a:xfrm>
            <a:off x="3337560"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3" name="Rótulo"/>
          <p:cNvSpPr txBox="1"/>
          <p:nvPr/>
        </p:nvSpPr>
        <p:spPr>
          <a:xfrm>
            <a:off x="2816352"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cxnSp>
        <p:nvCxnSpPr>
          <p:cNvPr id="1364" name="Seta"/>
          <p:cNvCxnSpPr/>
          <p:nvPr/>
        </p:nvCxnSpPr>
        <p:spPr>
          <a:xfrm>
            <a:off x="4718304"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 name="Decisão"/>
          <p:cNvGrpSpPr/>
          <p:nvPr/>
        </p:nvGrpSpPr>
        <p:grpSpPr>
          <a:xfrm>
            <a:off x="3474720" y="3474720"/>
            <a:ext cx="2487168" cy="1417320"/>
            <a:chOff x="3474720" y="3474720"/>
            <a:chExt cx="2487168" cy="1417320"/>
          </a:xfrm>
        </p:grpSpPr>
        <p:sp>
          <p:nvSpPr>
            <p:cNvPr id="1365" name="Diamond 1364"/>
            <p:cNvSpPr/>
            <p:nvPr/>
          </p:nvSpPr>
          <p:spPr>
            <a:xfrm>
              <a:off x="3474720"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TextBox 1365"/>
            <p:cNvSpPr txBox="1"/>
            <p:nvPr/>
          </p:nvSpPr>
          <p:spPr>
            <a:xfrm>
              <a:off x="3748308"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HÁ CRITÉRIO DE</a:t>
              </a:r>
            </a:p>
            <a:p>
              <a:pPr algn="ctr">
                <a:lnSpc>
                  <a:spcPct val="100000"/>
                </a:lnSpc>
                <a:spcAft>
                  <a:spcPts val="300"/>
                </a:spcAft>
                <a:buNone/>
              </a:pPr>
              <a:r>
                <a:rPr sz="1600" b="0">
                  <a:solidFill>
                    <a:srgbClr val="1F3238"/>
                  </a:solidFill>
                  <a:latin typeface="Roboto Medium"/>
                  <a:ea typeface="Roboto Medium"/>
                  <a:cs typeface="Roboto Medium"/>
                </a:rPr>
                <a:t>INSTABILIDADE?¹</a:t>
              </a:r>
            </a:p>
          </p:txBody>
        </p:sp>
      </p:grpSp>
      <p:cxnSp>
        <p:nvCxnSpPr>
          <p:cNvPr id="1367" name="Seta"/>
          <p:cNvCxnSpPr/>
          <p:nvPr/>
        </p:nvCxnSpPr>
        <p:spPr>
          <a:xfrm>
            <a:off x="4718304"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8" name="Rótulo"/>
          <p:cNvSpPr txBox="1"/>
          <p:nvPr/>
        </p:nvSpPr>
        <p:spPr>
          <a:xfrm>
            <a:off x="4791456"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69" name="Etapa"/>
          <p:cNvSpPr/>
          <p:nvPr/>
        </p:nvSpPr>
        <p:spPr>
          <a:xfrm>
            <a:off x="3474720"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DE PACIENTE INSTÁVEL</a:t>
            </a:r>
          </a:p>
        </p:txBody>
      </p:sp>
      <p:cxnSp>
        <p:nvCxnSpPr>
          <p:cNvPr id="1370" name="Seta"/>
          <p:cNvCxnSpPr/>
          <p:nvPr/>
        </p:nvCxnSpPr>
        <p:spPr>
          <a:xfrm>
            <a:off x="5961888"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1" name="Seta"/>
          <p:cNvCxnSpPr/>
          <p:nvPr/>
        </p:nvCxnSpPr>
        <p:spPr>
          <a:xfrm flipV="1">
            <a:off x="6099048"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2" name="Seta"/>
          <p:cNvCxnSpPr/>
          <p:nvPr/>
        </p:nvCxnSpPr>
        <p:spPr>
          <a:xfrm>
            <a:off x="6099048"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3" name="Rótulo"/>
          <p:cNvSpPr txBox="1"/>
          <p:nvPr/>
        </p:nvSpPr>
        <p:spPr>
          <a:xfrm>
            <a:off x="5577840"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cxnSp>
        <p:nvCxnSpPr>
          <p:cNvPr id="1374" name="Seta"/>
          <p:cNvCxnSpPr/>
          <p:nvPr/>
        </p:nvCxnSpPr>
        <p:spPr>
          <a:xfrm>
            <a:off x="7479792"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 name="Decisão"/>
          <p:cNvGrpSpPr/>
          <p:nvPr/>
        </p:nvGrpSpPr>
        <p:grpSpPr>
          <a:xfrm>
            <a:off x="6236208" y="3474720"/>
            <a:ext cx="2487168" cy="1417320"/>
            <a:chOff x="6236208" y="3474720"/>
            <a:chExt cx="2487168" cy="1417320"/>
          </a:xfrm>
        </p:grpSpPr>
        <p:sp>
          <p:nvSpPr>
            <p:cNvPr id="1375" name="Diamond 1374"/>
            <p:cNvSpPr/>
            <p:nvPr/>
          </p:nvSpPr>
          <p:spPr>
            <a:xfrm>
              <a:off x="6236208"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TextBox 1375"/>
            <p:cNvSpPr txBox="1"/>
            <p:nvPr/>
          </p:nvSpPr>
          <p:spPr>
            <a:xfrm>
              <a:off x="6509796"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DIAGNÓSTICO</a:t>
              </a:r>
            </a:p>
            <a:p>
              <a:pPr algn="ctr">
                <a:lnSpc>
                  <a:spcPct val="100000"/>
                </a:lnSpc>
                <a:spcAft>
                  <a:spcPts val="300"/>
                </a:spcAft>
                <a:buNone/>
              </a:pPr>
              <a:r>
                <a:rPr sz="1600" b="0">
                  <a:solidFill>
                    <a:srgbClr val="1F3238"/>
                  </a:solidFill>
                  <a:latin typeface="Roboto Medium"/>
                  <a:ea typeface="Roboto Medium"/>
                  <a:cs typeface="Roboto Medium"/>
                </a:rPr>
                <a:t>ESTABELECIDO?</a:t>
              </a:r>
            </a:p>
          </p:txBody>
        </p:sp>
      </p:grpSp>
      <p:cxnSp>
        <p:nvCxnSpPr>
          <p:cNvPr id="1377" name="Seta"/>
          <p:cNvCxnSpPr/>
          <p:nvPr/>
        </p:nvCxnSpPr>
        <p:spPr>
          <a:xfrm>
            <a:off x="7479792"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8" name="Rótulo"/>
          <p:cNvSpPr txBox="1"/>
          <p:nvPr/>
        </p:nvSpPr>
        <p:spPr>
          <a:xfrm>
            <a:off x="7552944"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79" name="Etapa"/>
          <p:cNvSpPr/>
          <p:nvPr/>
        </p:nvSpPr>
        <p:spPr>
          <a:xfrm>
            <a:off x="6236208"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TERAPÊUTICA</a:t>
            </a:r>
          </a:p>
        </p:txBody>
      </p:sp>
      <p:cxnSp>
        <p:nvCxnSpPr>
          <p:cNvPr id="1380" name="Seta"/>
          <p:cNvCxnSpPr/>
          <p:nvPr/>
        </p:nvCxnSpPr>
        <p:spPr>
          <a:xfrm>
            <a:off x="8723376"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1" name="Seta"/>
          <p:cNvCxnSpPr/>
          <p:nvPr/>
        </p:nvCxnSpPr>
        <p:spPr>
          <a:xfrm flipV="1">
            <a:off x="8860536"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2" name="Seta"/>
          <p:cNvCxnSpPr/>
          <p:nvPr/>
        </p:nvCxnSpPr>
        <p:spPr>
          <a:xfrm>
            <a:off x="8860536"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3" name="Rótulo"/>
          <p:cNvSpPr txBox="1"/>
          <p:nvPr/>
        </p:nvSpPr>
        <p:spPr>
          <a:xfrm>
            <a:off x="8339328"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1384" name="Status"/>
          <p:cNvSpPr/>
          <p:nvPr/>
        </p:nvSpPr>
        <p:spPr>
          <a:xfrm>
            <a:off x="9272016" y="3474720"/>
            <a:ext cx="2212848" cy="795528"/>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IN</a:t>
            </a:r>
          </a:p>
          <a:p>
            <a:pPr algn="ctr">
              <a:lnSpc>
                <a:spcPct val="100000"/>
              </a:lnSpc>
              <a:spcAft>
                <a:spcPts val="300"/>
              </a:spcAft>
              <a:buNone/>
            </a:pPr>
            <a:r>
              <a:rPr sz="1600" b="0">
                <a:solidFill>
                  <a:srgbClr val="FBFCFC"/>
                </a:solidFill>
                <a:latin typeface="Roboto"/>
                <a:ea typeface="Roboto"/>
                <a:cs typeface="Roboto"/>
              </a:rPr>
              <a:t>Admissão do paciente</a:t>
            </a:r>
          </a:p>
        </p:txBody>
      </p:sp>
      <p:cxnSp>
        <p:nvCxnSpPr>
          <p:cNvPr id="1385" name="Seta"/>
          <p:cNvCxnSpPr/>
          <p:nvPr/>
        </p:nvCxnSpPr>
        <p:spPr>
          <a:xfrm>
            <a:off x="9134856" y="3246120"/>
            <a:ext cx="0" cy="621791"/>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6" name="Seta"/>
          <p:cNvCxnSpPr/>
          <p:nvPr/>
        </p:nvCxnSpPr>
        <p:spPr>
          <a:xfrm>
            <a:off x="9134856" y="3867911"/>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7" name="Status"/>
          <p:cNvSpPr/>
          <p:nvPr/>
        </p:nvSpPr>
        <p:spPr>
          <a:xfrm>
            <a:off x="9272016" y="4315968"/>
            <a:ext cx="2212848" cy="795528"/>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1F3238"/>
                </a:solidFill>
                <a:latin typeface="Roboto Medium"/>
                <a:ea typeface="Roboto Medium"/>
                <a:cs typeface="Roboto Medium"/>
              </a:rPr>
              <a:t>PASSO 4</a:t>
            </a:r>
          </a:p>
          <a:p>
            <a:pPr algn="ctr">
              <a:lnSpc>
                <a:spcPct val="100000"/>
              </a:lnSpc>
              <a:spcAft>
                <a:spcPts val="300"/>
              </a:spcAft>
              <a:buNone/>
            </a:pPr>
            <a:r>
              <a:rPr sz="1600" b="0">
                <a:solidFill>
                  <a:srgbClr val="1F3238"/>
                </a:solidFill>
                <a:latin typeface="Roboto"/>
                <a:ea typeface="Roboto"/>
                <a:cs typeface="Roboto"/>
              </a:rPr>
              <a:t>Observação</a:t>
            </a:r>
          </a:p>
        </p:txBody>
      </p:sp>
      <p:cxnSp>
        <p:nvCxnSpPr>
          <p:cNvPr id="1388" name="Seta"/>
          <p:cNvCxnSpPr/>
          <p:nvPr/>
        </p:nvCxnSpPr>
        <p:spPr>
          <a:xfrm>
            <a:off x="9134856" y="3246120"/>
            <a:ext cx="0" cy="1463039"/>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9" name="Seta"/>
          <p:cNvCxnSpPr/>
          <p:nvPr/>
        </p:nvCxnSpPr>
        <p:spPr>
          <a:xfrm>
            <a:off x="9134856" y="4709159"/>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0" name="Status"/>
          <p:cNvSpPr/>
          <p:nvPr/>
        </p:nvSpPr>
        <p:spPr>
          <a:xfrm>
            <a:off x="9272016" y="5157216"/>
            <a:ext cx="2212848" cy="795528"/>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OUT</a:t>
            </a:r>
          </a:p>
          <a:p>
            <a:pPr algn="ctr">
              <a:lnSpc>
                <a:spcPct val="100000"/>
              </a:lnSpc>
              <a:spcAft>
                <a:spcPts val="300"/>
              </a:spcAft>
              <a:buNone/>
            </a:pPr>
            <a:r>
              <a:rPr sz="1600" b="0">
                <a:solidFill>
                  <a:srgbClr val="FBFCFC"/>
                </a:solidFill>
                <a:latin typeface="Roboto"/>
                <a:ea typeface="Roboto"/>
                <a:cs typeface="Roboto"/>
              </a:rPr>
              <a:t>Descarte do diagnóstico de IAM</a:t>
            </a:r>
          </a:p>
        </p:txBody>
      </p:sp>
      <p:cxnSp>
        <p:nvCxnSpPr>
          <p:cNvPr id="1391" name="Seta"/>
          <p:cNvCxnSpPr/>
          <p:nvPr/>
        </p:nvCxnSpPr>
        <p:spPr>
          <a:xfrm>
            <a:off x="9134856" y="3246120"/>
            <a:ext cx="0" cy="2304287"/>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92" name="Seta"/>
          <p:cNvCxnSpPr/>
          <p:nvPr/>
        </p:nvCxnSpPr>
        <p:spPr>
          <a:xfrm>
            <a:off x="9134856" y="5550407"/>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75347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 se o ECG não for diagnóstico com paciente estável?</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Reavaliação clínica contínua – paciente muda de status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Repetir ECG + solicitar ajuda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Rotas individualizadas – busca ativa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Já temos algum exame pronto?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Investigação anatômica e/ou funcional</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Angiotomografia coronariana</a:t>
            </a:r>
            <a:r>
              <a:rPr lang="pt-BR" dirty="0" smtClean="0" sz="1300" b="0">
                <a:solidFill>
                  <a:srgbClr val="5F6468"/>
                </a:solidFill>
                <a:latin typeface="Roboto"/>
                <a:ea typeface="Roboto"/>
                <a:cs typeface="Roboto"/>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Cateterismo cardíaco</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31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4724241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Rota diagnóstica – ECG inicial não-diagnóstico</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900"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200" b="0" i="0" dirty="0">
                <a:solidFill>
                  <a:srgbClr val="737A7F"/>
                </a:solidFill>
                <a:latin typeface="Roboto"/>
                <a:ea typeface="Roboto"/>
                <a:cs typeface="Roboto"/>
              </a:rPr>
              <a:t>Figura 6 – Passo 2: avaliação inicial da rota diagnóstica.</a:t>
            </a:r>
          </a:p>
        </p:txBody>
      </p:sp>
      <p:sp>
        <p:nvSpPr>
          <p:cNvPr id="302" name="Nota"/>
          <p:cNvSpPr txBox="1"/>
          <p:nvPr/>
        </p:nvSpPr>
        <p:spPr>
          <a:xfrm>
            <a:off x="5212080" y="5349240"/>
            <a:ext cx="3006738" cy="112866"/>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*Algoritmos de troponina conforme figuras 11A e 11B</a:t>
            </a:r>
          </a:p>
        </p:txBody>
      </p:sp>
      <p:grpSp>
        <p:nvGrpSpPr>
          <p:cNvPr id="5" name="Decisão"/>
          <p:cNvGrpSpPr/>
          <p:nvPr/>
        </p:nvGrpSpPr>
        <p:grpSpPr>
          <a:xfrm>
            <a:off x="713232" y="1600200"/>
            <a:ext cx="3566160" cy="3566160"/>
            <a:chOff x="713232" y="1600200"/>
            <a:chExt cx="3566160" cy="3566160"/>
          </a:xfrm>
        </p:grpSpPr>
        <p:sp>
          <p:nvSpPr>
            <p:cNvPr id="901" name="Diamond 900"/>
            <p:cNvSpPr/>
            <p:nvPr/>
          </p:nvSpPr>
          <p:spPr>
            <a:xfrm>
              <a:off x="713232" y="1600200"/>
              <a:ext cx="3566160" cy="356616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TextBox 901"/>
            <p:cNvSpPr txBox="1"/>
            <p:nvPr/>
          </p:nvSpPr>
          <p:spPr>
            <a:xfrm>
              <a:off x="1444752" y="2242108"/>
              <a:ext cx="2103120" cy="2282342"/>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ECG LIMÍTROFE/</a:t>
              </a:r>
            </a:p>
            <a:p>
              <a:pPr algn="ctr">
                <a:lnSpc>
                  <a:spcPct val="100000"/>
                </a:lnSpc>
                <a:spcAft>
                  <a:spcPts val="300"/>
                </a:spcAft>
                <a:buNone/>
              </a:pPr>
              <a:r>
                <a:rPr sz="1600" b="0">
                  <a:solidFill>
                    <a:srgbClr val="1F3238"/>
                  </a:solidFill>
                  <a:latin typeface="Roboto Medium"/>
                  <a:ea typeface="Roboto Medium"/>
                  <a:cs typeface="Roboto Medium"/>
                </a:rPr>
                <a:t>DUVIDOSO OU</a:t>
              </a:r>
            </a:p>
            <a:p>
              <a:pPr algn="ctr">
                <a:lnSpc>
                  <a:spcPct val="100000"/>
                </a:lnSpc>
                <a:spcAft>
                  <a:spcPts val="300"/>
                </a:spcAft>
                <a:buNone/>
              </a:pPr>
              <a:r>
                <a:rPr sz="1600" b="0">
                  <a:solidFill>
                    <a:srgbClr val="1F3238"/>
                  </a:solidFill>
                  <a:latin typeface="Roboto Medium"/>
                  <a:ea typeface="Roboto Medium"/>
                  <a:cs typeface="Roboto Medium"/>
                </a:rPr>
                <a:t>CRITÉRIOS DE</a:t>
              </a:r>
            </a:p>
            <a:p>
              <a:pPr algn="ctr">
                <a:lnSpc>
                  <a:spcPct val="100000"/>
                </a:lnSpc>
                <a:spcAft>
                  <a:spcPts val="300"/>
                </a:spcAft>
                <a:buNone/>
              </a:pPr>
              <a:r>
                <a:rPr sz="1600" b="0">
                  <a:solidFill>
                    <a:srgbClr val="1F3238"/>
                  </a:solidFill>
                  <a:latin typeface="Roboto Medium"/>
                  <a:ea typeface="Roboto Medium"/>
                  <a:cs typeface="Roboto Medium"/>
                </a:rPr>
                <a:t>INSTABILIDADE</a:t>
              </a:r>
            </a:p>
            <a:p>
              <a:pPr algn="ctr">
                <a:lnSpc>
                  <a:spcPct val="100000"/>
                </a:lnSpc>
                <a:spcAft>
                  <a:spcPts val="300"/>
                </a:spcAft>
                <a:buNone/>
              </a:pPr>
              <a:r>
                <a:rPr sz="1600" b="0">
                  <a:solidFill>
                    <a:srgbClr val="1F3238"/>
                  </a:solidFill>
                  <a:latin typeface="Roboto Medium"/>
                  <a:ea typeface="Roboto Medium"/>
                  <a:cs typeface="Roboto Medium"/>
                </a:rPr>
                <a:t>CLÍNICA</a:t>
              </a:r>
            </a:p>
            <a:p>
              <a:pPr algn="ctr">
                <a:lnSpc>
                  <a:spcPct val="100000"/>
                </a:lnSpc>
                <a:spcAft>
                  <a:spcPts val="300"/>
                </a:spcAft>
                <a:buNone/>
              </a:pPr>
              <a:r>
                <a:rPr sz="1600" b="0">
                  <a:solidFill>
                    <a:srgbClr val="1F3238"/>
                  </a:solidFill>
                  <a:latin typeface="Roboto Medium"/>
                  <a:ea typeface="Roboto Medium"/>
                  <a:cs typeface="Roboto Medium"/>
                </a:rPr>
                <a:t>(incluindo dor</a:t>
              </a:r>
            </a:p>
            <a:p>
              <a:pPr algn="ctr">
                <a:lnSpc>
                  <a:spcPct val="100000"/>
                </a:lnSpc>
                <a:spcAft>
                  <a:spcPts val="300"/>
                </a:spcAft>
                <a:buNone/>
              </a:pPr>
              <a:r>
                <a:rPr sz="1600" b="0">
                  <a:solidFill>
                    <a:srgbClr val="1F3238"/>
                  </a:solidFill>
                  <a:latin typeface="Roboto Medium"/>
                  <a:ea typeface="Roboto Medium"/>
                  <a:cs typeface="Roboto Medium"/>
                </a:rPr>
                <a:t>persistente)?</a:t>
              </a:r>
            </a:p>
          </p:txBody>
        </p:sp>
      </p:grpSp>
      <p:cxnSp>
        <p:nvCxnSpPr>
          <p:cNvPr id="903" name="Seta"/>
          <p:cNvCxnSpPr/>
          <p:nvPr/>
        </p:nvCxnSpPr>
        <p:spPr>
          <a:xfrm>
            <a:off x="4279392" y="3383280"/>
            <a:ext cx="292608"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04" name="Seta"/>
          <p:cNvCxnSpPr/>
          <p:nvPr/>
        </p:nvCxnSpPr>
        <p:spPr>
          <a:xfrm flipV="1">
            <a:off x="4572000" y="2423160"/>
            <a:ext cx="0" cy="9601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05" name="Seta"/>
          <p:cNvCxnSpPr/>
          <p:nvPr/>
        </p:nvCxnSpPr>
        <p:spPr>
          <a:xfrm>
            <a:off x="4572000" y="2423160"/>
            <a:ext cx="64008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 name="Rótulo"/>
          <p:cNvSpPr txBox="1"/>
          <p:nvPr/>
        </p:nvSpPr>
        <p:spPr>
          <a:xfrm>
            <a:off x="4590288" y="2029968"/>
            <a:ext cx="594360" cy="329184"/>
          </a:xfrm>
          <a:prstGeom prst="rect">
            <a:avLst/>
          </a:prstGeom>
          <a:noFill/>
        </p:spPr>
        <p:txBody>
          <a:bodyPr wrap="square" anchor="ctr" lIns="18288" rIns="18288" tIns="36576" bIns="36576">
            <a:spAutoFit/>
          </a:bodyPr>
          <a:lstStyle/>
          <a:p>
            <a:pPr algn="ctr">
              <a:lnSpc>
                <a:spcPct val="100000"/>
              </a:lnSpc>
              <a:spcAft>
                <a:spcPts val="300"/>
              </a:spcAft>
              <a:buNone/>
            </a:pPr>
            <a:r>
              <a:rPr sz="1600" b="0">
                <a:solidFill>
                  <a:srgbClr val="4E7C8B"/>
                </a:solidFill>
                <a:latin typeface="Roboto Medium"/>
                <a:ea typeface="Roboto Medium"/>
                <a:cs typeface="Roboto Medium"/>
              </a:rPr>
              <a:t>Sim</a:t>
            </a:r>
          </a:p>
        </p:txBody>
      </p:sp>
      <p:sp>
        <p:nvSpPr>
          <p:cNvPr id="907" name="Etapa"/>
          <p:cNvSpPr/>
          <p:nvPr/>
        </p:nvSpPr>
        <p:spPr>
          <a:xfrm>
            <a:off x="5212080" y="1463040"/>
            <a:ext cx="1828800" cy="19202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REPETIR ECG A CADA 10-20 MINUTOS</a:t>
            </a:r>
          </a:p>
          <a:p>
            <a:pPr algn="ctr">
              <a:lnSpc>
                <a:spcPct val="100000"/>
              </a:lnSpc>
              <a:spcAft>
                <a:spcPts val="300"/>
              </a:spcAft>
              <a:buNone/>
            </a:pPr>
            <a:r>
              <a:rPr sz="1400" b="0">
                <a:solidFill>
                  <a:srgbClr val="5F6468"/>
                </a:solidFill>
                <a:latin typeface="Roboto"/>
                <a:ea typeface="Roboto"/>
                <a:cs typeface="Roboto"/>
              </a:rPr>
              <a:t>Manter monitorização e tratar critérios de instabilidade</a:t>
            </a:r>
          </a:p>
        </p:txBody>
      </p:sp>
      <p:sp>
        <p:nvSpPr>
          <p:cNvPr id="908" name="Etapa"/>
          <p:cNvSpPr/>
          <p:nvPr/>
        </p:nvSpPr>
        <p:spPr>
          <a:xfrm>
            <a:off x="7434072" y="1463040"/>
            <a:ext cx="1828800" cy="19202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BUSCAR OUTROS DIAGNÓSTICOS</a:t>
            </a:r>
          </a:p>
          <a:p>
            <a:pPr algn="ctr">
              <a:lnSpc>
                <a:spcPct val="100000"/>
              </a:lnSpc>
              <a:spcAft>
                <a:spcPts val="300"/>
              </a:spcAft>
              <a:buNone/>
            </a:pPr>
            <a:r>
              <a:rPr sz="1400" b="0">
                <a:solidFill>
                  <a:srgbClr val="5F6468"/>
                </a:solidFill>
                <a:latin typeface="Roboto"/>
                <a:ea typeface="Roboto"/>
                <a:cs typeface="Roboto"/>
              </a:rPr>
              <a:t>Avaliação clínica, escores, RX, POCUS</a:t>
            </a:r>
          </a:p>
        </p:txBody>
      </p:sp>
      <p:sp>
        <p:nvSpPr>
          <p:cNvPr id="909" name="Etapa"/>
          <p:cNvSpPr/>
          <p:nvPr/>
        </p:nvSpPr>
        <p:spPr>
          <a:xfrm>
            <a:off x="9656064" y="1463040"/>
            <a:ext cx="1828800" cy="19202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ALGORITMOS DE TROPONINA*</a:t>
            </a:r>
          </a:p>
        </p:txBody>
      </p:sp>
      <p:sp>
        <p:nvSpPr>
          <p:cNvPr id="910" name="Rótulo"/>
          <p:cNvSpPr txBox="1"/>
          <p:nvPr/>
        </p:nvSpPr>
        <p:spPr>
          <a:xfrm>
            <a:off x="7040880" y="2240280"/>
            <a:ext cx="393192" cy="365760"/>
          </a:xfrm>
          <a:prstGeom prst="rect">
            <a:avLst/>
          </a:prstGeom>
          <a:noFill/>
        </p:spPr>
        <p:txBody>
          <a:bodyPr wrap="square" anchor="ctr" lIns="18288" rIns="18288" tIns="36576" bIns="36576">
            <a:spAutoFit/>
          </a:bodyPr>
          <a:lstStyle/>
          <a:p>
            <a:pPr algn="ctr">
              <a:lnSpc>
                <a:spcPct val="100000"/>
              </a:lnSpc>
              <a:spcAft>
                <a:spcPts val="300"/>
              </a:spcAft>
              <a:buNone/>
            </a:pPr>
            <a:r>
              <a:rPr sz="2200" b="0">
                <a:solidFill>
                  <a:srgbClr val="4E7C8B"/>
                </a:solidFill>
                <a:latin typeface="Roboto Medium"/>
                <a:ea typeface="Roboto Medium"/>
                <a:cs typeface="Roboto Medium"/>
              </a:rPr>
              <a:t>+</a:t>
            </a:r>
          </a:p>
        </p:txBody>
      </p:sp>
      <p:sp>
        <p:nvSpPr>
          <p:cNvPr id="911" name="Rótulo"/>
          <p:cNvSpPr txBox="1"/>
          <p:nvPr/>
        </p:nvSpPr>
        <p:spPr>
          <a:xfrm>
            <a:off x="9262872" y="2240280"/>
            <a:ext cx="393192" cy="365760"/>
          </a:xfrm>
          <a:prstGeom prst="rect">
            <a:avLst/>
          </a:prstGeom>
          <a:noFill/>
        </p:spPr>
        <p:txBody>
          <a:bodyPr wrap="square" anchor="ctr" lIns="18288" rIns="18288" tIns="36576" bIns="36576">
            <a:spAutoFit/>
          </a:bodyPr>
          <a:lstStyle/>
          <a:p>
            <a:pPr algn="ctr">
              <a:lnSpc>
                <a:spcPct val="100000"/>
              </a:lnSpc>
              <a:spcAft>
                <a:spcPts val="300"/>
              </a:spcAft>
              <a:buNone/>
            </a:pPr>
            <a:r>
              <a:rPr sz="2200" b="0">
                <a:solidFill>
                  <a:srgbClr val="4E7C8B"/>
                </a:solidFill>
                <a:latin typeface="Roboto Medium"/>
                <a:ea typeface="Roboto Medium"/>
                <a:cs typeface="Roboto Medium"/>
              </a:rPr>
              <a:t>+</a:t>
            </a:r>
          </a:p>
        </p:txBody>
      </p:sp>
      <p:cxnSp>
        <p:nvCxnSpPr>
          <p:cNvPr id="912" name="Seta"/>
          <p:cNvCxnSpPr/>
          <p:nvPr/>
        </p:nvCxnSpPr>
        <p:spPr>
          <a:xfrm>
            <a:off x="4279392" y="3383280"/>
            <a:ext cx="292608"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13" name="Seta"/>
          <p:cNvCxnSpPr/>
          <p:nvPr/>
        </p:nvCxnSpPr>
        <p:spPr>
          <a:xfrm>
            <a:off x="4572000" y="3383280"/>
            <a:ext cx="0" cy="9601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14" name="Seta"/>
          <p:cNvCxnSpPr/>
          <p:nvPr/>
        </p:nvCxnSpPr>
        <p:spPr>
          <a:xfrm>
            <a:off x="4572000" y="4343400"/>
            <a:ext cx="64008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5" name="Rótulo"/>
          <p:cNvSpPr txBox="1"/>
          <p:nvPr/>
        </p:nvSpPr>
        <p:spPr>
          <a:xfrm>
            <a:off x="4590288" y="3950208"/>
            <a:ext cx="594360" cy="329184"/>
          </a:xfrm>
          <a:prstGeom prst="rect">
            <a:avLst/>
          </a:prstGeom>
          <a:noFill/>
        </p:spPr>
        <p:txBody>
          <a:bodyPr wrap="square" anchor="ctr" lIns="18288" rIns="18288" tIns="36576" bIns="36576">
            <a:spAutoFit/>
          </a:bodyPr>
          <a:lstStyle/>
          <a:p>
            <a:pPr algn="ctr">
              <a:lnSpc>
                <a:spcPct val="100000"/>
              </a:lnSpc>
              <a:spcAft>
                <a:spcPts val="300"/>
              </a:spcAft>
              <a:buNone/>
            </a:pPr>
            <a:r>
              <a:rPr sz="1600" b="0">
                <a:solidFill>
                  <a:srgbClr val="4E7C8B"/>
                </a:solidFill>
                <a:latin typeface="Roboto Medium"/>
                <a:ea typeface="Roboto Medium"/>
                <a:cs typeface="Roboto Medium"/>
              </a:rPr>
              <a:t>Não</a:t>
            </a:r>
          </a:p>
        </p:txBody>
      </p:sp>
      <p:sp>
        <p:nvSpPr>
          <p:cNvPr id="916" name="Status"/>
          <p:cNvSpPr/>
          <p:nvPr/>
        </p:nvSpPr>
        <p:spPr>
          <a:xfrm>
            <a:off x="5212080" y="3611880"/>
            <a:ext cx="2880360" cy="146304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FBFCFC"/>
                </a:solidFill>
                <a:latin typeface="Roboto Medium"/>
                <a:ea typeface="Roboto Medium"/>
                <a:cs typeface="Roboto Medium"/>
              </a:rPr>
              <a:t>REPETIR ECG SE PIORA CLÍNICA</a:t>
            </a:r>
          </a:p>
          <a:p>
            <a:pPr algn="ctr">
              <a:lnSpc>
                <a:spcPct val="100000"/>
              </a:lnSpc>
              <a:spcAft>
                <a:spcPts val="300"/>
              </a:spcAft>
              <a:buNone/>
            </a:pPr>
            <a:r>
              <a:rPr sz="1400" b="0">
                <a:solidFill>
                  <a:srgbClr val="FBFCFC"/>
                </a:solidFill>
                <a:latin typeface="Roboto"/>
                <a:ea typeface="Roboto"/>
                <a:cs typeface="Roboto"/>
              </a:rPr>
              <a:t>(imediatamente)</a:t>
            </a:r>
          </a:p>
        </p:txBody>
      </p:sp>
      <p:sp>
        <p:nvSpPr>
          <p:cNvPr id="917" name="Status"/>
          <p:cNvSpPr/>
          <p:nvPr/>
        </p:nvSpPr>
        <p:spPr>
          <a:xfrm>
            <a:off x="8503919" y="3611880"/>
            <a:ext cx="2980944" cy="146304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FBFCFC"/>
                </a:solidFill>
                <a:latin typeface="Roboto Medium"/>
                <a:ea typeface="Roboto Medium"/>
                <a:cs typeface="Roboto Medium"/>
              </a:rPr>
              <a:t>AVALIAÇÃO CLÍNICA DETALHADA</a:t>
            </a:r>
          </a:p>
          <a:p>
            <a:pPr algn="ctr">
              <a:lnSpc>
                <a:spcPct val="100000"/>
              </a:lnSpc>
              <a:spcAft>
                <a:spcPts val="300"/>
              </a:spcAft>
              <a:buNone/>
            </a:pPr>
            <a:r>
              <a:rPr sz="1400" b="0">
                <a:solidFill>
                  <a:srgbClr val="FBFCFC"/>
                </a:solidFill>
                <a:latin typeface="Roboto"/>
                <a:ea typeface="Roboto"/>
                <a:cs typeface="Roboto"/>
              </a:rPr>
              <a:t>e algoritmos de troponina*</a:t>
            </a:r>
          </a:p>
        </p:txBody>
      </p:sp>
    </p:spTree>
    <p:extLst>
      <p:ext uri="{BB962C8B-B14F-4D97-AF65-F5344CB8AC3E}">
        <p14:creationId xmlns:p14="http://schemas.microsoft.com/office/powerpoint/2010/main" val="23580526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Avaliação clínica detalhada</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Você examina e mede os sinais vitais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R:</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a:t>
            </a:r>
            <a:endParaRPr sz="2400" lang="pt-BR"/>
          </a:p>
          <a:p>
            <a:pPr marL="285750" indent="-285750" algn="l">
              <a:lnSpc>
                <a:spcPct val="140000"/>
              </a:lnSpc>
              <a:spcBef>
                <a:spcPts val="0"/>
              </a:spcBef>
              <a:spcAft>
                <a:spcPts val="600"/>
              </a:spcAft>
              <a:buClr>
                <a:srgbClr val="4E7C8B"/>
              </a:buClr>
              <a:buFont typeface="Arial"/>
              <a:buChar char="•"/>
            </a:pPr>
            <a:r>
              <a:rPr lang="pt-BR" smtClean="0" sz="1300" b="0">
                <a:solidFill>
                  <a:srgbClr val="5F6468"/>
                </a:solidFill>
                <a:latin typeface="Roboto"/>
                <a:ea typeface="Roboto"/>
                <a:cs typeface="Roboto"/>
              </a:rPr>
              <a:t>A: </a:t>
            </a:r>
            <a:r>
              <a:rPr lang="pt-BR" sz="1300" b="0">
                <a:solidFill>
                  <a:srgbClr val="5F6468"/>
                </a:solidFill>
                <a:latin typeface="Roboto"/>
                <a:ea typeface="Roboto"/>
                <a:cs typeface="Roboto"/>
              </a:rPr>
              <a:t>Déficit de pulso, déficit neurológico, novo sopro, hipotensão, choque</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33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5348308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25 – Aplicação dos algoritmos dos marcadores de injúria miocárdica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3320317"/>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Troponina cardíaca de alta sensibilidade é o marcador de escolha para investigação de IAM.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Na ausência de troponina cardíaca de alta sensibilidade, usar investigações com dosagem de biomarcador disponível* a cada 3 horas, até tempo hábil para definir ou afastar diagnóstico de IAM (varia de acordo com tipo de biomarcador).</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Os algoritmos de troponina cardíaca de alta sensibilidade 0-1 hora e 0-2 horas são preferíveis aos algoritmos de 0-3 horas.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Em pacientes com dor precordial há mais de 3 horas, uma única dosagem de troponina cardíaca de alta sensibilidade abaixo do limite de detecção do ensaio pode ser suficiente para descartar IAM, quando associada a escores clínicos de baixo risco, eletrocardiograma sem alterações isquêmicas e ausência de dor recorrente ou persistente.</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Se troponina quantitativa disponível, não se deve solicitar CK-MB para investigação de IAM.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bl>
          </a:graphicData>
        </a:graphic>
      </p:graphicFrame>
      <p:sp>
        <p:nvSpPr>
          <p:cNvPr id="7" name="Nota"/>
          <p:cNvSpPr txBox="1"/>
          <p:nvPr/>
        </p:nvSpPr>
        <p:spPr>
          <a:xfrm>
            <a:off x="711403" y="5020317"/>
            <a:ext cx="10771632" cy="376616"/>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IAM: infarto agudo do miocárdio. *Na ausência de troponina cardíaca de alta sensibilidade, pode-se utilizar troponina convencional ou, na ausência desta, CKMB-massa.</a:t>
            </a:r>
            <a:endParaRPr lang="pt-BR" sz="1200" dirty="0"/>
          </a:p>
        </p:txBody>
      </p:sp>
    </p:spTree>
    <p:extLst>
      <p:ext uri="{BB962C8B-B14F-4D97-AF65-F5344CB8AC3E}">
        <p14:creationId xmlns:p14="http://schemas.microsoft.com/office/powerpoint/2010/main" val="5175447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Troponina – Curva na síndrome coronariana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pic>
        <p:nvPicPr>
          <p:cNvPr id="6" name="Picture 5" descr="Curva de troponina cardíaca (cTn, ng/mL) ao longo das horas na síndrome coronariana aguda, com limites de decisão do percentil 99 e ensaios de alta sensibilidade"/>
          <p:cNvPicPr>
            <a:picLocks noChangeAspect="1"/>
          </p:cNvPicPr>
          <p:nvPr/>
        </p:nvPicPr>
        <p:blipFill>
          <a:blip r:embed="rId2"/>
          <a:stretch>
            <a:fillRect/>
          </a:stretch>
        </p:blipFill>
        <p:spPr>
          <a:xfrm>
            <a:off x="711403" y="1417320"/>
            <a:ext cx="5559509" cy="4600000"/>
          </a:xfrm>
          <a:prstGeom prst="rect">
            <a:avLst/>
          </a:prstGeom>
        </p:spPr>
      </p:pic>
      <p:graphicFrame>
        <p:nvGraphicFramePr>
          <p:cNvPr id="6" name="Tabela"/>
          <p:cNvGraphicFramePr>
            <a:graphicFrameLocks noGrp="1"/>
          </p:cNvGraphicFramePr>
          <p:nvPr/>
        </p:nvGraphicFramePr>
        <p:xfrm>
          <a:off x="6620912" y="3079300"/>
          <a:ext cx="4862123" cy="1276040"/>
        </p:xfrm>
        <a:graphic>
          <a:graphicData uri="http://schemas.openxmlformats.org/drawingml/2006/table">
            <a:tbl>
              <a:tblPr firstRow="1"/>
              <a:tblGrid>
                <a:gridCol w="1458636"/>
                <a:gridCol w="1944849"/>
                <a:gridCol w="1458636"/>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cTn Assay</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Diagnostic cutoff</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Implementation</a:t>
                      </a:r>
                      <a:endParaRPr lang="pt-BR" sz="1300" dirty="0"/>
                    </a:p>
                  </a:txBody>
                  <a:tcPr marL="91440" marR="91440" marT="54864" marB="54864" anchor="ctr">
                    <a:lnL w="0">
                      <a:noFill/>
                    </a:lnL>
                    <a:lnR w="0">
                      <a:noFill/>
                    </a:lnR>
                    <a:lnT w="0">
                      <a:noFill/>
                    </a:lnT>
                    <a:lnB w="0">
                      <a:noFill/>
                    </a:lnB>
                    <a:solidFill>
                      <a:srgbClr val="4E7C8B"/>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TnI</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1.5 ng/mL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1995</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cTnI</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0.10 ng/mL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2003</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TnI-Ultra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0.04 ng/mL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2007</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28970098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Algoritmo da troponina</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Há injúria miocárdica?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Ascensão ou queda &gt; 20% (percentil 99)</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Injúria por isquemia ou outras causas?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 isquemia é IAM</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Injúria aguda ou crônica?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Crônica: platô máximo de 20%</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Importante no ECG normal </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36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7297358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Outros mecanismos de injúria</a:t>
            </a:r>
            <a:endParaRPr lang="pt-BR" dirty="0" sz="3200"/>
          </a:p>
        </p:txBody>
      </p:sp>
      <p:sp>
        <p:nvSpPr>
          <p:cNvPr id="3" name="Espaço Reservado para Conteúdo 2"/>
          <p:cNvSpPr>
            <a:spLocks noGrp="1"/>
          </p:cNvSpPr>
          <p:nvPr>
            <p:ph idx="1"/>
          </p:nvPr>
        </p:nvSpPr>
        <p:spPr>
          <a:xfrm>
            <a:off x="711403" y="1417320"/>
            <a:ext cx="10771632" cy="3721608"/>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Não relacionados com isquemia miocárdica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Contusão, cirurgia cardíaca, ablação, </a:t>
            </a:r>
            <a:r>
              <a:rPr lang="pt-BR" dirty="0" err="1" smtClean="0" sz="1300" b="0">
                <a:solidFill>
                  <a:srgbClr val="5F6468"/>
                </a:solidFill>
                <a:latin typeface="Roboto"/>
                <a:ea typeface="Roboto"/>
                <a:cs typeface="Roboto"/>
              </a:rPr>
              <a:t>pacing</a:t>
            </a:r>
            <a:r>
              <a:rPr lang="pt-BR" dirty="0" smtClean="0" sz="1300" b="0">
                <a:solidFill>
                  <a:srgbClr val="5F6468"/>
                </a:solidFill>
                <a:latin typeface="Roboto"/>
                <a:ea typeface="Roboto"/>
                <a:cs typeface="Roboto"/>
              </a:rPr>
              <a:t>, CVE</a:t>
            </a:r>
            <a:endParaRPr sz="2400" lang="pt-BR"/>
          </a:p>
          <a:p>
            <a:pPr marL="285750" indent="-285750" algn="l">
              <a:lnSpc>
                <a:spcPct val="140000"/>
              </a:lnSpc>
              <a:spcBef>
                <a:spcPts val="0"/>
              </a:spcBef>
              <a:spcAft>
                <a:spcPts val="600"/>
              </a:spcAft>
              <a:buClr>
                <a:srgbClr val="4E7C8B"/>
              </a:buClr>
              <a:buFont typeface="Arial"/>
              <a:buChar char="•"/>
            </a:pPr>
            <a:r>
              <a:rPr lang="pt-BR" dirty="0" err="1" smtClean="0" sz="1300" b="0">
                <a:solidFill>
                  <a:srgbClr val="5F6468"/>
                </a:solidFill>
                <a:latin typeface="Roboto"/>
                <a:ea typeface="Roboto"/>
                <a:cs typeface="Roboto"/>
              </a:rPr>
              <a:t>Rabdomiólise</a:t>
            </a:r>
            <a:r>
              <a:rPr lang="pt-BR" dirty="0" smtClean="0" sz="1300" b="0">
                <a:solidFill>
                  <a:srgbClr val="5F6468"/>
                </a:solidFill>
                <a:latin typeface="Roboto"/>
                <a:ea typeface="Roboto"/>
                <a:cs typeface="Roboto"/>
              </a:rPr>
              <a:t>, miocardite (chagásica)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Drogas </a:t>
            </a:r>
            <a:r>
              <a:rPr lang="pt-BR" dirty="0" err="1" smtClean="0" sz="1300" b="0">
                <a:solidFill>
                  <a:srgbClr val="5F6468"/>
                </a:solidFill>
                <a:latin typeface="Roboto"/>
                <a:ea typeface="Roboto"/>
                <a:cs typeface="Roboto"/>
              </a:rPr>
              <a:t>cardiotóxicas</a:t>
            </a:r>
            <a:r>
              <a:rPr lang="pt-BR" dirty="0" smtClean="0" sz="1300" b="0">
                <a:solidFill>
                  <a:srgbClr val="5F6468"/>
                </a:solidFill>
                <a:latin typeface="Roboto"/>
                <a:ea typeface="Roboto"/>
                <a:cs typeface="Roboto"/>
              </a:rPr>
              <a:t> (</a:t>
            </a:r>
            <a:r>
              <a:rPr lang="pt-BR" dirty="0" err="1" smtClean="0" sz="1300" b="0">
                <a:solidFill>
                  <a:srgbClr val="5F6468"/>
                </a:solidFill>
                <a:latin typeface="Roboto"/>
                <a:ea typeface="Roboto"/>
                <a:cs typeface="Roboto"/>
              </a:rPr>
              <a:t>miocitotóxico</a:t>
            </a:r>
            <a:r>
              <a:rPr lang="pt-BR" dirty="0" smtClean="0" sz="1300" b="0">
                <a:solidFill>
                  <a:srgbClr val="5F6468"/>
                </a:solidFill>
                <a:latin typeface="Roboto"/>
                <a:ea typeface="Roboto"/>
                <a:cs typeface="Roboto"/>
              </a:rPr>
              <a:t>)</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Multifatorial ou indeterminada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IC, Cardiomiopatia de estresse (</a:t>
            </a:r>
            <a:r>
              <a:rPr lang="pt-BR" dirty="0" err="1" smtClean="0" sz="1300" b="0">
                <a:solidFill>
                  <a:srgbClr val="5F6468"/>
                </a:solidFill>
                <a:latin typeface="Roboto"/>
                <a:ea typeface="Roboto"/>
                <a:cs typeface="Roboto"/>
              </a:rPr>
              <a:t>Takotsubo</a:t>
            </a:r>
            <a:r>
              <a:rPr lang="pt-BR" dirty="0" smtClean="0" sz="1300" b="0">
                <a:solidFill>
                  <a:srgbClr val="5F6468"/>
                </a:solidFill>
                <a:latin typeface="Roboto"/>
                <a:ea typeface="Roboto"/>
                <a:cs typeface="Roboto"/>
              </a:rPr>
              <a:t>), </a:t>
            </a:r>
            <a:r>
              <a:rPr lang="pt-BR" dirty="0" err="1" smtClean="0" sz="1300" b="0">
                <a:solidFill>
                  <a:srgbClr val="5F6468"/>
                </a:solidFill>
                <a:latin typeface="Roboto"/>
                <a:ea typeface="Roboto"/>
                <a:cs typeface="Roboto"/>
              </a:rPr>
              <a:t>Amiloidose</a:t>
            </a:r>
            <a:r>
              <a:rPr lang="pt-BR" dirty="0" smtClean="0" sz="1300" b="0">
                <a:solidFill>
                  <a:srgbClr val="5F6468"/>
                </a:solidFill>
                <a:latin typeface="Roboto"/>
                <a:ea typeface="Roboto"/>
                <a:cs typeface="Roboto"/>
              </a:rPr>
              <a:t>, Sarcoidose</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Embolia pulmonar, IR, Sepsis</a:t>
            </a:r>
            <a:r>
              <a:rPr lang="pt-BR" dirty="0" err="1" smtClean="0" sz="1300" b="0">
                <a:solidFill>
                  <a:srgbClr val="5F6468"/>
                </a:solidFill>
                <a:latin typeface="Roboto"/>
                <a:ea typeface="Roboto"/>
                <a:cs typeface="Roboto"/>
              </a:rPr>
              <a:t/>
            </a:r>
            <a:r>
              <a:rPr lang="pt-BR" dirty="0" smtClean="0" sz="1300" b="0">
                <a:solidFill>
                  <a:srgbClr val="5F6468"/>
                </a:solidFill>
                <a:latin typeface="Roboto"/>
                <a:ea typeface="Roboto"/>
                <a:cs typeface="Roboto"/>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AVC, Exercícios intensos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Catecolaminas</a:t>
            </a:r>
            <a:endParaRPr sz="2400" lang="pt-BR"/>
          </a:p>
        </p:txBody>
      </p:sp>
      <p:sp>
        <p:nvSpPr>
          <p:cNvPr id="4" name="Siglas (revisão)"/>
          <p:cNvSpPr txBox="1"/>
          <p:nvPr/>
        </p:nvSpPr>
        <p:spPr>
          <a:xfrm>
            <a:off x="711403" y="5230368"/>
            <a:ext cx="10771632" cy="612647"/>
          </a:xfrm>
          <a:prstGeom prst="rect">
            <a:avLst/>
          </a:prstGeom>
          <a:noFill/>
        </p:spPr>
        <p:txBody>
          <a:bodyPr wrap="square" tIns="27432" bIns="27432" anchor="b"/>
          <a:lstStyle/>
          <a:p>
            <a:pPr algn="l">
              <a:lnSpc>
                <a:spcPct val="120000"/>
              </a:lnSpc>
              <a:spcBef>
                <a:spcPts val="0"/>
              </a:spcBef>
              <a:spcAft>
                <a:spcPts val="0"/>
              </a:spcAft>
            </a:pPr>
            <a:r>
              <a:rPr sz="1200">
                <a:solidFill>
                  <a:srgbClr val="4E7C8B"/>
                </a:solidFill>
                <a:latin typeface="Roboto Medium"/>
                <a:ea typeface="Roboto Medium"/>
                <a:cs typeface="Roboto Medium"/>
              </a:rPr>
              <a:t>Siglas: CVE = cardioversão elétrica.</a:t>
            </a:r>
          </a:p>
          <a:p>
            <a:pPr algn="l">
              <a:lnSpc>
                <a:spcPct val="120000"/>
              </a:lnSpc>
              <a:spcBef>
                <a:spcPts val="0"/>
              </a:spcBef>
              <a:spcAft>
                <a:spcPts val="0"/>
              </a:spcAft>
            </a:pPr>
            <a:r>
              <a:rPr sz="1200">
                <a:solidFill>
                  <a:srgbClr val="4E7C8B"/>
                </a:solidFill>
                <a:latin typeface="Roboto Medium"/>
                <a:ea typeface="Roboto Medium"/>
                <a:cs typeface="Roboto Medium"/>
              </a:rPr>
              <a:t>Siglas: IC = insuficiência cardíaca; AVC = acidente vascular cerebral.</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12391996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Estratégias de análise da troponina</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Algoritmo de escolha: hora 0 e hora 1 (variação delta)</a:t>
            </a:r>
            <a:endParaRPr sz="2400" lang="pt-BR"/>
          </a:p>
          <a:p>
            <a:pPr marL="0" indent="0" algn="l">
              <a:lnSpc>
                <a:spcPct val="140000"/>
              </a:lnSpc>
              <a:spcBef>
                <a:spcPts val="0"/>
              </a:spcBef>
              <a:spcAft>
                <a:spcPts val="0"/>
              </a:spcAft>
              <a:buNone/>
              <a:buNone/>
            </a:pPr>
            <a:endParaRPr lang="pt-BR" dirty="0" smtClean="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Sintomas &gt; 3 horas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Uma dosagem </a:t>
            </a:r>
            <a:endParaRPr lang="pt-BR" dirty="0" sz="2400"/>
          </a:p>
          <a:p>
            <a:pPr marL="0" indent="0" algn="l">
              <a:lnSpc>
                <a:spcPct val="140000"/>
              </a:lnSpc>
              <a:spcBef>
                <a:spcPts val="0"/>
              </a:spcBef>
              <a:spcAft>
                <a:spcPts val="0"/>
              </a:spcAft>
              <a:buNone/>
              <a:buNone/>
            </a:pPr>
            <a:endParaRPr lang="pt-BR" dirty="0" smtClean="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Sintomas &lt; 3 horas</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Segunda coleta em 1 ou 2 horas</a:t>
            </a:r>
            <a:endParaRPr sz="2400" lang="pt-BR"/>
          </a:p>
          <a:p>
            <a:pPr marL="0" indent="0" algn="l">
              <a:lnSpc>
                <a:spcPct val="140000"/>
              </a:lnSpc>
              <a:spcBef>
                <a:spcPts val="0"/>
              </a:spcBef>
              <a:spcAft>
                <a:spcPts val="0"/>
              </a:spcAft>
              <a:buNone/>
              <a:buNone/>
            </a:pPr>
            <a:endParaRPr lang="pt-BR" dirty="0" sz="2400"/>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Positiva: percentil 99, ou 5 xx em qualquer momento</a:t>
            </a:r>
            <a:r>
              <a:rPr lang="pt-BR" dirty="0" err="1" smtClean="0" sz="1300" b="0">
                <a:solidFill>
                  <a:srgbClr val="5F6468"/>
                </a:solidFill>
                <a:latin typeface="Roboto"/>
                <a:ea typeface="Roboto"/>
                <a:cs typeface="Roboto"/>
              </a:rPr>
              <a:t/>
            </a:r>
            <a:r>
              <a:rPr lang="pt-BR" dirty="0" smtClean="0" sz="1300" b="0">
                <a:solidFill>
                  <a:srgbClr val="5F6468"/>
                </a:solidFill>
                <a:latin typeface="Roboto"/>
                <a:ea typeface="Roboto"/>
                <a:cs typeface="Roboto"/>
              </a:rPr>
              <a:t/>
            </a:r>
            <a:r>
              <a:rPr lang="pt-BR" dirty="0" err="1" smtClean="0" sz="1300" b="0">
                <a:solidFill>
                  <a:srgbClr val="5F6468"/>
                </a:solidFill>
                <a:latin typeface="Roboto"/>
                <a:ea typeface="Roboto"/>
                <a:cs typeface="Roboto"/>
              </a:rPr>
              <a:t/>
            </a:r>
            <a:r>
              <a:rPr lang="pt-BR" dirty="0" smtClean="0" sz="1300" b="0">
                <a:solidFill>
                  <a:srgbClr val="5F6468"/>
                </a:solidFill>
                <a:latin typeface="Roboto"/>
                <a:ea typeface="Roboto"/>
                <a:cs typeface="Roboto"/>
              </a:rPr>
              <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Níveis intermediários: solicitar terceira dosagem</a:t>
            </a:r>
            <a:r>
              <a:rPr lang="pt-BR" dirty="0" sz="1300" b="0">
                <a:solidFill>
                  <a:srgbClr val="5F6468"/>
                </a:solidFill>
                <a:latin typeface="Roboto"/>
                <a:ea typeface="Roboto"/>
                <a:cs typeface="Roboto"/>
              </a:rPr>
              <a:t>	</a:t>
            </a:r>
            <a:endParaRPr sz="2400" lang="pt-B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38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6860894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Tipos de IAM</a:t>
            </a:r>
            <a:endParaRPr lang="pt-BR" dirty="0" sz="3200"/>
          </a:p>
        </p:txBody>
      </p:sp>
      <p:sp>
        <p:nvSpPr>
          <p:cNvPr id="3" name="Espaço Reservado para Conteúdo 2"/>
          <p:cNvSpPr>
            <a:spLocks noGrp="1"/>
          </p:cNvSpPr>
          <p:nvPr>
            <p:ph idx="1"/>
          </p:nvPr>
        </p:nvSpPr>
        <p:spPr>
          <a:xfrm>
            <a:off x="711403" y="1417320"/>
            <a:ext cx="10771632" cy="4425696"/>
          </a:xfrm>
        </p:spPr>
        <p:txBody>
          <a:bodyPr wrap="square" anchor="t"/>
          <a:lstStyle/>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1</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Oclusão coronariana por ruptura de placa ou êmbolo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2</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Desequilíbrio entre oferta e demanda de oxigênio</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3</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Morte súbita</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4</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Angioplastia coronariana transluminal percutânea (ACTP)</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TIPO 5</a:t>
            </a:r>
            <a:endParaRPr sz="2400" lang="pt-BR"/>
          </a:p>
          <a:p>
            <a:pPr marL="285750" indent="-285750" algn="l">
              <a:lnSpc>
                <a:spcPct val="140000"/>
              </a:lnSpc>
              <a:spcBef>
                <a:spcPts val="0"/>
              </a:spcBef>
              <a:spcAft>
                <a:spcPts val="600"/>
              </a:spcAft>
              <a:buClr>
                <a:srgbClr val="4E7C8B"/>
              </a:buClr>
              <a:buFont typeface="Arial"/>
              <a:buChar char="•"/>
            </a:pPr>
            <a:r>
              <a:rPr lang="pt-BR" dirty="0" smtClean="0" sz="1300" b="0">
                <a:solidFill>
                  <a:srgbClr val="5F6468"/>
                </a:solidFill>
                <a:latin typeface="Roboto"/>
                <a:ea typeface="Roboto"/>
                <a:cs typeface="Roboto"/>
              </a:rPr>
              <a:t>Cirurgia de revascularização do miocárdio (CRM)</a:t>
            </a:r>
            <a:endParaRPr lang="pt-BR" dirty="0" sz="2400"/>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39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8311548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4" name="Espaço Reservado para Conteúdo 3"/>
          <p:cNvPicPr>
            <a:picLocks noGrp="1" noChangeAspect="1"/>
          </p:cNvPicPr>
          <p:nvPr>
            <p:ph idx="1"/>
          </p:nvPr>
        </p:nvPicPr>
        <p:blipFill>
          <a:blip r:embed="rId2"/>
          <a:stretch>
            <a:fillRect/>
          </a:stretch>
        </p:blipFill>
        <p:spPr>
          <a:xfrm>
            <a:off x="2793548" y="558698"/>
            <a:ext cx="6607341" cy="5284317"/>
          </a:xfrm>
          <a:prstGeom prst="rect">
            <a:avLst/>
          </a:prstGeom>
        </p:spPr>
      </p:pic>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40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31557694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Fluxos 0-1h e 0-2h – Troponina cardíaca de alta sensibilidade (TCas)</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19" name="Nota"/>
          <p:cNvSpPr txBox="1"/>
          <p:nvPr/>
        </p:nvSpPr>
        <p:spPr>
          <a:xfrm>
            <a:off x="713232" y="5685952"/>
            <a:ext cx="10771632" cy="384048"/>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(ver tópico 4.3.3 e figuras 13 e 14). Na impossibilidade de realizar coleta em 1 ou 2 horas, coletar em 3 horas (ver figura 11B).</a:t>
            </a:r>
          </a:p>
        </p:txBody>
      </p:sp>
      <p:sp>
        <p:nvSpPr>
          <p:cNvPr id="320" name="Fim/Início"/>
          <p:cNvSpPr/>
          <p:nvPr/>
        </p:nvSpPr>
        <p:spPr>
          <a:xfrm>
            <a:off x="713232" y="1600200"/>
            <a:ext cx="2468880" cy="384048"/>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PRIMEIRA ESCOLHA</a:t>
            </a:r>
          </a:p>
        </p:txBody>
      </p:sp>
      <p:sp>
        <p:nvSpPr>
          <p:cNvPr id="321" name="Etapa"/>
          <p:cNvSpPr/>
          <p:nvPr/>
        </p:nvSpPr>
        <p:spPr>
          <a:xfrm>
            <a:off x="713232" y="2350008"/>
            <a:ext cx="1645920" cy="9144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Coletar na admissão (0h)</a:t>
            </a:r>
          </a:p>
        </p:txBody>
      </p:sp>
      <p:cxnSp>
        <p:nvCxnSpPr>
          <p:cNvPr id="322" name="Seta"/>
          <p:cNvCxnSpPr/>
          <p:nvPr/>
        </p:nvCxnSpPr>
        <p:spPr>
          <a:xfrm>
            <a:off x="2359152" y="2807208"/>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 name="Decisão"/>
          <p:cNvGrpSpPr/>
          <p:nvPr/>
        </p:nvGrpSpPr>
        <p:grpSpPr>
          <a:xfrm>
            <a:off x="2633472" y="2148840"/>
            <a:ext cx="2468880" cy="1325880"/>
            <a:chOff x="2633472" y="2148840"/>
            <a:chExt cx="2468880" cy="1325880"/>
          </a:xfrm>
        </p:grpSpPr>
        <p:sp>
          <p:nvSpPr>
            <p:cNvPr id="323" name="Diamond 322"/>
            <p:cNvSpPr/>
            <p:nvPr/>
          </p:nvSpPr>
          <p:spPr>
            <a:xfrm>
              <a:off x="2633472" y="2148840"/>
              <a:ext cx="2468880" cy="132588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3102559" y="2387498"/>
              <a:ext cx="1530705" cy="848563"/>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Nível elevado</a:t>
              </a:r>
            </a:p>
            <a:p>
              <a:pPr algn="ctr">
                <a:lnSpc>
                  <a:spcPct val="100000"/>
                </a:lnSpc>
                <a:spcAft>
                  <a:spcPts val="300"/>
                </a:spcAft>
                <a:buNone/>
              </a:pPr>
              <a:r>
                <a:rPr sz="1600" b="0">
                  <a:solidFill>
                    <a:srgbClr val="1F3238"/>
                  </a:solidFill>
                  <a:latin typeface="Roboto Medium"/>
                  <a:ea typeface="Roboto Medium"/>
                  <a:cs typeface="Roboto Medium"/>
                </a:rPr>
                <a:t>(Tabela 26)?</a:t>
              </a:r>
            </a:p>
          </p:txBody>
        </p:sp>
      </p:grpSp>
      <p:cxnSp>
        <p:nvCxnSpPr>
          <p:cNvPr id="325" name="Seta"/>
          <p:cNvCxnSpPr/>
          <p:nvPr/>
        </p:nvCxnSpPr>
        <p:spPr>
          <a:xfrm>
            <a:off x="5102352" y="2807208"/>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6" name="Rótulo"/>
          <p:cNvSpPr txBox="1"/>
          <p:nvPr/>
        </p:nvSpPr>
        <p:spPr>
          <a:xfrm>
            <a:off x="4937760" y="242316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grpSp>
        <p:nvGrpSpPr>
          <p:cNvPr id="6" name="Decisão"/>
          <p:cNvGrpSpPr/>
          <p:nvPr/>
        </p:nvGrpSpPr>
        <p:grpSpPr>
          <a:xfrm>
            <a:off x="5376672" y="2103120"/>
            <a:ext cx="3931920" cy="1417320"/>
            <a:chOff x="5376672" y="2103120"/>
            <a:chExt cx="3931920" cy="1417320"/>
          </a:xfrm>
        </p:grpSpPr>
        <p:sp>
          <p:nvSpPr>
            <p:cNvPr id="327" name="Diamond 326"/>
            <p:cNvSpPr/>
            <p:nvPr/>
          </p:nvSpPr>
          <p:spPr>
            <a:xfrm>
              <a:off x="5376672" y="2103120"/>
              <a:ext cx="3931920"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5742431" y="2358237"/>
              <a:ext cx="3200400" cy="907084"/>
            </a:xfrm>
            <a:prstGeom prst="rect">
              <a:avLst/>
            </a:prstGeom>
            <a:noFill/>
          </p:spPr>
          <p:txBody>
            <a:bodyPr wrap="square" anchor="ctr" lIns="0" rIns="0" tIns="36576" bIns="36576">
              <a:spAutoFit/>
            </a:bodyPr>
            <a:lstStyle/>
            <a:p>
              <a:pPr algn="ctr">
                <a:lnSpc>
                  <a:spcPct val="100000"/>
                </a:lnSpc>
                <a:spcAft>
                  <a:spcPts val="300"/>
                </a:spcAft>
                <a:buNone/>
              </a:pPr>
              <a:r>
                <a:rPr sz="1500" b="0">
                  <a:solidFill>
                    <a:srgbClr val="1F3238"/>
                  </a:solidFill>
                  <a:latin typeface="Roboto Medium"/>
                  <a:ea typeface="Roboto Medium"/>
                  <a:cs typeface="Roboto Medium"/>
                </a:rPr>
                <a:t>Tempo do sintoma &gt; 3h e</a:t>
              </a:r>
            </a:p>
            <a:p>
              <a:pPr algn="ctr">
                <a:lnSpc>
                  <a:spcPct val="100000"/>
                </a:lnSpc>
                <a:spcAft>
                  <a:spcPts val="300"/>
                </a:spcAft>
                <a:buNone/>
              </a:pPr>
              <a:r>
                <a:rPr sz="1500" b="0">
                  <a:solidFill>
                    <a:srgbClr val="1F3238"/>
                  </a:solidFill>
                  <a:latin typeface="Roboto Medium"/>
                  <a:ea typeface="Roboto Medium"/>
                  <a:cs typeface="Roboto Medium"/>
                </a:rPr>
                <a:t>valor muito baixo de TCas</a:t>
              </a:r>
            </a:p>
            <a:p>
              <a:pPr algn="ctr">
                <a:lnSpc>
                  <a:spcPct val="100000"/>
                </a:lnSpc>
                <a:spcAft>
                  <a:spcPts val="300"/>
                </a:spcAft>
                <a:buNone/>
              </a:pPr>
              <a:r>
                <a:rPr sz="1500" b="0">
                  <a:solidFill>
                    <a:srgbClr val="1F3238"/>
                  </a:solidFill>
                  <a:latin typeface="Roboto Medium"/>
                  <a:ea typeface="Roboto Medium"/>
                  <a:cs typeface="Roboto Medium"/>
                </a:rPr>
                <a:t>(indetectável)?</a:t>
              </a:r>
            </a:p>
          </p:txBody>
        </p:sp>
      </p:grpSp>
      <p:cxnSp>
        <p:nvCxnSpPr>
          <p:cNvPr id="329" name="Seta"/>
          <p:cNvCxnSpPr/>
          <p:nvPr/>
        </p:nvCxnSpPr>
        <p:spPr>
          <a:xfrm>
            <a:off x="9308592" y="2807208"/>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0" name="Rótulo"/>
          <p:cNvSpPr txBox="1"/>
          <p:nvPr/>
        </p:nvSpPr>
        <p:spPr>
          <a:xfrm>
            <a:off x="8823960" y="242316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331" name="Etapa"/>
          <p:cNvSpPr/>
          <p:nvPr/>
        </p:nvSpPr>
        <p:spPr>
          <a:xfrm>
            <a:off x="9582912" y="2350008"/>
            <a:ext cx="1901952" cy="9144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Novas coletas em 1 ou 2 h*</a:t>
            </a:r>
          </a:p>
        </p:txBody>
      </p:sp>
      <p:cxnSp>
        <p:nvCxnSpPr>
          <p:cNvPr id="332" name="Seta"/>
          <p:cNvCxnSpPr/>
          <p:nvPr/>
        </p:nvCxnSpPr>
        <p:spPr>
          <a:xfrm>
            <a:off x="3867912" y="347472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3" name="Rótulo"/>
          <p:cNvSpPr txBox="1"/>
          <p:nvPr/>
        </p:nvSpPr>
        <p:spPr>
          <a:xfrm>
            <a:off x="3931920" y="3364992"/>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334" name="Status"/>
          <p:cNvSpPr/>
          <p:nvPr/>
        </p:nvSpPr>
        <p:spPr>
          <a:xfrm>
            <a:off x="2633472" y="3657600"/>
            <a:ext cx="2468880" cy="594360"/>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IN</a:t>
            </a:r>
          </a:p>
          <a:p>
            <a:pPr algn="ctr">
              <a:lnSpc>
                <a:spcPct val="100000"/>
              </a:lnSpc>
              <a:spcAft>
                <a:spcPts val="300"/>
              </a:spcAft>
              <a:buNone/>
            </a:pPr>
            <a:r>
              <a:rPr sz="1600" b="0">
                <a:solidFill>
                  <a:srgbClr val="FBFCFC"/>
                </a:solidFill>
                <a:latin typeface="Roboto"/>
                <a:ea typeface="Roboto"/>
                <a:cs typeface="Roboto"/>
              </a:rPr>
              <a:t>Admissão do paciente</a:t>
            </a:r>
          </a:p>
        </p:txBody>
      </p:sp>
      <p:cxnSp>
        <p:nvCxnSpPr>
          <p:cNvPr id="335" name="Seta"/>
          <p:cNvCxnSpPr/>
          <p:nvPr/>
        </p:nvCxnSpPr>
        <p:spPr>
          <a:xfrm>
            <a:off x="7342631" y="3520440"/>
            <a:ext cx="0" cy="13716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6" name="Rótulo"/>
          <p:cNvSpPr txBox="1"/>
          <p:nvPr/>
        </p:nvSpPr>
        <p:spPr>
          <a:xfrm>
            <a:off x="7406640" y="3364992"/>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337" name="Status"/>
          <p:cNvSpPr/>
          <p:nvPr/>
        </p:nvSpPr>
        <p:spPr>
          <a:xfrm>
            <a:off x="5376672" y="3657600"/>
            <a:ext cx="3931920" cy="594360"/>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OUT</a:t>
            </a:r>
          </a:p>
          <a:p>
            <a:pPr algn="ctr">
              <a:lnSpc>
                <a:spcPct val="100000"/>
              </a:lnSpc>
              <a:spcAft>
                <a:spcPts val="300"/>
              </a:spcAft>
              <a:buNone/>
            </a:pPr>
            <a:r>
              <a:rPr sz="1600" b="0">
                <a:solidFill>
                  <a:srgbClr val="FBFCFC"/>
                </a:solidFill>
                <a:latin typeface="Roboto"/>
                <a:ea typeface="Roboto"/>
                <a:cs typeface="Roboto"/>
              </a:rPr>
              <a:t>Descarte do diagnóstico de IAM</a:t>
            </a:r>
          </a:p>
        </p:txBody>
      </p:sp>
      <p:cxnSp>
        <p:nvCxnSpPr>
          <p:cNvPr id="338" name="Seta"/>
          <p:cNvCxnSpPr/>
          <p:nvPr/>
        </p:nvCxnSpPr>
        <p:spPr>
          <a:xfrm>
            <a:off x="10533888" y="3264408"/>
            <a:ext cx="0" cy="1810512"/>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 name="Decisão"/>
          <p:cNvGrpSpPr/>
          <p:nvPr/>
        </p:nvGrpSpPr>
        <p:grpSpPr>
          <a:xfrm>
            <a:off x="8229600" y="4434840"/>
            <a:ext cx="2743200" cy="1280160"/>
            <a:chOff x="8229600" y="4434840"/>
            <a:chExt cx="2743200" cy="1280160"/>
          </a:xfrm>
        </p:grpSpPr>
        <p:sp>
          <p:nvSpPr>
            <p:cNvPr id="339" name="Diamond 338"/>
            <p:cNvSpPr/>
            <p:nvPr/>
          </p:nvSpPr>
          <p:spPr>
            <a:xfrm>
              <a:off x="8229600" y="4434840"/>
              <a:ext cx="2743200" cy="128016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8686800" y="4665268"/>
              <a:ext cx="1828800" cy="819302"/>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Conduta</a:t>
              </a:r>
            </a:p>
            <a:p>
              <a:pPr algn="ctr">
                <a:lnSpc>
                  <a:spcPct val="100000"/>
                </a:lnSpc>
                <a:spcAft>
                  <a:spcPts val="300"/>
                </a:spcAft>
                <a:buNone/>
              </a:pPr>
              <a:r>
                <a:rPr sz="1600" b="0">
                  <a:solidFill>
                    <a:srgbClr val="1F3238"/>
                  </a:solidFill>
                  <a:latin typeface="Roboto Medium"/>
                  <a:ea typeface="Roboto Medium"/>
                  <a:cs typeface="Roboto Medium"/>
                </a:rPr>
                <a:t>conforme</a:t>
              </a:r>
            </a:p>
            <a:p>
              <a:pPr algn="ctr">
                <a:lnSpc>
                  <a:spcPct val="100000"/>
                </a:lnSpc>
                <a:spcAft>
                  <a:spcPts val="300"/>
                </a:spcAft>
                <a:buNone/>
              </a:pPr>
              <a:r>
                <a:rPr sz="1600" b="0">
                  <a:solidFill>
                    <a:srgbClr val="1F3238"/>
                  </a:solidFill>
                  <a:latin typeface="Roboto Medium"/>
                  <a:ea typeface="Roboto Medium"/>
                  <a:cs typeface="Roboto Medium"/>
                </a:rPr>
                <a:t>tabela 26</a:t>
              </a:r>
            </a:p>
          </p:txBody>
        </p:sp>
      </p:grpSp>
      <p:sp>
        <p:nvSpPr>
          <p:cNvPr id="341" name="Texto"/>
          <p:cNvSpPr txBox="1"/>
          <p:nvPr/>
        </p:nvSpPr>
        <p:spPr>
          <a:xfrm>
            <a:off x="713232" y="4453127"/>
            <a:ext cx="3200400" cy="384048"/>
          </a:xfrm>
          <a:prstGeom prst="rect">
            <a:avLst/>
          </a:prstGeom>
          <a:noFill/>
        </p:spPr>
        <p:txBody>
          <a:bodyPr wrap="square" anchor="ctr" lIns="18288" rIns="18288" tIns="36576" bIns="36576">
            <a:spAutoFit/>
          </a:bodyPr>
          <a:lstStyle/>
          <a:p>
            <a:pPr algn="r">
              <a:lnSpc>
                <a:spcPct val="100000"/>
              </a:lnSpc>
              <a:spcAft>
                <a:spcPts val="300"/>
              </a:spcAft>
              <a:buNone/>
            </a:pPr>
            <a:r>
              <a:rPr sz="1600" b="0">
                <a:solidFill>
                  <a:srgbClr val="5F6468"/>
                </a:solidFill>
                <a:latin typeface="Roboto"/>
                <a:ea typeface="Roboto"/>
                <a:cs typeface="Roboto"/>
              </a:rPr>
              <a:t>Níveis elevados e/ou com delta</a:t>
            </a:r>
          </a:p>
        </p:txBody>
      </p:sp>
      <p:sp>
        <p:nvSpPr>
          <p:cNvPr id="342" name="Status"/>
          <p:cNvSpPr/>
          <p:nvPr/>
        </p:nvSpPr>
        <p:spPr>
          <a:xfrm>
            <a:off x="4023360" y="4453127"/>
            <a:ext cx="3657600" cy="384048"/>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IN – Admissão do paciente</a:t>
            </a:r>
          </a:p>
        </p:txBody>
      </p:sp>
      <p:cxnSp>
        <p:nvCxnSpPr>
          <p:cNvPr id="343" name="Seta"/>
          <p:cNvCxnSpPr/>
          <p:nvPr/>
        </p:nvCxnSpPr>
        <p:spPr>
          <a:xfrm flipH="1">
            <a:off x="7955279" y="5074920"/>
            <a:ext cx="274321"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4" name="Seta"/>
          <p:cNvCxnSpPr/>
          <p:nvPr/>
        </p:nvCxnSpPr>
        <p:spPr>
          <a:xfrm flipV="1">
            <a:off x="7955279" y="4645151"/>
            <a:ext cx="0" cy="429769"/>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5" name="Seta"/>
          <p:cNvCxnSpPr/>
          <p:nvPr/>
        </p:nvCxnSpPr>
        <p:spPr>
          <a:xfrm flipH="1">
            <a:off x="7680960" y="4645151"/>
            <a:ext cx="274319"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6" name="Texto"/>
          <p:cNvSpPr txBox="1"/>
          <p:nvPr/>
        </p:nvSpPr>
        <p:spPr>
          <a:xfrm>
            <a:off x="713232" y="4873751"/>
            <a:ext cx="3200400" cy="384048"/>
          </a:xfrm>
          <a:prstGeom prst="rect">
            <a:avLst/>
          </a:prstGeom>
          <a:noFill/>
        </p:spPr>
        <p:txBody>
          <a:bodyPr wrap="square" anchor="ctr" lIns="18288" rIns="18288" tIns="36576" bIns="36576">
            <a:spAutoFit/>
          </a:bodyPr>
          <a:lstStyle/>
          <a:p>
            <a:pPr algn="r">
              <a:lnSpc>
                <a:spcPct val="100000"/>
              </a:lnSpc>
              <a:spcAft>
                <a:spcPts val="300"/>
              </a:spcAft>
              <a:buNone/>
            </a:pPr>
            <a:r>
              <a:rPr sz="1600" b="0">
                <a:solidFill>
                  <a:srgbClr val="5F6468"/>
                </a:solidFill>
                <a:latin typeface="Roboto"/>
                <a:ea typeface="Roboto"/>
                <a:cs typeface="Roboto"/>
              </a:rPr>
              <a:t>Níveis intermediários</a:t>
            </a:r>
          </a:p>
        </p:txBody>
      </p:sp>
      <p:sp>
        <p:nvSpPr>
          <p:cNvPr id="347" name="Status"/>
          <p:cNvSpPr/>
          <p:nvPr/>
        </p:nvSpPr>
        <p:spPr>
          <a:xfrm>
            <a:off x="4023360" y="4873751"/>
            <a:ext cx="3657600" cy="384048"/>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1F3238"/>
                </a:solidFill>
                <a:latin typeface="Roboto Medium"/>
                <a:ea typeface="Roboto Medium"/>
                <a:cs typeface="Roboto Medium"/>
              </a:rPr>
              <a:t>OBSERVAÇÃO</a:t>
            </a:r>
          </a:p>
        </p:txBody>
      </p:sp>
      <p:cxnSp>
        <p:nvCxnSpPr>
          <p:cNvPr id="348" name="Seta"/>
          <p:cNvCxnSpPr/>
          <p:nvPr/>
        </p:nvCxnSpPr>
        <p:spPr>
          <a:xfrm flipH="1">
            <a:off x="7955279" y="5074920"/>
            <a:ext cx="274321"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9" name="Seta"/>
          <p:cNvCxnSpPr/>
          <p:nvPr/>
        </p:nvCxnSpPr>
        <p:spPr>
          <a:xfrm flipV="1">
            <a:off x="7955279" y="5065775"/>
            <a:ext cx="0" cy="9145"/>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50" name="Seta"/>
          <p:cNvCxnSpPr/>
          <p:nvPr/>
        </p:nvCxnSpPr>
        <p:spPr>
          <a:xfrm flipH="1">
            <a:off x="7680960" y="5065775"/>
            <a:ext cx="274319"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1" name="Texto"/>
          <p:cNvSpPr txBox="1"/>
          <p:nvPr/>
        </p:nvSpPr>
        <p:spPr>
          <a:xfrm>
            <a:off x="713232" y="5294375"/>
            <a:ext cx="3200400" cy="384048"/>
          </a:xfrm>
          <a:prstGeom prst="rect">
            <a:avLst/>
          </a:prstGeom>
          <a:noFill/>
        </p:spPr>
        <p:txBody>
          <a:bodyPr wrap="square" anchor="ctr" lIns="18288" rIns="18288" tIns="36576" bIns="36576">
            <a:spAutoFit/>
          </a:bodyPr>
          <a:lstStyle/>
          <a:p>
            <a:pPr algn="r">
              <a:lnSpc>
                <a:spcPct val="100000"/>
              </a:lnSpc>
              <a:spcAft>
                <a:spcPts val="300"/>
              </a:spcAft>
              <a:buNone/>
            </a:pPr>
            <a:r>
              <a:rPr sz="1600" b="0">
                <a:solidFill>
                  <a:srgbClr val="5F6468"/>
                </a:solidFill>
                <a:latin typeface="Roboto"/>
                <a:ea typeface="Roboto"/>
                <a:cs typeface="Roboto"/>
              </a:rPr>
              <a:t>Níveis baixos e sem delta</a:t>
            </a:r>
          </a:p>
        </p:txBody>
      </p:sp>
      <p:sp>
        <p:nvSpPr>
          <p:cNvPr id="352" name="Status"/>
          <p:cNvSpPr/>
          <p:nvPr/>
        </p:nvSpPr>
        <p:spPr>
          <a:xfrm>
            <a:off x="4023360" y="5294375"/>
            <a:ext cx="3657600" cy="384048"/>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OUT – Descarte de IAM</a:t>
            </a:r>
          </a:p>
        </p:txBody>
      </p:sp>
      <p:cxnSp>
        <p:nvCxnSpPr>
          <p:cNvPr id="353" name="Seta"/>
          <p:cNvCxnSpPr/>
          <p:nvPr/>
        </p:nvCxnSpPr>
        <p:spPr>
          <a:xfrm flipH="1">
            <a:off x="7955279" y="5074920"/>
            <a:ext cx="274321"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54" name="Seta"/>
          <p:cNvCxnSpPr/>
          <p:nvPr/>
        </p:nvCxnSpPr>
        <p:spPr>
          <a:xfrm>
            <a:off x="7955279" y="5074920"/>
            <a:ext cx="0" cy="411479"/>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55" name="Seta"/>
          <p:cNvCxnSpPr/>
          <p:nvPr/>
        </p:nvCxnSpPr>
        <p:spPr>
          <a:xfrm flipH="1">
            <a:off x="7680960" y="5486399"/>
            <a:ext cx="274319"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78234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 0-3h – Troponina cardíaca de alta sensibilidade (TCas)</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20" name="Nota"/>
          <p:cNvSpPr txBox="1"/>
          <p:nvPr/>
        </p:nvSpPr>
        <p:spPr>
          <a:xfrm>
            <a:off x="713232" y="5685952"/>
            <a:ext cx="10771632" cy="384048"/>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(ver tópico 4.3.3 e figuras 13 e 14).</a:t>
            </a:r>
          </a:p>
        </p:txBody>
      </p:sp>
      <p:sp>
        <p:nvSpPr>
          <p:cNvPr id="321" name="Fim/Início"/>
          <p:cNvSpPr/>
          <p:nvPr/>
        </p:nvSpPr>
        <p:spPr>
          <a:xfrm>
            <a:off x="713232" y="1325880"/>
            <a:ext cx="2468880" cy="384048"/>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SEGUNDA ESCOLHA</a:t>
            </a:r>
          </a:p>
        </p:txBody>
      </p:sp>
      <p:sp>
        <p:nvSpPr>
          <p:cNvPr id="322" name="Texto"/>
          <p:cNvSpPr txBox="1"/>
          <p:nvPr/>
        </p:nvSpPr>
        <p:spPr>
          <a:xfrm>
            <a:off x="3383280" y="1271016"/>
            <a:ext cx="8101583" cy="548640"/>
          </a:xfrm>
          <a:prstGeom prst="rect">
            <a:avLst/>
          </a:prstGeom>
          <a:noFill/>
        </p:spPr>
        <p:txBody>
          <a:bodyPr wrap="square" anchor="ctr" lIns="18288" rIns="18288" tIns="36576" bIns="36576">
            <a:spAutoFit/>
          </a:bodyPr>
          <a:lstStyle/>
          <a:p>
            <a:pPr algn="l">
              <a:lnSpc>
                <a:spcPct val="100000"/>
              </a:lnSpc>
              <a:spcAft>
                <a:spcPts val="300"/>
              </a:spcAft>
              <a:buNone/>
            </a:pPr>
            <a:r>
              <a:rPr sz="1400" b="0">
                <a:solidFill>
                  <a:srgbClr val="737A7F"/>
                </a:solidFill>
                <a:latin typeface="Roboto"/>
                <a:ea typeface="Roboto"/>
                <a:cs typeface="Roboto"/>
              </a:rPr>
              <a:t>Alternativa a ser considerada quando não for possível realizar algoritmos de 0/1h ou 0/2h</a:t>
            </a:r>
          </a:p>
        </p:txBody>
      </p:sp>
      <p:sp>
        <p:nvSpPr>
          <p:cNvPr id="323" name="Etapa"/>
          <p:cNvSpPr/>
          <p:nvPr/>
        </p:nvSpPr>
        <p:spPr>
          <a:xfrm>
            <a:off x="713232" y="2075687"/>
            <a:ext cx="1645920" cy="9144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Coletar na admissão (0h)</a:t>
            </a:r>
          </a:p>
        </p:txBody>
      </p:sp>
      <p:cxnSp>
        <p:nvCxnSpPr>
          <p:cNvPr id="324" name="Seta"/>
          <p:cNvCxnSpPr/>
          <p:nvPr/>
        </p:nvCxnSpPr>
        <p:spPr>
          <a:xfrm>
            <a:off x="2359152" y="2532887"/>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 name="Decisão"/>
          <p:cNvGrpSpPr/>
          <p:nvPr/>
        </p:nvGrpSpPr>
        <p:grpSpPr>
          <a:xfrm>
            <a:off x="2633472" y="1874519"/>
            <a:ext cx="2468880" cy="1325880"/>
            <a:chOff x="2633472" y="1874519"/>
            <a:chExt cx="2468880" cy="1325880"/>
          </a:xfrm>
        </p:grpSpPr>
        <p:sp>
          <p:nvSpPr>
            <p:cNvPr id="325" name="Diamond 324"/>
            <p:cNvSpPr/>
            <p:nvPr/>
          </p:nvSpPr>
          <p:spPr>
            <a:xfrm>
              <a:off x="2633472" y="1874519"/>
              <a:ext cx="2468880" cy="132588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3102559" y="2113178"/>
              <a:ext cx="1530705" cy="848563"/>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Valor &gt; 5x</a:t>
              </a:r>
            </a:p>
            <a:p>
              <a:pPr algn="ctr">
                <a:lnSpc>
                  <a:spcPct val="100000"/>
                </a:lnSpc>
                <a:spcAft>
                  <a:spcPts val="300"/>
                </a:spcAft>
                <a:buNone/>
              </a:pPr>
              <a:r>
                <a:rPr sz="1600" b="0">
                  <a:solidFill>
                    <a:srgbClr val="1F3238"/>
                  </a:solidFill>
                  <a:latin typeface="Roboto Medium"/>
                  <a:ea typeface="Roboto Medium"/>
                  <a:cs typeface="Roboto Medium"/>
                </a:rPr>
                <a:t>percentil 99?</a:t>
              </a:r>
            </a:p>
          </p:txBody>
        </p:sp>
      </p:grpSp>
      <p:cxnSp>
        <p:nvCxnSpPr>
          <p:cNvPr id="327" name="Seta"/>
          <p:cNvCxnSpPr/>
          <p:nvPr/>
        </p:nvCxnSpPr>
        <p:spPr>
          <a:xfrm>
            <a:off x="5102352" y="2532887"/>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8" name="Rótulo"/>
          <p:cNvSpPr txBox="1"/>
          <p:nvPr/>
        </p:nvSpPr>
        <p:spPr>
          <a:xfrm>
            <a:off x="4937760" y="2148839"/>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grpSp>
        <p:nvGrpSpPr>
          <p:cNvPr id="6" name="Decisão"/>
          <p:cNvGrpSpPr/>
          <p:nvPr/>
        </p:nvGrpSpPr>
        <p:grpSpPr>
          <a:xfrm>
            <a:off x="5376672" y="1828799"/>
            <a:ext cx="3931920" cy="1417320"/>
            <a:chOff x="5376672" y="1828799"/>
            <a:chExt cx="3931920" cy="1417320"/>
          </a:xfrm>
        </p:grpSpPr>
        <p:sp>
          <p:nvSpPr>
            <p:cNvPr id="329" name="Diamond 328"/>
            <p:cNvSpPr/>
            <p:nvPr/>
          </p:nvSpPr>
          <p:spPr>
            <a:xfrm>
              <a:off x="5376672" y="1828799"/>
              <a:ext cx="3931920"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5742431" y="2083917"/>
              <a:ext cx="3200400" cy="907084"/>
            </a:xfrm>
            <a:prstGeom prst="rect">
              <a:avLst/>
            </a:prstGeom>
            <a:noFill/>
          </p:spPr>
          <p:txBody>
            <a:bodyPr wrap="square" anchor="ctr" lIns="0" rIns="0" tIns="36576" bIns="36576">
              <a:spAutoFit/>
            </a:bodyPr>
            <a:lstStyle/>
            <a:p>
              <a:pPr algn="ctr">
                <a:lnSpc>
                  <a:spcPct val="100000"/>
                </a:lnSpc>
                <a:spcAft>
                  <a:spcPts val="300"/>
                </a:spcAft>
                <a:buNone/>
              </a:pPr>
              <a:r>
                <a:rPr sz="1500" b="0">
                  <a:solidFill>
                    <a:srgbClr val="1F3238"/>
                  </a:solidFill>
                  <a:latin typeface="Roboto Medium"/>
                  <a:ea typeface="Roboto Medium"/>
                  <a:cs typeface="Roboto Medium"/>
                </a:rPr>
                <a:t>Tempo do sintoma &gt; 3h e</a:t>
              </a:r>
            </a:p>
            <a:p>
              <a:pPr algn="ctr">
                <a:lnSpc>
                  <a:spcPct val="100000"/>
                </a:lnSpc>
                <a:spcAft>
                  <a:spcPts val="300"/>
                </a:spcAft>
                <a:buNone/>
              </a:pPr>
              <a:r>
                <a:rPr sz="1500" b="0">
                  <a:solidFill>
                    <a:srgbClr val="1F3238"/>
                  </a:solidFill>
                  <a:latin typeface="Roboto Medium"/>
                  <a:ea typeface="Roboto Medium"/>
                  <a:cs typeface="Roboto Medium"/>
                </a:rPr>
                <a:t>valor muito baixo de TCas</a:t>
              </a:r>
            </a:p>
            <a:p>
              <a:pPr algn="ctr">
                <a:lnSpc>
                  <a:spcPct val="100000"/>
                </a:lnSpc>
                <a:spcAft>
                  <a:spcPts val="300"/>
                </a:spcAft>
                <a:buNone/>
              </a:pPr>
              <a:r>
                <a:rPr sz="1500" b="0">
                  <a:solidFill>
                    <a:srgbClr val="1F3238"/>
                  </a:solidFill>
                  <a:latin typeface="Roboto Medium"/>
                  <a:ea typeface="Roboto Medium"/>
                  <a:cs typeface="Roboto Medium"/>
                </a:rPr>
                <a:t>(indetectável)?</a:t>
              </a:r>
            </a:p>
          </p:txBody>
        </p:sp>
      </p:grpSp>
      <p:cxnSp>
        <p:nvCxnSpPr>
          <p:cNvPr id="331" name="Seta"/>
          <p:cNvCxnSpPr/>
          <p:nvPr/>
        </p:nvCxnSpPr>
        <p:spPr>
          <a:xfrm>
            <a:off x="9308592" y="2532887"/>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2" name="Rótulo"/>
          <p:cNvSpPr txBox="1"/>
          <p:nvPr/>
        </p:nvSpPr>
        <p:spPr>
          <a:xfrm>
            <a:off x="8823960" y="2148839"/>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333" name="Etapa"/>
          <p:cNvSpPr/>
          <p:nvPr/>
        </p:nvSpPr>
        <p:spPr>
          <a:xfrm>
            <a:off x="9582912" y="2075687"/>
            <a:ext cx="1901952" cy="9144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Nova coleta em 3 horas</a:t>
            </a:r>
          </a:p>
        </p:txBody>
      </p:sp>
      <p:cxnSp>
        <p:nvCxnSpPr>
          <p:cNvPr id="334" name="Seta"/>
          <p:cNvCxnSpPr/>
          <p:nvPr/>
        </p:nvCxnSpPr>
        <p:spPr>
          <a:xfrm>
            <a:off x="3867912" y="3200400"/>
            <a:ext cx="0" cy="182879"/>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5" name="Rótulo"/>
          <p:cNvSpPr txBox="1"/>
          <p:nvPr/>
        </p:nvSpPr>
        <p:spPr>
          <a:xfrm>
            <a:off x="3931920" y="3090672"/>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336" name="Status"/>
          <p:cNvSpPr/>
          <p:nvPr/>
        </p:nvSpPr>
        <p:spPr>
          <a:xfrm>
            <a:off x="2633472" y="3383279"/>
            <a:ext cx="2468880" cy="594360"/>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IN</a:t>
            </a:r>
          </a:p>
          <a:p>
            <a:pPr algn="ctr">
              <a:lnSpc>
                <a:spcPct val="100000"/>
              </a:lnSpc>
              <a:spcAft>
                <a:spcPts val="300"/>
              </a:spcAft>
              <a:buNone/>
            </a:pPr>
            <a:r>
              <a:rPr sz="1600" b="0">
                <a:solidFill>
                  <a:srgbClr val="FBFCFC"/>
                </a:solidFill>
                <a:latin typeface="Roboto"/>
                <a:ea typeface="Roboto"/>
                <a:cs typeface="Roboto"/>
              </a:rPr>
              <a:t>Admissão do paciente</a:t>
            </a:r>
          </a:p>
        </p:txBody>
      </p:sp>
      <p:cxnSp>
        <p:nvCxnSpPr>
          <p:cNvPr id="337" name="Seta"/>
          <p:cNvCxnSpPr/>
          <p:nvPr/>
        </p:nvCxnSpPr>
        <p:spPr>
          <a:xfrm>
            <a:off x="7342631" y="3246120"/>
            <a:ext cx="0" cy="137159"/>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8" name="Rótulo"/>
          <p:cNvSpPr txBox="1"/>
          <p:nvPr/>
        </p:nvSpPr>
        <p:spPr>
          <a:xfrm>
            <a:off x="7406640" y="3090672"/>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339" name="Status"/>
          <p:cNvSpPr/>
          <p:nvPr/>
        </p:nvSpPr>
        <p:spPr>
          <a:xfrm>
            <a:off x="5376672" y="3383279"/>
            <a:ext cx="3931920" cy="594360"/>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OUT</a:t>
            </a:r>
          </a:p>
          <a:p>
            <a:pPr algn="ctr">
              <a:lnSpc>
                <a:spcPct val="100000"/>
              </a:lnSpc>
              <a:spcAft>
                <a:spcPts val="300"/>
              </a:spcAft>
              <a:buNone/>
            </a:pPr>
            <a:r>
              <a:rPr sz="1600" b="0">
                <a:solidFill>
                  <a:srgbClr val="FBFCFC"/>
                </a:solidFill>
                <a:latin typeface="Roboto"/>
                <a:ea typeface="Roboto"/>
                <a:cs typeface="Roboto"/>
              </a:rPr>
              <a:t>Descarte do diagnóstico de IAM</a:t>
            </a:r>
          </a:p>
        </p:txBody>
      </p:sp>
      <p:cxnSp>
        <p:nvCxnSpPr>
          <p:cNvPr id="340" name="Seta"/>
          <p:cNvCxnSpPr/>
          <p:nvPr/>
        </p:nvCxnSpPr>
        <p:spPr>
          <a:xfrm>
            <a:off x="10533888" y="2990087"/>
            <a:ext cx="0" cy="1810513"/>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 name="Decisão"/>
          <p:cNvGrpSpPr/>
          <p:nvPr/>
        </p:nvGrpSpPr>
        <p:grpSpPr>
          <a:xfrm>
            <a:off x="7772400" y="4160520"/>
            <a:ext cx="2743200" cy="1280160"/>
            <a:chOff x="7772400" y="4160520"/>
            <a:chExt cx="2743200" cy="1280160"/>
          </a:xfrm>
        </p:grpSpPr>
        <p:sp>
          <p:nvSpPr>
            <p:cNvPr id="341" name="Diamond 340"/>
            <p:cNvSpPr/>
            <p:nvPr/>
          </p:nvSpPr>
          <p:spPr>
            <a:xfrm>
              <a:off x="7772400" y="4160520"/>
              <a:ext cx="2743200" cy="128016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8229600" y="4390948"/>
              <a:ext cx="1828800" cy="819302"/>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Acima do</a:t>
              </a:r>
            </a:p>
            <a:p>
              <a:pPr algn="ctr">
                <a:lnSpc>
                  <a:spcPct val="100000"/>
                </a:lnSpc>
                <a:spcAft>
                  <a:spcPts val="300"/>
                </a:spcAft>
                <a:buNone/>
              </a:pPr>
              <a:r>
                <a:rPr sz="1600" b="0">
                  <a:solidFill>
                    <a:srgbClr val="1F3238"/>
                  </a:solidFill>
                  <a:latin typeface="Roboto Medium"/>
                  <a:ea typeface="Roboto Medium"/>
                  <a:cs typeface="Roboto Medium"/>
                </a:rPr>
                <a:t>percentil 99 e</a:t>
              </a:r>
            </a:p>
            <a:p>
              <a:pPr algn="ctr">
                <a:lnSpc>
                  <a:spcPct val="100000"/>
                </a:lnSpc>
                <a:spcAft>
                  <a:spcPts val="300"/>
                </a:spcAft>
                <a:buNone/>
              </a:pPr>
              <a:r>
                <a:rPr sz="1600" b="0">
                  <a:solidFill>
                    <a:srgbClr val="1F3238"/>
                  </a:solidFill>
                  <a:latin typeface="Roboto Medium"/>
                  <a:ea typeface="Roboto Medium"/>
                  <a:cs typeface="Roboto Medium"/>
                </a:rPr>
                <a:t>variação &gt;20%?</a:t>
              </a:r>
            </a:p>
          </p:txBody>
        </p:sp>
      </p:grpSp>
      <p:cxnSp>
        <p:nvCxnSpPr>
          <p:cNvPr id="343" name="Seta"/>
          <p:cNvCxnSpPr/>
          <p:nvPr/>
        </p:nvCxnSpPr>
        <p:spPr>
          <a:xfrm>
            <a:off x="10533888" y="2990087"/>
            <a:ext cx="0" cy="1810513"/>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4" name="Seta"/>
          <p:cNvCxnSpPr/>
          <p:nvPr/>
        </p:nvCxnSpPr>
        <p:spPr>
          <a:xfrm flipH="1">
            <a:off x="7452360" y="4800600"/>
            <a:ext cx="32004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5" name="Seta"/>
          <p:cNvCxnSpPr/>
          <p:nvPr/>
        </p:nvCxnSpPr>
        <p:spPr>
          <a:xfrm flipV="1">
            <a:off x="7452360" y="4434840"/>
            <a:ext cx="0" cy="36576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6" name="Seta"/>
          <p:cNvCxnSpPr/>
          <p:nvPr/>
        </p:nvCxnSpPr>
        <p:spPr>
          <a:xfrm flipH="1">
            <a:off x="7132320" y="4434840"/>
            <a:ext cx="3200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7" name="Seta"/>
          <p:cNvCxnSpPr/>
          <p:nvPr/>
        </p:nvCxnSpPr>
        <p:spPr>
          <a:xfrm>
            <a:off x="7452360" y="4800600"/>
            <a:ext cx="0" cy="365759"/>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8" name="Seta"/>
          <p:cNvCxnSpPr/>
          <p:nvPr/>
        </p:nvCxnSpPr>
        <p:spPr>
          <a:xfrm flipH="1">
            <a:off x="7132320" y="5166359"/>
            <a:ext cx="3200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9" name="Status"/>
          <p:cNvSpPr/>
          <p:nvPr/>
        </p:nvSpPr>
        <p:spPr>
          <a:xfrm>
            <a:off x="2011680" y="4160520"/>
            <a:ext cx="5120640" cy="548640"/>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IN</a:t>
            </a:r>
          </a:p>
          <a:p>
            <a:pPr algn="ctr">
              <a:lnSpc>
                <a:spcPct val="100000"/>
              </a:lnSpc>
              <a:spcAft>
                <a:spcPts val="300"/>
              </a:spcAft>
              <a:buNone/>
            </a:pPr>
            <a:r>
              <a:rPr sz="1600" b="0">
                <a:solidFill>
                  <a:srgbClr val="FBFCFC"/>
                </a:solidFill>
                <a:latin typeface="Roboto"/>
                <a:ea typeface="Roboto"/>
                <a:cs typeface="Roboto"/>
              </a:rPr>
              <a:t>Admissão do paciente</a:t>
            </a:r>
          </a:p>
        </p:txBody>
      </p:sp>
      <p:sp>
        <p:nvSpPr>
          <p:cNvPr id="350" name="Status"/>
          <p:cNvSpPr/>
          <p:nvPr/>
        </p:nvSpPr>
        <p:spPr>
          <a:xfrm>
            <a:off x="2011680" y="4892040"/>
            <a:ext cx="5120640" cy="548640"/>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OUT</a:t>
            </a:r>
          </a:p>
          <a:p>
            <a:pPr algn="ctr">
              <a:lnSpc>
                <a:spcPct val="100000"/>
              </a:lnSpc>
              <a:spcAft>
                <a:spcPts val="300"/>
              </a:spcAft>
              <a:buNone/>
            </a:pPr>
            <a:r>
              <a:rPr sz="1600" b="0">
                <a:solidFill>
                  <a:srgbClr val="FBFCFC"/>
                </a:solidFill>
                <a:latin typeface="Roboto"/>
                <a:ea typeface="Roboto"/>
                <a:cs typeface="Roboto"/>
              </a:rPr>
              <a:t>Descarte do diagnóstico de IAM</a:t>
            </a:r>
          </a:p>
        </p:txBody>
      </p:sp>
    </p:spTree>
    <p:extLst>
      <p:ext uri="{BB962C8B-B14F-4D97-AF65-F5344CB8AC3E}">
        <p14:creationId xmlns:p14="http://schemas.microsoft.com/office/powerpoint/2010/main" val="86276930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Figura Central – Atendimento na emergência</a:t>
            </a:r>
            <a:endParaRPr lang="pt-BR" dirty="0" sz="3200"/>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43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1346" name="Nota"/>
          <p:cNvSpPr txBox="1"/>
          <p:nvPr/>
        </p:nvSpPr>
        <p:spPr>
          <a:xfrm>
            <a:off x="713232" y="594360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*Se suspeita de SCA persistir, seguir fluxo de investigação não-invasiva (figuras 13 e 14)</a:t>
            </a:r>
          </a:p>
        </p:txBody>
      </p:sp>
      <p:sp>
        <p:nvSpPr>
          <p:cNvPr id="1347" name="Fim/Início"/>
          <p:cNvSpPr/>
          <p:nvPr/>
        </p:nvSpPr>
        <p:spPr>
          <a:xfrm>
            <a:off x="713232" y="1371600"/>
            <a:ext cx="2487168" cy="68580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Suspeita clínica confirmada</a:t>
            </a:r>
          </a:p>
        </p:txBody>
      </p:sp>
      <p:sp>
        <p:nvSpPr>
          <p:cNvPr id="1348" name="Fim/Início"/>
          <p:cNvSpPr/>
          <p:nvPr/>
        </p:nvSpPr>
        <p:spPr>
          <a:xfrm>
            <a:off x="6236208" y="1371600"/>
            <a:ext cx="5248656" cy="68580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SINTOMAS SUSPEITOS</a:t>
            </a:r>
          </a:p>
          <a:p>
            <a:pPr algn="ctr">
              <a:lnSpc>
                <a:spcPct val="100000"/>
              </a:lnSpc>
              <a:spcAft>
                <a:spcPts val="300"/>
              </a:spcAft>
              <a:buNone/>
            </a:pPr>
            <a:r>
              <a:rPr sz="1600" b="0">
                <a:solidFill>
                  <a:srgbClr val="FBFCFC"/>
                </a:solidFill>
                <a:latin typeface="Roboto"/>
                <a:ea typeface="Roboto"/>
                <a:cs typeface="Roboto"/>
              </a:rPr>
              <a:t>(BUSCAR ATENDIMENTO IMEDIATAMENTE)</a:t>
            </a:r>
          </a:p>
        </p:txBody>
      </p:sp>
      <p:cxnSp>
        <p:nvCxnSpPr>
          <p:cNvPr id="1349" name="Seta"/>
          <p:cNvCxnSpPr/>
          <p:nvPr/>
        </p:nvCxnSpPr>
        <p:spPr>
          <a:xfrm>
            <a:off x="1956816" y="205740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0" name="Etapa"/>
          <p:cNvSpPr/>
          <p:nvPr/>
        </p:nvSpPr>
        <p:spPr>
          <a:xfrm>
            <a:off x="713232"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1</a:t>
            </a:r>
          </a:p>
          <a:p>
            <a:pPr algn="ctr">
              <a:lnSpc>
                <a:spcPct val="100000"/>
              </a:lnSpc>
              <a:spcAft>
                <a:spcPts val="300"/>
              </a:spcAft>
              <a:buNone/>
            </a:pPr>
            <a:r>
              <a:rPr sz="1600" b="0">
                <a:solidFill>
                  <a:srgbClr val="5F6468"/>
                </a:solidFill>
                <a:latin typeface="Roboto"/>
                <a:ea typeface="Roboto"/>
                <a:cs typeface="Roboto"/>
              </a:rPr>
              <a:t>Realizar ECG até 10 minutos</a:t>
            </a:r>
          </a:p>
        </p:txBody>
      </p:sp>
      <p:sp>
        <p:nvSpPr>
          <p:cNvPr id="1351" name="Etapa"/>
          <p:cNvSpPr/>
          <p:nvPr/>
        </p:nvSpPr>
        <p:spPr>
          <a:xfrm>
            <a:off x="3474720"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2</a:t>
            </a:r>
          </a:p>
          <a:p>
            <a:pPr algn="ctr">
              <a:lnSpc>
                <a:spcPct val="100000"/>
              </a:lnSpc>
              <a:spcAft>
                <a:spcPts val="300"/>
              </a:spcAft>
              <a:buNone/>
            </a:pPr>
            <a:r>
              <a:rPr sz="1600" b="0">
                <a:solidFill>
                  <a:srgbClr val="5F6468"/>
                </a:solidFill>
                <a:latin typeface="Roboto"/>
                <a:ea typeface="Roboto"/>
                <a:cs typeface="Roboto"/>
              </a:rPr>
              <a:t>Avaliação inicial da rota diagnóstica</a:t>
            </a:r>
          </a:p>
        </p:txBody>
      </p:sp>
      <p:sp>
        <p:nvSpPr>
          <p:cNvPr id="1352" name="Etapa"/>
          <p:cNvSpPr/>
          <p:nvPr/>
        </p:nvSpPr>
        <p:spPr>
          <a:xfrm>
            <a:off x="6236208"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PASSO 3</a:t>
            </a:r>
          </a:p>
          <a:p>
            <a:pPr algn="ctr">
              <a:lnSpc>
                <a:spcPct val="100000"/>
              </a:lnSpc>
              <a:spcAft>
                <a:spcPts val="300"/>
              </a:spcAft>
              <a:buNone/>
            </a:pPr>
            <a:r>
              <a:rPr sz="1600" b="0">
                <a:solidFill>
                  <a:srgbClr val="5F6468"/>
                </a:solidFill>
                <a:latin typeface="Roboto"/>
                <a:ea typeface="Roboto"/>
                <a:cs typeface="Roboto"/>
              </a:rPr>
              <a:t>Decisão após avaliação clínica detalhada</a:t>
            </a:r>
          </a:p>
        </p:txBody>
      </p:sp>
      <p:sp>
        <p:nvSpPr>
          <p:cNvPr id="1353" name="Etapa"/>
          <p:cNvSpPr/>
          <p:nvPr/>
        </p:nvSpPr>
        <p:spPr>
          <a:xfrm>
            <a:off x="8997696" y="2286000"/>
            <a:ext cx="2487168" cy="9601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CLASSIFICAR</a:t>
            </a:r>
          </a:p>
          <a:p>
            <a:pPr algn="ctr">
              <a:lnSpc>
                <a:spcPct val="100000"/>
              </a:lnSpc>
              <a:spcAft>
                <a:spcPts val="300"/>
              </a:spcAft>
              <a:buNone/>
            </a:pPr>
            <a:r>
              <a:rPr sz="1600" b="0">
                <a:solidFill>
                  <a:srgbClr val="5F6468"/>
                </a:solidFill>
                <a:latin typeface="Roboto"/>
                <a:ea typeface="Roboto"/>
                <a:cs typeface="Roboto"/>
              </a:rPr>
              <a:t>Algoritmos de troponina e escores de risco</a:t>
            </a:r>
          </a:p>
        </p:txBody>
      </p:sp>
      <p:cxnSp>
        <p:nvCxnSpPr>
          <p:cNvPr id="1354" name="Seta"/>
          <p:cNvCxnSpPr/>
          <p:nvPr/>
        </p:nvCxnSpPr>
        <p:spPr>
          <a:xfrm>
            <a:off x="1956816"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 name="Decisão"/>
          <p:cNvGrpSpPr/>
          <p:nvPr/>
        </p:nvGrpSpPr>
        <p:grpSpPr>
          <a:xfrm>
            <a:off x="713232" y="3474720"/>
            <a:ext cx="2487168" cy="1417320"/>
            <a:chOff x="713232" y="3474720"/>
            <a:chExt cx="2487168" cy="1417320"/>
          </a:xfrm>
        </p:grpSpPr>
        <p:sp>
          <p:nvSpPr>
            <p:cNvPr id="1355" name="Diamond 1354"/>
            <p:cNvSpPr/>
            <p:nvPr/>
          </p:nvSpPr>
          <p:spPr>
            <a:xfrm>
              <a:off x="713232"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TextBox 1355"/>
            <p:cNvSpPr txBox="1"/>
            <p:nvPr/>
          </p:nvSpPr>
          <p:spPr>
            <a:xfrm>
              <a:off x="986820"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ECG COM</a:t>
              </a:r>
            </a:p>
            <a:p>
              <a:pPr algn="ctr">
                <a:lnSpc>
                  <a:spcPct val="100000"/>
                </a:lnSpc>
                <a:spcAft>
                  <a:spcPts val="300"/>
                </a:spcAft>
                <a:buNone/>
              </a:pPr>
              <a:r>
                <a:rPr sz="1600" b="0">
                  <a:solidFill>
                    <a:srgbClr val="1F3238"/>
                  </a:solidFill>
                  <a:latin typeface="Roboto Medium"/>
                  <a:ea typeface="Roboto Medium"/>
                  <a:cs typeface="Roboto Medium"/>
                </a:rPr>
                <a:t>CRITÉRIOS</a:t>
              </a:r>
            </a:p>
            <a:p>
              <a:pPr algn="ctr">
                <a:lnSpc>
                  <a:spcPct val="100000"/>
                </a:lnSpc>
                <a:spcAft>
                  <a:spcPts val="300"/>
                </a:spcAft>
                <a:buNone/>
              </a:pPr>
              <a:r>
                <a:rPr sz="1600" b="0">
                  <a:solidFill>
                    <a:srgbClr val="1F3238"/>
                  </a:solidFill>
                  <a:latin typeface="Roboto Medium"/>
                  <a:ea typeface="Roboto Medium"/>
                  <a:cs typeface="Roboto Medium"/>
                </a:rPr>
                <a:t>DIAGNÓSTICOS?</a:t>
              </a:r>
            </a:p>
          </p:txBody>
        </p:sp>
      </p:grpSp>
      <p:cxnSp>
        <p:nvCxnSpPr>
          <p:cNvPr id="1357" name="Seta"/>
          <p:cNvCxnSpPr/>
          <p:nvPr/>
        </p:nvCxnSpPr>
        <p:spPr>
          <a:xfrm>
            <a:off x="1956816"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8" name="Rótulo"/>
          <p:cNvSpPr txBox="1"/>
          <p:nvPr/>
        </p:nvSpPr>
        <p:spPr>
          <a:xfrm>
            <a:off x="2029968"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59" name="Etapa"/>
          <p:cNvSpPr/>
          <p:nvPr/>
        </p:nvSpPr>
        <p:spPr>
          <a:xfrm>
            <a:off x="713232"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TERAPÊUTICA</a:t>
            </a:r>
          </a:p>
        </p:txBody>
      </p:sp>
      <p:cxnSp>
        <p:nvCxnSpPr>
          <p:cNvPr id="1360" name="Seta"/>
          <p:cNvCxnSpPr/>
          <p:nvPr/>
        </p:nvCxnSpPr>
        <p:spPr>
          <a:xfrm>
            <a:off x="3200400"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61" name="Seta"/>
          <p:cNvCxnSpPr/>
          <p:nvPr/>
        </p:nvCxnSpPr>
        <p:spPr>
          <a:xfrm flipV="1">
            <a:off x="3337560"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62" name="Seta"/>
          <p:cNvCxnSpPr/>
          <p:nvPr/>
        </p:nvCxnSpPr>
        <p:spPr>
          <a:xfrm>
            <a:off x="3337560"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3" name="Rótulo"/>
          <p:cNvSpPr txBox="1"/>
          <p:nvPr/>
        </p:nvSpPr>
        <p:spPr>
          <a:xfrm>
            <a:off x="2816352"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cxnSp>
        <p:nvCxnSpPr>
          <p:cNvPr id="1364" name="Seta"/>
          <p:cNvCxnSpPr/>
          <p:nvPr/>
        </p:nvCxnSpPr>
        <p:spPr>
          <a:xfrm>
            <a:off x="4718304"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 name="Decisão"/>
          <p:cNvGrpSpPr/>
          <p:nvPr/>
        </p:nvGrpSpPr>
        <p:grpSpPr>
          <a:xfrm>
            <a:off x="3474720" y="3474720"/>
            <a:ext cx="2487168" cy="1417320"/>
            <a:chOff x="3474720" y="3474720"/>
            <a:chExt cx="2487168" cy="1417320"/>
          </a:xfrm>
        </p:grpSpPr>
        <p:sp>
          <p:nvSpPr>
            <p:cNvPr id="1365" name="Diamond 1364"/>
            <p:cNvSpPr/>
            <p:nvPr/>
          </p:nvSpPr>
          <p:spPr>
            <a:xfrm>
              <a:off x="3474720"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TextBox 1365"/>
            <p:cNvSpPr txBox="1"/>
            <p:nvPr/>
          </p:nvSpPr>
          <p:spPr>
            <a:xfrm>
              <a:off x="3748308"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HÁ CRITÉRIO DE</a:t>
              </a:r>
            </a:p>
            <a:p>
              <a:pPr algn="ctr">
                <a:lnSpc>
                  <a:spcPct val="100000"/>
                </a:lnSpc>
                <a:spcAft>
                  <a:spcPts val="300"/>
                </a:spcAft>
                <a:buNone/>
              </a:pPr>
              <a:r>
                <a:rPr sz="1600" b="0">
                  <a:solidFill>
                    <a:srgbClr val="1F3238"/>
                  </a:solidFill>
                  <a:latin typeface="Roboto Medium"/>
                  <a:ea typeface="Roboto Medium"/>
                  <a:cs typeface="Roboto Medium"/>
                </a:rPr>
                <a:t>INSTABILIDADE?¹</a:t>
              </a:r>
            </a:p>
          </p:txBody>
        </p:sp>
      </p:grpSp>
      <p:cxnSp>
        <p:nvCxnSpPr>
          <p:cNvPr id="1367" name="Seta"/>
          <p:cNvCxnSpPr/>
          <p:nvPr/>
        </p:nvCxnSpPr>
        <p:spPr>
          <a:xfrm>
            <a:off x="4718304"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8" name="Rótulo"/>
          <p:cNvSpPr txBox="1"/>
          <p:nvPr/>
        </p:nvSpPr>
        <p:spPr>
          <a:xfrm>
            <a:off x="4791456"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69" name="Etapa"/>
          <p:cNvSpPr/>
          <p:nvPr/>
        </p:nvSpPr>
        <p:spPr>
          <a:xfrm>
            <a:off x="3474720"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DE PACIENTE INSTÁVEL</a:t>
            </a:r>
          </a:p>
        </p:txBody>
      </p:sp>
      <p:cxnSp>
        <p:nvCxnSpPr>
          <p:cNvPr id="1370" name="Seta"/>
          <p:cNvCxnSpPr/>
          <p:nvPr/>
        </p:nvCxnSpPr>
        <p:spPr>
          <a:xfrm>
            <a:off x="5961888"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1" name="Seta"/>
          <p:cNvCxnSpPr/>
          <p:nvPr/>
        </p:nvCxnSpPr>
        <p:spPr>
          <a:xfrm flipV="1">
            <a:off x="6099048"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2" name="Seta"/>
          <p:cNvCxnSpPr/>
          <p:nvPr/>
        </p:nvCxnSpPr>
        <p:spPr>
          <a:xfrm>
            <a:off x="6099048"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3" name="Rótulo"/>
          <p:cNvSpPr txBox="1"/>
          <p:nvPr/>
        </p:nvSpPr>
        <p:spPr>
          <a:xfrm>
            <a:off x="5577840"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cxnSp>
        <p:nvCxnSpPr>
          <p:cNvPr id="1374" name="Seta"/>
          <p:cNvCxnSpPr/>
          <p:nvPr/>
        </p:nvCxnSpPr>
        <p:spPr>
          <a:xfrm>
            <a:off x="7479792" y="324612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 name="Decisão"/>
          <p:cNvGrpSpPr/>
          <p:nvPr/>
        </p:nvGrpSpPr>
        <p:grpSpPr>
          <a:xfrm>
            <a:off x="6236208" y="3474720"/>
            <a:ext cx="2487168" cy="1417320"/>
            <a:chOff x="6236208" y="3474720"/>
            <a:chExt cx="2487168" cy="1417320"/>
          </a:xfrm>
        </p:grpSpPr>
        <p:sp>
          <p:nvSpPr>
            <p:cNvPr id="1375" name="Diamond 1374"/>
            <p:cNvSpPr/>
            <p:nvPr/>
          </p:nvSpPr>
          <p:spPr>
            <a:xfrm>
              <a:off x="6236208" y="3474720"/>
              <a:ext cx="2487168" cy="141732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TextBox 1375"/>
            <p:cNvSpPr txBox="1"/>
            <p:nvPr/>
          </p:nvSpPr>
          <p:spPr>
            <a:xfrm>
              <a:off x="6509796" y="3729837"/>
              <a:ext cx="1939991" cy="907084"/>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DIAGNÓSTICO</a:t>
              </a:r>
            </a:p>
            <a:p>
              <a:pPr algn="ctr">
                <a:lnSpc>
                  <a:spcPct val="100000"/>
                </a:lnSpc>
                <a:spcAft>
                  <a:spcPts val="300"/>
                </a:spcAft>
                <a:buNone/>
              </a:pPr>
              <a:r>
                <a:rPr sz="1600" b="0">
                  <a:solidFill>
                    <a:srgbClr val="1F3238"/>
                  </a:solidFill>
                  <a:latin typeface="Roboto Medium"/>
                  <a:ea typeface="Roboto Medium"/>
                  <a:cs typeface="Roboto Medium"/>
                </a:rPr>
                <a:t>ESTABELECIDO?</a:t>
              </a:r>
            </a:p>
          </p:txBody>
        </p:sp>
      </p:grpSp>
      <p:cxnSp>
        <p:nvCxnSpPr>
          <p:cNvPr id="1377" name="Seta"/>
          <p:cNvCxnSpPr/>
          <p:nvPr/>
        </p:nvCxnSpPr>
        <p:spPr>
          <a:xfrm>
            <a:off x="7479792" y="4892040"/>
            <a:ext cx="0" cy="2743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8" name="Rótulo"/>
          <p:cNvSpPr txBox="1"/>
          <p:nvPr/>
        </p:nvSpPr>
        <p:spPr>
          <a:xfrm>
            <a:off x="7552944" y="4892040"/>
            <a:ext cx="548640" cy="274320"/>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1379" name="Etapa"/>
          <p:cNvSpPr/>
          <p:nvPr/>
        </p:nvSpPr>
        <p:spPr>
          <a:xfrm>
            <a:off x="6236208" y="5166360"/>
            <a:ext cx="2487168"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SEGUIR ROTA TERAPÊUTICA</a:t>
            </a:r>
          </a:p>
        </p:txBody>
      </p:sp>
      <p:cxnSp>
        <p:nvCxnSpPr>
          <p:cNvPr id="1380" name="Seta"/>
          <p:cNvCxnSpPr/>
          <p:nvPr/>
        </p:nvCxnSpPr>
        <p:spPr>
          <a:xfrm>
            <a:off x="8723376" y="4183380"/>
            <a:ext cx="13716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1" name="Seta"/>
          <p:cNvCxnSpPr/>
          <p:nvPr/>
        </p:nvCxnSpPr>
        <p:spPr>
          <a:xfrm flipV="1">
            <a:off x="8860536" y="2766060"/>
            <a:ext cx="0" cy="14173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2" name="Seta"/>
          <p:cNvCxnSpPr/>
          <p:nvPr/>
        </p:nvCxnSpPr>
        <p:spPr>
          <a:xfrm>
            <a:off x="8860536" y="2766060"/>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3" name="Rótulo"/>
          <p:cNvSpPr txBox="1"/>
          <p:nvPr/>
        </p:nvSpPr>
        <p:spPr>
          <a:xfrm>
            <a:off x="8339328" y="3799332"/>
            <a:ext cx="50292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1384" name="Status"/>
          <p:cNvSpPr/>
          <p:nvPr/>
        </p:nvSpPr>
        <p:spPr>
          <a:xfrm>
            <a:off x="9272016" y="3474720"/>
            <a:ext cx="2212848" cy="795528"/>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IN</a:t>
            </a:r>
          </a:p>
          <a:p>
            <a:pPr algn="ctr">
              <a:lnSpc>
                <a:spcPct val="100000"/>
              </a:lnSpc>
              <a:spcAft>
                <a:spcPts val="300"/>
              </a:spcAft>
              <a:buNone/>
            </a:pPr>
            <a:r>
              <a:rPr sz="1600" b="0">
                <a:solidFill>
                  <a:srgbClr val="FBFCFC"/>
                </a:solidFill>
                <a:latin typeface="Roboto"/>
                <a:ea typeface="Roboto"/>
                <a:cs typeface="Roboto"/>
              </a:rPr>
              <a:t>Admissão do paciente</a:t>
            </a:r>
          </a:p>
        </p:txBody>
      </p:sp>
      <p:cxnSp>
        <p:nvCxnSpPr>
          <p:cNvPr id="1385" name="Seta"/>
          <p:cNvCxnSpPr/>
          <p:nvPr/>
        </p:nvCxnSpPr>
        <p:spPr>
          <a:xfrm>
            <a:off x="9134856" y="3246120"/>
            <a:ext cx="0" cy="621791"/>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6" name="Seta"/>
          <p:cNvCxnSpPr/>
          <p:nvPr/>
        </p:nvCxnSpPr>
        <p:spPr>
          <a:xfrm>
            <a:off x="9134856" y="3867911"/>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7" name="Status"/>
          <p:cNvSpPr/>
          <p:nvPr/>
        </p:nvSpPr>
        <p:spPr>
          <a:xfrm>
            <a:off x="9272016" y="4315968"/>
            <a:ext cx="2212848" cy="795528"/>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1F3238"/>
                </a:solidFill>
                <a:latin typeface="Roboto Medium"/>
                <a:ea typeface="Roboto Medium"/>
                <a:cs typeface="Roboto Medium"/>
              </a:rPr>
              <a:t>PASSO 4</a:t>
            </a:r>
          </a:p>
          <a:p>
            <a:pPr algn="ctr">
              <a:lnSpc>
                <a:spcPct val="100000"/>
              </a:lnSpc>
              <a:spcAft>
                <a:spcPts val="300"/>
              </a:spcAft>
              <a:buNone/>
            </a:pPr>
            <a:r>
              <a:rPr sz="1600" b="0">
                <a:solidFill>
                  <a:srgbClr val="1F3238"/>
                </a:solidFill>
                <a:latin typeface="Roboto"/>
                <a:ea typeface="Roboto"/>
                <a:cs typeface="Roboto"/>
              </a:rPr>
              <a:t>Observação</a:t>
            </a:r>
          </a:p>
        </p:txBody>
      </p:sp>
      <p:cxnSp>
        <p:nvCxnSpPr>
          <p:cNvPr id="1388" name="Seta"/>
          <p:cNvCxnSpPr/>
          <p:nvPr/>
        </p:nvCxnSpPr>
        <p:spPr>
          <a:xfrm>
            <a:off x="9134856" y="3246120"/>
            <a:ext cx="0" cy="1463039"/>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9" name="Seta"/>
          <p:cNvCxnSpPr/>
          <p:nvPr/>
        </p:nvCxnSpPr>
        <p:spPr>
          <a:xfrm>
            <a:off x="9134856" y="4709159"/>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0" name="Status"/>
          <p:cNvSpPr/>
          <p:nvPr/>
        </p:nvSpPr>
        <p:spPr>
          <a:xfrm>
            <a:off x="9272016" y="5157216"/>
            <a:ext cx="2212848" cy="795528"/>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RULE OUT</a:t>
            </a:r>
          </a:p>
          <a:p>
            <a:pPr algn="ctr">
              <a:lnSpc>
                <a:spcPct val="100000"/>
              </a:lnSpc>
              <a:spcAft>
                <a:spcPts val="300"/>
              </a:spcAft>
              <a:buNone/>
            </a:pPr>
            <a:r>
              <a:rPr sz="1600" b="0">
                <a:solidFill>
                  <a:srgbClr val="FBFCFC"/>
                </a:solidFill>
                <a:latin typeface="Roboto"/>
                <a:ea typeface="Roboto"/>
                <a:cs typeface="Roboto"/>
              </a:rPr>
              <a:t>Descarte do diagnóstico de IAM</a:t>
            </a:r>
          </a:p>
        </p:txBody>
      </p:sp>
      <p:cxnSp>
        <p:nvCxnSpPr>
          <p:cNvPr id="1391" name="Seta"/>
          <p:cNvCxnSpPr/>
          <p:nvPr/>
        </p:nvCxnSpPr>
        <p:spPr>
          <a:xfrm>
            <a:off x="9134856" y="3246120"/>
            <a:ext cx="0" cy="2304287"/>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92" name="Seta"/>
          <p:cNvCxnSpPr/>
          <p:nvPr/>
        </p:nvCxnSpPr>
        <p:spPr>
          <a:xfrm>
            <a:off x="9134856" y="5550407"/>
            <a:ext cx="1371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09908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14 – Escore HEART</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2516742"/>
        </p:xfrm>
        <a:graphic>
          <a:graphicData uri="http://schemas.openxmlformats.org/drawingml/2006/table">
            <a:tbl>
              <a:tblPr firstRow="1"/>
              <a:tblGrid>
                <a:gridCol w="2200000"/>
                <a:gridCol w="2900000"/>
                <a:gridCol w="2900000"/>
                <a:gridCol w="2771632"/>
              </a:tblGrid>
              <a:tr h="319010">
                <a:tc gridSpan="4">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Escore HEART</a:t>
                      </a:r>
                      <a:endParaRPr lang="pt-BR" sz="1300" dirty="0"/>
                    </a:p>
                  </a:txBody>
                  <a:tcPr marL="91440" marR="91440" marT="54864" marB="54864"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c hMerge="1">
                  <a:txBody>
                    <a:bodyPr/>
                    <a:lstStyle/>
                    <a:p>
                      <a:endParaRPr lang="pt-BR"/>
                    </a:p>
                  </a:txBody>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História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altamente suspeita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moderadamente suspeita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pouco/nada suspeita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51990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Eletrocardiograma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depressão significativa do segmento ST</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distúrbios de repolarização inespecíficos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normal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19010">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Anos (idade)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65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 45 anos e &lt; 65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&lt; 45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51990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Risco (fatores*)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3 ou história de doença aterosclerótica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1 ou 2</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nenhum</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Troponina (convencional)**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 ≥ 3x o limite superior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 1 – 3x o limite superior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0 = ≤ limite superior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994062"/>
            <a:ext cx="10771632" cy="733232"/>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ECG: eletrocardiograma. *Fatores de risco: Hipertensão, hipercolesterolemia, diabetes, obesidade (IMC &gt;30 kg/m²), tabagismo (atual ou cessação do tabagismo ≤3 meses), histórico familiar positivo precoce (primeiro grau). ** O escore HEART original utilizou troponina convencional; a sua versão modificada para troponina de alta sensibilidade, baseia-se no escore HEAR (História, Anos/Idade, Eletrocardiograma, Risco) e utiliza também pontos de corte específicos dos algoritmos de troponina de alta sensibilidade.</a:t>
            </a:r>
            <a:endParaRPr lang="pt-BR" sz="1200" dirty="0"/>
          </a:p>
        </p:txBody>
      </p:sp>
    </p:spTree>
    <p:extLst>
      <p:ext uri="{BB962C8B-B14F-4D97-AF65-F5344CB8AC3E}">
        <p14:creationId xmlns:p14="http://schemas.microsoft.com/office/powerpoint/2010/main" val="16868715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Síndrome Coronariana Aguda</a:t>
            </a:r>
          </a:p>
        </p:txBody>
      </p:sp>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45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graphicFrame>
        <p:nvGraphicFramePr>
          <p:cNvPr id="3" name="Tabela"/>
          <p:cNvGraphicFramePr>
            <a:graphicFrameLocks noGrp="1"/>
          </p:cNvGraphicFramePr>
          <p:nvPr/>
        </p:nvGraphicFramePr>
        <p:xfrm>
          <a:off x="3360427" y="1417320"/>
          <a:ext cx="3353777" cy="1935475"/>
        </p:xfrm>
        <a:graphic>
          <a:graphicData uri="http://schemas.openxmlformats.org/drawingml/2006/table">
            <a:tbl>
              <a:tblPr firstRow="1"/>
              <a:tblGrid>
                <a:gridCol w="889259"/>
                <a:gridCol w="2464518"/>
              </a:tblGrid>
              <a:tr h="152440">
                <a:tc gridSpan="2">
                  <a:txBody>
                    <a:bodyPr/>
                    <a:lstStyle/>
                    <a:p>
                      <a:pPr algn="l" marL="0" indent="0">
                        <a:lnSpc>
                          <a:spcPct val="100000"/>
                        </a:lnSpc>
                        <a:spcBef>
                          <a:spcPts val="0"/>
                        </a:spcBef>
                        <a:spcAft>
                          <a:spcPts val="0"/>
                        </a:spcAft>
                        <a:buNone/>
                      </a:pPr>
                      <a:r>
                        <a:rPr lang="pt-BR" sz="661" b="0" i="0" dirty="0">
                          <a:solidFill>
                            <a:srgbClr val="FBFCFC"/>
                          </a:solidFill>
                          <a:latin typeface="Roboto Medium"/>
                          <a:ea typeface="Roboto Medium"/>
                          <a:cs typeface="Roboto Medium"/>
                        </a:rPr>
                        <a:t>Escore HEART</a:t>
                      </a:r>
                      <a:endParaRPr lang="pt-BR" sz="661" dirty="0"/>
                    </a:p>
                  </a:txBody>
                  <a:tcPr marL="46465" marR="46465" marT="23233" marB="23233" anchor="ctr">
                    <a:lnL w="0">
                      <a:noFill/>
                    </a:lnL>
                    <a:lnR w="0">
                      <a:noFill/>
                    </a:lnR>
                    <a:lnT w="0">
                      <a:noFill/>
                    </a:lnT>
                    <a:lnB w="0">
                      <a:noFill/>
                    </a:lnB>
                    <a:solidFill>
                      <a:srgbClr val="4E7C8B"/>
                    </a:solidFill>
                  </a:tcPr>
                </a:tc>
                <a:tc hMerge="1">
                  <a:txBody>
                    <a:bodyPr/>
                    <a:lstStyle/>
                    <a:p>
                      <a:endParaRPr lang="pt-BR"/>
                    </a:p>
                  </a:txBody>
                  <a:tcPr/>
                </a:tc>
              </a:tr>
              <a:tr h="356607">
                <a:tc>
                  <a:txBody>
                    <a:bodyPr/>
                    <a:lstStyle/>
                    <a:p>
                      <a:pPr algn="l" marL="0" indent="0">
                        <a:lnSpc>
                          <a:spcPct val="100000"/>
                        </a:lnSpc>
                        <a:spcBef>
                          <a:spcPts val="0"/>
                        </a:spcBef>
                        <a:spcAft>
                          <a:spcPts val="0"/>
                        </a:spcAft>
                        <a:buNone/>
                      </a:pPr>
                      <a:r>
                        <a:rPr lang="pt-BR" sz="661" b="0" i="0" dirty="0">
                          <a:solidFill>
                            <a:srgbClr val="3B3F42"/>
                          </a:solidFill>
                          <a:latin typeface="Roboto Medium"/>
                          <a:ea typeface="Roboto Medium"/>
                          <a:cs typeface="Roboto Medium"/>
                        </a:rPr>
                        <a:t>História</a:t>
                      </a:r>
                      <a:endParaRPr lang="pt-BR" sz="661" dirty="0"/>
                    </a:p>
                  </a:txBody>
                  <a:tcPr marL="46465" marR="46465" marT="23233" marB="23233"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661" b="0" i="0" dirty="0">
                          <a:solidFill>
                            <a:srgbClr val="5F6468"/>
                          </a:solidFill>
                          <a:latin typeface="Roboto"/>
                          <a:ea typeface="Roboto"/>
                          <a:cs typeface="Roboto"/>
                        </a:rPr>
                        <a:t>2 = altamente suspeita</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1 = moderadamente suspeita</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0 = pouco/nada suspeita</a:t>
                      </a:r>
                      <a:endParaRPr lang="pt-BR" sz="661" dirty="0"/>
                    </a:p>
                  </a:txBody>
                  <a:tcPr marL="46465" marR="46465" marT="23233" marB="23233" anchor="ctr">
                    <a:lnL w="0">
                      <a:noFill/>
                    </a:lnL>
                    <a:lnR w="0">
                      <a:noFill/>
                    </a:lnR>
                    <a:lnT w="0">
                      <a:noFill/>
                    </a:lnT>
                    <a:lnB w="12700">
                      <a:solidFill>
                        <a:srgbClr val="E4E6E7"/>
                      </a:solidFill>
                    </a:lnB>
                    <a:solidFill>
                      <a:srgbClr val="FBFCFC"/>
                    </a:solidFill>
                  </a:tcPr>
                </a:tc>
              </a:tr>
              <a:tr h="356607">
                <a:tc>
                  <a:txBody>
                    <a:bodyPr/>
                    <a:lstStyle/>
                    <a:p>
                      <a:pPr algn="l" marL="0" indent="0">
                        <a:lnSpc>
                          <a:spcPct val="100000"/>
                        </a:lnSpc>
                        <a:spcBef>
                          <a:spcPts val="0"/>
                        </a:spcBef>
                        <a:spcAft>
                          <a:spcPts val="0"/>
                        </a:spcAft>
                        <a:buNone/>
                      </a:pPr>
                      <a:r>
                        <a:rPr lang="pt-BR" sz="661" b="0" i="0" dirty="0">
                          <a:solidFill>
                            <a:srgbClr val="3B3F42"/>
                          </a:solidFill>
                          <a:latin typeface="Roboto Medium"/>
                          <a:ea typeface="Roboto Medium"/>
                          <a:cs typeface="Roboto Medium"/>
                        </a:rPr>
                        <a:t>ECG</a:t>
                      </a:r>
                      <a:endParaRPr lang="pt-BR" sz="661" dirty="0"/>
                    </a:p>
                  </a:txBody>
                  <a:tcPr marL="46465" marR="46465" marT="23233" marB="23233"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661" b="0" i="0" dirty="0">
                          <a:solidFill>
                            <a:srgbClr val="5F6468"/>
                          </a:solidFill>
                          <a:latin typeface="Roboto"/>
                          <a:ea typeface="Roboto"/>
                          <a:cs typeface="Roboto"/>
                        </a:rPr>
                        <a:t>2 = depressão significativa do segmento ST</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1 = distúrbios de repolarização inespecíficos</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0 = normal</a:t>
                      </a:r>
                      <a:endParaRPr lang="pt-BR" sz="661" dirty="0"/>
                    </a:p>
                  </a:txBody>
                  <a:tcPr marL="46465" marR="46465" marT="23233" marB="23233" anchor="ctr">
                    <a:lnL w="0">
                      <a:noFill/>
                    </a:lnL>
                    <a:lnR w="0">
                      <a:noFill/>
                    </a:lnR>
                    <a:lnT w="0">
                      <a:noFill/>
                    </a:lnT>
                    <a:lnB w="12700">
                      <a:solidFill>
                        <a:srgbClr val="E4E6E7"/>
                      </a:solidFill>
                    </a:lnB>
                    <a:solidFill>
                      <a:srgbClr val="F2F4F5"/>
                    </a:solidFill>
                  </a:tcPr>
                </a:tc>
              </a:tr>
              <a:tr h="356607">
                <a:tc>
                  <a:txBody>
                    <a:bodyPr/>
                    <a:lstStyle/>
                    <a:p>
                      <a:pPr algn="l" marL="0" indent="0">
                        <a:lnSpc>
                          <a:spcPct val="100000"/>
                        </a:lnSpc>
                        <a:spcBef>
                          <a:spcPts val="0"/>
                        </a:spcBef>
                        <a:spcAft>
                          <a:spcPts val="0"/>
                        </a:spcAft>
                        <a:buNone/>
                      </a:pPr>
                      <a:r>
                        <a:rPr lang="pt-BR" sz="661" b="0" i="0" dirty="0">
                          <a:solidFill>
                            <a:srgbClr val="3B3F42"/>
                          </a:solidFill>
                          <a:latin typeface="Roboto Medium"/>
                          <a:ea typeface="Roboto Medium"/>
                          <a:cs typeface="Roboto Medium"/>
                        </a:rPr>
                        <a:t>Anos (idade)</a:t>
                      </a:r>
                      <a:endParaRPr lang="pt-BR" sz="661" dirty="0"/>
                    </a:p>
                  </a:txBody>
                  <a:tcPr marL="46465" marR="46465" marT="23233" marB="23233"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661" b="0" i="0" dirty="0">
                          <a:solidFill>
                            <a:srgbClr val="5F6468"/>
                          </a:solidFill>
                          <a:latin typeface="Roboto"/>
                          <a:ea typeface="Roboto"/>
                          <a:cs typeface="Roboto"/>
                        </a:rPr>
                        <a:t>2 = ≥ 65 anos</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1 = ≥ 45 anos e &lt; 65 anos</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0 = &lt; 45 anos</a:t>
                      </a:r>
                      <a:endParaRPr lang="pt-BR" sz="661" dirty="0"/>
                    </a:p>
                  </a:txBody>
                  <a:tcPr marL="46465" marR="46465" marT="23233" marB="23233" anchor="ctr">
                    <a:lnL w="0">
                      <a:noFill/>
                    </a:lnL>
                    <a:lnR w="0">
                      <a:noFill/>
                    </a:lnR>
                    <a:lnT w="0">
                      <a:noFill/>
                    </a:lnT>
                    <a:lnB w="12700">
                      <a:solidFill>
                        <a:srgbClr val="E4E6E7"/>
                      </a:solidFill>
                    </a:lnB>
                    <a:solidFill>
                      <a:srgbClr val="FBFCFC"/>
                    </a:solidFill>
                  </a:tcPr>
                </a:tc>
              </a:tr>
              <a:tr h="356607">
                <a:tc>
                  <a:txBody>
                    <a:bodyPr/>
                    <a:lstStyle/>
                    <a:p>
                      <a:pPr algn="l" marL="0" indent="0">
                        <a:lnSpc>
                          <a:spcPct val="100000"/>
                        </a:lnSpc>
                        <a:spcBef>
                          <a:spcPts val="0"/>
                        </a:spcBef>
                        <a:spcAft>
                          <a:spcPts val="0"/>
                        </a:spcAft>
                        <a:buNone/>
                      </a:pPr>
                      <a:r>
                        <a:rPr lang="pt-BR" sz="661" b="0" i="0" dirty="0">
                          <a:solidFill>
                            <a:srgbClr val="3B3F42"/>
                          </a:solidFill>
                          <a:latin typeface="Roboto Medium"/>
                          <a:ea typeface="Roboto Medium"/>
                          <a:cs typeface="Roboto Medium"/>
                        </a:rPr>
                        <a:t>Risco (fatores*)</a:t>
                      </a:r>
                      <a:endParaRPr lang="pt-BR" sz="661" dirty="0"/>
                    </a:p>
                  </a:txBody>
                  <a:tcPr marL="46465" marR="46465" marT="23233" marB="23233" anchor="ctr">
                    <a:lnL w="0">
                      <a:noFill/>
                    </a:lnL>
                    <a:lnR w="0">
                      <a:noFill/>
                    </a:lnR>
                    <a:lnT w="0">
                      <a:noFill/>
                    </a:lnT>
                    <a:lnB w="12700">
                      <a:solidFill>
                        <a:srgbClr val="E4E6E7"/>
                      </a:solidFill>
                    </a:lnB>
                    <a:solidFill>
                      <a:srgbClr val="F2F4F5"/>
                    </a:solidFill>
                  </a:tcPr>
                </a:tc>
                <a:tc>
                  <a:txBody>
                    <a:bodyPr/>
                    <a:lstStyle/>
                    <a:p>
                      <a:pPr algn="l" marL="0" indent="0">
                        <a:lnSpc>
                          <a:spcPct val="100000"/>
                        </a:lnSpc>
                        <a:spcBef>
                          <a:spcPts val="0"/>
                        </a:spcBef>
                        <a:spcAft>
                          <a:spcPts val="0"/>
                        </a:spcAft>
                        <a:buNone/>
                      </a:pPr>
                      <a:r>
                        <a:rPr lang="pt-BR" sz="661" b="0" i="0" dirty="0">
                          <a:solidFill>
                            <a:srgbClr val="5F6468"/>
                          </a:solidFill>
                          <a:latin typeface="Roboto"/>
                          <a:ea typeface="Roboto"/>
                          <a:cs typeface="Roboto"/>
                        </a:rPr>
                        <a:t>2 = ≥ 3 ou história de doença aterosclerótica</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1 = 1 ou 2</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0 = nenhum</a:t>
                      </a:r>
                      <a:endParaRPr lang="pt-BR" sz="661" dirty="0"/>
                    </a:p>
                  </a:txBody>
                  <a:tcPr marL="46465" marR="46465" marT="23233" marB="23233" anchor="ctr">
                    <a:lnL w="0">
                      <a:noFill/>
                    </a:lnL>
                    <a:lnR w="0">
                      <a:noFill/>
                    </a:lnR>
                    <a:lnT w="0">
                      <a:noFill/>
                    </a:lnT>
                    <a:lnB w="12700">
                      <a:solidFill>
                        <a:srgbClr val="E4E6E7"/>
                      </a:solidFill>
                    </a:lnB>
                    <a:solidFill>
                      <a:srgbClr val="F2F4F5"/>
                    </a:solidFill>
                  </a:tcPr>
                </a:tc>
              </a:tr>
              <a:tr h="356607">
                <a:tc>
                  <a:txBody>
                    <a:bodyPr/>
                    <a:lstStyle/>
                    <a:p>
                      <a:pPr algn="l" marL="0" indent="0">
                        <a:lnSpc>
                          <a:spcPct val="100000"/>
                        </a:lnSpc>
                        <a:spcBef>
                          <a:spcPts val="0"/>
                        </a:spcBef>
                        <a:spcAft>
                          <a:spcPts val="0"/>
                        </a:spcAft>
                        <a:buNone/>
                      </a:pPr>
                      <a:r>
                        <a:rPr lang="pt-BR" sz="661" b="0" i="0" dirty="0">
                          <a:solidFill>
                            <a:srgbClr val="3B3F42"/>
                          </a:solidFill>
                          <a:latin typeface="Roboto Medium"/>
                          <a:ea typeface="Roboto Medium"/>
                          <a:cs typeface="Roboto Medium"/>
                        </a:rPr>
                        <a:t>Troponina</a:t>
                      </a:r>
                      <a:endParaRPr lang="pt-BR" sz="661" dirty="0"/>
                    </a:p>
                  </a:txBody>
                  <a:tcPr marL="46465" marR="46465" marT="23233" marB="23233" anchor="ctr">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661" b="0" i="0" dirty="0">
                          <a:solidFill>
                            <a:srgbClr val="5F6468"/>
                          </a:solidFill>
                          <a:latin typeface="Roboto"/>
                          <a:ea typeface="Roboto"/>
                          <a:cs typeface="Roboto"/>
                        </a:rPr>
                        <a:t>2 = ≥ 3x o limite superior</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1 = 1 – 3x o limite superior</a:t>
                      </a:r>
                      <a:endParaRPr lang="pt-BR" sz="661" dirty="0"/>
                    </a:p>
                    <a:p>
                      <a:pPr algn="l" marL="0" indent="0">
                        <a:lnSpc>
                          <a:spcPct val="100000"/>
                        </a:lnSpc>
                        <a:spcBef>
                          <a:spcPts val="0"/>
                        </a:spcBef>
                        <a:spcAft>
                          <a:spcPts val="0"/>
                        </a:spcAft>
                        <a:buNone/>
                      </a:pPr>
                      <a:r>
                        <a:rPr lang="pt-BR" sz="661" b="0" i="0" dirty="0">
                          <a:solidFill>
                            <a:srgbClr val="5F6468"/>
                          </a:solidFill>
                          <a:latin typeface="Roboto"/>
                          <a:ea typeface="Roboto"/>
                          <a:cs typeface="Roboto"/>
                        </a:rPr>
                        <a:t>0 = ≤ limite superior</a:t>
                      </a:r>
                      <a:endParaRPr lang="pt-BR" sz="661" dirty="0"/>
                    </a:p>
                  </a:txBody>
                  <a:tcPr marL="46465" marR="46465" marT="23233" marB="23233" anchor="ctr">
                    <a:lnL w="0">
                      <a:noFill/>
                    </a:lnL>
                    <a:lnR w="0">
                      <a:noFill/>
                    </a:lnR>
                    <a:lnT w="0">
                      <a:noFill/>
                    </a:lnT>
                    <a:lnB w="12700">
                      <a:solidFill>
                        <a:srgbClr val="E4E6E7"/>
                      </a:solidFill>
                    </a:lnB>
                    <a:solidFill>
                      <a:srgbClr val="FBFCFC"/>
                    </a:solidFill>
                  </a:tcPr>
                </a:tc>
              </a:tr>
            </a:tbl>
          </a:graphicData>
        </a:graphic>
      </p:graphicFrame>
      <p:sp>
        <p:nvSpPr>
          <p:cNvPr id="4" name="Nota"/>
          <p:cNvSpPr txBox="1"/>
          <p:nvPr/>
        </p:nvSpPr>
        <p:spPr>
          <a:xfrm>
            <a:off x="3360427" y="3383284"/>
            <a:ext cx="3353777" cy="19137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610" b="0" i="1" dirty="0">
                <a:solidFill>
                  <a:srgbClr val="737A7F"/>
                </a:solidFill>
                <a:latin typeface="Roboto"/>
                <a:ea typeface="Roboto"/>
                <a:cs typeface="Roboto"/>
              </a:rPr>
              <a:t>*hipercolesterolemia, diabetes, hipertensão, obesidade (IMC&gt;30kg/m²), tabagismo (atual ou interrupção há 3 meses), história familiar de DAC precoce</a:t>
            </a:r>
            <a:endParaRPr lang="pt-BR" sz="610" dirty="0"/>
          </a:p>
        </p:txBody>
      </p:sp>
      <p:pic>
        <p:nvPicPr>
          <p:cNvPr id="10" name="Picture 9" descr="Eventos cardiovasculares maiores em 6 semanas por faixa de escore HEART (≤3, 4 a 6, ≥7), com VPN=98.3% e baixo risco = Escore HEART ≤ 3"/>
          <p:cNvPicPr>
            <a:picLocks noChangeAspect="1"/>
          </p:cNvPicPr>
          <p:nvPr/>
        </p:nvPicPr>
        <p:blipFill>
          <a:blip r:embed="rId2"/>
          <a:stretch>
            <a:fillRect/>
          </a:stretch>
        </p:blipFill>
        <p:spPr>
          <a:xfrm>
            <a:off x="6984139" y="1417320"/>
            <a:ext cx="1849872" cy="1930962"/>
          </a:xfrm>
          <a:prstGeom prst="rect">
            <a:avLst/>
          </a:prstGeom>
        </p:spPr>
      </p:pic>
      <p:sp>
        <p:nvSpPr>
          <p:cNvPr id="4" name="Legenda 4"/>
          <p:cNvSpPr txBox="1"/>
          <p:nvPr/>
        </p:nvSpPr>
        <p:spPr>
          <a:xfrm>
            <a:off x="6831695" y="3399097"/>
            <a:ext cx="2002316" cy="284563"/>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610" b="0" i="0" dirty="0">
                <a:solidFill>
                  <a:srgbClr val="737A7F"/>
                </a:solidFill>
                <a:latin typeface="Roboto"/>
                <a:ea typeface="Roboto"/>
                <a:cs typeface="Roboto"/>
              </a:rPr>
              <a:t>Backus BE et al. Chest pain in the emergency room: a multicenter validation of the HEART Score. Crit Pathw Cardiol. 2010;9(3):164-169.</a:t>
            </a:r>
          </a:p>
        </p:txBody>
      </p:sp>
      <p:sp>
        <p:nvSpPr>
          <p:cNvPr id="1014"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300" b="0" i="0" dirty="0">
                <a:solidFill>
                  <a:srgbClr val="737A7F"/>
                </a:solidFill>
                <a:latin typeface="Roboto"/>
                <a:ea typeface="Roboto"/>
                <a:cs typeface="Roboto"/>
              </a:rPr>
              <a:t>Desfecho composto: 13,5% no High-Risk contra 0,4% no Low-Risk</a:t>
            </a:r>
          </a:p>
        </p:txBody>
      </p:sp>
      <p:sp>
        <p:nvSpPr>
          <p:cNvPr id="1011" name="Caixa 5"/>
          <p:cNvSpPr txBox="1"/>
          <p:nvPr/>
        </p:nvSpPr>
        <p:spPr>
          <a:xfrm>
            <a:off x="3360427" y="3833660"/>
            <a:ext cx="2388296" cy="1219555"/>
          </a:xfrm>
          <a:prstGeom prst="rect">
            <a:avLst/>
          </a:prstGeom>
          <a:solidFill>
            <a:srgbClr val="F2F4F5"/>
          </a:solidFill>
        </p:spPr>
        <p:txBody>
          <a:bodyPr wrap="square" lIns="101630" tIns="76222" rIns="101630" bIns="60978" anchor="t">
            <a:noAutofit/>
          </a:bodyPr>
          <a:lstStyle/>
          <a:p>
            <a:pPr marL="0" indent="0" algn="l">
              <a:lnSpc>
                <a:spcPct val="120000"/>
              </a:lnSpc>
              <a:spcBef>
                <a:spcPts val="0"/>
              </a:spcBef>
              <a:spcAft>
                <a:spcPts val="254"/>
              </a:spcAft>
              <a:buNone/>
            </a:pPr>
            <a:r>
              <a:rPr lang="pt-BR" sz="762" b="0" i="0" dirty="0">
                <a:solidFill>
                  <a:srgbClr val="4E7C8B"/>
                </a:solidFill>
                <a:latin typeface="Roboto Medium"/>
                <a:ea typeface="Roboto Medium"/>
                <a:cs typeface="Roboto Medium"/>
              </a:rPr>
              <a:t>Baixo Risco - HEART Pathway =</a:t>
            </a:r>
          </a:p>
          <a:p>
            <a:pPr marL="145203" indent="-145203" algn="l">
              <a:lnSpc>
                <a:spcPct val="120000"/>
              </a:lnSpc>
              <a:spcBef>
                <a:spcPts val="0"/>
              </a:spcBef>
              <a:spcAft>
                <a:spcPts val="102"/>
              </a:spcAft>
              <a:buClr>
                <a:srgbClr val="4E7C8B"/>
              </a:buClr>
              <a:buFont typeface="Arial"/>
              <a:buChar char="•"/>
            </a:pPr>
            <a:r>
              <a:rPr lang="pt-BR" sz="661" b="0" i="0" dirty="0">
                <a:solidFill>
                  <a:srgbClr val="5F6468"/>
                </a:solidFill>
                <a:latin typeface="Roboto"/>
                <a:ea typeface="Roboto"/>
                <a:cs typeface="Roboto"/>
              </a:rPr>
              <a:t>ECG sem alteração isquêmica</a:t>
            </a:r>
          </a:p>
          <a:p>
            <a:pPr marL="145203" indent="-145203" algn="l">
              <a:lnSpc>
                <a:spcPct val="120000"/>
              </a:lnSpc>
              <a:spcBef>
                <a:spcPts val="0"/>
              </a:spcBef>
              <a:spcAft>
                <a:spcPts val="102"/>
              </a:spcAft>
              <a:buClr>
                <a:srgbClr val="4E7C8B"/>
              </a:buClr>
              <a:buFont typeface="Arial"/>
              <a:buChar char="•"/>
            </a:pPr>
            <a:r>
              <a:rPr lang="pt-BR" sz="661" b="0" i="0" dirty="0">
                <a:solidFill>
                  <a:srgbClr val="5F6468"/>
                </a:solidFill>
                <a:latin typeface="Roboto"/>
                <a:ea typeface="Roboto"/>
                <a:cs typeface="Roboto"/>
              </a:rPr>
              <a:t>Sem DAC prévia</a:t>
            </a:r>
          </a:p>
          <a:p>
            <a:pPr marL="145203" indent="-145203" algn="l">
              <a:lnSpc>
                <a:spcPct val="120000"/>
              </a:lnSpc>
              <a:spcBef>
                <a:spcPts val="0"/>
              </a:spcBef>
              <a:spcAft>
                <a:spcPts val="102"/>
              </a:spcAft>
              <a:buClr>
                <a:srgbClr val="4E7C8B"/>
              </a:buClr>
              <a:buFont typeface="Arial"/>
              <a:buChar char="•"/>
            </a:pPr>
            <a:r>
              <a:rPr lang="pt-BR" sz="661" b="0" i="0" dirty="0">
                <a:solidFill>
                  <a:srgbClr val="5F6468"/>
                </a:solidFill>
                <a:latin typeface="Roboto"/>
                <a:ea typeface="Roboto"/>
                <a:cs typeface="Roboto"/>
              </a:rPr>
              <a:t>Escore HEART =0-3</a:t>
            </a:r>
          </a:p>
          <a:p>
            <a:pPr marL="145203" indent="-145203" algn="l">
              <a:lnSpc>
                <a:spcPct val="120000"/>
              </a:lnSpc>
              <a:spcBef>
                <a:spcPts val="0"/>
              </a:spcBef>
              <a:spcAft>
                <a:spcPts val="0"/>
              </a:spcAft>
              <a:buClr>
                <a:srgbClr val="B5533C"/>
              </a:buClr>
              <a:buFont typeface="Arial"/>
              <a:buChar char="•"/>
            </a:pPr>
            <a:r>
              <a:rPr lang="pt-BR" sz="661" b="0" i="0" dirty="0">
                <a:solidFill>
                  <a:srgbClr val="B5533C"/>
                </a:solidFill>
                <a:latin typeface="Roboto"/>
                <a:ea typeface="Roboto"/>
                <a:cs typeface="Roboto"/>
              </a:rPr>
              <a:t>Troponina de alta sensibilidade seriada Negativa</a:t>
            </a:r>
          </a:p>
        </p:txBody>
      </p:sp>
      <p:sp>
        <p:nvSpPr>
          <p:cNvPr id="1012" name="Legenda 7"/>
          <p:cNvSpPr txBox="1"/>
          <p:nvPr/>
        </p:nvSpPr>
        <p:spPr>
          <a:xfrm>
            <a:off x="5901167" y="5840845"/>
            <a:ext cx="2932843" cy="152444"/>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610" b="0" i="0" dirty="0">
                <a:solidFill>
                  <a:srgbClr val="737A7F"/>
                </a:solidFill>
                <a:latin typeface="Roboto"/>
                <a:ea typeface="Roboto"/>
                <a:cs typeface="Roboto"/>
              </a:rPr>
              <a:t>Circulation. 2018;138:2456–246</a:t>
            </a:r>
          </a:p>
        </p:txBody>
      </p:sp>
      <p:graphicFrame>
        <p:nvGraphicFramePr>
          <p:cNvPr id="1013" name="Chart 9"/>
          <p:cNvGraphicFramePr>
            <a:graphicFrameLocks noGrp="1"/>
          </p:cNvGraphicFramePr>
          <p:nvPr/>
        </p:nvGraphicFramePr>
        <p:xfrm>
          <a:off x="5901167" y="3833660"/>
          <a:ext cx="2932843" cy="1981777"/>
        </p:xfrm>
        <a:graphic>
          <a:graphicData uri="http://schemas.openxmlformats.org/drawingml/2006/chart">
            <c:chart xmlns:c="http://schemas.openxmlformats.org/drawingml/2006/chart" r:id="rId3"/>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16 – Aortic dissection detection risk score (ADD-RS)</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1642489"/>
        </p:xfrm>
        <a:graphic>
          <a:graphicData uri="http://schemas.openxmlformats.org/drawingml/2006/table">
            <a:tbl>
              <a:tblPr firstRow="1"/>
              <a:tblGrid>
                <a:gridCol w="3890544"/>
                <a:gridCol w="3290544"/>
                <a:gridCol w="3590544"/>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Condições clínicas predisponentes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Características da dor</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Achados no exame clínico</a:t>
                      </a:r>
                      <a:endParaRPr lang="pt-BR" sz="1300" dirty="0"/>
                    </a:p>
                  </a:txBody>
                  <a:tcPr marL="91440" marR="91440" marT="54864" marB="54864" anchor="ctr">
                    <a:lnL w="0">
                      <a:noFill/>
                    </a:lnL>
                    <a:lnR w="0">
                      <a:noFill/>
                    </a:lnR>
                    <a:lnT w="0">
                      <a:noFill/>
                    </a:lnT>
                    <a:lnB w="0">
                      <a:noFill/>
                    </a:lnB>
                    <a:solidFill>
                      <a:srgbClr val="4E7C8B"/>
                    </a:solidFill>
                  </a:tcPr>
                </a:tc>
              </a:tr>
              <a:tr h="1323479">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Síndrome de Marfan ou outra doença do tecido conjuntivo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familiar de aortopatia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conhecida de valvopatia aórtica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Manipulação aórtica recente</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Aneurisma de aorta torácico conhecido</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torácica ou abdominal descrita como: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Início súbito;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Intensidade severa;</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Caracterizada como “rasgando”</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Déficit de pulso ou pressão arterial</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Déficit neurológico focal (associado a dor)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Sopro de regurgitação aórtica (novo associado a dor)</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Hipotensão ou choque</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11201400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Escore de risco para detecção de dissecção de aorta (ADD-RS)</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47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9" name="Nota"/>
          <p:cNvSpPr txBox="1"/>
          <p:nvPr/>
        </p:nvSpPr>
        <p:spPr>
          <a:xfrm>
            <a:off x="713232" y="557784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*Casos suspeitos com sinais radiográficos sugestivos de dissecção de aorta (ex: alargamento de mediastino), seguir fluxo de alta probabilidade.</a:t>
            </a:r>
          </a:p>
        </p:txBody>
      </p:sp>
      <p:sp>
        <p:nvSpPr>
          <p:cNvPr id="310" name="Legenda"/>
          <p:cNvSpPr txBox="1"/>
          <p:nvPr/>
        </p:nvSpPr>
        <p:spPr>
          <a:xfrm>
            <a:off x="713232" y="585216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Figura 9 – Fluxograma para investigação de síndrome aórtica aguda.</a:t>
            </a:r>
          </a:p>
        </p:txBody>
      </p:sp>
      <p:sp>
        <p:nvSpPr>
          <p:cNvPr id="311" name="Card"/>
          <p:cNvSpPr/>
          <p:nvPr/>
        </p:nvSpPr>
        <p:spPr>
          <a:xfrm>
            <a:off x="713232" y="1371600"/>
            <a:ext cx="2514600"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CONDIÇÃO DE ALTO RISCO</a:t>
            </a:r>
          </a:p>
        </p:txBody>
      </p:sp>
      <p:cxnSp>
        <p:nvCxnSpPr>
          <p:cNvPr id="312" name="Seta"/>
          <p:cNvCxnSpPr/>
          <p:nvPr/>
        </p:nvCxnSpPr>
        <p:spPr>
          <a:xfrm>
            <a:off x="1970532" y="205740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3" name="Card"/>
          <p:cNvSpPr/>
          <p:nvPr/>
        </p:nvSpPr>
        <p:spPr>
          <a:xfrm>
            <a:off x="3465576" y="1371600"/>
            <a:ext cx="2514600"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CARACTERÍSTICAS DA DOR DE ALTO RISCO</a:t>
            </a:r>
          </a:p>
        </p:txBody>
      </p:sp>
      <p:cxnSp>
        <p:nvCxnSpPr>
          <p:cNvPr id="314" name="Seta"/>
          <p:cNvCxnSpPr/>
          <p:nvPr/>
        </p:nvCxnSpPr>
        <p:spPr>
          <a:xfrm>
            <a:off x="4722876" y="205740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5" name="Card"/>
          <p:cNvSpPr/>
          <p:nvPr/>
        </p:nvSpPr>
        <p:spPr>
          <a:xfrm>
            <a:off x="6217920" y="1371600"/>
            <a:ext cx="2514600"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ACHADOS DE ALTO RISCO EM EXAMES</a:t>
            </a:r>
          </a:p>
        </p:txBody>
      </p:sp>
      <p:cxnSp>
        <p:nvCxnSpPr>
          <p:cNvPr id="316" name="Seta"/>
          <p:cNvCxnSpPr/>
          <p:nvPr/>
        </p:nvCxnSpPr>
        <p:spPr>
          <a:xfrm>
            <a:off x="7475220" y="205740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7" name="Card"/>
          <p:cNvSpPr/>
          <p:nvPr/>
        </p:nvSpPr>
        <p:spPr>
          <a:xfrm>
            <a:off x="8970263" y="1371600"/>
            <a:ext cx="2514600"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Avaliação pelo POCUS:</a:t>
            </a:r>
          </a:p>
        </p:txBody>
      </p:sp>
      <p:cxnSp>
        <p:nvCxnSpPr>
          <p:cNvPr id="318" name="Seta"/>
          <p:cNvCxnSpPr/>
          <p:nvPr/>
        </p:nvCxnSpPr>
        <p:spPr>
          <a:xfrm>
            <a:off x="10227563" y="205740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9" name="Etapa"/>
          <p:cNvSpPr/>
          <p:nvPr/>
        </p:nvSpPr>
        <p:spPr>
          <a:xfrm>
            <a:off x="713232" y="2286000"/>
            <a:ext cx="10771632" cy="5029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Realizar ECG e POCUS/Radiografia de tórax* (quando disponível)</a:t>
            </a:r>
          </a:p>
        </p:txBody>
      </p:sp>
      <p:cxnSp>
        <p:nvCxnSpPr>
          <p:cNvPr id="320" name="Seta"/>
          <p:cNvCxnSpPr/>
          <p:nvPr/>
        </p:nvCxnSpPr>
        <p:spPr>
          <a:xfrm>
            <a:off x="6099048" y="2788920"/>
            <a:ext cx="0" cy="13716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21" name="Seta"/>
          <p:cNvCxnSpPr/>
          <p:nvPr/>
        </p:nvCxnSpPr>
        <p:spPr>
          <a:xfrm flipH="1">
            <a:off x="3017520" y="2926080"/>
            <a:ext cx="3081528"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22" name="Seta"/>
          <p:cNvCxnSpPr/>
          <p:nvPr/>
        </p:nvCxnSpPr>
        <p:spPr>
          <a:xfrm>
            <a:off x="3017520" y="292608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3" name="Seta"/>
          <p:cNvCxnSpPr/>
          <p:nvPr/>
        </p:nvCxnSpPr>
        <p:spPr>
          <a:xfrm>
            <a:off x="6099048" y="2926080"/>
            <a:ext cx="2587752"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24" name="Seta"/>
          <p:cNvCxnSpPr/>
          <p:nvPr/>
        </p:nvCxnSpPr>
        <p:spPr>
          <a:xfrm>
            <a:off x="8686800" y="292608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5" name="Etapa"/>
          <p:cNvSpPr/>
          <p:nvPr/>
        </p:nvSpPr>
        <p:spPr>
          <a:xfrm>
            <a:off x="713232" y="3108960"/>
            <a:ext cx="4663440" cy="7315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&gt; 1 ponto no ADD-RS ou com sinais sugestivos no POCUS/Radiografia de tórax*</a:t>
            </a:r>
          </a:p>
        </p:txBody>
      </p:sp>
      <p:sp>
        <p:nvSpPr>
          <p:cNvPr id="326" name="Etapa"/>
          <p:cNvSpPr/>
          <p:nvPr/>
        </p:nvSpPr>
        <p:spPr>
          <a:xfrm>
            <a:off x="5943600" y="3108960"/>
            <a:ext cx="5541264" cy="7315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 1 ponto no ADD-RS e sem sinais sugestivos no POCUS/Radiografia de tórax*</a:t>
            </a:r>
          </a:p>
        </p:txBody>
      </p:sp>
      <p:cxnSp>
        <p:nvCxnSpPr>
          <p:cNvPr id="327" name="Seta"/>
          <p:cNvCxnSpPr/>
          <p:nvPr/>
        </p:nvCxnSpPr>
        <p:spPr>
          <a:xfrm>
            <a:off x="3017520" y="384048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8" name="Status"/>
          <p:cNvSpPr/>
          <p:nvPr/>
        </p:nvSpPr>
        <p:spPr>
          <a:xfrm>
            <a:off x="713232" y="4069080"/>
            <a:ext cx="4663440" cy="457200"/>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FBFCFC"/>
                </a:solidFill>
                <a:latin typeface="Roboto Medium"/>
                <a:ea typeface="Roboto Medium"/>
                <a:cs typeface="Roboto Medium"/>
              </a:rPr>
              <a:t>Alta probabilidade</a:t>
            </a:r>
          </a:p>
        </p:txBody>
      </p:sp>
      <p:cxnSp>
        <p:nvCxnSpPr>
          <p:cNvPr id="329" name="Seta"/>
          <p:cNvCxnSpPr/>
          <p:nvPr/>
        </p:nvCxnSpPr>
        <p:spPr>
          <a:xfrm>
            <a:off x="3017520" y="452628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0" name="Etapa"/>
          <p:cNvSpPr/>
          <p:nvPr/>
        </p:nvSpPr>
        <p:spPr>
          <a:xfrm>
            <a:off x="713232" y="4754880"/>
            <a:ext cx="4663440"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Realizar angiotomografia de aorta torácica e abdominal</a:t>
            </a:r>
          </a:p>
        </p:txBody>
      </p:sp>
      <p:cxnSp>
        <p:nvCxnSpPr>
          <p:cNvPr id="331" name="Seta"/>
          <p:cNvCxnSpPr/>
          <p:nvPr/>
        </p:nvCxnSpPr>
        <p:spPr>
          <a:xfrm>
            <a:off x="7178040" y="384048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2" name="Status"/>
          <p:cNvSpPr/>
          <p:nvPr/>
        </p:nvSpPr>
        <p:spPr>
          <a:xfrm>
            <a:off x="5943600" y="4069080"/>
            <a:ext cx="2468880" cy="457200"/>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1F3238"/>
                </a:solidFill>
                <a:latin typeface="Roboto Medium"/>
                <a:ea typeface="Roboto Medium"/>
                <a:cs typeface="Roboto Medium"/>
              </a:rPr>
              <a:t>Baixa probabilidade</a:t>
            </a:r>
          </a:p>
        </p:txBody>
      </p:sp>
      <p:cxnSp>
        <p:nvCxnSpPr>
          <p:cNvPr id="333" name="Seta"/>
          <p:cNvCxnSpPr/>
          <p:nvPr/>
        </p:nvCxnSpPr>
        <p:spPr>
          <a:xfrm>
            <a:off x="8412480" y="4297680"/>
            <a:ext cx="36576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4" name="Etapa"/>
          <p:cNvSpPr/>
          <p:nvPr/>
        </p:nvSpPr>
        <p:spPr>
          <a:xfrm>
            <a:off x="8778240" y="4069080"/>
            <a:ext cx="2706624" cy="4572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D-Dímero</a:t>
            </a:r>
          </a:p>
        </p:txBody>
      </p:sp>
      <p:cxnSp>
        <p:nvCxnSpPr>
          <p:cNvPr id="335" name="Seta"/>
          <p:cNvCxnSpPr/>
          <p:nvPr/>
        </p:nvCxnSpPr>
        <p:spPr>
          <a:xfrm>
            <a:off x="10131552" y="4526280"/>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6" name="Seta"/>
          <p:cNvCxnSpPr/>
          <p:nvPr/>
        </p:nvCxnSpPr>
        <p:spPr>
          <a:xfrm>
            <a:off x="9326880" y="4526280"/>
            <a:ext cx="0" cy="118872"/>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37" name="Seta"/>
          <p:cNvCxnSpPr/>
          <p:nvPr/>
        </p:nvCxnSpPr>
        <p:spPr>
          <a:xfrm flipH="1">
            <a:off x="7269480" y="4645152"/>
            <a:ext cx="205740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38" name="Seta"/>
          <p:cNvCxnSpPr/>
          <p:nvPr/>
        </p:nvCxnSpPr>
        <p:spPr>
          <a:xfrm>
            <a:off x="7269480" y="4645152"/>
            <a:ext cx="0" cy="109728"/>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9" name="Etapa"/>
          <p:cNvSpPr/>
          <p:nvPr/>
        </p:nvSpPr>
        <p:spPr>
          <a:xfrm>
            <a:off x="5943600" y="4754880"/>
            <a:ext cx="2651760" cy="68580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 500 ng/ml</a:t>
            </a:r>
          </a:p>
          <a:p>
            <a:pPr algn="ctr">
              <a:lnSpc>
                <a:spcPct val="100000"/>
              </a:lnSpc>
              <a:spcAft>
                <a:spcPts val="300"/>
              </a:spcAft>
              <a:buNone/>
            </a:pPr>
            <a:r>
              <a:rPr sz="1300" b="0">
                <a:solidFill>
                  <a:srgbClr val="5F6468"/>
                </a:solidFill>
                <a:latin typeface="Roboto"/>
                <a:ea typeface="Roboto"/>
                <a:cs typeface="Roboto"/>
              </a:rPr>
              <a:t>Realizar angiotomografia de aorta torácica e abdominal</a:t>
            </a:r>
          </a:p>
        </p:txBody>
      </p:sp>
      <p:sp>
        <p:nvSpPr>
          <p:cNvPr id="340" name="Status"/>
          <p:cNvSpPr/>
          <p:nvPr/>
        </p:nvSpPr>
        <p:spPr>
          <a:xfrm>
            <a:off x="8778240" y="4754880"/>
            <a:ext cx="2706624" cy="685800"/>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FBFCFC"/>
                </a:solidFill>
                <a:latin typeface="Roboto Medium"/>
                <a:ea typeface="Roboto Medium"/>
                <a:cs typeface="Roboto Medium"/>
              </a:rPr>
              <a:t>&lt;500 ng/ml</a:t>
            </a:r>
          </a:p>
          <a:p>
            <a:pPr algn="ctr">
              <a:lnSpc>
                <a:spcPct val="100000"/>
              </a:lnSpc>
              <a:spcAft>
                <a:spcPts val="300"/>
              </a:spcAft>
              <a:buNone/>
            </a:pPr>
            <a:r>
              <a:rPr sz="1300" b="0">
                <a:solidFill>
                  <a:srgbClr val="FBFCFC"/>
                </a:solidFill>
                <a:latin typeface="Roboto"/>
                <a:ea typeface="Roboto"/>
                <a:cs typeface="Roboto"/>
              </a:rPr>
              <a:t>Rule-out para dissecção de aorta – Procurar outro diagnóstico</a:t>
            </a:r>
          </a:p>
        </p:txBody>
      </p:sp>
    </p:spTree>
    <p:extLst>
      <p:ext uri="{BB962C8B-B14F-4D97-AF65-F5344CB8AC3E}">
        <p14:creationId xmlns:p14="http://schemas.microsoft.com/office/powerpoint/2010/main" val="27238528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19 – Escore de Wells: critérios e respectiva pontuação</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48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2462784"/>
        </p:xfrm>
        <a:graphic>
          <a:graphicData uri="http://schemas.openxmlformats.org/drawingml/2006/table">
            <a:tbl>
              <a:tblPr firstRow="1"/>
              <a:tblGrid>
                <a:gridCol w="8971632"/>
                <a:gridCol w="1800000"/>
              </a:tblGrid>
              <a:tr h="307848">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Critérios</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Pontos</a:t>
                      </a:r>
                      <a:endParaRPr lang="pt-BR" sz="1300" dirty="0"/>
                    </a:p>
                  </a:txBody>
                  <a:tcPr marL="91440" marR="91440" marT="54864" marB="54864" anchor="ctr">
                    <a:lnL w="0">
                      <a:noFill/>
                    </a:lnL>
                    <a:lnR w="0">
                      <a:noFill/>
                    </a:lnR>
                    <a:lnT w="0">
                      <a:noFill/>
                    </a:lnT>
                    <a:lnB w="0">
                      <a:noFill/>
                    </a:lnB>
                    <a:solidFill>
                      <a:srgbClr val="4E7C8B"/>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Sinais clínicos de TVP</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Ausência de diagnóstico alternativo mais provável que TEP</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TVP ou TEP prévios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FC &gt; 100 bpm</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Imobilização por mais de 2 dias ou cirurgia nas últimas 4 semanas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+1,5</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Hemoptise</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Câncer (atual tratado nos últimos 6 meses, ou se o paciente estiver em cuidados paliativos)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1300" b="0" i="0" dirty="0">
                          <a:solidFill>
                            <a:srgbClr val="5F6468"/>
                          </a:solidFill>
                          <a:latin typeface="Roboto"/>
                          <a:ea typeface="Roboto"/>
                          <a:cs typeface="Roboto"/>
                        </a:rPr>
                        <a:t>+1</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950104"/>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TVP: trombose venosa profunda; TEP: tromboembolismo pulmonar; bpm: batimentos por minuto.</a:t>
            </a:r>
            <a:endParaRPr lang="pt-BR" sz="1200" dirty="0"/>
          </a:p>
        </p:txBody>
      </p:sp>
    </p:spTree>
    <p:extLst>
      <p:ext uri="{BB962C8B-B14F-4D97-AF65-F5344CB8AC3E}">
        <p14:creationId xmlns:p14="http://schemas.microsoft.com/office/powerpoint/2010/main" val="313329083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20 – Escore de Wells modificado e probabilidade/risco de tromboembolismo pulmonar, a depender da pontuação</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49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1539240"/>
        </p:xfrm>
        <a:graphic>
          <a:graphicData uri="http://schemas.openxmlformats.org/drawingml/2006/table">
            <a:tbl>
              <a:tblPr firstRow="1"/>
              <a:tblGrid>
                <a:gridCol w="3000000"/>
                <a:gridCol w="3900000"/>
                <a:gridCol w="3871632"/>
              </a:tblGrid>
              <a:tr h="307848">
                <a:tc gridSpan="3">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3 níveis</a:t>
                      </a:r>
                      <a:endParaRPr lang="pt-BR" sz="1300" dirty="0"/>
                    </a:p>
                  </a:txBody>
                  <a:tcPr marL="91440" marR="91440" marT="54864" marB="54864"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307848">
                <a:tc>
                  <a:txBody>
                    <a:bodyPr/>
                    <a:lstStyle/>
                    <a:p>
                      <a:pPr algn="l"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Pontuação</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de TEP</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pré-teste</a:t>
                      </a:r>
                      <a:endParaRPr lang="pt-BR" sz="1300" dirty="0"/>
                    </a:p>
                  </a:txBody>
                  <a:tcPr marL="91440" marR="91440" marT="54864" marB="54864" anchor="ctr">
                    <a:lnL w="0">
                      <a:noFill/>
                    </a:lnL>
                    <a:lnR w="0">
                      <a:noFill/>
                    </a:lnR>
                    <a:lnT w="0">
                      <a:noFill/>
                    </a:lnT>
                    <a:lnB w="0">
                      <a:noFill/>
                    </a:lnB>
                    <a:solidFill>
                      <a:srgbClr val="6E9DAB"/>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&lt; 2</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 a 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Baixa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2-6</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16 a 28%</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Intermediária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6</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&gt; 40 %</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Alta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324924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TEP: tromboembolismo pulmonar.</a:t>
            </a:r>
            <a:endParaRPr lang="pt-BR" sz="1200" dirty="0"/>
          </a:p>
        </p:txBody>
      </p:sp>
      <p:graphicFrame>
        <p:nvGraphicFramePr>
          <p:cNvPr id="1008" name="Tabela"/>
          <p:cNvGraphicFramePr>
            <a:graphicFrameLocks noGrp="1"/>
          </p:cNvGraphicFramePr>
          <p:nvPr/>
        </p:nvGraphicFramePr>
        <p:xfrm>
          <a:off x="711403" y="3607548"/>
          <a:ext cx="10771632" cy="1231392"/>
        </p:xfrm>
        <a:graphic>
          <a:graphicData uri="http://schemas.openxmlformats.org/drawingml/2006/table">
            <a:tbl>
              <a:tblPr firstRow="1"/>
              <a:tblGrid>
                <a:gridCol w="3000000"/>
                <a:gridCol w="3900000"/>
                <a:gridCol w="3871632"/>
              </a:tblGrid>
              <a:tr h="307848">
                <a:tc gridSpan="3">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2 níveis</a:t>
                      </a:r>
                      <a:endParaRPr lang="pt-BR" sz="1300" dirty="0"/>
                    </a:p>
                  </a:txBody>
                  <a:tcPr marL="91440" marR="91440" marT="54864" marB="54864"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307848">
                <a:tc>
                  <a:txBody>
                    <a:bodyPr/>
                    <a:lstStyle/>
                    <a:p>
                      <a:pPr algn="l"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Pontuação</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de TEP</a:t>
                      </a:r>
                      <a:endParaRPr lang="pt-BR" sz="1300" dirty="0"/>
                    </a:p>
                  </a:txBody>
                  <a:tcPr marL="91440" marR="91440" marT="54864" marB="54864"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Probabilidade pré-teste</a:t>
                      </a:r>
                      <a:endParaRPr lang="pt-BR" sz="1300" dirty="0"/>
                    </a:p>
                  </a:txBody>
                  <a:tcPr marL="91440" marR="91440" marT="54864" marB="54864" anchor="ctr">
                    <a:lnL w="0">
                      <a:noFill/>
                    </a:lnL>
                    <a:lnR w="0">
                      <a:noFill/>
                    </a:lnR>
                    <a:lnT w="0">
                      <a:noFill/>
                    </a:lnT>
                    <a:lnB w="0">
                      <a:noFill/>
                    </a:lnB>
                    <a:solidFill>
                      <a:srgbClr val="6E9DAB"/>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4</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3%</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Improvável</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&gt; 4</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28 %</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5F6468"/>
                          </a:solidFill>
                          <a:latin typeface="Roboto"/>
                          <a:ea typeface="Roboto"/>
                          <a:cs typeface="Roboto"/>
                        </a:rPr>
                        <a:t>Provável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Tree>
    <p:extLst>
      <p:ext uri="{BB962C8B-B14F-4D97-AF65-F5344CB8AC3E}">
        <p14:creationId xmlns:p14="http://schemas.microsoft.com/office/powerpoint/2010/main" val="43929376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21 – Escore de Genebra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50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040000"/>
            <a:ext cx="10771632" cy="21316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0" dirty="0">
                <a:solidFill>
                  <a:srgbClr val="737A7F"/>
                </a:solidFill>
                <a:latin typeface="Roboto"/>
                <a:ea typeface="Roboto"/>
                <a:cs typeface="Roboto"/>
              </a:rPr>
              <a:t>Tabela 21 – Escore de Genebra revisado e simplificado e probabilidade e risco de tromboembolismo pulmonar, a depender da pontuação</a:t>
            </a:r>
            <a:endParaRPr lang="pt-BR" sz="1300" dirty="0"/>
          </a:p>
        </p:txBody>
      </p:sp>
      <p:graphicFrame>
        <p:nvGraphicFramePr>
          <p:cNvPr id="7" name="Tabela"/>
          <p:cNvGraphicFramePr>
            <a:graphicFrameLocks noGrp="1"/>
          </p:cNvGraphicFramePr>
          <p:nvPr/>
        </p:nvGraphicFramePr>
        <p:xfrm>
          <a:off x="711403" y="1640000"/>
          <a:ext cx="10771632" cy="2239964"/>
        </p:xfrm>
        <a:graphic>
          <a:graphicData uri="http://schemas.openxmlformats.org/drawingml/2006/table">
            <a:tbl>
              <a:tblPr firstRow="1"/>
              <a:tblGrid>
                <a:gridCol w="6614160"/>
                <a:gridCol w="1889760"/>
                <a:gridCol w="2267712"/>
              </a:tblGrid>
              <a:tr h="223996">
                <a:tc>
                  <a:txBody>
                    <a:bodyPr/>
                    <a:lstStyle/>
                    <a:p>
                      <a:pPr algn="l"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Escore Genebra (do inglês, Geneva)</a:t>
                      </a:r>
                      <a:endParaRPr lang="pt-BR" sz="946" dirty="0"/>
                    </a:p>
                  </a:txBody>
                  <a:tcPr marL="66534" marR="66534" marT="39920" marB="39920"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Revisado - pontos</a:t>
                      </a:r>
                      <a:endParaRPr lang="pt-BR" sz="946" dirty="0"/>
                    </a:p>
                  </a:txBody>
                  <a:tcPr marL="66534" marR="66534" marT="39920" marB="39920"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Simplificado - pontos</a:t>
                      </a:r>
                      <a:endParaRPr lang="pt-BR" sz="946" dirty="0"/>
                    </a:p>
                  </a:txBody>
                  <a:tcPr marL="66534" marR="66534" marT="39920" marB="39920" anchor="ctr">
                    <a:lnL w="0">
                      <a:noFill/>
                    </a:lnL>
                    <a:lnR w="0">
                      <a:noFill/>
                    </a:lnR>
                    <a:lnT w="0">
                      <a:noFill/>
                    </a:lnT>
                    <a:lnB w="0">
                      <a:noFill/>
                    </a:lnB>
                    <a:solidFill>
                      <a:srgbClr val="4E7C8B"/>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Idade &gt; 65 anos</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TVP e TEP prévios</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3</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Cirurgia ou fratura no último mês</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2</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Neoplasia em atividade</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2</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Dor unilateral em membro inferior</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3</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Hemoptise</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2</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Dor a palpação de veias profundas de membro inferior/edema unilateral</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4</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FC 75-94 bpm</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3</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1</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FC ≥ 95 bpm</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5</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2</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bl>
          </a:graphicData>
        </a:graphic>
      </p:graphicFrame>
      <p:sp>
        <p:nvSpPr>
          <p:cNvPr id="10" name="Nota"/>
          <p:cNvSpPr txBox="1"/>
          <p:nvPr/>
        </p:nvSpPr>
        <p:spPr>
          <a:xfrm>
            <a:off x="711403" y="3930897"/>
            <a:ext cx="10771632" cy="144293"/>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873" b="0" i="1" dirty="0">
                <a:solidFill>
                  <a:srgbClr val="737A7F"/>
                </a:solidFill>
                <a:latin typeface="Roboto"/>
                <a:ea typeface="Roboto"/>
                <a:cs typeface="Roboto"/>
              </a:rPr>
              <a:t>TVP: trombose venosa profunda; TEP: tromboembolismo pulmonar; FC: frequência cardíaca; bpm: batimentos por minuto.</a:t>
            </a:r>
            <a:endParaRPr lang="pt-BR" sz="873" dirty="0"/>
          </a:p>
        </p:txBody>
      </p:sp>
      <p:graphicFrame>
        <p:nvGraphicFramePr>
          <p:cNvPr id="1011" name="Tabela"/>
          <p:cNvGraphicFramePr>
            <a:graphicFrameLocks noGrp="1"/>
          </p:cNvGraphicFramePr>
          <p:nvPr/>
        </p:nvGraphicFramePr>
        <p:xfrm>
          <a:off x="711403" y="4191610"/>
          <a:ext cx="10771632" cy="895986"/>
        </p:xfrm>
        <a:graphic>
          <a:graphicData uri="http://schemas.openxmlformats.org/drawingml/2006/table">
            <a:tbl>
              <a:tblPr firstRow="1"/>
              <a:tblGrid>
                <a:gridCol w="3877787"/>
                <a:gridCol w="3446922"/>
                <a:gridCol w="3446923"/>
              </a:tblGrid>
              <a:tr h="223996">
                <a:tc>
                  <a:txBody>
                    <a:bodyPr/>
                    <a:lstStyle/>
                    <a:p>
                      <a:pPr algn="l"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Pontuação – Genebra revisado</a:t>
                      </a:r>
                      <a:endParaRPr lang="pt-BR" sz="946" dirty="0"/>
                    </a:p>
                  </a:txBody>
                  <a:tcPr marL="66534" marR="66534" marT="39920" marB="39920"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Probabilidade de TEP</a:t>
                      </a:r>
                      <a:endParaRPr lang="pt-BR" sz="946" dirty="0"/>
                    </a:p>
                  </a:txBody>
                  <a:tcPr marL="66534" marR="66534" marT="39920" marB="39920"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Probabilidade pré-teste</a:t>
                      </a:r>
                      <a:endParaRPr lang="pt-BR" sz="946" dirty="0"/>
                    </a:p>
                  </a:txBody>
                  <a:tcPr marL="66534" marR="66534" marT="39920" marB="39920" anchor="ctr">
                    <a:lnL w="0">
                      <a:noFill/>
                    </a:lnL>
                    <a:lnR w="0">
                      <a:noFill/>
                    </a:lnR>
                    <a:lnT w="0">
                      <a:noFill/>
                    </a:lnT>
                    <a:lnB w="0">
                      <a:noFill/>
                    </a:lnB>
                    <a:solidFill>
                      <a:srgbClr val="4E7C8B"/>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0-3</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8%</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Baixa</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4-10</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28%</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Intermediária</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 11</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&gt; 60%</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Alta</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bl>
          </a:graphicData>
        </a:graphic>
      </p:graphicFrame>
      <p:graphicFrame>
        <p:nvGraphicFramePr>
          <p:cNvPr id="1012" name="Tabela"/>
          <p:cNvGraphicFramePr>
            <a:graphicFrameLocks noGrp="1"/>
          </p:cNvGraphicFramePr>
          <p:nvPr/>
        </p:nvGraphicFramePr>
        <p:xfrm>
          <a:off x="711403" y="5204014"/>
          <a:ext cx="10771632" cy="895986"/>
        </p:xfrm>
        <a:graphic>
          <a:graphicData uri="http://schemas.openxmlformats.org/drawingml/2006/table">
            <a:tbl>
              <a:tblPr firstRow="1"/>
              <a:tblGrid>
                <a:gridCol w="6678411"/>
                <a:gridCol w="4093221"/>
              </a:tblGrid>
              <a:tr h="223996">
                <a:tc>
                  <a:txBody>
                    <a:bodyPr/>
                    <a:lstStyle/>
                    <a:p>
                      <a:pPr algn="l"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Pontuação – Genebra simplificado (2 níveis)</a:t>
                      </a:r>
                      <a:endParaRPr lang="pt-BR" sz="946" dirty="0"/>
                    </a:p>
                  </a:txBody>
                  <a:tcPr marL="66534" marR="66534" marT="39920" marB="39920"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Probabilidade pré-teste</a:t>
                      </a:r>
                      <a:endParaRPr lang="pt-BR" sz="946" dirty="0"/>
                    </a:p>
                  </a:txBody>
                  <a:tcPr marL="66534" marR="66534" marT="39920" marB="39920" anchor="ctr">
                    <a:lnL w="0">
                      <a:noFill/>
                    </a:lnL>
                    <a:lnR w="0">
                      <a:noFill/>
                    </a:lnR>
                    <a:lnT w="0">
                      <a:noFill/>
                    </a:lnT>
                    <a:lnB w="0">
                      <a:noFill/>
                    </a:lnB>
                    <a:solidFill>
                      <a:srgbClr val="4E7C8B"/>
                    </a:solidFill>
                  </a:tcPr>
                </a:tc>
              </a:tr>
              <a:tr h="223996">
                <a:tc gridSpan="2">
                  <a:txBody>
                    <a:bodyPr/>
                    <a:lstStyle/>
                    <a:p>
                      <a:pPr algn="ctr" marL="0" indent="0">
                        <a:lnSpc>
                          <a:spcPct val="100000"/>
                        </a:lnSpc>
                        <a:spcBef>
                          <a:spcPts val="0"/>
                        </a:spcBef>
                        <a:spcAft>
                          <a:spcPts val="0"/>
                        </a:spcAft>
                        <a:buNone/>
                      </a:pPr>
                      <a:r>
                        <a:rPr lang="pt-BR" sz="946" b="0" i="0" dirty="0">
                          <a:solidFill>
                            <a:srgbClr val="FBFCFC"/>
                          </a:solidFill>
                          <a:latin typeface="Roboto Medium"/>
                          <a:ea typeface="Roboto Medium"/>
                          <a:cs typeface="Roboto Medium"/>
                        </a:rPr>
                        <a:t>2 níveis</a:t>
                      </a:r>
                      <a:endParaRPr lang="pt-BR" sz="946" dirty="0"/>
                    </a:p>
                  </a:txBody>
                  <a:tcPr marL="66534" marR="66534" marT="39920" marB="39920" anchor="ctr">
                    <a:lnL w="0">
                      <a:noFill/>
                    </a:lnL>
                    <a:lnR w="0">
                      <a:noFill/>
                    </a:lnR>
                    <a:lnT w="0">
                      <a:noFill/>
                    </a:lnT>
                    <a:lnB w="0">
                      <a:noFill/>
                    </a:lnB>
                    <a:solidFill>
                      <a:srgbClr val="4E7C8B"/>
                    </a:solidFill>
                  </a:tcPr>
                </a:tc>
                <a:tc hMerge="1">
                  <a:txBody>
                    <a:bodyPr/>
                    <a:lstStyle/>
                    <a:p>
                      <a:endParaRPr lang="pt-BR"/>
                    </a:p>
                  </a:txBody>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0-2</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Improvável</a:t>
                      </a:r>
                      <a:endParaRPr lang="pt-BR" sz="946" dirty="0"/>
                    </a:p>
                  </a:txBody>
                  <a:tcPr marL="66534" marR="66534" marT="39920" marB="39920" anchor="ctr">
                    <a:lnL w="0">
                      <a:noFill/>
                    </a:lnL>
                    <a:lnR w="0">
                      <a:noFill/>
                    </a:lnR>
                    <a:lnT w="0">
                      <a:noFill/>
                    </a:lnT>
                    <a:lnB w="12700">
                      <a:solidFill>
                        <a:srgbClr val="E4E6E7"/>
                      </a:solidFill>
                    </a:lnB>
                    <a:solidFill>
                      <a:srgbClr val="FBFCFC"/>
                    </a:solidFill>
                  </a:tcPr>
                </a:tc>
              </a:tr>
              <a:tr h="223996">
                <a:tc>
                  <a:txBody>
                    <a:bodyPr/>
                    <a:lstStyle/>
                    <a:p>
                      <a:pPr algn="l" marL="0" indent="0">
                        <a:lnSpc>
                          <a:spcPct val="100000"/>
                        </a:lnSpc>
                        <a:spcBef>
                          <a:spcPts val="0"/>
                        </a:spcBef>
                        <a:spcAft>
                          <a:spcPts val="0"/>
                        </a:spcAft>
                        <a:buNone/>
                      </a:pPr>
                      <a:r>
                        <a:rPr lang="pt-BR" sz="946" b="0" i="0" dirty="0">
                          <a:solidFill>
                            <a:srgbClr val="5F6468"/>
                          </a:solidFill>
                          <a:latin typeface="Roboto"/>
                          <a:ea typeface="Roboto"/>
                          <a:cs typeface="Roboto"/>
                        </a:rPr>
                        <a:t>≥ 3</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946" b="0" i="0" dirty="0">
                          <a:solidFill>
                            <a:srgbClr val="5F6468"/>
                          </a:solidFill>
                          <a:latin typeface="Roboto"/>
                          <a:ea typeface="Roboto"/>
                          <a:cs typeface="Roboto"/>
                        </a:rPr>
                        <a:t>Provável</a:t>
                      </a:r>
                      <a:endParaRPr lang="pt-BR" sz="946" dirty="0"/>
                    </a:p>
                  </a:txBody>
                  <a:tcPr marL="66534" marR="66534" marT="39920" marB="39920" anchor="ctr">
                    <a:lnL w="0">
                      <a:noFill/>
                    </a:lnL>
                    <a:lnR w="0">
                      <a:noFill/>
                    </a:lnR>
                    <a:lnT w="0">
                      <a:noFill/>
                    </a:lnT>
                    <a:lnB w="12700">
                      <a:solidFill>
                        <a:srgbClr val="E4E6E7"/>
                      </a:solidFill>
                    </a:lnB>
                    <a:solidFill>
                      <a:srgbClr val="F2F4F5"/>
                    </a:solidFill>
                  </a:tcPr>
                </a:tc>
              </a:tr>
            </a:tbl>
          </a:graphicData>
        </a:graphic>
      </p:graphicFrame>
    </p:spTree>
    <p:extLst>
      <p:ext uri="{BB962C8B-B14F-4D97-AF65-F5344CB8AC3E}">
        <p14:creationId xmlns:p14="http://schemas.microsoft.com/office/powerpoint/2010/main" val="12388768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22 – Pulmonary embolism rule-out criteria (PERC)</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2770632"/>
        </p:xfrm>
        <a:graphic>
          <a:graphicData uri="http://schemas.openxmlformats.org/drawingml/2006/table">
            <a:tbl>
              <a:tblPr firstRow="1"/>
              <a:tblGrid>
                <a:gridCol w="10771632"/>
              </a:tblGrid>
              <a:tr h="307848">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PERC</a:t>
                      </a:r>
                      <a:endParaRPr lang="pt-BR" sz="1300" dirty="0"/>
                    </a:p>
                  </a:txBody>
                  <a:tcPr marL="91440" marR="91440" marT="54864" marB="54864" anchor="ctr">
                    <a:lnL w="0">
                      <a:noFill/>
                    </a:lnL>
                    <a:lnR w="0">
                      <a:noFill/>
                    </a:lnR>
                    <a:lnT w="0">
                      <a:noFill/>
                    </a:lnT>
                    <a:lnB w="0">
                      <a:noFill/>
                    </a:lnB>
                    <a:solidFill>
                      <a:srgbClr val="4E7C8B"/>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Idade ≥ 50 anos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Frequência cardíaca ≥ 100 bpm</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Saturação de O</a:t>
                      </a:r>
                      <a:r>
                        <a:rPr lang="pt-BR" sz="1300" b="0" i="0" baseline="-25000" dirty="0">
                          <a:solidFill>
                            <a:srgbClr val="5F6468"/>
                          </a:solidFill>
                          <a:latin typeface="Roboto"/>
                          <a:ea typeface="Roboto"/>
                          <a:cs typeface="Roboto"/>
                        </a:rPr>
                        <a:t>2</a:t>
                      </a:r>
                      <a:r>
                        <a:rPr lang="pt-BR" sz="1300" b="0" i="0" dirty="0">
                          <a:solidFill>
                            <a:srgbClr val="5F6468"/>
                          </a:solidFill>
                          <a:latin typeface="Roboto"/>
                          <a:ea typeface="Roboto"/>
                          <a:cs typeface="Roboto"/>
                        </a:rPr>
                        <a:t> &lt; 95% em ar ambiente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Edema assimétrico dos membros inferiores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Hemoptise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Cirurgia ou trauma nas últimas 4 semanas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História prévia de TVP ou TEP</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Tratamento hormonal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
        <p:nvSpPr>
          <p:cNvPr id="7" name="Nota"/>
          <p:cNvSpPr txBox="1"/>
          <p:nvPr/>
        </p:nvSpPr>
        <p:spPr>
          <a:xfrm>
            <a:off x="711403" y="4257952"/>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PERC: pulmonary embolism rule-out criteria; TVP: trombose venosa profunda; TEP: tromboembolismo pulmonar.</a:t>
            </a:r>
            <a:endParaRPr lang="pt-BR" sz="1200" dirty="0"/>
          </a:p>
        </p:txBody>
      </p:sp>
    </p:spTree>
    <p:extLst>
      <p:ext uri="{BB962C8B-B14F-4D97-AF65-F5344CB8AC3E}">
        <p14:creationId xmlns:p14="http://schemas.microsoft.com/office/powerpoint/2010/main" val="37345067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Fluxograma TEP diagnóstico</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14" name="Legenda"/>
          <p:cNvSpPr txBox="1"/>
          <p:nvPr/>
        </p:nvSpPr>
        <p:spPr>
          <a:xfrm>
            <a:off x="713232" y="4617720"/>
            <a:ext cx="10771632" cy="36576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TEP: tromboembolismo pulmonar; PAS: pressão arterial sistólica; ECOTT: ecocardiograma transtorácico; VD: ventrículo direito; TC: angiotomografia computadorizada (protocolo TEP).</a:t>
            </a:r>
          </a:p>
        </p:txBody>
      </p:sp>
      <p:sp>
        <p:nvSpPr>
          <p:cNvPr id="1330" name="Nota"/>
          <p:cNvSpPr txBox="1"/>
          <p:nvPr/>
        </p:nvSpPr>
        <p:spPr>
          <a:xfrm>
            <a:off x="713232" y="5029200"/>
            <a:ext cx="10771632" cy="22860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²Razão do diâmetro VD/VE ≥1.0; TAPSE &lt;16 mm</a:t>
            </a:r>
          </a:p>
        </p:txBody>
      </p:sp>
      <p:sp>
        <p:nvSpPr>
          <p:cNvPr id="1345" name="Nota"/>
          <p:cNvSpPr txBox="1"/>
          <p:nvPr/>
        </p:nvSpPr>
        <p:spPr>
          <a:xfrm>
            <a:off x="713232" y="5285232"/>
            <a:ext cx="10771632" cy="822960"/>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¹Pacientes de baixa probabilidade clínica (Wells, Genebra) que não possuam nenhum critério do PERC presente são considerados de probabilidade muito baixa para o diagnóstico de TEP (em casos selecionados pode ser dispensável o D-dímero).</a:t>
            </a:r>
          </a:p>
          <a:p>
            <a:pPr algn="l">
              <a:buNone/>
            </a:pPr>
            <a:r>
              <a:rPr lang="pt-BR" sz="1200" b="0" i="0" dirty="0">
                <a:solidFill>
                  <a:srgbClr val="737A7F"/>
                </a:solidFill>
                <a:latin typeface="Roboto"/>
                <a:ea typeface="Roboto"/>
                <a:cs typeface="Roboto"/>
              </a:rPr>
              <a:t>³D-dímero positivo ≥500 ng/mL (µg/L) ou, a partir dos usar 50 anos de idade, pode usar ponto de corte ajustado por idade (idade x 10) para melhor especificidade do ponto de corte do exame (abaixo do ponto de corte é D-dímero negativo).</a:t>
            </a:r>
          </a:p>
        </p:txBody>
      </p:sp>
      <p:sp>
        <p:nvSpPr>
          <p:cNvPr id="1346" name="Fim/Início"/>
          <p:cNvSpPr/>
          <p:nvPr/>
        </p:nvSpPr>
        <p:spPr>
          <a:xfrm>
            <a:off x="713232" y="1691640"/>
            <a:ext cx="1691640" cy="59436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FBFCFC"/>
                </a:solidFill>
                <a:latin typeface="Roboto Medium"/>
                <a:ea typeface="Roboto Medium"/>
                <a:cs typeface="Roboto Medium"/>
              </a:rPr>
              <a:t>SUSPEITA DE TEP</a:t>
            </a:r>
          </a:p>
        </p:txBody>
      </p:sp>
      <p:cxnSp>
        <p:nvCxnSpPr>
          <p:cNvPr id="1347" name="Seta"/>
          <p:cNvCxnSpPr/>
          <p:nvPr/>
        </p:nvCxnSpPr>
        <p:spPr>
          <a:xfrm>
            <a:off x="2404872" y="1988819"/>
            <a:ext cx="246888"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 name="Decisão"/>
          <p:cNvGrpSpPr/>
          <p:nvPr/>
        </p:nvGrpSpPr>
        <p:grpSpPr>
          <a:xfrm>
            <a:off x="2651760" y="1371600"/>
            <a:ext cx="2468880" cy="1234440"/>
            <a:chOff x="2651760" y="1371600"/>
            <a:chExt cx="2468880" cy="1234440"/>
          </a:xfrm>
        </p:grpSpPr>
        <p:sp>
          <p:nvSpPr>
            <p:cNvPr id="1348" name="Diamond 1347"/>
            <p:cNvSpPr/>
            <p:nvPr/>
          </p:nvSpPr>
          <p:spPr>
            <a:xfrm>
              <a:off x="2651760" y="1371600"/>
              <a:ext cx="2468880" cy="123444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TextBox 1348"/>
            <p:cNvSpPr txBox="1"/>
            <p:nvPr/>
          </p:nvSpPr>
          <p:spPr>
            <a:xfrm>
              <a:off x="3063240" y="1593799"/>
              <a:ext cx="1645920" cy="790041"/>
            </a:xfrm>
            <a:prstGeom prst="rect">
              <a:avLst/>
            </a:prstGeom>
            <a:noFill/>
          </p:spPr>
          <p:txBody>
            <a:bodyPr wrap="square" anchor="ctr" lIns="0" rIns="0" tIns="36576" bIns="36576">
              <a:spAutoFit/>
            </a:bodyPr>
            <a:lstStyle/>
            <a:p>
              <a:pPr algn="ctr">
                <a:lnSpc>
                  <a:spcPct val="100000"/>
                </a:lnSpc>
                <a:spcAft>
                  <a:spcPts val="300"/>
                </a:spcAft>
                <a:buNone/>
              </a:pPr>
              <a:r>
                <a:rPr sz="1300" b="0">
                  <a:solidFill>
                    <a:srgbClr val="1F3238"/>
                  </a:solidFill>
                  <a:latin typeface="Roboto Medium"/>
                  <a:ea typeface="Roboto Medium"/>
                  <a:cs typeface="Roboto Medium"/>
                </a:rPr>
                <a:t>CHOQUE OU</a:t>
              </a:r>
            </a:p>
            <a:p>
              <a:pPr algn="ctr">
                <a:lnSpc>
                  <a:spcPct val="100000"/>
                </a:lnSpc>
                <a:spcAft>
                  <a:spcPts val="300"/>
                </a:spcAft>
                <a:buNone/>
              </a:pPr>
              <a:r>
                <a:rPr sz="1300" b="0">
                  <a:solidFill>
                    <a:srgbClr val="1F3238"/>
                  </a:solidFill>
                  <a:latin typeface="Roboto Medium"/>
                  <a:ea typeface="Roboto Medium"/>
                  <a:cs typeface="Roboto Medium"/>
                </a:rPr>
                <a:t>HIPOTENSÃO?</a:t>
              </a:r>
            </a:p>
          </p:txBody>
        </p:sp>
      </p:grpSp>
      <p:cxnSp>
        <p:nvCxnSpPr>
          <p:cNvPr id="1350" name="Seta"/>
          <p:cNvCxnSpPr/>
          <p:nvPr/>
        </p:nvCxnSpPr>
        <p:spPr>
          <a:xfrm>
            <a:off x="5120640" y="1988819"/>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1" name="Rótulo"/>
          <p:cNvSpPr txBox="1"/>
          <p:nvPr/>
        </p:nvSpPr>
        <p:spPr>
          <a:xfrm>
            <a:off x="4846320" y="1645920"/>
            <a:ext cx="502920" cy="274320"/>
          </a:xfrm>
          <a:prstGeom prst="rect">
            <a:avLst/>
          </a:prstGeom>
          <a:noFill/>
        </p:spPr>
        <p:txBody>
          <a:bodyPr wrap="square" anchor="ctr" lIns="18288" rIns="18288" tIns="36576" bIns="36576">
            <a:spAutoFit/>
          </a:bodyPr>
          <a:lstStyle/>
          <a:p>
            <a:pPr algn="ctr">
              <a:lnSpc>
                <a:spcPct val="100000"/>
              </a:lnSpc>
              <a:spcAft>
                <a:spcPts val="300"/>
              </a:spcAft>
              <a:buNone/>
            </a:pPr>
            <a:r>
              <a:rPr sz="1300" b="0">
                <a:solidFill>
                  <a:srgbClr val="4E7C8B"/>
                </a:solidFill>
                <a:latin typeface="Roboto Medium"/>
                <a:ea typeface="Roboto Medium"/>
                <a:cs typeface="Roboto Medium"/>
              </a:rPr>
              <a:t>Sim</a:t>
            </a:r>
          </a:p>
        </p:txBody>
      </p:sp>
      <p:sp>
        <p:nvSpPr>
          <p:cNvPr id="1352" name="Status"/>
          <p:cNvSpPr/>
          <p:nvPr/>
        </p:nvSpPr>
        <p:spPr>
          <a:xfrm>
            <a:off x="5394960" y="1645920"/>
            <a:ext cx="1600200" cy="685800"/>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FBFCFC"/>
                </a:solidFill>
                <a:latin typeface="Roboto Medium"/>
                <a:ea typeface="Roboto Medium"/>
                <a:cs typeface="Roboto Medium"/>
              </a:rPr>
              <a:t>ALTO RISCO</a:t>
            </a:r>
          </a:p>
          <a:p>
            <a:pPr algn="ctr">
              <a:lnSpc>
                <a:spcPct val="100000"/>
              </a:lnSpc>
              <a:spcAft>
                <a:spcPts val="300"/>
              </a:spcAft>
              <a:buNone/>
            </a:pPr>
            <a:r>
              <a:rPr sz="1300" b="0">
                <a:solidFill>
                  <a:srgbClr val="FBFCFC"/>
                </a:solidFill>
                <a:latin typeface="Roboto"/>
                <a:ea typeface="Roboto"/>
                <a:cs typeface="Roboto"/>
              </a:rPr>
              <a:t>Acionar time de choque</a:t>
            </a:r>
          </a:p>
        </p:txBody>
      </p:sp>
      <p:cxnSp>
        <p:nvCxnSpPr>
          <p:cNvPr id="1353" name="Seta"/>
          <p:cNvCxnSpPr/>
          <p:nvPr/>
        </p:nvCxnSpPr>
        <p:spPr>
          <a:xfrm>
            <a:off x="6995160" y="1988819"/>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6" name="Decisão"/>
          <p:cNvGrpSpPr/>
          <p:nvPr/>
        </p:nvGrpSpPr>
        <p:grpSpPr>
          <a:xfrm>
            <a:off x="7269480" y="1325880"/>
            <a:ext cx="2331720" cy="1325880"/>
            <a:chOff x="7269480" y="1325880"/>
            <a:chExt cx="2331720" cy="1325880"/>
          </a:xfrm>
        </p:grpSpPr>
        <p:sp>
          <p:nvSpPr>
            <p:cNvPr id="1354" name="Diamond 1353"/>
            <p:cNvSpPr/>
            <p:nvPr/>
          </p:nvSpPr>
          <p:spPr>
            <a:xfrm>
              <a:off x="7269480" y="1325880"/>
              <a:ext cx="2331720" cy="132588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TextBox 1354"/>
            <p:cNvSpPr txBox="1"/>
            <p:nvPr/>
          </p:nvSpPr>
          <p:spPr>
            <a:xfrm>
              <a:off x="7658100" y="1564538"/>
              <a:ext cx="1554480" cy="848563"/>
            </a:xfrm>
            <a:prstGeom prst="rect">
              <a:avLst/>
            </a:prstGeom>
            <a:noFill/>
          </p:spPr>
          <p:txBody>
            <a:bodyPr wrap="square" anchor="ctr" lIns="0" rIns="0" tIns="36576" bIns="36576">
              <a:spAutoFit/>
            </a:bodyPr>
            <a:lstStyle/>
            <a:p>
              <a:pPr algn="ctr">
                <a:lnSpc>
                  <a:spcPct val="100000"/>
                </a:lnSpc>
                <a:spcAft>
                  <a:spcPts val="300"/>
                </a:spcAft>
                <a:buNone/>
              </a:pPr>
              <a:r>
                <a:rPr sz="1300" b="0">
                  <a:solidFill>
                    <a:srgbClr val="1F3238"/>
                  </a:solidFill>
                  <a:latin typeface="Roboto Medium"/>
                  <a:ea typeface="Roboto Medium"/>
                  <a:cs typeface="Roboto Medium"/>
                </a:rPr>
                <a:t>ECOTT COM</a:t>
              </a:r>
            </a:p>
            <a:p>
              <a:pPr algn="ctr">
                <a:lnSpc>
                  <a:spcPct val="100000"/>
                </a:lnSpc>
                <a:spcAft>
                  <a:spcPts val="300"/>
                </a:spcAft>
                <a:buNone/>
              </a:pPr>
              <a:r>
                <a:rPr sz="1300" b="0">
                  <a:solidFill>
                    <a:srgbClr val="1F3238"/>
                  </a:solidFill>
                  <a:latin typeface="Roboto Medium"/>
                  <a:ea typeface="Roboto Medium"/>
                  <a:cs typeface="Roboto Medium"/>
                </a:rPr>
                <a:t>SOBRECARGA</a:t>
              </a:r>
            </a:p>
            <a:p>
              <a:pPr algn="ctr">
                <a:lnSpc>
                  <a:spcPct val="100000"/>
                </a:lnSpc>
                <a:spcAft>
                  <a:spcPts val="300"/>
                </a:spcAft>
                <a:buNone/>
              </a:pPr>
              <a:r>
                <a:rPr sz="1300" b="0">
                  <a:solidFill>
                    <a:srgbClr val="1F3238"/>
                  </a:solidFill>
                  <a:latin typeface="Roboto Medium"/>
                  <a:ea typeface="Roboto Medium"/>
                  <a:cs typeface="Roboto Medium"/>
                </a:rPr>
                <a:t>DE VD²?</a:t>
              </a:r>
            </a:p>
          </p:txBody>
        </p:sp>
      </p:grpSp>
      <p:cxnSp>
        <p:nvCxnSpPr>
          <p:cNvPr id="1356" name="Seta"/>
          <p:cNvCxnSpPr/>
          <p:nvPr/>
        </p:nvCxnSpPr>
        <p:spPr>
          <a:xfrm>
            <a:off x="9601200" y="1988819"/>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7" name="Etapa"/>
          <p:cNvSpPr/>
          <p:nvPr/>
        </p:nvSpPr>
        <p:spPr>
          <a:xfrm>
            <a:off x="9875520" y="1600200"/>
            <a:ext cx="1609344" cy="7772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3B3F42"/>
                </a:solidFill>
                <a:latin typeface="Roboto Medium"/>
                <a:ea typeface="Roboto Medium"/>
                <a:cs typeface="Roboto Medium"/>
              </a:rPr>
              <a:t>Tratar a causa de instabilidade</a:t>
            </a:r>
          </a:p>
        </p:txBody>
      </p:sp>
      <p:cxnSp>
        <p:nvCxnSpPr>
          <p:cNvPr id="1358" name="Seta"/>
          <p:cNvCxnSpPr/>
          <p:nvPr/>
        </p:nvCxnSpPr>
        <p:spPr>
          <a:xfrm>
            <a:off x="3886200" y="2606040"/>
            <a:ext cx="0" cy="13716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59" name="Seta"/>
          <p:cNvCxnSpPr/>
          <p:nvPr/>
        </p:nvCxnSpPr>
        <p:spPr>
          <a:xfrm flipH="1">
            <a:off x="1600200" y="2743200"/>
            <a:ext cx="2286000"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60" name="Seta"/>
          <p:cNvCxnSpPr/>
          <p:nvPr/>
        </p:nvCxnSpPr>
        <p:spPr>
          <a:xfrm>
            <a:off x="1600200" y="2743200"/>
            <a:ext cx="0" cy="13716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1" name="Rótulo"/>
          <p:cNvSpPr txBox="1"/>
          <p:nvPr/>
        </p:nvSpPr>
        <p:spPr>
          <a:xfrm>
            <a:off x="3931920" y="2587752"/>
            <a:ext cx="502920" cy="274320"/>
          </a:xfrm>
          <a:prstGeom prst="rect">
            <a:avLst/>
          </a:prstGeom>
          <a:noFill/>
        </p:spPr>
        <p:txBody>
          <a:bodyPr wrap="square" anchor="ctr" lIns="18288" rIns="18288" tIns="36576" bIns="36576">
            <a:spAutoFit/>
          </a:bodyPr>
          <a:lstStyle/>
          <a:p>
            <a:pPr algn="ctr">
              <a:lnSpc>
                <a:spcPct val="100000"/>
              </a:lnSpc>
              <a:spcAft>
                <a:spcPts val="300"/>
              </a:spcAft>
              <a:buNone/>
            </a:pPr>
            <a:r>
              <a:rPr sz="1300" b="0">
                <a:solidFill>
                  <a:srgbClr val="4E7C8B"/>
                </a:solidFill>
                <a:latin typeface="Roboto Medium"/>
                <a:ea typeface="Roboto Medium"/>
                <a:cs typeface="Roboto Medium"/>
              </a:rPr>
              <a:t>Não</a:t>
            </a:r>
          </a:p>
        </p:txBody>
      </p:sp>
      <p:sp>
        <p:nvSpPr>
          <p:cNvPr id="1362" name="Etapa"/>
          <p:cNvSpPr/>
          <p:nvPr/>
        </p:nvSpPr>
        <p:spPr>
          <a:xfrm>
            <a:off x="713232" y="2880360"/>
            <a:ext cx="1828800" cy="86868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3B3F42"/>
                </a:solidFill>
                <a:latin typeface="Roboto Medium"/>
                <a:ea typeface="Roboto Medium"/>
                <a:cs typeface="Roboto Medium"/>
              </a:rPr>
              <a:t>CHECAR PROBABILIDADE DIAGNÓSTICA</a:t>
            </a:r>
          </a:p>
          <a:p>
            <a:pPr algn="ctr">
              <a:lnSpc>
                <a:spcPct val="100000"/>
              </a:lnSpc>
              <a:spcAft>
                <a:spcPts val="300"/>
              </a:spcAft>
              <a:buNone/>
            </a:pPr>
            <a:r>
              <a:rPr sz="1200" b="0">
                <a:solidFill>
                  <a:srgbClr val="5F6468"/>
                </a:solidFill>
                <a:latin typeface="Roboto"/>
                <a:ea typeface="Roboto"/>
                <a:cs typeface="Roboto"/>
              </a:rPr>
              <a:t>Wells, Genebra, PERC</a:t>
            </a:r>
          </a:p>
        </p:txBody>
      </p:sp>
      <p:cxnSp>
        <p:nvCxnSpPr>
          <p:cNvPr id="1363" name="Seta"/>
          <p:cNvCxnSpPr/>
          <p:nvPr/>
        </p:nvCxnSpPr>
        <p:spPr>
          <a:xfrm>
            <a:off x="2542032" y="3314700"/>
            <a:ext cx="246888"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4" name="Etapa"/>
          <p:cNvSpPr/>
          <p:nvPr/>
        </p:nvSpPr>
        <p:spPr>
          <a:xfrm>
            <a:off x="2788920" y="2880360"/>
            <a:ext cx="1600200" cy="86868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3B3F42"/>
                </a:solidFill>
                <a:latin typeface="Roboto Medium"/>
                <a:ea typeface="Roboto Medium"/>
                <a:cs typeface="Roboto Medium"/>
              </a:rPr>
              <a:t>Baixa¹ ou Intermediária</a:t>
            </a:r>
          </a:p>
          <a:p>
            <a:pPr algn="ctr">
              <a:lnSpc>
                <a:spcPct val="100000"/>
              </a:lnSpc>
              <a:spcAft>
                <a:spcPts val="300"/>
              </a:spcAft>
              <a:buNone/>
            </a:pPr>
            <a:r>
              <a:rPr sz="1200" b="0">
                <a:solidFill>
                  <a:srgbClr val="5F6468"/>
                </a:solidFill>
                <a:latin typeface="Roboto"/>
                <a:ea typeface="Roboto"/>
                <a:cs typeface="Roboto"/>
              </a:rPr>
              <a:t>(improvável)</a:t>
            </a:r>
          </a:p>
        </p:txBody>
      </p:sp>
      <p:cxnSp>
        <p:nvCxnSpPr>
          <p:cNvPr id="1365" name="Seta"/>
          <p:cNvCxnSpPr/>
          <p:nvPr/>
        </p:nvCxnSpPr>
        <p:spPr>
          <a:xfrm>
            <a:off x="4389120" y="3314700"/>
            <a:ext cx="27432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6" name="Etapa"/>
          <p:cNvSpPr/>
          <p:nvPr/>
        </p:nvSpPr>
        <p:spPr>
          <a:xfrm>
            <a:off x="4663440" y="2880360"/>
            <a:ext cx="1325880" cy="86868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3B3F42"/>
                </a:solidFill>
                <a:latin typeface="Roboto Medium"/>
                <a:ea typeface="Roboto Medium"/>
                <a:cs typeface="Roboto Medium"/>
              </a:rPr>
              <a:t>Fazer D-dímero</a:t>
            </a:r>
          </a:p>
        </p:txBody>
      </p:sp>
      <p:cxnSp>
        <p:nvCxnSpPr>
          <p:cNvPr id="1367" name="Seta"/>
          <p:cNvCxnSpPr/>
          <p:nvPr/>
        </p:nvCxnSpPr>
        <p:spPr>
          <a:xfrm>
            <a:off x="1627632" y="3749039"/>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8" name="Status"/>
          <p:cNvSpPr/>
          <p:nvPr/>
        </p:nvSpPr>
        <p:spPr>
          <a:xfrm>
            <a:off x="713232" y="3977639"/>
            <a:ext cx="1828800" cy="548640"/>
          </a:xfrm>
          <a:prstGeom prst="rect">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FBFCFC"/>
                </a:solidFill>
                <a:latin typeface="Roboto Medium"/>
                <a:ea typeface="Roboto Medium"/>
                <a:cs typeface="Roboto Medium"/>
              </a:rPr>
              <a:t>Alta probabilidade</a:t>
            </a:r>
          </a:p>
          <a:p>
            <a:pPr algn="ctr">
              <a:lnSpc>
                <a:spcPct val="100000"/>
              </a:lnSpc>
              <a:spcAft>
                <a:spcPts val="300"/>
              </a:spcAft>
              <a:buNone/>
            </a:pPr>
            <a:r>
              <a:rPr sz="1200" b="0">
                <a:solidFill>
                  <a:srgbClr val="FBFCFC"/>
                </a:solidFill>
                <a:latin typeface="Roboto"/>
                <a:ea typeface="Roboto"/>
                <a:cs typeface="Roboto"/>
              </a:rPr>
              <a:t>(provável)</a:t>
            </a:r>
          </a:p>
        </p:txBody>
      </p:sp>
      <p:cxnSp>
        <p:nvCxnSpPr>
          <p:cNvPr id="1369" name="Seta"/>
          <p:cNvCxnSpPr/>
          <p:nvPr/>
        </p:nvCxnSpPr>
        <p:spPr>
          <a:xfrm>
            <a:off x="2542032" y="4251960"/>
            <a:ext cx="2121408"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0" name="Etapa"/>
          <p:cNvSpPr/>
          <p:nvPr/>
        </p:nvSpPr>
        <p:spPr>
          <a:xfrm>
            <a:off x="4663440" y="3977639"/>
            <a:ext cx="1325880" cy="5486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3B3F42"/>
                </a:solidFill>
                <a:latin typeface="Roboto Medium"/>
                <a:ea typeface="Roboto Medium"/>
                <a:cs typeface="Roboto Medium"/>
              </a:rPr>
              <a:t>TC</a:t>
            </a:r>
          </a:p>
        </p:txBody>
      </p:sp>
      <p:cxnSp>
        <p:nvCxnSpPr>
          <p:cNvPr id="1371" name="Seta"/>
          <p:cNvCxnSpPr/>
          <p:nvPr/>
        </p:nvCxnSpPr>
        <p:spPr>
          <a:xfrm>
            <a:off x="5303520" y="3749039"/>
            <a:ext cx="0" cy="22860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2" name="Rótulo"/>
          <p:cNvSpPr txBox="1"/>
          <p:nvPr/>
        </p:nvSpPr>
        <p:spPr>
          <a:xfrm>
            <a:off x="5376672" y="3749039"/>
            <a:ext cx="777240" cy="228600"/>
          </a:xfrm>
          <a:prstGeom prst="rect">
            <a:avLst/>
          </a:prstGeom>
          <a:noFill/>
        </p:spPr>
        <p:txBody>
          <a:bodyPr wrap="square" anchor="ctr" lIns="18288" rIns="18288" tIns="36576" bIns="36576">
            <a:spAutoFit/>
          </a:bodyPr>
          <a:lstStyle/>
          <a:p>
            <a:pPr algn="ctr">
              <a:lnSpc>
                <a:spcPct val="100000"/>
              </a:lnSpc>
              <a:spcAft>
                <a:spcPts val="300"/>
              </a:spcAft>
              <a:buNone/>
            </a:pPr>
            <a:r>
              <a:rPr sz="1200" b="0">
                <a:solidFill>
                  <a:srgbClr val="4E7C8B"/>
                </a:solidFill>
                <a:latin typeface="Roboto Medium"/>
                <a:ea typeface="Roboto Medium"/>
                <a:cs typeface="Roboto Medium"/>
              </a:rPr>
              <a:t>Positivo³</a:t>
            </a:r>
          </a:p>
        </p:txBody>
      </p:sp>
      <p:cxnSp>
        <p:nvCxnSpPr>
          <p:cNvPr id="1373" name="Seta"/>
          <p:cNvCxnSpPr/>
          <p:nvPr/>
        </p:nvCxnSpPr>
        <p:spPr>
          <a:xfrm>
            <a:off x="5989320" y="3314700"/>
            <a:ext cx="86868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4" name="Rótulo"/>
          <p:cNvSpPr txBox="1"/>
          <p:nvPr/>
        </p:nvSpPr>
        <p:spPr>
          <a:xfrm>
            <a:off x="6035040" y="3017520"/>
            <a:ext cx="777240" cy="228600"/>
          </a:xfrm>
          <a:prstGeom prst="rect">
            <a:avLst/>
          </a:prstGeom>
          <a:noFill/>
        </p:spPr>
        <p:txBody>
          <a:bodyPr wrap="square" anchor="ctr" lIns="18288" rIns="18288" tIns="36576" bIns="36576">
            <a:spAutoFit/>
          </a:bodyPr>
          <a:lstStyle/>
          <a:p>
            <a:pPr algn="ctr">
              <a:lnSpc>
                <a:spcPct val="100000"/>
              </a:lnSpc>
              <a:spcAft>
                <a:spcPts val="300"/>
              </a:spcAft>
              <a:buNone/>
            </a:pPr>
            <a:r>
              <a:rPr sz="1200" b="0">
                <a:solidFill>
                  <a:srgbClr val="4E7C8B"/>
                </a:solidFill>
                <a:latin typeface="Roboto Medium"/>
                <a:ea typeface="Roboto Medium"/>
                <a:cs typeface="Roboto Medium"/>
              </a:rPr>
              <a:t>Negativo³</a:t>
            </a:r>
          </a:p>
        </p:txBody>
      </p:sp>
      <p:sp>
        <p:nvSpPr>
          <p:cNvPr id="1375" name="Status"/>
          <p:cNvSpPr/>
          <p:nvPr/>
        </p:nvSpPr>
        <p:spPr>
          <a:xfrm>
            <a:off x="6858000" y="2880360"/>
            <a:ext cx="1325880" cy="731520"/>
          </a:xfrm>
          <a:prstGeom prst="rect">
            <a:avLst/>
          </a:prstGeom>
          <a:solidFill>
            <a:srgbClr val="3E8E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FBFCFC"/>
                </a:solidFill>
                <a:latin typeface="Roboto Medium"/>
                <a:ea typeface="Roboto Medium"/>
                <a:cs typeface="Roboto Medium"/>
              </a:rPr>
              <a:t>Procurar outro diagnóstico</a:t>
            </a:r>
          </a:p>
        </p:txBody>
      </p:sp>
      <p:cxnSp>
        <p:nvCxnSpPr>
          <p:cNvPr id="1376" name="Seta"/>
          <p:cNvCxnSpPr/>
          <p:nvPr/>
        </p:nvCxnSpPr>
        <p:spPr>
          <a:xfrm>
            <a:off x="8430768" y="2651760"/>
            <a:ext cx="0" cy="9144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7" name="Seta"/>
          <p:cNvCxnSpPr/>
          <p:nvPr/>
        </p:nvCxnSpPr>
        <p:spPr>
          <a:xfrm>
            <a:off x="8430768" y="2743200"/>
            <a:ext cx="987552"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78" name="Seta"/>
          <p:cNvCxnSpPr/>
          <p:nvPr/>
        </p:nvCxnSpPr>
        <p:spPr>
          <a:xfrm>
            <a:off x="9418320" y="2743200"/>
            <a:ext cx="0" cy="13716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9" name="Rótulo"/>
          <p:cNvSpPr txBox="1"/>
          <p:nvPr/>
        </p:nvSpPr>
        <p:spPr>
          <a:xfrm>
            <a:off x="6675120" y="2679192"/>
            <a:ext cx="1691640" cy="228600"/>
          </a:xfrm>
          <a:prstGeom prst="rect">
            <a:avLst/>
          </a:prstGeom>
          <a:noFill/>
        </p:spPr>
        <p:txBody>
          <a:bodyPr wrap="square" anchor="ctr" lIns="18288" rIns="18288" tIns="36576" bIns="36576">
            <a:spAutoFit/>
          </a:bodyPr>
          <a:lstStyle/>
          <a:p>
            <a:pPr algn="r">
              <a:lnSpc>
                <a:spcPct val="100000"/>
              </a:lnSpc>
              <a:spcAft>
                <a:spcPts val="300"/>
              </a:spcAft>
              <a:buNone/>
            </a:pPr>
            <a:r>
              <a:rPr sz="1200" b="0">
                <a:solidFill>
                  <a:srgbClr val="4E7C8B"/>
                </a:solidFill>
                <a:latin typeface="Roboto Medium"/>
                <a:ea typeface="Roboto Medium"/>
                <a:cs typeface="Roboto Medium"/>
              </a:rPr>
              <a:t>ECOTT indisponível</a:t>
            </a:r>
          </a:p>
        </p:txBody>
      </p:sp>
      <p:sp>
        <p:nvSpPr>
          <p:cNvPr id="1380" name="Etapa"/>
          <p:cNvSpPr/>
          <p:nvPr/>
        </p:nvSpPr>
        <p:spPr>
          <a:xfrm>
            <a:off x="8732520" y="2880360"/>
            <a:ext cx="1371600" cy="5486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400" b="0">
                <a:solidFill>
                  <a:srgbClr val="3B3F42"/>
                </a:solidFill>
                <a:latin typeface="Roboto Medium"/>
                <a:ea typeface="Roboto Medium"/>
                <a:cs typeface="Roboto Medium"/>
              </a:rPr>
              <a:t>Fazer TC</a:t>
            </a:r>
          </a:p>
        </p:txBody>
      </p:sp>
      <p:cxnSp>
        <p:nvCxnSpPr>
          <p:cNvPr id="1381" name="Seta"/>
          <p:cNvCxnSpPr/>
          <p:nvPr/>
        </p:nvCxnSpPr>
        <p:spPr>
          <a:xfrm>
            <a:off x="10104120" y="3154680"/>
            <a:ext cx="557784" cy="0"/>
          </a:xfrm>
          <a:prstGeom prst="line">
            <a:avLst/>
          </a:prstGeom>
          <a:ln w="38100">
            <a:solidFill>
              <a:srgbClr val="6B6E70"/>
            </a:solidFill>
            <a:prstDash val="dash"/>
          </a:ln>
        </p:spPr>
        <p:style>
          <a:lnRef idx="2">
            <a:schemeClr val="accent1"/>
          </a:lnRef>
          <a:fillRef idx="0">
            <a:schemeClr val="accent1"/>
          </a:fillRef>
          <a:effectRef idx="1">
            <a:schemeClr val="accent1"/>
          </a:effectRef>
          <a:fontRef idx="minor">
            <a:schemeClr val="tx1"/>
          </a:fontRef>
        </p:style>
      </p:cxnSp>
      <p:cxnSp>
        <p:nvCxnSpPr>
          <p:cNvPr id="1382" name="Seta"/>
          <p:cNvCxnSpPr/>
          <p:nvPr/>
        </p:nvCxnSpPr>
        <p:spPr>
          <a:xfrm flipV="1">
            <a:off x="10661904" y="2377440"/>
            <a:ext cx="0" cy="777240"/>
          </a:xfrm>
          <a:prstGeom prst="line">
            <a:avLst/>
          </a:prstGeom>
          <a:ln w="38100">
            <a:solidFill>
              <a:srgbClr val="6B6E7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383" name="Seta"/>
          <p:cNvCxnSpPr/>
          <p:nvPr/>
        </p:nvCxnSpPr>
        <p:spPr>
          <a:xfrm>
            <a:off x="9418320" y="3429000"/>
            <a:ext cx="0" cy="155448"/>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4" name="Seta"/>
          <p:cNvCxnSpPr/>
          <p:nvPr/>
        </p:nvCxnSpPr>
        <p:spPr>
          <a:xfrm flipH="1">
            <a:off x="8851392" y="3584448"/>
            <a:ext cx="566928"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5" name="Seta"/>
          <p:cNvCxnSpPr/>
          <p:nvPr/>
        </p:nvCxnSpPr>
        <p:spPr>
          <a:xfrm>
            <a:off x="8851392" y="3584448"/>
            <a:ext cx="0" cy="164591"/>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86" name="Seta"/>
          <p:cNvCxnSpPr/>
          <p:nvPr/>
        </p:nvCxnSpPr>
        <p:spPr>
          <a:xfrm>
            <a:off x="9418320" y="3584448"/>
            <a:ext cx="1216152"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1387" name="Seta"/>
          <p:cNvCxnSpPr/>
          <p:nvPr/>
        </p:nvCxnSpPr>
        <p:spPr>
          <a:xfrm>
            <a:off x="10634472" y="3584448"/>
            <a:ext cx="0" cy="164591"/>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8" name="Etapa"/>
          <p:cNvSpPr/>
          <p:nvPr/>
        </p:nvSpPr>
        <p:spPr>
          <a:xfrm>
            <a:off x="8001000" y="3749039"/>
            <a:ext cx="1691640" cy="804672"/>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300" b="0">
                <a:solidFill>
                  <a:srgbClr val="3B3F42"/>
                </a:solidFill>
                <a:latin typeface="Roboto Medium"/>
                <a:ea typeface="Roboto Medium"/>
                <a:cs typeface="Roboto Medium"/>
              </a:rPr>
              <a:t>TC negativa para TEP</a:t>
            </a:r>
          </a:p>
          <a:p>
            <a:pPr algn="ctr">
              <a:lnSpc>
                <a:spcPct val="100000"/>
              </a:lnSpc>
              <a:spcAft>
                <a:spcPts val="300"/>
              </a:spcAft>
              <a:buNone/>
            </a:pPr>
            <a:r>
              <a:rPr sz="1100" b="0">
                <a:solidFill>
                  <a:srgbClr val="5F6468"/>
                </a:solidFill>
                <a:latin typeface="Roboto"/>
                <a:ea typeface="Roboto"/>
                <a:cs typeface="Roboto"/>
              </a:rPr>
              <a:t>Procurar outra causa de instabilidade</a:t>
            </a:r>
          </a:p>
        </p:txBody>
      </p:sp>
      <p:sp>
        <p:nvSpPr>
          <p:cNvPr id="1389" name="Etapa"/>
          <p:cNvSpPr/>
          <p:nvPr/>
        </p:nvSpPr>
        <p:spPr>
          <a:xfrm>
            <a:off x="9784080" y="3749039"/>
            <a:ext cx="1700784" cy="804672"/>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300" b="0">
                <a:solidFill>
                  <a:srgbClr val="3B3F42"/>
                </a:solidFill>
                <a:latin typeface="Roboto Medium"/>
                <a:ea typeface="Roboto Medium"/>
                <a:cs typeface="Roboto Medium"/>
              </a:rPr>
              <a:t>TC positiva para TEP</a:t>
            </a:r>
          </a:p>
          <a:p>
            <a:pPr algn="ctr">
              <a:lnSpc>
                <a:spcPct val="100000"/>
              </a:lnSpc>
              <a:spcAft>
                <a:spcPts val="300"/>
              </a:spcAft>
              <a:buNone/>
            </a:pPr>
            <a:r>
              <a:rPr sz="1100" b="0">
                <a:solidFill>
                  <a:srgbClr val="5F6468"/>
                </a:solidFill>
                <a:latin typeface="Roboto"/>
                <a:ea typeface="Roboto"/>
                <a:cs typeface="Roboto"/>
              </a:rPr>
              <a:t>Fibrinólise e/ou tratamento intervencionista</a:t>
            </a:r>
          </a:p>
        </p:txBody>
      </p:sp>
    </p:spTree>
    <p:extLst>
      <p:ext uri="{BB962C8B-B14F-4D97-AF65-F5344CB8AC3E}">
        <p14:creationId xmlns:p14="http://schemas.microsoft.com/office/powerpoint/2010/main" val="242774868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pic>
        <p:nvPicPr>
          <p:cNvPr id="2" name="Imagem 1"/>
          <p:cNvPicPr>
            <a:picLocks noChangeAspect="1"/>
          </p:cNvPicPr>
          <p:nvPr/>
        </p:nvPicPr>
        <p:blipFill>
          <a:blip r:embed="rId3"/>
          <a:stretch>
            <a:fillRect/>
          </a:stretch>
        </p:blipFill>
        <p:spPr>
          <a:xfrm>
            <a:off x="2539803" y="558698"/>
            <a:ext cx="7114830" cy="5284317"/>
          </a:xfrm>
          <a:prstGeom prst="rect">
            <a:avLst/>
          </a:prstGeom>
        </p:spPr>
      </p:pic>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34476777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Top 10 mensagens-chave da Diretriz Brasileira de Atendimento à Dor Torácica na Unidade de Emergência</a:t>
            </a:r>
          </a:p>
        </p:txBody>
      </p:sp>
      <p:sp>
        <p:nvSpPr>
          <p:cNvPr id="3" name="Número 3"/>
          <p:cNvSpPr txBox="1"/>
          <p:nvPr/>
        </p:nvSpPr>
        <p:spPr>
          <a:xfrm>
            <a:off x="711403" y="1592500"/>
            <a:ext cx="470000" cy="470000"/>
          </a:xfrm>
          <a:prstGeom prst="rect">
            <a:avLst/>
          </a:prstGeom>
          <a:solidFill>
            <a:srgbClr val="4E7C8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1</a:t>
            </a:r>
          </a:p>
        </p:txBody>
      </p:sp>
      <p:sp>
        <p:nvSpPr>
          <p:cNvPr id="4" name="Mensagem 4"/>
          <p:cNvSpPr txBox="1"/>
          <p:nvPr/>
        </p:nvSpPr>
        <p:spPr>
          <a:xfrm>
            <a:off x="1361403" y="148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Qualquer pessoa com dor torácica aguda (ou sintoma equivalente), deve procurar atendimento médico imediatamente (orientar população).</a:t>
            </a:r>
          </a:p>
        </p:txBody>
      </p:sp>
      <p:sp>
        <p:nvSpPr>
          <p:cNvPr id="5" name="Número 5"/>
          <p:cNvSpPr txBox="1"/>
          <p:nvPr/>
        </p:nvSpPr>
        <p:spPr>
          <a:xfrm>
            <a:off x="711403" y="2367500"/>
            <a:ext cx="470000" cy="470000"/>
          </a:xfrm>
          <a:prstGeom prst="rect">
            <a:avLst/>
          </a:prstGeom>
          <a:solidFill>
            <a:srgbClr val="6E9DA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2</a:t>
            </a:r>
          </a:p>
        </p:txBody>
      </p:sp>
      <p:sp>
        <p:nvSpPr>
          <p:cNvPr id="6" name="Mensagem 6"/>
          <p:cNvSpPr txBox="1"/>
          <p:nvPr/>
        </p:nvSpPr>
        <p:spPr>
          <a:xfrm>
            <a:off x="1361403" y="225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Serviços de pronto-atendimento devem instituir métricas para conseguir realizar e interpretar o ECG dentro de 10 minutos do atendimento inicial.</a:t>
            </a:r>
          </a:p>
        </p:txBody>
      </p:sp>
      <p:sp>
        <p:nvSpPr>
          <p:cNvPr id="7" name="Número 7"/>
          <p:cNvSpPr txBox="1"/>
          <p:nvPr/>
        </p:nvSpPr>
        <p:spPr>
          <a:xfrm>
            <a:off x="711403" y="3142500"/>
            <a:ext cx="470000" cy="470000"/>
          </a:xfrm>
          <a:prstGeom prst="rect">
            <a:avLst/>
          </a:prstGeom>
          <a:solidFill>
            <a:srgbClr val="8EC4C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3</a:t>
            </a:r>
          </a:p>
        </p:txBody>
      </p:sp>
      <p:sp>
        <p:nvSpPr>
          <p:cNvPr id="8" name="Mensagem 8"/>
          <p:cNvSpPr txBox="1"/>
          <p:nvPr/>
        </p:nvSpPr>
        <p:spPr>
          <a:xfrm>
            <a:off x="1361403" y="303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Avaliar achados de oclusão coronária no ECG (indo além dos critérios clássicos de SCA com elevação de ST).</a:t>
            </a:r>
          </a:p>
        </p:txBody>
      </p:sp>
      <p:sp>
        <p:nvSpPr>
          <p:cNvPr id="9" name="Número 9"/>
          <p:cNvSpPr txBox="1"/>
          <p:nvPr/>
        </p:nvSpPr>
        <p:spPr>
          <a:xfrm>
            <a:off x="711403" y="3917500"/>
            <a:ext cx="470000" cy="470000"/>
          </a:xfrm>
          <a:prstGeom prst="rect">
            <a:avLst/>
          </a:prstGeom>
          <a:solidFill>
            <a:srgbClr val="6B6E70"/>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4</a:t>
            </a:r>
          </a:p>
        </p:txBody>
      </p:sp>
      <p:sp>
        <p:nvSpPr>
          <p:cNvPr id="10" name="Mensagem 10"/>
          <p:cNvSpPr txBox="1"/>
          <p:nvPr/>
        </p:nvSpPr>
        <p:spPr>
          <a:xfrm>
            <a:off x="1361403" y="380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Pedir ajuda imediata nos casos de ECG limítrofe ou de difícil interpretação.</a:t>
            </a:r>
          </a:p>
        </p:txBody>
      </p:sp>
      <p:sp>
        <p:nvSpPr>
          <p:cNvPr id="11" name="Número 11"/>
          <p:cNvSpPr txBox="1"/>
          <p:nvPr/>
        </p:nvSpPr>
        <p:spPr>
          <a:xfrm>
            <a:off x="711403" y="4780000"/>
            <a:ext cx="470000" cy="470000"/>
          </a:xfrm>
          <a:prstGeom prst="rect">
            <a:avLst/>
          </a:prstGeom>
          <a:solidFill>
            <a:srgbClr val="A3A6A8"/>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5</a:t>
            </a:r>
          </a:p>
        </p:txBody>
      </p:sp>
      <p:sp>
        <p:nvSpPr>
          <p:cNvPr id="12" name="Mensagem 12"/>
          <p:cNvSpPr txBox="1"/>
          <p:nvPr/>
        </p:nvSpPr>
        <p:spPr>
          <a:xfrm>
            <a:off x="1361403" y="4580000"/>
            <a:ext cx="4535816" cy="910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POCUS é ferramenta complementar útil, especialmente nos casos de instabilidade ou suspeitas específicas (ex: dissecção de aorta).</a:t>
            </a:r>
          </a:p>
        </p:txBody>
      </p:sp>
      <p:sp>
        <p:nvSpPr>
          <p:cNvPr id="13" name="Número 13"/>
          <p:cNvSpPr txBox="1"/>
          <p:nvPr/>
        </p:nvSpPr>
        <p:spPr>
          <a:xfrm>
            <a:off x="6297219" y="1592500"/>
            <a:ext cx="470000" cy="470000"/>
          </a:xfrm>
          <a:prstGeom prst="rect">
            <a:avLst/>
          </a:prstGeom>
          <a:solidFill>
            <a:srgbClr val="4E7C8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6</a:t>
            </a:r>
          </a:p>
        </p:txBody>
      </p:sp>
      <p:sp>
        <p:nvSpPr>
          <p:cNvPr id="14" name="Mensagem 14"/>
          <p:cNvSpPr txBox="1"/>
          <p:nvPr/>
        </p:nvSpPr>
        <p:spPr>
          <a:xfrm>
            <a:off x="6947219" y="148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Utilizar escores de risco e probabilidade diagnóstica para investigação de dissecção de aorta e embolia pulmonar.</a:t>
            </a:r>
          </a:p>
        </p:txBody>
      </p:sp>
      <p:sp>
        <p:nvSpPr>
          <p:cNvPr id="15" name="Número 15"/>
          <p:cNvSpPr txBox="1"/>
          <p:nvPr/>
        </p:nvSpPr>
        <p:spPr>
          <a:xfrm>
            <a:off x="6297219" y="2367500"/>
            <a:ext cx="470000" cy="470000"/>
          </a:xfrm>
          <a:prstGeom prst="rect">
            <a:avLst/>
          </a:prstGeom>
          <a:solidFill>
            <a:srgbClr val="6E9DA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7</a:t>
            </a:r>
          </a:p>
        </p:txBody>
      </p:sp>
      <p:sp>
        <p:nvSpPr>
          <p:cNvPr id="16" name="Mensagem 16"/>
          <p:cNvSpPr txBox="1"/>
          <p:nvPr/>
        </p:nvSpPr>
        <p:spPr>
          <a:xfrm>
            <a:off x="6947219" y="225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Na investigação de IAM, preferência por algoritmos de 0-1h ou 0-2h com troponina cardíaca de alta sensibilidade.</a:t>
            </a:r>
          </a:p>
        </p:txBody>
      </p:sp>
      <p:sp>
        <p:nvSpPr>
          <p:cNvPr id="17" name="Número 17"/>
          <p:cNvSpPr txBox="1"/>
          <p:nvPr/>
        </p:nvSpPr>
        <p:spPr>
          <a:xfrm>
            <a:off x="6297219" y="3142500"/>
            <a:ext cx="470000" cy="470000"/>
          </a:xfrm>
          <a:prstGeom prst="rect">
            <a:avLst/>
          </a:prstGeom>
          <a:solidFill>
            <a:srgbClr val="8EC4CB"/>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8</a:t>
            </a:r>
          </a:p>
        </p:txBody>
      </p:sp>
      <p:sp>
        <p:nvSpPr>
          <p:cNvPr id="18" name="Mensagem 18"/>
          <p:cNvSpPr txBox="1"/>
          <p:nvPr/>
        </p:nvSpPr>
        <p:spPr>
          <a:xfrm>
            <a:off x="6947219" y="3030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Pacientes classificados como “rule-out” podem ser liberados para investigação ambulatorial com segurança (especialmente na ausência de doença coronária conhecida e HEART score &lt;4).</a:t>
            </a:r>
          </a:p>
        </p:txBody>
      </p:sp>
      <p:sp>
        <p:nvSpPr>
          <p:cNvPr id="19" name="Número 19"/>
          <p:cNvSpPr txBox="1"/>
          <p:nvPr/>
        </p:nvSpPr>
        <p:spPr>
          <a:xfrm>
            <a:off x="6297219" y="3917500"/>
            <a:ext cx="470000" cy="470000"/>
          </a:xfrm>
          <a:prstGeom prst="rect">
            <a:avLst/>
          </a:prstGeom>
          <a:solidFill>
            <a:srgbClr val="6B6E70"/>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FBFCFC"/>
                </a:solidFill>
                <a:latin typeface="Roboto Medium"/>
                <a:ea typeface="Roboto Medium"/>
                <a:cs typeface="Roboto Medium"/>
              </a:rPr>
              <a:t>9</a:t>
            </a:r>
          </a:p>
        </p:txBody>
      </p:sp>
      <p:sp>
        <p:nvSpPr>
          <p:cNvPr id="20" name="Mensagem 20"/>
          <p:cNvSpPr txBox="1"/>
          <p:nvPr/>
        </p:nvSpPr>
        <p:spPr>
          <a:xfrm>
            <a:off x="6947219" y="3805000"/>
            <a:ext cx="4535816" cy="735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Classificação como “rule-in” (admissão) indica necessidade de definir se há diagnóstico de IAM ou investigar ativamente outra causa de injúria.</a:t>
            </a:r>
          </a:p>
        </p:txBody>
      </p:sp>
      <p:sp>
        <p:nvSpPr>
          <p:cNvPr id="21" name="Número 21"/>
          <p:cNvSpPr txBox="1"/>
          <p:nvPr/>
        </p:nvSpPr>
        <p:spPr>
          <a:xfrm>
            <a:off x="6297219" y="4780000"/>
            <a:ext cx="470000" cy="470000"/>
          </a:xfrm>
          <a:prstGeom prst="rect">
            <a:avLst/>
          </a:prstGeom>
          <a:solidFill>
            <a:srgbClr val="A3A6A8"/>
          </a:solidFill>
        </p:spPr>
        <p:txBody>
          <a:bodyPr wrap="square" lIns="0" tIns="0" rIns="0" bIns="0" anchor="ctr">
            <a:noAutofit/>
          </a:bodyPr>
          <a:lstStyle/>
          <a:p>
            <a:pPr marL="0" indent="0" algn="ctr">
              <a:lnSpc>
                <a:spcPct val="100000"/>
              </a:lnSpc>
              <a:spcBef>
                <a:spcPts val="0"/>
              </a:spcBef>
              <a:spcAft>
                <a:spcPts val="0"/>
              </a:spcAft>
              <a:buNone/>
            </a:pPr>
            <a:r>
              <a:rPr lang="pt-BR" sz="1500" b="0" i="0" dirty="0">
                <a:solidFill>
                  <a:srgbClr val="1F3238"/>
                </a:solidFill>
                <a:latin typeface="Roboto Medium"/>
                <a:ea typeface="Roboto Medium"/>
                <a:cs typeface="Roboto Medium"/>
              </a:rPr>
              <a:t>10</a:t>
            </a:r>
          </a:p>
        </p:txBody>
      </p:sp>
      <p:sp>
        <p:nvSpPr>
          <p:cNvPr id="22" name="Mensagem 22"/>
          <p:cNvSpPr txBox="1"/>
          <p:nvPr/>
        </p:nvSpPr>
        <p:spPr>
          <a:xfrm>
            <a:off x="6947219" y="4580000"/>
            <a:ext cx="4535816" cy="910000"/>
          </a:xfrm>
          <a:prstGeom prst="rect">
            <a:avLst/>
          </a:prstGeom>
          <a:noFill/>
        </p:spPr>
        <p:txBody>
          <a:bodyPr wrap="square" lIns="0" tIns="0" rIns="0" bIns="0" anchor="ctr">
            <a:noAutofit/>
          </a:bodyPr>
          <a:lstStyle/>
          <a:p>
            <a:pPr marL="0" indent="0" algn="l">
              <a:lnSpc>
                <a:spcPct val="110000"/>
              </a:lnSpc>
              <a:spcBef>
                <a:spcPts val="0"/>
              </a:spcBef>
              <a:spcAft>
                <a:spcPts val="0"/>
              </a:spcAft>
              <a:buNone/>
            </a:pPr>
            <a:r>
              <a:rPr lang="pt-BR" sz="1200" b="0" i="0" dirty="0">
                <a:solidFill>
                  <a:srgbClr val="5F6468"/>
                </a:solidFill>
                <a:latin typeface="Roboto"/>
                <a:ea typeface="Roboto"/>
                <a:cs typeface="Roboto"/>
              </a:rPr>
              <a:t>Exame de imagem deve ser indicado em casos de probabilidade intermediária (zona de observação) e a escolha do método se baseia principalmente na disponibilidade/experiência do serviço, antecedente de DAC conhecida e se paciente já realizou estes exames previamente.</a:t>
            </a:r>
          </a:p>
        </p:txBody>
      </p:sp>
      <p:sp>
        <p:nvSpPr>
          <p:cNvPr id="23" name="Legenda 23"/>
          <p:cNvSpPr txBox="1"/>
          <p:nvPr/>
        </p:nvSpPr>
        <p:spPr>
          <a:xfrm>
            <a:off x="711403" y="5660000"/>
            <a:ext cx="10771632" cy="45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Medium"/>
                <a:ea typeface="Roboto Medium"/>
                <a:cs typeface="Roboto Medium"/>
              </a:rPr>
              <a:t>Figura 17 – </a:t>
            </a:r>
            <a:r>
              <a:rPr lang="pt-BR" sz="1200" b="0" i="0" dirty="0">
                <a:solidFill>
                  <a:srgbClr val="737A7F"/>
                </a:solidFill>
                <a:latin typeface="Roboto"/>
                <a:ea typeface="Roboto"/>
                <a:cs typeface="Roboto"/>
              </a:rPr>
              <a:t>10 Mensagens Principais da Diretriz de Atendimento à Dor Torácica na Unidade de Emergência. ECG: eletrocardiograma; SCA: síndrome coronariana aguda; POCUS: Ponint of Care Ultrasound; IAM: infarto agudo do miocárdio; DAC: doença arterial coronária.</a:t>
            </a:r>
          </a:p>
        </p:txBody>
      </p:sp>
      <p:sp>
        <p:nvSpPr>
          <p:cNvPr id="24" name="Rodapé 24"/>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54  ·  Dor torácica – Protocolo 2025 | Set 2026</a:t>
            </a:r>
          </a:p>
        </p:txBody>
      </p:sp>
      <p:sp>
        <p:nvSpPr>
          <p:cNvPr id="25" name="Rodapé 25"/>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extBox 1"/>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55  ·  Dor torácica – Protocolo 2025 | Set 2026</a:t>
            </a:r>
          </a:p>
        </p:txBody>
      </p:sp>
      <p:sp>
        <p:nvSpPr>
          <p:cNvPr id="3" name="TextBox 2"/>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0507735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Sem DAC conhecida</a:t>
            </a:r>
            <a:endParaRPr lang="pt-BR" dirty="0" sz="3200"/>
          </a:p>
        </p:txBody>
      </p:sp>
      <p:sp>
        <p:nvSpPr>
          <p:cNvPr id="25" name="Nota"/>
          <p:cNvSpPr txBox="1"/>
          <p:nvPr/>
        </p:nvSpPr>
        <p:spPr>
          <a:xfrm>
            <a:off x="711403" y="5230368"/>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26" name="Legenda"/>
          <p:cNvSpPr txBox="1"/>
          <p:nvPr/>
        </p:nvSpPr>
        <p:spPr>
          <a:xfrm>
            <a:off x="711403" y="5468112"/>
            <a:ext cx="10771632" cy="800000"/>
          </a:xfrm>
          <a:prstGeom prst="rect">
            <a:avLst/>
          </a:prstGeom>
          <a:noFill/>
        </p:spPr>
        <p:txBody>
          <a:bodyPr wrap="square" lIns="0" rIns="0" tIns="0" bIns="0" anchor="t">
            <a:spAutoFit/>
          </a:bodyPr>
          <a:lstStyle/>
          <a:p>
            <a:pPr algn="l">
              <a:lnSpc>
                <a:spcPct val="115000"/>
              </a:lnSpc>
            </a:pPr>
            <a:r>
              <a:rPr sz="1200" b="0" i="0">
                <a:solidFill>
                  <a:srgbClr val="4E7C8B"/>
                </a:solidFill>
                <a:latin typeface="Roboto Medium"/>
                <a:ea typeface="Roboto Medium"/>
                <a:cs typeface="Roboto Medium"/>
              </a:rPr>
              <a:t>Figura 13 – </a:t>
            </a:r>
            <a:r>
              <a:rPr sz="1200" b="0" i="1">
                <a:solidFill>
                  <a:srgbClr val="737A7F"/>
                </a:solidFill>
                <a:latin typeface="Roboto"/>
                <a:ea typeface="Roboto"/>
                <a:cs typeface="Roboto"/>
              </a:rPr>
              <a:t>Fluxograma de investigação não invasiva em paciente sem doença arterial coronariana conhecida. SCA: síndrome coronariana aguda; DAC: doença arterial coronariana; CATE: cateterismo cardíaco; PET: tomografia por emissão de pósitrons; SPECT: tomografia computadorizada por emissão de fóton único; Angio-TC: angiotomografia coronária por tomografia computadorizada; VPN: valor preditivo negativo.</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56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27" name="Fim/Início"/>
          <p:cNvSpPr/>
          <p:nvPr/>
        </p:nvSpPr>
        <p:spPr>
          <a:xfrm>
            <a:off x="713232" y="1417320"/>
            <a:ext cx="2377440" cy="86868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Sem DAC conhecida</a:t>
            </a:r>
          </a:p>
        </p:txBody>
      </p:sp>
      <p:cxnSp>
        <p:nvCxnSpPr>
          <p:cNvPr id="28" name="Seta"/>
          <p:cNvCxnSpPr/>
          <p:nvPr/>
        </p:nvCxnSpPr>
        <p:spPr>
          <a:xfrm>
            <a:off x="3090672" y="1851660"/>
            <a:ext cx="338328"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 name="Decisão"/>
          <p:cNvGrpSpPr/>
          <p:nvPr/>
        </p:nvGrpSpPr>
        <p:grpSpPr>
          <a:xfrm>
            <a:off x="3429000" y="1188720"/>
            <a:ext cx="2651760" cy="1325880"/>
            <a:chOff x="3429000" y="1188720"/>
            <a:chExt cx="2651760" cy="1325880"/>
          </a:xfrm>
        </p:grpSpPr>
        <p:sp>
          <p:nvSpPr>
            <p:cNvPr id="29" name="Diamond 28"/>
            <p:cNvSpPr/>
            <p:nvPr/>
          </p:nvSpPr>
          <p:spPr>
            <a:xfrm>
              <a:off x="3429000" y="1188720"/>
              <a:ext cx="2651760" cy="132588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0" y="1427378"/>
              <a:ext cx="1828800" cy="848563"/>
            </a:xfrm>
            <a:prstGeom prst="rect">
              <a:avLst/>
            </a:prstGeom>
            <a:noFill/>
          </p:spPr>
          <p:txBody>
            <a:bodyPr wrap="square" anchor="ctr" lIns="0" rIns="0" tIns="36576" bIns="36576">
              <a:spAutoFit/>
            </a:bodyPr>
            <a:lstStyle/>
            <a:p>
              <a:pPr algn="ctr">
                <a:lnSpc>
                  <a:spcPct val="100000"/>
                </a:lnSpc>
                <a:spcAft>
                  <a:spcPts val="300"/>
                </a:spcAft>
                <a:buNone/>
              </a:pPr>
              <a:r>
                <a:rPr sz="1800" b="0">
                  <a:solidFill>
                    <a:srgbClr val="1F3238"/>
                  </a:solidFill>
                  <a:latin typeface="Roboto Medium"/>
                  <a:ea typeface="Roboto Medium"/>
                  <a:cs typeface="Roboto Medium"/>
                </a:rPr>
                <a:t>Teste prévio?</a:t>
              </a:r>
            </a:p>
          </p:txBody>
        </p:sp>
      </p:grpSp>
      <p:cxnSp>
        <p:nvCxnSpPr>
          <p:cNvPr id="31" name="Seta"/>
          <p:cNvCxnSpPr/>
          <p:nvPr/>
        </p:nvCxnSpPr>
        <p:spPr>
          <a:xfrm>
            <a:off x="6080760" y="1851660"/>
            <a:ext cx="5486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ótulo"/>
          <p:cNvSpPr txBox="1"/>
          <p:nvPr/>
        </p:nvSpPr>
        <p:spPr>
          <a:xfrm>
            <a:off x="6035040" y="1481328"/>
            <a:ext cx="59436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33" name="Etapa"/>
          <p:cNvSpPr/>
          <p:nvPr/>
        </p:nvSpPr>
        <p:spPr>
          <a:xfrm>
            <a:off x="6629400" y="1417320"/>
            <a:ext cx="3017520" cy="86868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Resultado do teste</a:t>
            </a:r>
          </a:p>
        </p:txBody>
      </p:sp>
      <p:cxnSp>
        <p:nvCxnSpPr>
          <p:cNvPr id="34" name="Seta"/>
          <p:cNvCxnSpPr/>
          <p:nvPr/>
        </p:nvCxnSpPr>
        <p:spPr>
          <a:xfrm>
            <a:off x="4754880" y="2514600"/>
            <a:ext cx="0" cy="68580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5" name="Seta"/>
          <p:cNvCxnSpPr/>
          <p:nvPr/>
        </p:nvCxnSpPr>
        <p:spPr>
          <a:xfrm flipH="1">
            <a:off x="4206240" y="3200400"/>
            <a:ext cx="5486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ótulo"/>
          <p:cNvSpPr txBox="1"/>
          <p:nvPr/>
        </p:nvSpPr>
        <p:spPr>
          <a:xfrm>
            <a:off x="4114800" y="2560320"/>
            <a:ext cx="59436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37" name="Fim/Início"/>
          <p:cNvSpPr/>
          <p:nvPr/>
        </p:nvSpPr>
        <p:spPr>
          <a:xfrm>
            <a:off x="713232" y="2880360"/>
            <a:ext cx="3474720" cy="64008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Angio-TC ou estresse*</a:t>
            </a:r>
          </a:p>
        </p:txBody>
      </p:sp>
      <p:cxnSp>
        <p:nvCxnSpPr>
          <p:cNvPr id="38" name="Seta"/>
          <p:cNvCxnSpPr/>
          <p:nvPr/>
        </p:nvCxnSpPr>
        <p:spPr>
          <a:xfrm>
            <a:off x="8138160" y="2286000"/>
            <a:ext cx="0" cy="5029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o"/>
          <p:cNvSpPr txBox="1"/>
          <p:nvPr/>
        </p:nvSpPr>
        <p:spPr>
          <a:xfrm>
            <a:off x="5029200" y="2743200"/>
            <a:ext cx="6455664" cy="365760"/>
          </a:xfrm>
          <a:prstGeom prst="rect">
            <a:avLst/>
          </a:prstGeom>
          <a:noFill/>
        </p:spPr>
        <p:txBody>
          <a:bodyPr wrap="square" anchor="ctr" lIns="18288" rIns="18288" tIns="36576" bIns="36576">
            <a:spAutoFit/>
          </a:bodyPr>
          <a:lstStyle/>
          <a:p>
            <a:pPr algn="l">
              <a:lnSpc>
                <a:spcPct val="100000"/>
              </a:lnSpc>
              <a:spcAft>
                <a:spcPts val="300"/>
              </a:spcAft>
              <a:buNone/>
            </a:pPr>
            <a:r>
              <a:rPr sz="1600" b="0">
                <a:solidFill>
                  <a:srgbClr val="737A7F"/>
                </a:solidFill>
                <a:latin typeface="Roboto"/>
                <a:ea typeface="Roboto"/>
                <a:cs typeface="Roboto"/>
              </a:rPr>
              <a:t>Teste prévio: Sim</a:t>
            </a:r>
          </a:p>
        </p:txBody>
      </p:sp>
      <p:sp>
        <p:nvSpPr>
          <p:cNvPr id="40" name="Etapa"/>
          <p:cNvSpPr/>
          <p:nvPr/>
        </p:nvSpPr>
        <p:spPr>
          <a:xfrm>
            <a:off x="5029200" y="3200400"/>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Negativo e recente</a:t>
            </a:r>
          </a:p>
        </p:txBody>
      </p:sp>
      <p:cxnSp>
        <p:nvCxnSpPr>
          <p:cNvPr id="41" name="Seta"/>
          <p:cNvCxnSpPr/>
          <p:nvPr/>
        </p:nvCxnSpPr>
        <p:spPr>
          <a:xfrm>
            <a:off x="8869680" y="3502152"/>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Fim/Início"/>
          <p:cNvSpPr/>
          <p:nvPr/>
        </p:nvSpPr>
        <p:spPr>
          <a:xfrm>
            <a:off x="9326880" y="3200400"/>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Considerar Alta</a:t>
            </a:r>
          </a:p>
        </p:txBody>
      </p:sp>
      <p:sp>
        <p:nvSpPr>
          <p:cNvPr id="43" name="Etapa"/>
          <p:cNvSpPr/>
          <p:nvPr/>
        </p:nvSpPr>
        <p:spPr>
          <a:xfrm>
            <a:off x="5029200" y="3895344"/>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Estresse inconclusivo</a:t>
            </a:r>
          </a:p>
        </p:txBody>
      </p:sp>
      <p:cxnSp>
        <p:nvCxnSpPr>
          <p:cNvPr id="44" name="Seta"/>
          <p:cNvCxnSpPr/>
          <p:nvPr/>
        </p:nvCxnSpPr>
        <p:spPr>
          <a:xfrm>
            <a:off x="8869680" y="4197096"/>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Fim/Início"/>
          <p:cNvSpPr/>
          <p:nvPr/>
        </p:nvSpPr>
        <p:spPr>
          <a:xfrm>
            <a:off x="9326880" y="3895344"/>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Angio-TC</a:t>
            </a:r>
          </a:p>
        </p:txBody>
      </p:sp>
      <p:sp>
        <p:nvSpPr>
          <p:cNvPr id="46" name="Etapa"/>
          <p:cNvSpPr/>
          <p:nvPr/>
        </p:nvSpPr>
        <p:spPr>
          <a:xfrm>
            <a:off x="5029200" y="4590288"/>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Isquemia moderada/importante</a:t>
            </a:r>
          </a:p>
        </p:txBody>
      </p:sp>
      <p:cxnSp>
        <p:nvCxnSpPr>
          <p:cNvPr id="47" name="Seta"/>
          <p:cNvCxnSpPr/>
          <p:nvPr/>
        </p:nvCxnSpPr>
        <p:spPr>
          <a:xfrm>
            <a:off x="8869680" y="4892040"/>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Fim/Início"/>
          <p:cNvSpPr/>
          <p:nvPr/>
        </p:nvSpPr>
        <p:spPr>
          <a:xfrm>
            <a:off x="9326880" y="4590288"/>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CATE</a:t>
            </a:r>
          </a:p>
        </p:txBody>
      </p:sp>
    </p:spTree>
    <p:extLst>
      <p:ext uri="{BB962C8B-B14F-4D97-AF65-F5344CB8AC3E}">
        <p14:creationId xmlns:p14="http://schemas.microsoft.com/office/powerpoint/2010/main" val="3260291603"/>
      </p:ext>
    </p:extLst>
  </p:cSld>
  <p:clrMapOvr>
    <a:masterClrMapping/>
  </p:clrMapOvr>
  <p:timing>
    <p:tnLst>
      <p:par>
        <p:cTn id="1" dur="indefinite" restart="never" nodeType="tmRoot"/>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Definições (sem DAC)</a:t>
            </a:r>
            <a:endParaRPr lang="pt-BR" dirty="0" sz="3200"/>
          </a:p>
        </p:txBody>
      </p:sp>
      <p:sp>
        <p:nvSpPr>
          <p:cNvPr id="3" name="Card"/>
          <p:cNvSpPr/>
          <p:nvPr/>
        </p:nvSpPr>
        <p:spPr>
          <a:xfrm>
            <a:off x="711403" y="1600000"/>
            <a:ext cx="5300000"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aixa"/>
          <p:cNvSpPr/>
          <p:nvPr/>
        </p:nvSpPr>
        <p:spPr>
          <a:xfrm>
            <a:off x="711403" y="1600000"/>
            <a:ext cx="5300000"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ítulo do card"/>
          <p:cNvSpPr txBox="1"/>
          <p:nvPr/>
        </p:nvSpPr>
        <p:spPr>
          <a:xfrm>
            <a:off x="940003" y="1800000"/>
            <a:ext cx="4842800"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Exame negativo recente</a:t>
            </a:r>
          </a:p>
        </p:txBody>
      </p:sp>
      <p:sp>
        <p:nvSpPr>
          <p:cNvPr id="6" name="Corpo do card"/>
          <p:cNvSpPr txBox="1"/>
          <p:nvPr/>
        </p:nvSpPr>
        <p:spPr>
          <a:xfrm>
            <a:off x="940003" y="2200000"/>
            <a:ext cx="4842800"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3B3F42"/>
                </a:solidFill>
                <a:latin typeface="Roboto Medium"/>
                <a:ea typeface="Roboto Medium"/>
                <a:cs typeface="Roboto Medium"/>
              </a:rPr>
              <a:t>Angiografia coronária invasiva ou não-invasiva</a:t>
            </a:r>
            <a:r>
              <a:rPr sz="1300" b="0" i="0">
                <a:solidFill>
                  <a:srgbClr val="5F6468"/>
                </a:solidFill>
                <a:latin typeface="Roboto"/>
                <a:ea typeface="Roboto"/>
                <a:cs typeface="Roboto"/>
              </a:rPr>
              <a:t> (angiotomografia) completamente normal (sem placa ou estenose) realizada dentro de </a:t>
            </a:r>
            <a:r>
              <a:rPr sz="1300" b="0" i="0">
                <a:solidFill>
                  <a:srgbClr val="3B3F42"/>
                </a:solidFill>
                <a:latin typeface="Roboto Medium"/>
                <a:ea typeface="Roboto Medium"/>
                <a:cs typeface="Roboto Medium"/>
              </a:rPr>
              <a:t>2 anos</a:t>
            </a:r>
          </a:p>
          <a:p>
            <a:pPr algn="l">
              <a:lnSpc>
                <a:spcPct val="120000"/>
              </a:lnSpc>
              <a:spcAft>
                <a:spcPts val="600"/>
              </a:spcAft>
            </a:pPr>
            <a:r>
              <a:rPr sz="1300" b="0" i="0">
                <a:solidFill>
                  <a:srgbClr val="5F6468"/>
                </a:solidFill>
                <a:latin typeface="Roboto"/>
                <a:ea typeface="Roboto"/>
                <a:cs typeface="Roboto"/>
              </a:rPr>
              <a:t>ou </a:t>
            </a:r>
            <a:r>
              <a:rPr sz="1300" b="0" i="0">
                <a:solidFill>
                  <a:srgbClr val="3B3F42"/>
                </a:solidFill>
                <a:latin typeface="Roboto Medium"/>
                <a:ea typeface="Roboto Medium"/>
                <a:cs typeface="Roboto Medium"/>
              </a:rPr>
              <a:t>Teste funcional com estresse adequado</a:t>
            </a:r>
            <a:r>
              <a:rPr sz="1300" b="0" i="0">
                <a:solidFill>
                  <a:srgbClr val="5F6468"/>
                </a:solidFill>
                <a:latin typeface="Roboto"/>
                <a:ea typeface="Roboto"/>
                <a:cs typeface="Roboto"/>
              </a:rPr>
              <a:t> e resultado normal realizado dentro de </a:t>
            </a:r>
            <a:r>
              <a:rPr sz="1300" b="0" i="0">
                <a:solidFill>
                  <a:srgbClr val="3B3F42"/>
                </a:solidFill>
                <a:latin typeface="Roboto Medium"/>
                <a:ea typeface="Roboto Medium"/>
                <a:cs typeface="Roboto Medium"/>
              </a:rPr>
              <a:t>1 ano</a:t>
            </a:r>
            <a:r>
              <a:rPr sz="1300" b="0" i="0">
                <a:solidFill>
                  <a:srgbClr val="5F6468"/>
                </a:solidFill>
                <a:latin typeface="Roboto"/>
                <a:ea typeface="Roboto"/>
                <a:cs typeface="Roboto"/>
              </a:rPr>
              <a:t> do quadro atual de dor torácica</a:t>
            </a:r>
          </a:p>
          <a:p>
            <a:pPr algn="l">
              <a:lnSpc>
                <a:spcPct val="120000"/>
              </a:lnSpc>
              <a:spcAft>
                <a:spcPts val="600"/>
              </a:spcAft>
            </a:pPr>
            <a:r>
              <a:rPr sz="1300" b="0" i="1">
                <a:solidFill>
                  <a:srgbClr val="5F6468"/>
                </a:solidFill>
                <a:latin typeface="Roboto"/>
                <a:ea typeface="Roboto"/>
                <a:cs typeface="Roboto"/>
              </a:rPr>
              <a:t>Obs: Improvável a presença de SCA e DAC significativa se exame negativo recente (a ausência de aterosclerose coronária na angiotomografia fornece o maior VPN para risco futuro de SCA)</a:t>
            </a:r>
          </a:p>
        </p:txBody>
      </p:sp>
      <p:sp>
        <p:nvSpPr>
          <p:cNvPr id="7" name="Card"/>
          <p:cNvSpPr/>
          <p:nvPr/>
        </p:nvSpPr>
        <p:spPr>
          <a:xfrm>
            <a:off x="6300000" y="1600000"/>
            <a:ext cx="5183035"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ixa"/>
          <p:cNvSpPr/>
          <p:nvPr/>
        </p:nvSpPr>
        <p:spPr>
          <a:xfrm>
            <a:off x="6300000" y="1600000"/>
            <a:ext cx="5183035"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ítulo do card"/>
          <p:cNvSpPr txBox="1"/>
          <p:nvPr/>
        </p:nvSpPr>
        <p:spPr>
          <a:xfrm>
            <a:off x="6528600" y="1800000"/>
            <a:ext cx="4725835"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Teste de estresse</a:t>
            </a:r>
          </a:p>
        </p:txBody>
      </p:sp>
      <p:sp>
        <p:nvSpPr>
          <p:cNvPr id="10" name="Corpo do card"/>
          <p:cNvSpPr txBox="1"/>
          <p:nvPr/>
        </p:nvSpPr>
        <p:spPr>
          <a:xfrm>
            <a:off x="6528600" y="2200000"/>
            <a:ext cx="4725835"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Ecocardiograma com estresse</a:t>
            </a:r>
          </a:p>
          <a:p>
            <a:pPr algn="l">
              <a:lnSpc>
                <a:spcPct val="120000"/>
              </a:lnSpc>
              <a:spcAft>
                <a:spcPts val="600"/>
              </a:spcAft>
            </a:pPr>
            <a:r>
              <a:rPr sz="1300" b="0" i="0">
                <a:solidFill>
                  <a:srgbClr val="5F6468"/>
                </a:solidFill>
                <a:latin typeface="Roboto"/>
                <a:ea typeface="Roboto"/>
                <a:cs typeface="Roboto"/>
              </a:rPr>
              <a:t>• PET/SPECT com estresse</a:t>
            </a:r>
          </a:p>
          <a:p>
            <a:pPr algn="l">
              <a:lnSpc>
                <a:spcPct val="120000"/>
              </a:lnSpc>
              <a:spcAft>
                <a:spcPts val="600"/>
              </a:spcAft>
            </a:pPr>
            <a:r>
              <a:rPr sz="1300" b="0" i="0">
                <a:solidFill>
                  <a:srgbClr val="5F6468"/>
                </a:solidFill>
                <a:latin typeface="Roboto"/>
                <a:ea typeface="Roboto"/>
                <a:cs typeface="Roboto"/>
              </a:rPr>
              <a:t>• Ressonância de coração com estresse farmacológico</a:t>
            </a:r>
          </a:p>
          <a:p>
            <a:pPr algn="l">
              <a:lnSpc>
                <a:spcPct val="120000"/>
              </a:lnSpc>
              <a:spcAft>
                <a:spcPts val="600"/>
              </a:spcAft>
            </a:pPr>
            <a:r>
              <a:rPr sz="1300" b="0" i="0">
                <a:solidFill>
                  <a:srgbClr val="5F6468"/>
                </a:solidFill>
                <a:latin typeface="Roboto"/>
                <a:ea typeface="Roboto"/>
                <a:cs typeface="Roboto"/>
              </a:rPr>
              <a:t>• Teste de esforço (idealmente com avaliação de imagem associada)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57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DAC conhecida</a:t>
            </a:r>
            <a:endParaRPr lang="pt-BR" dirty="0" sz="3200"/>
          </a:p>
        </p:txBody>
      </p:sp>
      <p:sp>
        <p:nvSpPr>
          <p:cNvPr id="21" name="Nota"/>
          <p:cNvSpPr txBox="1"/>
          <p:nvPr/>
        </p:nvSpPr>
        <p:spPr>
          <a:xfrm>
            <a:off x="711403" y="5230368"/>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22" name="Legenda"/>
          <p:cNvSpPr txBox="1"/>
          <p:nvPr/>
        </p:nvSpPr>
        <p:spPr>
          <a:xfrm>
            <a:off x="711403" y="5468112"/>
            <a:ext cx="10771632" cy="900000"/>
          </a:xfrm>
          <a:prstGeom prst="rect">
            <a:avLst/>
          </a:prstGeom>
          <a:noFill/>
        </p:spPr>
        <p:txBody>
          <a:bodyPr wrap="square" lIns="0" rIns="0" tIns="0" bIns="0" anchor="t">
            <a:spAutoFit/>
          </a:bodyPr>
          <a:lstStyle/>
          <a:p>
            <a:pPr algn="l">
              <a:lnSpc>
                <a:spcPct val="115000"/>
              </a:lnSpc>
            </a:pPr>
            <a:r>
              <a:rPr sz="1200" b="0" i="0">
                <a:solidFill>
                  <a:srgbClr val="4E7C8B"/>
                </a:solidFill>
                <a:latin typeface="Roboto Medium"/>
                <a:ea typeface="Roboto Medium"/>
                <a:cs typeface="Roboto Medium"/>
              </a:rPr>
              <a:t>Figura 14 – </a:t>
            </a:r>
            <a:r>
              <a:rPr sz="1200" b="0" i="1">
                <a:solidFill>
                  <a:srgbClr val="737A7F"/>
                </a:solidFill>
                <a:latin typeface="Roboto"/>
                <a:ea typeface="Roboto"/>
                <a:cs typeface="Roboto"/>
              </a:rPr>
              <a:t>Fluxograma de investigação não invasiva em paciente com doença arterial coronariana conhecida. DAC: doença arterial coronariana; CATE: cateterismo cardíaco; ICP: intervenção coronariana percutânea; CRM: cirurgia de revascularização do miocárdio; Angio-TC: angiotomografia coronária por tomografia computadorizada; TCE: tronco da coronária esquerda; FFR-CT: reserva de fluxo fracionada obtida por tomografia computadorizada.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58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23" name="Fim/Início"/>
          <p:cNvSpPr/>
          <p:nvPr/>
        </p:nvSpPr>
        <p:spPr>
          <a:xfrm>
            <a:off x="713232" y="1417320"/>
            <a:ext cx="2377440" cy="86868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DAC conhecida</a:t>
            </a:r>
          </a:p>
        </p:txBody>
      </p:sp>
      <p:cxnSp>
        <p:nvCxnSpPr>
          <p:cNvPr id="24" name="Seta"/>
          <p:cNvCxnSpPr/>
          <p:nvPr/>
        </p:nvCxnSpPr>
        <p:spPr>
          <a:xfrm>
            <a:off x="3090672" y="1851660"/>
            <a:ext cx="338328"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 name="Decisão"/>
          <p:cNvGrpSpPr/>
          <p:nvPr/>
        </p:nvGrpSpPr>
        <p:grpSpPr>
          <a:xfrm>
            <a:off x="3429000" y="1188720"/>
            <a:ext cx="2651760" cy="1325880"/>
            <a:chOff x="3429000" y="1188720"/>
            <a:chExt cx="2651760" cy="1325880"/>
          </a:xfrm>
        </p:grpSpPr>
        <p:sp>
          <p:nvSpPr>
            <p:cNvPr id="25" name="Diamond 24"/>
            <p:cNvSpPr/>
            <p:nvPr/>
          </p:nvSpPr>
          <p:spPr>
            <a:xfrm>
              <a:off x="3429000" y="1188720"/>
              <a:ext cx="2651760" cy="132588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0" y="1427378"/>
              <a:ext cx="1828800" cy="848563"/>
            </a:xfrm>
            <a:prstGeom prst="rect">
              <a:avLst/>
            </a:prstGeom>
            <a:noFill/>
          </p:spPr>
          <p:txBody>
            <a:bodyPr wrap="square" anchor="ctr" lIns="0" rIns="0" tIns="36576" bIns="36576">
              <a:spAutoFit/>
            </a:bodyPr>
            <a:lstStyle/>
            <a:p>
              <a:pPr algn="ctr">
                <a:lnSpc>
                  <a:spcPct val="100000"/>
                </a:lnSpc>
                <a:spcAft>
                  <a:spcPts val="300"/>
                </a:spcAft>
                <a:buNone/>
              </a:pPr>
              <a:r>
                <a:rPr sz="1800" b="0">
                  <a:solidFill>
                    <a:srgbClr val="1F3238"/>
                  </a:solidFill>
                  <a:latin typeface="Roboto Medium"/>
                  <a:ea typeface="Roboto Medium"/>
                  <a:cs typeface="Roboto Medium"/>
                </a:rPr>
                <a:t>Obstrutiva?</a:t>
              </a:r>
            </a:p>
          </p:txBody>
        </p:sp>
      </p:grpSp>
      <p:cxnSp>
        <p:nvCxnSpPr>
          <p:cNvPr id="27" name="Seta"/>
          <p:cNvCxnSpPr/>
          <p:nvPr/>
        </p:nvCxnSpPr>
        <p:spPr>
          <a:xfrm>
            <a:off x="6080760" y="1851660"/>
            <a:ext cx="5486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ótulo"/>
          <p:cNvSpPr txBox="1"/>
          <p:nvPr/>
        </p:nvSpPr>
        <p:spPr>
          <a:xfrm>
            <a:off x="6035040" y="1481328"/>
            <a:ext cx="59436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29" name="Etapa"/>
          <p:cNvSpPr/>
          <p:nvPr/>
        </p:nvSpPr>
        <p:spPr>
          <a:xfrm>
            <a:off x="6629400" y="1417320"/>
            <a:ext cx="3017520" cy="86868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Critérios de risco</a:t>
            </a:r>
          </a:p>
        </p:txBody>
      </p:sp>
      <p:cxnSp>
        <p:nvCxnSpPr>
          <p:cNvPr id="30" name="Seta"/>
          <p:cNvCxnSpPr/>
          <p:nvPr/>
        </p:nvCxnSpPr>
        <p:spPr>
          <a:xfrm>
            <a:off x="4754880" y="2514600"/>
            <a:ext cx="0" cy="68580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1" name="Seta"/>
          <p:cNvCxnSpPr/>
          <p:nvPr/>
        </p:nvCxnSpPr>
        <p:spPr>
          <a:xfrm flipH="1">
            <a:off x="4206240" y="3200400"/>
            <a:ext cx="5486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ótulo"/>
          <p:cNvSpPr txBox="1"/>
          <p:nvPr/>
        </p:nvSpPr>
        <p:spPr>
          <a:xfrm>
            <a:off x="4114800" y="2560320"/>
            <a:ext cx="59436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33" name="Fim/Início"/>
          <p:cNvSpPr/>
          <p:nvPr/>
        </p:nvSpPr>
        <p:spPr>
          <a:xfrm>
            <a:off x="713232" y="2880360"/>
            <a:ext cx="3474720" cy="64008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Angio-TC (preferência)*</a:t>
            </a:r>
          </a:p>
        </p:txBody>
      </p:sp>
      <p:cxnSp>
        <p:nvCxnSpPr>
          <p:cNvPr id="34" name="Seta"/>
          <p:cNvCxnSpPr/>
          <p:nvPr/>
        </p:nvCxnSpPr>
        <p:spPr>
          <a:xfrm>
            <a:off x="8138160" y="2286000"/>
            <a:ext cx="0" cy="5029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o"/>
          <p:cNvSpPr txBox="1"/>
          <p:nvPr/>
        </p:nvSpPr>
        <p:spPr>
          <a:xfrm>
            <a:off x="5029200" y="2743200"/>
            <a:ext cx="6455664" cy="365760"/>
          </a:xfrm>
          <a:prstGeom prst="rect">
            <a:avLst/>
          </a:prstGeom>
          <a:noFill/>
        </p:spPr>
        <p:txBody>
          <a:bodyPr wrap="square" anchor="ctr" lIns="18288" rIns="18288" tIns="36576" bIns="36576">
            <a:spAutoFit/>
          </a:bodyPr>
          <a:lstStyle/>
          <a:p>
            <a:pPr algn="l">
              <a:lnSpc>
                <a:spcPct val="100000"/>
              </a:lnSpc>
              <a:spcAft>
                <a:spcPts val="300"/>
              </a:spcAft>
              <a:buNone/>
            </a:pPr>
            <a:r>
              <a:rPr sz="1600" b="0">
                <a:solidFill>
                  <a:srgbClr val="737A7F"/>
                </a:solidFill>
                <a:latin typeface="Roboto"/>
                <a:ea typeface="Roboto"/>
                <a:cs typeface="Roboto"/>
              </a:rPr>
              <a:t>Obstrutiva: Sim</a:t>
            </a:r>
          </a:p>
        </p:txBody>
      </p:sp>
      <p:sp>
        <p:nvSpPr>
          <p:cNvPr id="36" name="Etapa"/>
          <p:cNvSpPr/>
          <p:nvPr/>
        </p:nvSpPr>
        <p:spPr>
          <a:xfrm>
            <a:off x="5029200" y="3200400"/>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Alto risco</a:t>
            </a:r>
          </a:p>
        </p:txBody>
      </p:sp>
      <p:cxnSp>
        <p:nvCxnSpPr>
          <p:cNvPr id="37" name="Seta"/>
          <p:cNvCxnSpPr/>
          <p:nvPr/>
        </p:nvCxnSpPr>
        <p:spPr>
          <a:xfrm>
            <a:off x="8869680" y="3502152"/>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Fim/Início"/>
          <p:cNvSpPr/>
          <p:nvPr/>
        </p:nvSpPr>
        <p:spPr>
          <a:xfrm>
            <a:off x="9326880" y="3200400"/>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CATE</a:t>
            </a:r>
          </a:p>
        </p:txBody>
      </p:sp>
      <p:sp>
        <p:nvSpPr>
          <p:cNvPr id="39" name="Etapa"/>
          <p:cNvSpPr/>
          <p:nvPr/>
        </p:nvSpPr>
        <p:spPr>
          <a:xfrm>
            <a:off x="5029200" y="3895344"/>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Sem alto risco</a:t>
            </a:r>
          </a:p>
        </p:txBody>
      </p:sp>
      <p:cxnSp>
        <p:nvCxnSpPr>
          <p:cNvPr id="40" name="Seta"/>
          <p:cNvCxnSpPr/>
          <p:nvPr/>
        </p:nvCxnSpPr>
        <p:spPr>
          <a:xfrm>
            <a:off x="8869680" y="4197096"/>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Fim/Início"/>
          <p:cNvSpPr/>
          <p:nvPr/>
        </p:nvSpPr>
        <p:spPr>
          <a:xfrm>
            <a:off x="9326880" y="3895344"/>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Estresse (preferência)*</a:t>
            </a:r>
          </a:p>
        </p:txBody>
      </p:sp>
    </p:spTree>
    <p:extLst>
      <p:ext uri="{BB962C8B-B14F-4D97-AF65-F5344CB8AC3E}">
        <p14:creationId xmlns:p14="http://schemas.microsoft.com/office/powerpoint/2010/main" val="4037054526"/>
      </p:ext>
    </p:extLst>
  </p:cSld>
  <p:clrMapOvr>
    <a:masterClrMapping/>
  </p:clrMapOvr>
  <p:timing>
    <p:tnLst>
      <p:par>
        <p:cTn id="1" dur="indefinite" restart="never" nodeType="tmRoot"/>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Definições (DAC conhecida)</a:t>
            </a:r>
            <a:endParaRPr lang="pt-BR" dirty="0" sz="3200"/>
          </a:p>
        </p:txBody>
      </p:sp>
      <p:sp>
        <p:nvSpPr>
          <p:cNvPr id="3" name="Card"/>
          <p:cNvSpPr/>
          <p:nvPr/>
        </p:nvSpPr>
        <p:spPr>
          <a:xfrm>
            <a:off x="711403" y="1600000"/>
            <a:ext cx="5300000" cy="19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aixa"/>
          <p:cNvSpPr/>
          <p:nvPr/>
        </p:nvSpPr>
        <p:spPr>
          <a:xfrm>
            <a:off x="711403" y="1600000"/>
            <a:ext cx="5300000"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ítulo do card"/>
          <p:cNvSpPr txBox="1"/>
          <p:nvPr/>
        </p:nvSpPr>
        <p:spPr>
          <a:xfrm>
            <a:off x="940003" y="1800000"/>
            <a:ext cx="4842800"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DAC conhecida</a:t>
            </a:r>
          </a:p>
        </p:txBody>
      </p:sp>
      <p:sp>
        <p:nvSpPr>
          <p:cNvPr id="6" name="Corpo do card"/>
          <p:cNvSpPr txBox="1"/>
          <p:nvPr/>
        </p:nvSpPr>
        <p:spPr>
          <a:xfrm>
            <a:off x="940003" y="2200000"/>
            <a:ext cx="4842800" cy="12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Obstrutiva (≥ 50%, ICP ou CRM prévia)</a:t>
            </a:r>
          </a:p>
          <a:p>
            <a:pPr algn="l">
              <a:lnSpc>
                <a:spcPct val="120000"/>
              </a:lnSpc>
              <a:spcAft>
                <a:spcPts val="600"/>
              </a:spcAft>
            </a:pPr>
            <a:r>
              <a:rPr sz="1300" b="0" i="0">
                <a:solidFill>
                  <a:srgbClr val="5F6468"/>
                </a:solidFill>
                <a:latin typeface="Roboto"/>
                <a:ea typeface="Roboto"/>
                <a:cs typeface="Roboto"/>
              </a:rPr>
              <a:t>• Não obstrutiva (DAC &lt; 50% em CATE ou angioTC e sem ICP ou CRM prévia)</a:t>
            </a:r>
          </a:p>
        </p:txBody>
      </p:sp>
      <p:sp>
        <p:nvSpPr>
          <p:cNvPr id="7" name="Card"/>
          <p:cNvSpPr/>
          <p:nvPr/>
        </p:nvSpPr>
        <p:spPr>
          <a:xfrm>
            <a:off x="6300000" y="1600000"/>
            <a:ext cx="5183035" cy="19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ixa"/>
          <p:cNvSpPr/>
          <p:nvPr/>
        </p:nvSpPr>
        <p:spPr>
          <a:xfrm>
            <a:off x="6300000" y="1600000"/>
            <a:ext cx="5183035"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ítulo do card"/>
          <p:cNvSpPr txBox="1"/>
          <p:nvPr/>
        </p:nvSpPr>
        <p:spPr>
          <a:xfrm>
            <a:off x="6528600" y="1800000"/>
            <a:ext cx="4725835"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Critérios de alto risco</a:t>
            </a:r>
          </a:p>
        </p:txBody>
      </p:sp>
      <p:sp>
        <p:nvSpPr>
          <p:cNvPr id="10" name="Corpo do card"/>
          <p:cNvSpPr txBox="1"/>
          <p:nvPr/>
        </p:nvSpPr>
        <p:spPr>
          <a:xfrm>
            <a:off x="6528600" y="2200000"/>
            <a:ext cx="4725835" cy="12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TCE ≥ 50%, triarterial ≥ 70% ou FFR-CT ≤ 0.8 ou angina frequente ou isquemia moderada a importante</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59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Diagnóstico – IAM com coronariografia normal</a:t>
            </a:r>
            <a:endParaRPr lang="pt-BR" dirty="0" sz="3200"/>
          </a:p>
        </p:txBody>
      </p:sp>
      <p:sp>
        <p:nvSpPr>
          <p:cNvPr id="23" name="Legenda"/>
          <p:cNvSpPr txBox="1"/>
          <p:nvPr/>
        </p:nvSpPr>
        <p:spPr>
          <a:xfrm>
            <a:off x="711403" y="5596128"/>
            <a:ext cx="10771632" cy="420000"/>
          </a:xfrm>
          <a:prstGeom prst="rect">
            <a:avLst/>
          </a:prstGeom>
          <a:noFill/>
        </p:spPr>
        <p:txBody>
          <a:bodyPr wrap="square" lIns="0" rIns="0" tIns="0" bIns="0" anchor="t">
            <a:spAutoFit/>
          </a:bodyPr>
          <a:lstStyle/>
          <a:p>
            <a:pPr algn="l">
              <a:lnSpc>
                <a:spcPct val="110000"/>
              </a:lnSpc>
            </a:pPr>
            <a:r>
              <a:rPr sz="1200" b="0" i="0">
                <a:solidFill>
                  <a:srgbClr val="4E7C8B"/>
                </a:solidFill>
                <a:latin typeface="Roboto Medium"/>
                <a:ea typeface="Roboto Medium"/>
                <a:cs typeface="Roboto Medium"/>
              </a:rPr>
              <a:t>Figura 15 – </a:t>
            </a:r>
            <a:r>
              <a:rPr sz="1200" b="0" i="1">
                <a:solidFill>
                  <a:srgbClr val="737A7F"/>
                </a:solidFill>
                <a:latin typeface="Roboto"/>
                <a:ea typeface="Roboto"/>
                <a:cs typeface="Roboto"/>
              </a:rPr>
              <a:t>Fluxograma de diagnóstico em casos de infarto agudo do miocárdio com coronariografia normal. TEP: tromboembolismo pulmonar; DAC: doença arterial coronariana; RM: ressonância magnética; IVUS: ultrassonografia intravascular; OCT: tomografia de coerência óptica.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60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24" name="Fim/Início"/>
          <p:cNvSpPr/>
          <p:nvPr/>
        </p:nvSpPr>
        <p:spPr>
          <a:xfrm>
            <a:off x="4754880" y="1371600"/>
            <a:ext cx="2679192" cy="50292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FBFCFC"/>
                </a:solidFill>
                <a:latin typeface="Roboto Medium"/>
                <a:ea typeface="Roboto Medium"/>
                <a:cs typeface="Roboto Medium"/>
              </a:rPr>
              <a:t>Troponina elevada</a:t>
            </a:r>
          </a:p>
        </p:txBody>
      </p:sp>
      <p:cxnSp>
        <p:nvCxnSpPr>
          <p:cNvPr id="25" name="Seta"/>
          <p:cNvCxnSpPr/>
          <p:nvPr/>
        </p:nvCxnSpPr>
        <p:spPr>
          <a:xfrm>
            <a:off x="6094476" y="1874519"/>
            <a:ext cx="0" cy="228601"/>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Etapa"/>
          <p:cNvSpPr/>
          <p:nvPr/>
        </p:nvSpPr>
        <p:spPr>
          <a:xfrm>
            <a:off x="4754880" y="2103120"/>
            <a:ext cx="2679192" cy="5029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3B3F42"/>
                </a:solidFill>
                <a:latin typeface="Roboto Medium"/>
                <a:ea typeface="Roboto Medium"/>
                <a:cs typeface="Roboto Medium"/>
              </a:rPr>
              <a:t>Excluir alternativos</a:t>
            </a:r>
          </a:p>
        </p:txBody>
      </p:sp>
      <p:cxnSp>
        <p:nvCxnSpPr>
          <p:cNvPr id="27" name="Seta"/>
          <p:cNvCxnSpPr/>
          <p:nvPr/>
        </p:nvCxnSpPr>
        <p:spPr>
          <a:xfrm>
            <a:off x="6094476" y="2606040"/>
            <a:ext cx="0" cy="36576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28" name="Seta"/>
          <p:cNvCxnSpPr/>
          <p:nvPr/>
        </p:nvCxnSpPr>
        <p:spPr>
          <a:xfrm flipH="1">
            <a:off x="4343400" y="2971800"/>
            <a:ext cx="1751076"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29" name="Seta"/>
          <p:cNvCxnSpPr/>
          <p:nvPr/>
        </p:nvCxnSpPr>
        <p:spPr>
          <a:xfrm>
            <a:off x="4343400" y="297180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Seta"/>
          <p:cNvCxnSpPr/>
          <p:nvPr/>
        </p:nvCxnSpPr>
        <p:spPr>
          <a:xfrm>
            <a:off x="6094476" y="2971800"/>
            <a:ext cx="1769364"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1" name="Seta"/>
          <p:cNvCxnSpPr/>
          <p:nvPr/>
        </p:nvCxnSpPr>
        <p:spPr>
          <a:xfrm>
            <a:off x="7863840" y="297180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ótulo"/>
          <p:cNvSpPr txBox="1"/>
          <p:nvPr/>
        </p:nvSpPr>
        <p:spPr>
          <a:xfrm>
            <a:off x="6172200" y="2651760"/>
            <a:ext cx="2011680" cy="292608"/>
          </a:xfrm>
          <a:prstGeom prst="rect">
            <a:avLst/>
          </a:prstGeom>
          <a:noFill/>
        </p:spPr>
        <p:txBody>
          <a:bodyPr wrap="square" anchor="ctr" lIns="18288" rIns="18288" tIns="36576" bIns="36576">
            <a:spAutoFit/>
          </a:bodyPr>
          <a:lstStyle/>
          <a:p>
            <a:pPr algn="l">
              <a:lnSpc>
                <a:spcPct val="100000"/>
              </a:lnSpc>
              <a:spcAft>
                <a:spcPts val="300"/>
              </a:spcAft>
              <a:buNone/>
            </a:pPr>
            <a:r>
              <a:rPr sz="2000" b="0">
                <a:solidFill>
                  <a:srgbClr val="4E7C8B"/>
                </a:solidFill>
                <a:latin typeface="Roboto Medium"/>
                <a:ea typeface="Roboto Medium"/>
                <a:cs typeface="Roboto Medium"/>
              </a:rPr>
              <a:t>Primeira etapa</a:t>
            </a:r>
          </a:p>
        </p:txBody>
      </p:sp>
      <p:sp>
        <p:nvSpPr>
          <p:cNvPr id="33" name="Etapa"/>
          <p:cNvSpPr/>
          <p:nvPr/>
        </p:nvSpPr>
        <p:spPr>
          <a:xfrm>
            <a:off x="2880360" y="3154680"/>
            <a:ext cx="2926080" cy="5029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3B3F42"/>
                </a:solidFill>
                <a:latin typeface="Roboto Medium"/>
                <a:ea typeface="Roboto Medium"/>
                <a:cs typeface="Roboto Medium"/>
              </a:rPr>
              <a:t>Rever angiografia</a:t>
            </a:r>
          </a:p>
        </p:txBody>
      </p:sp>
      <p:sp>
        <p:nvSpPr>
          <p:cNvPr id="34" name="Etapa"/>
          <p:cNvSpPr/>
          <p:nvPr/>
        </p:nvSpPr>
        <p:spPr>
          <a:xfrm>
            <a:off x="6400800" y="3154680"/>
            <a:ext cx="2926080" cy="5029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3B3F42"/>
                </a:solidFill>
                <a:latin typeface="Roboto Medium"/>
                <a:ea typeface="Roboto Medium"/>
                <a:cs typeface="Roboto Medium"/>
              </a:rPr>
              <a:t>Rever função VE</a:t>
            </a:r>
          </a:p>
        </p:txBody>
      </p:sp>
      <p:cxnSp>
        <p:nvCxnSpPr>
          <p:cNvPr id="35" name="Seta"/>
          <p:cNvCxnSpPr/>
          <p:nvPr/>
        </p:nvCxnSpPr>
        <p:spPr>
          <a:xfrm>
            <a:off x="4343400" y="3657600"/>
            <a:ext cx="0" cy="18288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6" name="Seta"/>
          <p:cNvCxnSpPr/>
          <p:nvPr/>
        </p:nvCxnSpPr>
        <p:spPr>
          <a:xfrm>
            <a:off x="4343400" y="3840480"/>
            <a:ext cx="1751076"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7" name="Seta"/>
          <p:cNvCxnSpPr/>
          <p:nvPr/>
        </p:nvCxnSpPr>
        <p:spPr>
          <a:xfrm>
            <a:off x="6094476" y="384048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Seta"/>
          <p:cNvCxnSpPr/>
          <p:nvPr/>
        </p:nvCxnSpPr>
        <p:spPr>
          <a:xfrm>
            <a:off x="7863840" y="3657600"/>
            <a:ext cx="0" cy="18288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9" name="Seta"/>
          <p:cNvCxnSpPr/>
          <p:nvPr/>
        </p:nvCxnSpPr>
        <p:spPr>
          <a:xfrm flipH="1">
            <a:off x="6094476" y="3840480"/>
            <a:ext cx="1769364"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sp>
        <p:nvSpPr>
          <p:cNvPr id="40" name="Fim/Início"/>
          <p:cNvSpPr/>
          <p:nvPr/>
        </p:nvSpPr>
        <p:spPr>
          <a:xfrm>
            <a:off x="4754880" y="4023360"/>
            <a:ext cx="2679192" cy="50292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FBFCFC"/>
                </a:solidFill>
                <a:latin typeface="Roboto Medium"/>
                <a:ea typeface="Roboto Medium"/>
                <a:cs typeface="Roboto Medium"/>
              </a:rPr>
              <a:t>Segunda etapa</a:t>
            </a:r>
          </a:p>
        </p:txBody>
      </p:sp>
      <p:cxnSp>
        <p:nvCxnSpPr>
          <p:cNvPr id="41" name="Seta"/>
          <p:cNvCxnSpPr/>
          <p:nvPr/>
        </p:nvCxnSpPr>
        <p:spPr>
          <a:xfrm>
            <a:off x="6094476" y="452628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Seta"/>
          <p:cNvCxnSpPr/>
          <p:nvPr/>
        </p:nvCxnSpPr>
        <p:spPr>
          <a:xfrm flipH="1">
            <a:off x="2651760" y="4709160"/>
            <a:ext cx="3442716"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43" name="Seta"/>
          <p:cNvCxnSpPr/>
          <p:nvPr/>
        </p:nvCxnSpPr>
        <p:spPr>
          <a:xfrm>
            <a:off x="2651760" y="470916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Seta"/>
          <p:cNvCxnSpPr/>
          <p:nvPr/>
        </p:nvCxnSpPr>
        <p:spPr>
          <a:xfrm>
            <a:off x="6094476" y="4709160"/>
            <a:ext cx="3415284"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45" name="Seta"/>
          <p:cNvCxnSpPr/>
          <p:nvPr/>
        </p:nvCxnSpPr>
        <p:spPr>
          <a:xfrm>
            <a:off x="9509760" y="470916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Seta"/>
          <p:cNvCxnSpPr/>
          <p:nvPr/>
        </p:nvCxnSpPr>
        <p:spPr>
          <a:xfrm>
            <a:off x="6094476" y="4709160"/>
            <a:ext cx="0" cy="18288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Etapa"/>
          <p:cNvSpPr/>
          <p:nvPr/>
        </p:nvSpPr>
        <p:spPr>
          <a:xfrm>
            <a:off x="1188720" y="4892040"/>
            <a:ext cx="2926080" cy="5029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3B3F42"/>
                </a:solidFill>
                <a:latin typeface="Roboto Medium"/>
                <a:ea typeface="Roboto Medium"/>
                <a:cs typeface="Roboto Medium"/>
              </a:rPr>
              <a:t>RM cardíaca</a:t>
            </a:r>
          </a:p>
        </p:txBody>
      </p:sp>
      <p:sp>
        <p:nvSpPr>
          <p:cNvPr id="48" name="Etapa"/>
          <p:cNvSpPr/>
          <p:nvPr/>
        </p:nvSpPr>
        <p:spPr>
          <a:xfrm>
            <a:off x="4631436" y="4892040"/>
            <a:ext cx="2926080" cy="5029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3B3F42"/>
                </a:solidFill>
                <a:latin typeface="Roboto Medium"/>
                <a:ea typeface="Roboto Medium"/>
                <a:cs typeface="Roboto Medium"/>
              </a:rPr>
              <a:t>IVUS e OCT</a:t>
            </a:r>
          </a:p>
        </p:txBody>
      </p:sp>
      <p:sp>
        <p:nvSpPr>
          <p:cNvPr id="49" name="Etapa"/>
          <p:cNvSpPr/>
          <p:nvPr/>
        </p:nvSpPr>
        <p:spPr>
          <a:xfrm>
            <a:off x="8046720" y="4892040"/>
            <a:ext cx="2926080" cy="50292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2000" b="0">
                <a:solidFill>
                  <a:srgbClr val="3B3F42"/>
                </a:solidFill>
                <a:latin typeface="Roboto Medium"/>
                <a:ea typeface="Roboto Medium"/>
                <a:cs typeface="Roboto Medium"/>
              </a:rPr>
              <a:t>Testes provocativos</a:t>
            </a:r>
          </a:p>
        </p:txBody>
      </p:sp>
    </p:spTree>
    <p:extLst>
      <p:ext uri="{BB962C8B-B14F-4D97-AF65-F5344CB8AC3E}">
        <p14:creationId xmlns:p14="http://schemas.microsoft.com/office/powerpoint/2010/main" val="30643894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29 – Investigação adicional de pacientes com injúria miocárdica e angiografia normal ou com lesões coronarianas &lt; 50%</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1760606"/>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Confirmar se, de fato, trata-se de caso de TINOCA (rever imagem da angiografia em busca de obstrução, dissecção, embolia, trombo coronário; checar outros exames em busca de diagnósticos diferenciais como Takotsubo).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Solicitar ressonância magnética cardíaca e outros exames adicionais conforme suspeita clínica (ex.: imagem intracoronária e/ou testes para avaliação de espasmo ou doença microvascular).</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bl>
          </a:graphicData>
        </a:graphic>
      </p:graphicFrame>
    </p:spTree>
    <p:extLst>
      <p:ext uri="{BB962C8B-B14F-4D97-AF65-F5344CB8AC3E}">
        <p14:creationId xmlns:p14="http://schemas.microsoft.com/office/powerpoint/2010/main" val="294536453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30 – Condições clínicas em que o teste de esforço não está indicado na unidade de emergência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3078480"/>
        </p:xfrm>
        <a:graphic>
          <a:graphicData uri="http://schemas.openxmlformats.org/drawingml/2006/table">
            <a:tbl>
              <a:tblPr firstRow="1"/>
              <a:tblGrid>
                <a:gridCol w="10771632"/>
              </a:tblGrid>
              <a:tr h="307848">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TE contraindicado nas seguintes situações:</a:t>
                      </a:r>
                      <a:endParaRPr lang="pt-BR" sz="1300" dirty="0"/>
                    </a:p>
                  </a:txBody>
                  <a:tcPr marL="91440" marR="91440" marT="54864" marB="54864" anchor="ctr">
                    <a:lnL w="0">
                      <a:noFill/>
                    </a:lnL>
                    <a:lnR w="0">
                      <a:noFill/>
                    </a:lnR>
                    <a:lnT w="0">
                      <a:noFill/>
                    </a:lnT>
                    <a:lnB w="0">
                      <a:noFill/>
                    </a:lnB>
                    <a:solidFill>
                      <a:srgbClr val="4E7C8B"/>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torácica claramente de origem traumática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Dissecção aguda da aorta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Embolia pulmonar aguda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Pericardites e miocardites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Dor torácica associada a estado febril agudo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Estenose aórtica grave sintomática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Evidências de insuficiência cardíaca descompensada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Sinais de má perfusão periférica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Arritmias e HAS não controladas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478848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HAS: hipertensão arterial sistêmica; PA: pressão arterial; TE: teste de esforço.</a:t>
            </a:r>
            <a:endParaRPr lang="pt-BR" sz="1200" dirty="0"/>
          </a:p>
        </p:txBody>
      </p:sp>
    </p:spTree>
    <p:extLst>
      <p:ext uri="{BB962C8B-B14F-4D97-AF65-F5344CB8AC3E}">
        <p14:creationId xmlns:p14="http://schemas.microsoft.com/office/powerpoint/2010/main" val="164090094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31 – Alterações no eletrocardiograma de base que limitam a acurácia diagnóstica do teste de esforço para isquemia miocárdica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700000"/>
          <a:ext cx="10771632" cy="2462784"/>
        </p:xfrm>
        <a:graphic>
          <a:graphicData uri="http://schemas.openxmlformats.org/drawingml/2006/table">
            <a:tbl>
              <a:tblPr firstRow="1"/>
              <a:tblGrid>
                <a:gridCol w="10771632"/>
              </a:tblGrid>
              <a:tr h="307848">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Limitam a acurácia do TE:</a:t>
                      </a:r>
                      <a:endParaRPr lang="pt-BR" sz="1300" dirty="0"/>
                    </a:p>
                  </a:txBody>
                  <a:tcPr marL="91440" marR="91440" marT="54864" marB="54864" anchor="ctr">
                    <a:lnL w="0">
                      <a:noFill/>
                    </a:lnL>
                    <a:lnR w="0">
                      <a:noFill/>
                    </a:lnR>
                    <a:lnT w="0">
                      <a:noFill/>
                    </a:lnT>
                    <a:lnB w="0">
                      <a:noFill/>
                    </a:lnB>
                    <a:solidFill>
                      <a:srgbClr val="4E7C8B"/>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Bloqueio de ramo esquerdo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Sobrecarga ventricular esquerda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Sobrecarga ventricular direita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Estimulação cardíaca artificial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Pré-excitação ventricular</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Fibrilação e flutter atriais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30784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Infradesnível de ST de base ≥ 1 mm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bl>
          </a:graphicData>
        </a:graphic>
      </p:graphicFrame>
      <p:sp>
        <p:nvSpPr>
          <p:cNvPr id="7" name="Nota"/>
          <p:cNvSpPr txBox="1"/>
          <p:nvPr/>
        </p:nvSpPr>
        <p:spPr>
          <a:xfrm>
            <a:off x="711403" y="4232784"/>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TE: teste de esforço.</a:t>
            </a:r>
            <a:endParaRPr lang="pt-BR" sz="1200" dirty="0"/>
          </a:p>
        </p:txBody>
      </p:sp>
    </p:spTree>
    <p:extLst>
      <p:ext uri="{BB962C8B-B14F-4D97-AF65-F5344CB8AC3E}">
        <p14:creationId xmlns:p14="http://schemas.microsoft.com/office/powerpoint/2010/main" val="120868161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32 – Indicações de teste ergométrico na dor torácica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3084084"/>
        </p:xfrm>
        <a:graphic>
          <a:graphicData uri="http://schemas.openxmlformats.org/drawingml/2006/table">
            <a:tbl>
              <a:tblPr firstRow="1"/>
              <a:tblGrid>
                <a:gridCol w="7571632"/>
                <a:gridCol w="1700000"/>
                <a:gridCol w="1500000"/>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Indicações de teste ergométrico na dor torácica aguda</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r>
              <a:tr h="112258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O teste ergométrico pode ser recomendado para indivíduos com dor torácica aguda, em que haja suspeita clínica de isquemia miocárdica com probabilidade intermediária de DAC (ou seja, que não tenham sido classificados como baixa ou alta probabilidade de DAC), com ECG e biomarcadores de injúria miocárdica normais e que sejam elegíveis para a realização do esforço físico (idealmente associado a métodos de imagem).</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O tempo para a realização do exame deve ser o tempo suficiente para afastar IAM com segurança (varia conforme o período de início da dor torácica e o tipo de biomarcador utilizado).</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Em pacientes com dor torácica aguda de suposta origem isquêmica e probabilidade intermediária, admitidos na unidade de emergência com um TE máximo negativo para isquemia realizado nos últimos 12 meses, priorizar outro exame conforme suspeita clínica (não repetir 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bl>
          </a:graphicData>
        </a:graphic>
      </p:graphicFrame>
      <p:sp>
        <p:nvSpPr>
          <p:cNvPr id="7" name="Nota"/>
          <p:cNvSpPr txBox="1"/>
          <p:nvPr/>
        </p:nvSpPr>
        <p:spPr>
          <a:xfrm>
            <a:off x="711403" y="4561404"/>
            <a:ext cx="10771632" cy="376616"/>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DAC: doença arterial coronariana; ECG: eletrocardiograma; IAM: infarto agudo do miocárdio; TE: teste de esforço. *Desde que não haja mudança relevante em relação ao quadro clínico pregresso.</a:t>
            </a:r>
            <a:endParaRPr lang="pt-BR" sz="1200" dirty="0"/>
          </a:p>
        </p:txBody>
      </p:sp>
    </p:spTree>
    <p:extLst>
      <p:ext uri="{BB962C8B-B14F-4D97-AF65-F5344CB8AC3E}">
        <p14:creationId xmlns:p14="http://schemas.microsoft.com/office/powerpoint/2010/main" val="27135642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33 – Indicações de ecocardiograma na dor torácica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3485871"/>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Nos pacientes com dor torácica na sala de emergência, nos quais o eletrocardiograma e a troponina sejam inconclusivos e persiste a suspeita, um ecocardiograma transtorácico em repouso, com ou sem agentes de realce miocárdico, deve ser recomendado em até 12 horas do início da dor, a fim avaliar a alterações isquêmicas.</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1122585">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Nos pacientes com dor torácica na sala de emergência, nos quais já se exclui a possibilidade de necrose e de isquemia miocárdica de repouso, por ausência de sinais ecocardiográficos ou eletrocardiográficos de isquemia, um exame sob estresse indutor de isquemia miocárdica, farmacológico ou sob esforço pode ser utilizado antes da alta, quando não houver segurança para investigação ambulatorial.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Uso do ecocardiograma transtorácico para o diagnóstico de pericardite aguda naqueles pacientes com dor torácica na sala de emergência, associada a outros achados, como moléstia febril aguda, com ou sem queda do estado geral, e característica fásica respiratória dessa dor, com ou sem alterações características do segmento ST/T ao eletrocardiograma de repouso.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bl>
          </a:graphicData>
        </a:graphic>
      </p:graphicFrame>
    </p:spTree>
    <p:extLst>
      <p:ext uri="{BB962C8B-B14F-4D97-AF65-F5344CB8AC3E}">
        <p14:creationId xmlns:p14="http://schemas.microsoft.com/office/powerpoint/2010/main" val="2652520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34 – Medicina nuclear em cardiologia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66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Subtítulo"/>
          <p:cNvSpPr txBox="1"/>
          <p:nvPr/>
        </p:nvSpPr>
        <p:spPr>
          <a:xfrm>
            <a:off x="711403" y="1040000"/>
            <a:ext cx="10771632" cy="406334"/>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300" b="0" i="0" dirty="0">
                <a:solidFill>
                  <a:srgbClr val="737A7F"/>
                </a:solidFill>
                <a:latin typeface="Roboto"/>
                <a:ea typeface="Roboto"/>
                <a:cs typeface="Roboto"/>
              </a:rPr>
              <a:t>Tabela 34 – Recomendações para uso das técnicas de medicina nuclear em cardiologia em pacientes com dor torácica aguda na emergência</a:t>
            </a:r>
            <a:endParaRPr lang="pt-BR" sz="1300" dirty="0"/>
          </a:p>
        </p:txBody>
      </p:sp>
      <p:graphicFrame>
        <p:nvGraphicFramePr>
          <p:cNvPr id="7" name="Tabela"/>
          <p:cNvGraphicFramePr>
            <a:graphicFrameLocks noGrp="1"/>
          </p:cNvGraphicFramePr>
          <p:nvPr/>
        </p:nvGraphicFramePr>
        <p:xfrm>
          <a:off x="711403" y="1640000"/>
          <a:ext cx="10771632" cy="3403095"/>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de risco intermediário com dor torácica aguda e sem DAC conhecida, o uso do PET/SPECT de estresse é útil para o diagnóstico de isquemia miocárdica.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com risco intermediário com dor torácica aguda presente ou até em 2 horas do desaparecimento da dor e com marcadores de injúria miocárdica iniciais negativos, é útil a realização de administração do radiotraçador durante a dor torácica para afastar isquemia miocárdica.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de risco intermediário com dor torácica aguda e DAC conhecida, que apresentam novos sintomas ou piora dos sintomas, PET/SPECT de estresse pode ser considerada para avaliação de isquemia miocárdica.</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Para pacientes de risco intermediário, com dor torácica aguda e sem DAC conhecida, com angiografia (invasiva ou não invasiva) inconclusiva, a realização de PET/SPECT de estresse pode ser útil para o diagnóstico de isquemia miocárdica.</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bl>
          </a:graphicData>
        </a:graphic>
      </p:graphicFrame>
      <p:sp>
        <p:nvSpPr>
          <p:cNvPr id="8" name="Nota"/>
          <p:cNvSpPr txBox="1"/>
          <p:nvPr/>
        </p:nvSpPr>
        <p:spPr>
          <a:xfrm>
            <a:off x="711403" y="5103095"/>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DAC: doença arterial coronariana.</a:t>
            </a:r>
            <a:endParaRPr lang="pt-BR" sz="1200" dirty="0"/>
          </a:p>
        </p:txBody>
      </p:sp>
    </p:spTree>
    <p:extLst>
      <p:ext uri="{BB962C8B-B14F-4D97-AF65-F5344CB8AC3E}">
        <p14:creationId xmlns:p14="http://schemas.microsoft.com/office/powerpoint/2010/main" val="201762477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36 – Recomendações da angiotomografia das artérias coronárias na suspeita de síndrome coronariana aguda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67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2197732"/>
        </p:xfrm>
        <a:graphic>
          <a:graphicData uri="http://schemas.openxmlformats.org/drawingml/2006/table">
            <a:tbl>
              <a:tblPr firstRow="1"/>
              <a:tblGrid>
                <a:gridCol w="757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de risco baixo ou intermediário com ECG normal ou não diagnóstico e marcadores de injúria miocárdica normais ou alterados, porém sem definição de infarto miocárdico*.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dor torácica aguda pela técnica do descarte triplo (</a:t>
                      </a:r>
                      <a:r>
                        <a:rPr lang="pt-BR" sz="1300" b="0" i="1" dirty="0">
                          <a:solidFill>
                            <a:srgbClr val="5F6468"/>
                          </a:solidFill>
                          <a:latin typeface="Roboto"/>
                          <a:ea typeface="Roboto"/>
                          <a:cs typeface="Roboto"/>
                        </a:rPr>
                        <a:t>triple rule-out</a:t>
                      </a:r>
                      <a:r>
                        <a:rPr lang="pt-BR" sz="1300" b="0" i="0" dirty="0">
                          <a:solidFill>
                            <a:srgbClr val="5F6468"/>
                          </a:solidFill>
                          <a:latin typeface="Roboto"/>
                          <a:ea typeface="Roboto"/>
                          <a:cs typeface="Roboto"/>
                        </a:rPr>
                        <a:t>).</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e critérios de risco alto.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diagnóstico definitivo de infarto do miocárdio</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bl>
          </a:graphicData>
        </a:graphic>
      </p:graphicFrame>
      <p:sp>
        <p:nvSpPr>
          <p:cNvPr id="7" name="Nota"/>
          <p:cNvSpPr txBox="1"/>
          <p:nvPr/>
        </p:nvSpPr>
        <p:spPr>
          <a:xfrm>
            <a:off x="711403" y="3897732"/>
            <a:ext cx="10771632" cy="733232"/>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SCA: síndrome coronariana aguda; ECG: eletrocardiograma. *Se kit disponível for a troponina convencional (sem critérios de alta sensibilidade), a aplicação da CTA nos casos negativos reduz a taxa e o tempo de internação; nos locais com troponina de alta sensibilidade, a CTA ajuda em casos sem definição diagnóstica, incluindo aqueles com elevações até níveis intermediários (reduz necessidade de cateterismo, sem aumento de eventos cardiovasculares após 1 ano de acompanhamento).</a:t>
            </a:r>
            <a:endParaRPr lang="pt-BR" sz="1200" dirty="0"/>
          </a:p>
        </p:txBody>
      </p:sp>
    </p:spTree>
    <p:extLst>
      <p:ext uri="{BB962C8B-B14F-4D97-AF65-F5344CB8AC3E}">
        <p14:creationId xmlns:p14="http://schemas.microsoft.com/office/powerpoint/2010/main" val="240966085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40 – Recomendações para implementação de unidades de dor torácica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68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3861816"/>
        </p:xfrm>
        <a:graphic>
          <a:graphicData uri="http://schemas.openxmlformats.org/drawingml/2006/table">
            <a:tbl>
              <a:tblPr firstRow="1"/>
              <a:tblGrid>
                <a:gridCol w="7571632"/>
                <a:gridCol w="1700000"/>
                <a:gridCol w="1500000"/>
              </a:tblGrid>
              <a:tr h="451104">
                <a:tc>
                  <a:txBody>
                    <a:bodyPr/>
                    <a:lstStyle/>
                    <a:p>
                      <a:pPr algn="l" marL="0" indent="0">
                        <a:lnSpc>
                          <a:spcPct val="100000"/>
                        </a:lnSpc>
                        <a:spcBef>
                          <a:spcPts val="0"/>
                        </a:spcBef>
                        <a:spcAft>
                          <a:spcPts val="0"/>
                        </a:spcAft>
                        <a:buNone/>
                      </a:pP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27432" marB="27432"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27432" marB="27432" anchor="ctr">
                    <a:lnL w="0">
                      <a:noFill/>
                    </a:lnL>
                    <a:lnR w="0">
                      <a:noFill/>
                    </a:lnR>
                    <a:lnT w="0">
                      <a:noFill/>
                    </a:lnT>
                    <a:lnB w="0">
                      <a:noFill/>
                    </a:lnB>
                    <a:solidFill>
                      <a:srgbClr val="4E7C8B"/>
                    </a:solidFill>
                  </a:tcPr>
                </a:tc>
              </a:tr>
              <a:tr h="4511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ser implementadas em centros de emergência de alto volume e/ou de referência cardiovascular.</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r>
              <a:tr h="4511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coletar indicadores de qualidade de forma sistemática, com avaliação contínua de melhorias baseadas nas métricas identificadas.</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r>
              <a:tr h="4511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médicos e profissionais de apoio habilitados para execução dos protocolos e interpretação de ECG.</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r>
              <a:tr h="4511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ECG e marcadores de injúria miocárdica (preferencialmente troponina de alta sensibilidade).</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r>
              <a:tr h="25298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acesso à realização de ecocardiograma de urgência.</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r>
              <a:tr h="4511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acesso a laboratório de hemodinâmica 24/7 (no próprio serviço ou em um sistema integrado de referenciamento de emergência).</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r>
              <a:tr h="4511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protocolos de diagnóstico e tratamento para as principais síndromes de dor torácica aguda potencialmente fatais.</a:t>
                      </a:r>
                      <a:endParaRPr lang="pt-BR" sz="1300" dirty="0"/>
                    </a:p>
                  </a:txBody>
                  <a:tcPr marL="91440" marR="91440" marT="27432" marB="27432"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FBFCFC"/>
                    </a:solidFill>
                  </a:tcPr>
                </a:tc>
              </a:tr>
              <a:tr h="4511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As UDTs devem dispor de métodos não invasivos para investigação de doença coronária e/ou isquemia.</a:t>
                      </a:r>
                      <a:endParaRPr lang="pt-BR" sz="1300" dirty="0"/>
                    </a:p>
                  </a:txBody>
                  <a:tcPr marL="91440" marR="91440" marT="27432" marB="27432"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IIa</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C</a:t>
                      </a:r>
                      <a:endParaRPr lang="pt-BR" sz="1300" dirty="0"/>
                    </a:p>
                  </a:txBody>
                  <a:tcPr marL="91440" marR="91440" marT="27432" marB="27432" anchor="ctr">
                    <a:lnL w="0">
                      <a:noFill/>
                    </a:lnL>
                    <a:lnR w="0">
                      <a:noFill/>
                    </a:lnR>
                    <a:lnT w="0">
                      <a:noFill/>
                    </a:lnT>
                    <a:lnB w="12700">
                      <a:solidFill>
                        <a:srgbClr val="FBFCFC"/>
                      </a:solidFill>
                    </a:lnB>
                    <a:solidFill>
                      <a:srgbClr val="F2F4F5"/>
                    </a:solidFill>
                  </a:tcPr>
                </a:tc>
              </a:tr>
            </a:tbl>
          </a:graphicData>
        </a:graphic>
      </p:graphicFrame>
      <p:sp>
        <p:nvSpPr>
          <p:cNvPr id="7" name="Nota"/>
          <p:cNvSpPr txBox="1"/>
          <p:nvPr/>
        </p:nvSpPr>
        <p:spPr>
          <a:xfrm>
            <a:off x="711403" y="5571816"/>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UDT: unidade de dor torácica; ECG: eletrocardiograma.</a:t>
            </a:r>
            <a:endParaRPr lang="pt-BR" sz="1200" dirty="0"/>
          </a:p>
        </p:txBody>
      </p:sp>
    </p:spTree>
    <p:extLst>
      <p:ext uri="{BB962C8B-B14F-4D97-AF65-F5344CB8AC3E}">
        <p14:creationId xmlns:p14="http://schemas.microsoft.com/office/powerpoint/2010/main" val="360490222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Rota diagnóstica – ECG inicial não-diagnóstico</a:t>
            </a:r>
            <a:endParaRPr lang="pt-BR" dirty="0" sz="3200"/>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69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900" name="Subtítulo"/>
          <p:cNvSpPr txBox="1"/>
          <p:nvPr/>
        </p:nvSpPr>
        <p:spPr>
          <a:xfrm>
            <a:off x="711403" y="1040000"/>
            <a:ext cx="10771632" cy="213167"/>
          </a:xfrm>
          <a:prstGeom prst="rect">
            <a:avLst/>
          </a:prstGeom>
          <a:noFill/>
        </p:spPr>
        <p:txBody>
          <a:bodyPr wrap="square" lIns="0" rIns="0" tIns="0" bIns="0" anchor="t">
            <a:noAutofit/>
          </a:bodyPr>
          <a:lstStyle/>
          <a:p>
            <a:pPr algn="l" marL="0" indent="0">
              <a:buNone/>
            </a:pPr>
            <a:r>
              <a:rPr lang="pt-BR" sz="1200" b="0" i="0" dirty="0">
                <a:solidFill>
                  <a:srgbClr val="737A7F"/>
                </a:solidFill>
                <a:latin typeface="Roboto"/>
                <a:ea typeface="Roboto"/>
                <a:cs typeface="Roboto"/>
              </a:rPr>
              <a:t>Figura 6 – Passo 2: avaliação inicial da rota diagnóstica.</a:t>
            </a:r>
          </a:p>
        </p:txBody>
      </p:sp>
      <p:sp>
        <p:nvSpPr>
          <p:cNvPr id="302" name="Nota"/>
          <p:cNvSpPr txBox="1"/>
          <p:nvPr/>
        </p:nvSpPr>
        <p:spPr>
          <a:xfrm>
            <a:off x="5212080" y="5349240"/>
            <a:ext cx="3006738" cy="112866"/>
          </a:xfrm>
          <a:prstGeom prst="rect">
            <a:avLst/>
          </a:prstGeom>
          <a:noFill/>
        </p:spPr>
        <p:txBody>
          <a:bodyPr wrap="square" lIns="0" rIns="0" tIns="0" bIns="0" anchor="t">
            <a:noAutofit/>
          </a:bodyPr>
          <a:lstStyle/>
          <a:p>
            <a:pPr algn="l">
              <a:buNone/>
            </a:pPr>
            <a:r>
              <a:rPr lang="pt-BR" sz="1200" b="0" i="0" dirty="0">
                <a:solidFill>
                  <a:srgbClr val="737A7F"/>
                </a:solidFill>
                <a:latin typeface="Roboto"/>
                <a:ea typeface="Roboto"/>
                <a:cs typeface="Roboto"/>
              </a:rPr>
              <a:t>*Algoritmos de troponina conforme figuras 11A e 11B</a:t>
            </a:r>
          </a:p>
        </p:txBody>
      </p:sp>
      <p:grpSp>
        <p:nvGrpSpPr>
          <p:cNvPr id="5" name="Decisão"/>
          <p:cNvGrpSpPr/>
          <p:nvPr/>
        </p:nvGrpSpPr>
        <p:grpSpPr>
          <a:xfrm>
            <a:off x="713232" y="1600200"/>
            <a:ext cx="3566160" cy="3566160"/>
            <a:chOff x="713232" y="1600200"/>
            <a:chExt cx="3566160" cy="3566160"/>
          </a:xfrm>
        </p:grpSpPr>
        <p:sp>
          <p:nvSpPr>
            <p:cNvPr id="901" name="Diamond 900"/>
            <p:cNvSpPr/>
            <p:nvPr/>
          </p:nvSpPr>
          <p:spPr>
            <a:xfrm>
              <a:off x="713232" y="1600200"/>
              <a:ext cx="3566160" cy="356616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TextBox 901"/>
            <p:cNvSpPr txBox="1"/>
            <p:nvPr/>
          </p:nvSpPr>
          <p:spPr>
            <a:xfrm>
              <a:off x="1444752" y="2242108"/>
              <a:ext cx="2103120" cy="2282342"/>
            </a:xfrm>
            <a:prstGeom prst="rect">
              <a:avLst/>
            </a:prstGeom>
            <a:noFill/>
          </p:spPr>
          <p:txBody>
            <a:bodyPr wrap="square" anchor="ctr" lIns="0" rIns="0" tIns="36576" bIns="36576">
              <a:spAutoFit/>
            </a:bodyPr>
            <a:lstStyle/>
            <a:p>
              <a:pPr algn="ctr">
                <a:lnSpc>
                  <a:spcPct val="100000"/>
                </a:lnSpc>
                <a:spcAft>
                  <a:spcPts val="300"/>
                </a:spcAft>
                <a:buNone/>
              </a:pPr>
              <a:r>
                <a:rPr sz="1600" b="0">
                  <a:solidFill>
                    <a:srgbClr val="1F3238"/>
                  </a:solidFill>
                  <a:latin typeface="Roboto Medium"/>
                  <a:ea typeface="Roboto Medium"/>
                  <a:cs typeface="Roboto Medium"/>
                </a:rPr>
                <a:t>ECG LIMÍTROFE/</a:t>
              </a:r>
            </a:p>
            <a:p>
              <a:pPr algn="ctr">
                <a:lnSpc>
                  <a:spcPct val="100000"/>
                </a:lnSpc>
                <a:spcAft>
                  <a:spcPts val="300"/>
                </a:spcAft>
                <a:buNone/>
              </a:pPr>
              <a:r>
                <a:rPr sz="1600" b="0">
                  <a:solidFill>
                    <a:srgbClr val="1F3238"/>
                  </a:solidFill>
                  <a:latin typeface="Roboto Medium"/>
                  <a:ea typeface="Roboto Medium"/>
                  <a:cs typeface="Roboto Medium"/>
                </a:rPr>
                <a:t>DUVIDOSO OU</a:t>
              </a:r>
            </a:p>
            <a:p>
              <a:pPr algn="ctr">
                <a:lnSpc>
                  <a:spcPct val="100000"/>
                </a:lnSpc>
                <a:spcAft>
                  <a:spcPts val="300"/>
                </a:spcAft>
                <a:buNone/>
              </a:pPr>
              <a:r>
                <a:rPr sz="1600" b="0">
                  <a:solidFill>
                    <a:srgbClr val="1F3238"/>
                  </a:solidFill>
                  <a:latin typeface="Roboto Medium"/>
                  <a:ea typeface="Roboto Medium"/>
                  <a:cs typeface="Roboto Medium"/>
                </a:rPr>
                <a:t>CRITÉRIOS DE</a:t>
              </a:r>
            </a:p>
            <a:p>
              <a:pPr algn="ctr">
                <a:lnSpc>
                  <a:spcPct val="100000"/>
                </a:lnSpc>
                <a:spcAft>
                  <a:spcPts val="300"/>
                </a:spcAft>
                <a:buNone/>
              </a:pPr>
              <a:r>
                <a:rPr sz="1600" b="0">
                  <a:solidFill>
                    <a:srgbClr val="1F3238"/>
                  </a:solidFill>
                  <a:latin typeface="Roboto Medium"/>
                  <a:ea typeface="Roboto Medium"/>
                  <a:cs typeface="Roboto Medium"/>
                </a:rPr>
                <a:t>INSTABILIDADE</a:t>
              </a:r>
            </a:p>
            <a:p>
              <a:pPr algn="ctr">
                <a:lnSpc>
                  <a:spcPct val="100000"/>
                </a:lnSpc>
                <a:spcAft>
                  <a:spcPts val="300"/>
                </a:spcAft>
                <a:buNone/>
              </a:pPr>
              <a:r>
                <a:rPr sz="1600" b="0">
                  <a:solidFill>
                    <a:srgbClr val="1F3238"/>
                  </a:solidFill>
                  <a:latin typeface="Roboto Medium"/>
                  <a:ea typeface="Roboto Medium"/>
                  <a:cs typeface="Roboto Medium"/>
                </a:rPr>
                <a:t>CLÍNICA</a:t>
              </a:r>
            </a:p>
            <a:p>
              <a:pPr algn="ctr">
                <a:lnSpc>
                  <a:spcPct val="100000"/>
                </a:lnSpc>
                <a:spcAft>
                  <a:spcPts val="300"/>
                </a:spcAft>
                <a:buNone/>
              </a:pPr>
              <a:r>
                <a:rPr sz="1600" b="0">
                  <a:solidFill>
                    <a:srgbClr val="1F3238"/>
                  </a:solidFill>
                  <a:latin typeface="Roboto Medium"/>
                  <a:ea typeface="Roboto Medium"/>
                  <a:cs typeface="Roboto Medium"/>
                </a:rPr>
                <a:t>(incluindo dor</a:t>
              </a:r>
            </a:p>
            <a:p>
              <a:pPr algn="ctr">
                <a:lnSpc>
                  <a:spcPct val="100000"/>
                </a:lnSpc>
                <a:spcAft>
                  <a:spcPts val="300"/>
                </a:spcAft>
                <a:buNone/>
              </a:pPr>
              <a:r>
                <a:rPr sz="1600" b="0">
                  <a:solidFill>
                    <a:srgbClr val="1F3238"/>
                  </a:solidFill>
                  <a:latin typeface="Roboto Medium"/>
                  <a:ea typeface="Roboto Medium"/>
                  <a:cs typeface="Roboto Medium"/>
                </a:rPr>
                <a:t>persistente)?</a:t>
              </a:r>
            </a:p>
          </p:txBody>
        </p:sp>
      </p:grpSp>
      <p:cxnSp>
        <p:nvCxnSpPr>
          <p:cNvPr id="903" name="Seta"/>
          <p:cNvCxnSpPr/>
          <p:nvPr/>
        </p:nvCxnSpPr>
        <p:spPr>
          <a:xfrm>
            <a:off x="4279392" y="3383280"/>
            <a:ext cx="292608"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04" name="Seta"/>
          <p:cNvCxnSpPr/>
          <p:nvPr/>
        </p:nvCxnSpPr>
        <p:spPr>
          <a:xfrm flipV="1">
            <a:off x="4572000" y="2423160"/>
            <a:ext cx="0" cy="9601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05" name="Seta"/>
          <p:cNvCxnSpPr/>
          <p:nvPr/>
        </p:nvCxnSpPr>
        <p:spPr>
          <a:xfrm>
            <a:off x="4572000" y="2423160"/>
            <a:ext cx="64008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 name="Rótulo"/>
          <p:cNvSpPr txBox="1"/>
          <p:nvPr/>
        </p:nvSpPr>
        <p:spPr>
          <a:xfrm>
            <a:off x="4590288" y="2029968"/>
            <a:ext cx="594360" cy="329184"/>
          </a:xfrm>
          <a:prstGeom prst="rect">
            <a:avLst/>
          </a:prstGeom>
          <a:noFill/>
        </p:spPr>
        <p:txBody>
          <a:bodyPr wrap="square" anchor="ctr" lIns="18288" rIns="18288" tIns="36576" bIns="36576">
            <a:spAutoFit/>
          </a:bodyPr>
          <a:lstStyle/>
          <a:p>
            <a:pPr algn="ctr">
              <a:lnSpc>
                <a:spcPct val="100000"/>
              </a:lnSpc>
              <a:spcAft>
                <a:spcPts val="300"/>
              </a:spcAft>
              <a:buNone/>
            </a:pPr>
            <a:r>
              <a:rPr sz="1600" b="0">
                <a:solidFill>
                  <a:srgbClr val="4E7C8B"/>
                </a:solidFill>
                <a:latin typeface="Roboto Medium"/>
                <a:ea typeface="Roboto Medium"/>
                <a:cs typeface="Roboto Medium"/>
              </a:rPr>
              <a:t>Sim</a:t>
            </a:r>
          </a:p>
        </p:txBody>
      </p:sp>
      <p:sp>
        <p:nvSpPr>
          <p:cNvPr id="907" name="Etapa"/>
          <p:cNvSpPr/>
          <p:nvPr/>
        </p:nvSpPr>
        <p:spPr>
          <a:xfrm>
            <a:off x="5212080" y="1463040"/>
            <a:ext cx="1828800" cy="19202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REPETIR ECG A CADA 10-20 MINUTOS</a:t>
            </a:r>
          </a:p>
          <a:p>
            <a:pPr algn="ctr">
              <a:lnSpc>
                <a:spcPct val="100000"/>
              </a:lnSpc>
              <a:spcAft>
                <a:spcPts val="300"/>
              </a:spcAft>
              <a:buNone/>
            </a:pPr>
            <a:r>
              <a:rPr sz="1400" b="0">
                <a:solidFill>
                  <a:srgbClr val="5F6468"/>
                </a:solidFill>
                <a:latin typeface="Roboto"/>
                <a:ea typeface="Roboto"/>
                <a:cs typeface="Roboto"/>
              </a:rPr>
              <a:t>Manter monitorização e tratar critérios de instabilidade</a:t>
            </a:r>
          </a:p>
        </p:txBody>
      </p:sp>
      <p:sp>
        <p:nvSpPr>
          <p:cNvPr id="908" name="Etapa"/>
          <p:cNvSpPr/>
          <p:nvPr/>
        </p:nvSpPr>
        <p:spPr>
          <a:xfrm>
            <a:off x="7434072" y="1463040"/>
            <a:ext cx="1828800" cy="19202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BUSCAR OUTROS DIAGNÓSTICOS</a:t>
            </a:r>
          </a:p>
          <a:p>
            <a:pPr algn="ctr">
              <a:lnSpc>
                <a:spcPct val="100000"/>
              </a:lnSpc>
              <a:spcAft>
                <a:spcPts val="300"/>
              </a:spcAft>
              <a:buNone/>
            </a:pPr>
            <a:r>
              <a:rPr sz="1400" b="0">
                <a:solidFill>
                  <a:srgbClr val="5F6468"/>
                </a:solidFill>
                <a:latin typeface="Roboto"/>
                <a:ea typeface="Roboto"/>
                <a:cs typeface="Roboto"/>
              </a:rPr>
              <a:t>Avaliação clínica, escores, RX, POCUS</a:t>
            </a:r>
          </a:p>
        </p:txBody>
      </p:sp>
      <p:sp>
        <p:nvSpPr>
          <p:cNvPr id="909" name="Etapa"/>
          <p:cNvSpPr/>
          <p:nvPr/>
        </p:nvSpPr>
        <p:spPr>
          <a:xfrm>
            <a:off x="9656064" y="1463040"/>
            <a:ext cx="1828800" cy="192024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3B3F42"/>
                </a:solidFill>
                <a:latin typeface="Roboto Medium"/>
                <a:ea typeface="Roboto Medium"/>
                <a:cs typeface="Roboto Medium"/>
              </a:rPr>
              <a:t>ALGORITMOS DE TROPONINA*</a:t>
            </a:r>
          </a:p>
        </p:txBody>
      </p:sp>
      <p:sp>
        <p:nvSpPr>
          <p:cNvPr id="910" name="Rótulo"/>
          <p:cNvSpPr txBox="1"/>
          <p:nvPr/>
        </p:nvSpPr>
        <p:spPr>
          <a:xfrm>
            <a:off x="7040880" y="2240280"/>
            <a:ext cx="393192" cy="365760"/>
          </a:xfrm>
          <a:prstGeom prst="rect">
            <a:avLst/>
          </a:prstGeom>
          <a:noFill/>
        </p:spPr>
        <p:txBody>
          <a:bodyPr wrap="square" anchor="ctr" lIns="18288" rIns="18288" tIns="36576" bIns="36576">
            <a:spAutoFit/>
          </a:bodyPr>
          <a:lstStyle/>
          <a:p>
            <a:pPr algn="ctr">
              <a:lnSpc>
                <a:spcPct val="100000"/>
              </a:lnSpc>
              <a:spcAft>
                <a:spcPts val="300"/>
              </a:spcAft>
              <a:buNone/>
            </a:pPr>
            <a:r>
              <a:rPr sz="2200" b="0">
                <a:solidFill>
                  <a:srgbClr val="4E7C8B"/>
                </a:solidFill>
                <a:latin typeface="Roboto Medium"/>
                <a:ea typeface="Roboto Medium"/>
                <a:cs typeface="Roboto Medium"/>
              </a:rPr>
              <a:t>+</a:t>
            </a:r>
          </a:p>
        </p:txBody>
      </p:sp>
      <p:sp>
        <p:nvSpPr>
          <p:cNvPr id="911" name="Rótulo"/>
          <p:cNvSpPr txBox="1"/>
          <p:nvPr/>
        </p:nvSpPr>
        <p:spPr>
          <a:xfrm>
            <a:off x="9262872" y="2240280"/>
            <a:ext cx="393192" cy="365760"/>
          </a:xfrm>
          <a:prstGeom prst="rect">
            <a:avLst/>
          </a:prstGeom>
          <a:noFill/>
        </p:spPr>
        <p:txBody>
          <a:bodyPr wrap="square" anchor="ctr" lIns="18288" rIns="18288" tIns="36576" bIns="36576">
            <a:spAutoFit/>
          </a:bodyPr>
          <a:lstStyle/>
          <a:p>
            <a:pPr algn="ctr">
              <a:lnSpc>
                <a:spcPct val="100000"/>
              </a:lnSpc>
              <a:spcAft>
                <a:spcPts val="300"/>
              </a:spcAft>
              <a:buNone/>
            </a:pPr>
            <a:r>
              <a:rPr sz="2200" b="0">
                <a:solidFill>
                  <a:srgbClr val="4E7C8B"/>
                </a:solidFill>
                <a:latin typeface="Roboto Medium"/>
                <a:ea typeface="Roboto Medium"/>
                <a:cs typeface="Roboto Medium"/>
              </a:rPr>
              <a:t>+</a:t>
            </a:r>
          </a:p>
        </p:txBody>
      </p:sp>
      <p:cxnSp>
        <p:nvCxnSpPr>
          <p:cNvPr id="912" name="Seta"/>
          <p:cNvCxnSpPr/>
          <p:nvPr/>
        </p:nvCxnSpPr>
        <p:spPr>
          <a:xfrm>
            <a:off x="4279392" y="3383280"/>
            <a:ext cx="292608" cy="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13" name="Seta"/>
          <p:cNvCxnSpPr/>
          <p:nvPr/>
        </p:nvCxnSpPr>
        <p:spPr>
          <a:xfrm>
            <a:off x="4572000" y="3383280"/>
            <a:ext cx="0" cy="96012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914" name="Seta"/>
          <p:cNvCxnSpPr/>
          <p:nvPr/>
        </p:nvCxnSpPr>
        <p:spPr>
          <a:xfrm>
            <a:off x="4572000" y="4343400"/>
            <a:ext cx="64008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5" name="Rótulo"/>
          <p:cNvSpPr txBox="1"/>
          <p:nvPr/>
        </p:nvSpPr>
        <p:spPr>
          <a:xfrm>
            <a:off x="4590288" y="3950208"/>
            <a:ext cx="594360" cy="329184"/>
          </a:xfrm>
          <a:prstGeom prst="rect">
            <a:avLst/>
          </a:prstGeom>
          <a:noFill/>
        </p:spPr>
        <p:txBody>
          <a:bodyPr wrap="square" anchor="ctr" lIns="18288" rIns="18288" tIns="36576" bIns="36576">
            <a:spAutoFit/>
          </a:bodyPr>
          <a:lstStyle/>
          <a:p>
            <a:pPr algn="ctr">
              <a:lnSpc>
                <a:spcPct val="100000"/>
              </a:lnSpc>
              <a:spcAft>
                <a:spcPts val="300"/>
              </a:spcAft>
              <a:buNone/>
            </a:pPr>
            <a:r>
              <a:rPr sz="1600" b="0">
                <a:solidFill>
                  <a:srgbClr val="4E7C8B"/>
                </a:solidFill>
                <a:latin typeface="Roboto Medium"/>
                <a:ea typeface="Roboto Medium"/>
                <a:cs typeface="Roboto Medium"/>
              </a:rPr>
              <a:t>Não</a:t>
            </a:r>
          </a:p>
        </p:txBody>
      </p:sp>
      <p:sp>
        <p:nvSpPr>
          <p:cNvPr id="916" name="Status"/>
          <p:cNvSpPr/>
          <p:nvPr/>
        </p:nvSpPr>
        <p:spPr>
          <a:xfrm>
            <a:off x="5212080" y="3611880"/>
            <a:ext cx="2880360" cy="146304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FBFCFC"/>
                </a:solidFill>
                <a:latin typeface="Roboto Medium"/>
                <a:ea typeface="Roboto Medium"/>
                <a:cs typeface="Roboto Medium"/>
              </a:rPr>
              <a:t>REPETIR ECG SE PIORA CLÍNICA</a:t>
            </a:r>
          </a:p>
          <a:p>
            <a:pPr algn="ctr">
              <a:lnSpc>
                <a:spcPct val="100000"/>
              </a:lnSpc>
              <a:spcAft>
                <a:spcPts val="300"/>
              </a:spcAft>
              <a:buNone/>
            </a:pPr>
            <a:r>
              <a:rPr sz="1400" b="0">
                <a:solidFill>
                  <a:srgbClr val="FBFCFC"/>
                </a:solidFill>
                <a:latin typeface="Roboto"/>
                <a:ea typeface="Roboto"/>
                <a:cs typeface="Roboto"/>
              </a:rPr>
              <a:t>(imediatamente)</a:t>
            </a:r>
          </a:p>
        </p:txBody>
      </p:sp>
      <p:sp>
        <p:nvSpPr>
          <p:cNvPr id="917" name="Status"/>
          <p:cNvSpPr/>
          <p:nvPr/>
        </p:nvSpPr>
        <p:spPr>
          <a:xfrm>
            <a:off x="8503919" y="3611880"/>
            <a:ext cx="2980944" cy="146304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600" b="0">
                <a:solidFill>
                  <a:srgbClr val="FBFCFC"/>
                </a:solidFill>
                <a:latin typeface="Roboto Medium"/>
                <a:ea typeface="Roboto Medium"/>
                <a:cs typeface="Roboto Medium"/>
              </a:rPr>
              <a:t>AVALIAÇÃO CLÍNICA DETALHADA</a:t>
            </a:r>
          </a:p>
          <a:p>
            <a:pPr algn="ctr">
              <a:lnSpc>
                <a:spcPct val="100000"/>
              </a:lnSpc>
              <a:spcAft>
                <a:spcPts val="300"/>
              </a:spcAft>
              <a:buNone/>
            </a:pPr>
            <a:r>
              <a:rPr sz="1400" b="0">
                <a:solidFill>
                  <a:srgbClr val="FBFCFC"/>
                </a:solidFill>
                <a:latin typeface="Roboto"/>
                <a:ea typeface="Roboto"/>
                <a:cs typeface="Roboto"/>
              </a:rPr>
              <a:t>e algoritmos de troponina*</a:t>
            </a:r>
          </a:p>
        </p:txBody>
      </p:sp>
    </p:spTree>
    <p:extLst>
      <p:ext uri="{BB962C8B-B14F-4D97-AF65-F5344CB8AC3E}">
        <p14:creationId xmlns:p14="http://schemas.microsoft.com/office/powerpoint/2010/main" val="326840858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Paciente sem critérios de instabilidade</a:t>
            </a:r>
            <a:endParaRPr lang="pt-BR" dirty="0" sz="3200"/>
          </a:p>
        </p:txBody>
      </p:sp>
      <p:pic>
        <p:nvPicPr>
          <p:cNvPr id="3" name="Figura" descr="Ilustração: grupo de pessoas em três cores se dividindo em três setas"/>
          <p:cNvPicPr>
            <a:picLocks noChangeAspect="1"/>
          </p:cNvPicPr>
          <p:nvPr/>
        </p:nvPicPr>
        <p:blipFill>
          <a:blip r:embed="rId2"/>
          <a:stretch>
            <a:fillRect/>
          </a:stretch>
        </p:blipFill>
        <p:spPr>
          <a:xfrm>
            <a:off x="711403" y="3350000"/>
            <a:ext cx="2300000" cy="2208000"/>
          </a:xfrm>
          <a:prstGeom prst="rect">
            <a:avLst/>
          </a:prstGeom>
        </p:spPr>
      </p:pic>
      <p:sp>
        <p:nvSpPr>
          <p:cNvPr id="4" name="Definição"/>
          <p:cNvSpPr txBox="1"/>
          <p:nvPr/>
        </p:nvSpPr>
        <p:spPr>
          <a:xfrm>
            <a:off x="3900000" y="1480000"/>
            <a:ext cx="7583035" cy="1100000"/>
          </a:xfrm>
          <a:prstGeom prst="rect">
            <a:avLst/>
          </a:prstGeom>
          <a:noFill/>
        </p:spPr>
        <p:txBody>
          <a:bodyPr wrap="square" lIns="0" rIns="0" tIns="0" bIns="0" anchor="t">
            <a:spAutoFit/>
          </a:bodyPr>
          <a:lstStyle/>
          <a:p>
            <a:pPr algn="l">
              <a:lnSpc>
                <a:spcPct val="120000"/>
              </a:lnSpc>
            </a:pPr>
            <a:r>
              <a:rPr sz="1300" b="0" i="0">
                <a:solidFill>
                  <a:srgbClr val="5F6468"/>
                </a:solidFill>
                <a:latin typeface="Roboto"/>
                <a:ea typeface="Roboto"/>
                <a:cs typeface="Roboto"/>
              </a:rPr>
              <a:t>•  Definir a dor torácica:</a:t>
            </a:r>
          </a:p>
          <a:p>
            <a:pPr algn="l">
              <a:lnSpc>
                <a:spcPct val="120000"/>
              </a:lnSpc>
            </a:pPr>
            <a:r>
              <a:rPr sz="1300" b="0" i="0">
                <a:solidFill>
                  <a:srgbClr val="5F6468"/>
                </a:solidFill>
                <a:latin typeface="Roboto"/>
                <a:ea typeface="Roboto"/>
                <a:cs typeface="Roboto"/>
              </a:rPr>
              <a:t>1)  Sintoma altamente suspeito de SCA (por exemplo, dor isquêmica cardíaca),</a:t>
            </a:r>
          </a:p>
          <a:p>
            <a:pPr algn="l">
              <a:lnSpc>
                <a:spcPct val="120000"/>
              </a:lnSpc>
            </a:pPr>
            <a:r>
              <a:rPr sz="1300" b="0" i="0">
                <a:solidFill>
                  <a:srgbClr val="5F6468"/>
                </a:solidFill>
                <a:latin typeface="Roboto"/>
                <a:ea typeface="Roboto"/>
                <a:cs typeface="Roboto"/>
              </a:rPr>
              <a:t>2)  Sintoma moderadamente suspeito (por exemplo, dor possivelmente isquêmica</a:t>
            </a:r>
          </a:p>
          <a:p>
            <a:pPr algn="l">
              <a:lnSpc>
                <a:spcPct val="120000"/>
              </a:lnSpc>
            </a:pPr>
            <a:r>
              <a:rPr sz="1300" b="0" i="0">
                <a:solidFill>
                  <a:srgbClr val="5F6468"/>
                </a:solidFill>
                <a:latin typeface="Roboto"/>
                <a:ea typeface="Roboto"/>
                <a:cs typeface="Roboto"/>
              </a:rPr>
              <a:t>3)  Sintoma pouco/nada suspeito (por exemplo, dor torácica não cardíaca)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70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301" name="Seta"/>
          <p:cNvSpPr/>
          <p:nvPr/>
        </p:nvSpPr>
        <p:spPr>
          <a:xfrm>
            <a:off x="7699248" y="2624328"/>
            <a:ext cx="1" cy="274320"/>
          </a:xfrm>
          <a:custGeom>
            <a:avLst/>
            <a:gdLst/>
            <a:ahLst/>
            <a:cxnLst/>
            <a:rect l="0" t="0" r="r" b="b"/>
            <a:pathLst>
              <a:path w="1" h="274320" fill="none">
                <a:moveTo>
                  <a:pt x="0" y="0"/>
                </a:moveTo>
                <a:lnTo>
                  <a:pt x="0" y="274320"/>
                </a:lnTo>
              </a:path>
            </a:pathLst>
          </a:custGeom>
          <a:noFill/>
          <a:ln w="19050">
            <a:solidFill>
              <a:srgbClr val="6B6E70"/>
            </a:solidFill>
            <a:round/>
            <a:tailEnd type="triangle" w="med" len="med"/>
          </a:ln>
          <a:effectLst/>
        </p:spPr>
        <p:txBody>
          <a:bodyPr/>
          <a:p/>
        </p:txBody>
      </p:sp>
      <p:sp>
        <p:nvSpPr>
          <p:cNvPr id="302" name="Decisão"/>
          <p:cNvSpPr/>
          <p:nvPr/>
        </p:nvSpPr>
        <p:spPr>
          <a:xfrm>
            <a:off x="5550408" y="2898648"/>
            <a:ext cx="4297680" cy="1600200"/>
          </a:xfrm>
          <a:prstGeom prst="diamond">
            <a:avLst/>
          </a:prstGeom>
          <a:solidFill>
            <a:srgbClr val="8EC4CB"/>
          </a:solidFill>
          <a:ln>
            <a:noFill/>
          </a:ln>
          <a:effectLst/>
        </p:spPr>
        <p:txBody>
          <a:bodyPr rtlCol="0" anchor="ctr" wrap="square" lIns="0" rIns="0" tIns="45720" bIns="45720"/>
          <a:lstStyle/>
          <a:p>
            <a:pPr algn="ctr"/>
            <a:r>
              <a:rPr lang="pt-BR" sz="1200" b="0" i="0" dirty="0">
                <a:solidFill>
                  <a:srgbClr val="1F3238"/>
                </a:solidFill>
                <a:latin typeface="Roboto Medium"/>
                <a:ea typeface="Roboto Medium"/>
                <a:cs typeface="Roboto Medium"/>
              </a:rPr>
              <a:t>Suspeita de SCA</a:t>
            </a:r>
          </a:p>
          <a:p>
            <a:pPr algn="ctr"/>
            <a:r>
              <a:rPr lang="pt-BR" sz="1200" b="0" i="0" dirty="0">
                <a:solidFill>
                  <a:srgbClr val="1F3238"/>
                </a:solidFill>
                <a:latin typeface="Roboto Medium"/>
                <a:ea typeface="Roboto Medium"/>
                <a:cs typeface="Roboto Medium"/>
              </a:rPr>
              <a:t>ou Síndromes Aórticas</a:t>
            </a:r>
          </a:p>
          <a:p>
            <a:pPr algn="ctr"/>
            <a:r>
              <a:rPr lang="pt-BR" sz="1200" b="0" i="0" dirty="0">
                <a:solidFill>
                  <a:srgbClr val="1F3238"/>
                </a:solidFill>
                <a:latin typeface="Roboto Medium"/>
                <a:ea typeface="Roboto Medium"/>
                <a:cs typeface="Roboto Medium"/>
              </a:rPr>
              <a:t>Agudas ou TEP?</a:t>
            </a:r>
          </a:p>
        </p:txBody>
      </p:sp>
      <p:sp>
        <p:nvSpPr>
          <p:cNvPr id="303" name="Fim/Início"/>
          <p:cNvSpPr/>
          <p:nvPr/>
        </p:nvSpPr>
        <p:spPr>
          <a:xfrm>
            <a:off x="3392424" y="5230368"/>
            <a:ext cx="30175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Propedêutica Específica</a:t>
            </a:r>
          </a:p>
        </p:txBody>
      </p:sp>
      <p:sp>
        <p:nvSpPr>
          <p:cNvPr id="304" name="Fim/Início"/>
          <p:cNvSpPr/>
          <p:nvPr/>
        </p:nvSpPr>
        <p:spPr>
          <a:xfrm>
            <a:off x="8421624" y="5230368"/>
            <a:ext cx="3017520" cy="603504"/>
          </a:xfrm>
          <a:prstGeom prst="roundRect">
            <a:avLst>
              <a:gd name="adj" fmla="val 50000"/>
            </a:avLst>
          </a:prstGeom>
          <a:solidFill>
            <a:srgbClr val="4E7C8B"/>
          </a:solidFill>
          <a:ln>
            <a:noFill/>
          </a:ln>
          <a:effectLst/>
        </p:spPr>
        <p:txBody>
          <a:bodyPr rtlCol="0" anchor="ctr" wrap="square" lIns="91440" rIns="91440" tIns="45720" bIns="45720"/>
          <a:lstStyle/>
          <a:p>
            <a:pPr algn="ctr"/>
            <a:r>
              <a:rPr lang="pt-BR" sz="1300" b="0" i="0" dirty="0">
                <a:solidFill>
                  <a:srgbClr val="FBFCFC"/>
                </a:solidFill>
                <a:latin typeface="Roboto Medium"/>
                <a:ea typeface="Roboto Medium"/>
                <a:cs typeface="Roboto Medium"/>
              </a:rPr>
              <a:t>Escores de risco</a:t>
            </a:r>
          </a:p>
        </p:txBody>
      </p:sp>
      <p:sp>
        <p:nvSpPr>
          <p:cNvPr id="305" name="Seta"/>
          <p:cNvSpPr/>
          <p:nvPr/>
        </p:nvSpPr>
        <p:spPr>
          <a:xfrm>
            <a:off x="4901184" y="3698748"/>
            <a:ext cx="649224" cy="1531620"/>
          </a:xfrm>
          <a:custGeom>
            <a:avLst/>
            <a:gdLst/>
            <a:ahLst/>
            <a:cxnLst/>
            <a:rect l="0" t="0" r="r" b="b"/>
            <a:pathLst>
              <a:path w="649224" h="1531620" fill="none">
                <a:moveTo>
                  <a:pt x="649224" y="0"/>
                </a:moveTo>
                <a:lnTo>
                  <a:pt x="0" y="0"/>
                </a:lnTo>
                <a:lnTo>
                  <a:pt x="0" y="1531620"/>
                </a:lnTo>
              </a:path>
            </a:pathLst>
          </a:custGeom>
          <a:noFill/>
          <a:ln w="19050">
            <a:solidFill>
              <a:srgbClr val="6B6E70"/>
            </a:solidFill>
            <a:round/>
            <a:tailEnd type="triangle" w="med" len="med"/>
          </a:ln>
          <a:effectLst/>
        </p:spPr>
        <p:txBody>
          <a:bodyPr/>
          <a:p/>
        </p:txBody>
      </p:sp>
      <p:sp>
        <p:nvSpPr>
          <p:cNvPr id="306" name="Seta"/>
          <p:cNvSpPr/>
          <p:nvPr/>
        </p:nvSpPr>
        <p:spPr>
          <a:xfrm>
            <a:off x="9848088" y="3698748"/>
            <a:ext cx="82296" cy="1531620"/>
          </a:xfrm>
          <a:custGeom>
            <a:avLst/>
            <a:gdLst/>
            <a:ahLst/>
            <a:cxnLst/>
            <a:rect l="0" t="0" r="r" b="b"/>
            <a:pathLst>
              <a:path w="82296" h="1531620" fill="none">
                <a:moveTo>
                  <a:pt x="0" y="0"/>
                </a:moveTo>
                <a:lnTo>
                  <a:pt x="82296" y="0"/>
                </a:lnTo>
                <a:lnTo>
                  <a:pt x="82296" y="1531620"/>
                </a:lnTo>
              </a:path>
            </a:pathLst>
          </a:custGeom>
          <a:noFill/>
          <a:ln w="19050">
            <a:solidFill>
              <a:srgbClr val="6B6E70"/>
            </a:solidFill>
            <a:round/>
            <a:tailEnd type="triangle" w="med" len="med"/>
          </a:ln>
          <a:effectLst/>
        </p:spPr>
        <p:txBody>
          <a:bodyPr/>
          <a:p/>
        </p:txBody>
      </p:sp>
      <p:sp>
        <p:nvSpPr>
          <p:cNvPr id="307" name="Rótulo"/>
          <p:cNvSpPr txBox="1"/>
          <p:nvPr/>
        </p:nvSpPr>
        <p:spPr>
          <a:xfrm>
            <a:off x="5047488" y="3442716"/>
            <a:ext cx="457200" cy="201168"/>
          </a:xfrm>
          <a:prstGeom prst="rect">
            <a:avLst/>
          </a:prstGeom>
          <a:noFill/>
        </p:spPr>
        <p:txBody>
          <a:bodyPr wrap="square" lIns="0" rIns="0" tIns="0" bIns="0" anchor="t">
            <a:noAutofit/>
          </a:bodyPr>
          <a:lstStyle/>
          <a:p>
            <a:pPr algn="r"/>
            <a:r>
              <a:rPr lang="pt-BR" sz="1200" b="0" i="0" dirty="0">
                <a:solidFill>
                  <a:srgbClr val="4E7C8B"/>
                </a:solidFill>
                <a:latin typeface="Roboto Medium"/>
                <a:ea typeface="Roboto Medium"/>
                <a:cs typeface="Roboto Medium"/>
              </a:rPr>
              <a:t>Não</a:t>
            </a:r>
          </a:p>
        </p:txBody>
      </p:sp>
      <p:sp>
        <p:nvSpPr>
          <p:cNvPr id="308" name="Rótulo"/>
          <p:cNvSpPr txBox="1"/>
          <p:nvPr/>
        </p:nvSpPr>
        <p:spPr>
          <a:xfrm>
            <a:off x="9902952" y="3442716"/>
            <a:ext cx="457200" cy="201168"/>
          </a:xfrm>
          <a:prstGeom prst="rect">
            <a:avLst/>
          </a:prstGeom>
          <a:noFill/>
        </p:spPr>
        <p:txBody>
          <a:bodyPr wrap="square" lIns="0" rIns="0" tIns="0" bIns="0" anchor="t">
            <a:noAutofit/>
          </a:bodyPr>
          <a:lstStyle/>
          <a:p>
            <a:pPr algn="l"/>
            <a:r>
              <a:rPr lang="pt-BR" sz="1200" b="0" i="0" dirty="0">
                <a:solidFill>
                  <a:srgbClr val="4E7C8B"/>
                </a:solidFill>
                <a:latin typeface="Roboto Medium"/>
                <a:ea typeface="Roboto Medium"/>
                <a:cs typeface="Roboto Medium"/>
              </a:rPr>
              <a:t>Sim</a:t>
            </a:r>
          </a:p>
        </p:txBody>
      </p:sp>
    </p:spTree>
    <p:extLst>
      <p:ext uri="{BB962C8B-B14F-4D97-AF65-F5344CB8AC3E}">
        <p14:creationId xmlns:p14="http://schemas.microsoft.com/office/powerpoint/2010/main" val="331618447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síndrome aórtica aguda- ADD-RS Risk Score</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71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Legenda"/>
          <p:cNvSpPr txBox="1"/>
          <p:nvPr/>
        </p:nvSpPr>
        <p:spPr>
          <a:xfrm>
            <a:off x="1427443" y="1417320"/>
            <a:ext cx="7196522" cy="171943"/>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040" b="0" i="0" dirty="0">
                <a:solidFill>
                  <a:srgbClr val="4E7C8B"/>
                </a:solidFill>
                <a:latin typeface="Roboto Medium"/>
                <a:ea typeface="Roboto Medium"/>
                <a:cs typeface="Roboto Medium"/>
              </a:rPr>
              <a:t>Tabela 16 – Aortic dissection detection risk score (ADD-RS)</a:t>
            </a:r>
            <a:endParaRPr lang="pt-BR" sz="1040" dirty="0"/>
          </a:p>
        </p:txBody>
      </p:sp>
      <p:graphicFrame>
        <p:nvGraphicFramePr>
          <p:cNvPr id="7" name="Tabela"/>
          <p:cNvGraphicFramePr>
            <a:graphicFrameLocks noGrp="1"/>
          </p:cNvGraphicFramePr>
          <p:nvPr/>
        </p:nvGraphicFramePr>
        <p:xfrm>
          <a:off x="1427443" y="1623945"/>
          <a:ext cx="7196522" cy="1672874"/>
        </p:xfrm>
        <a:graphic>
          <a:graphicData uri="http://schemas.openxmlformats.org/drawingml/2006/table">
            <a:tbl>
              <a:tblPr firstRow="1"/>
              <a:tblGrid>
                <a:gridCol w="2687858"/>
                <a:gridCol w="2254332"/>
                <a:gridCol w="2254332"/>
              </a:tblGrid>
              <a:tr h="235207">
                <a:tc>
                  <a:txBody>
                    <a:bodyPr/>
                    <a:lstStyle/>
                    <a:p>
                      <a:pPr algn="l" marL="0" indent="0">
                        <a:lnSpc>
                          <a:spcPct val="100000"/>
                        </a:lnSpc>
                        <a:spcBef>
                          <a:spcPts val="0"/>
                        </a:spcBef>
                        <a:spcAft>
                          <a:spcPts val="0"/>
                        </a:spcAft>
                        <a:buNone/>
                      </a:pPr>
                      <a:r>
                        <a:rPr lang="pt-BR" sz="1127" b="0" i="0" dirty="0">
                          <a:solidFill>
                            <a:srgbClr val="FBFCFC"/>
                          </a:solidFill>
                          <a:latin typeface="Roboto Medium"/>
                          <a:ea typeface="Roboto Medium"/>
                          <a:cs typeface="Roboto Medium"/>
                        </a:rPr>
                        <a:t>Condições clínicas predisponentes</a:t>
                      </a:r>
                      <a:endParaRPr lang="pt-BR" sz="1127" dirty="0"/>
                    </a:p>
                  </a:txBody>
                  <a:tcPr marL="79283" marR="79283" marT="31713" marB="31713"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127" b="0" i="0" dirty="0">
                          <a:solidFill>
                            <a:srgbClr val="FBFCFC"/>
                          </a:solidFill>
                          <a:latin typeface="Roboto Medium"/>
                          <a:ea typeface="Roboto Medium"/>
                          <a:cs typeface="Roboto Medium"/>
                        </a:rPr>
                        <a:t>Características da dor</a:t>
                      </a:r>
                      <a:endParaRPr lang="pt-BR" sz="1127" dirty="0"/>
                    </a:p>
                  </a:txBody>
                  <a:tcPr marL="79283" marR="79283" marT="31713" marB="31713" anchor="ctr">
                    <a:lnL w="0">
                      <a:noFill/>
                    </a:lnL>
                    <a:lnR w="0">
                      <a:noFill/>
                    </a:lnR>
                    <a:lnT w="0">
                      <a:noFill/>
                    </a:lnT>
                    <a:lnB w="0">
                      <a:noFill/>
                    </a:lnB>
                    <a:solidFill>
                      <a:srgbClr val="4E7C8B"/>
                    </a:solidFill>
                  </a:tcPr>
                </a:tc>
                <a:tc>
                  <a:txBody>
                    <a:bodyPr/>
                    <a:lstStyle/>
                    <a:p>
                      <a:pPr algn="l" marL="0" indent="0">
                        <a:lnSpc>
                          <a:spcPct val="100000"/>
                        </a:lnSpc>
                        <a:spcBef>
                          <a:spcPts val="0"/>
                        </a:spcBef>
                        <a:spcAft>
                          <a:spcPts val="0"/>
                        </a:spcAft>
                        <a:buNone/>
                      </a:pPr>
                      <a:r>
                        <a:rPr lang="pt-BR" sz="1127" b="0" i="0" dirty="0">
                          <a:solidFill>
                            <a:srgbClr val="FBFCFC"/>
                          </a:solidFill>
                          <a:latin typeface="Roboto Medium"/>
                          <a:ea typeface="Roboto Medium"/>
                          <a:cs typeface="Roboto Medium"/>
                        </a:rPr>
                        <a:t>Achados no exame clínico</a:t>
                      </a:r>
                      <a:endParaRPr lang="pt-BR" sz="1127" dirty="0"/>
                    </a:p>
                  </a:txBody>
                  <a:tcPr marL="79283" marR="79283" marT="31713" marB="31713" anchor="ctr">
                    <a:lnL w="0">
                      <a:noFill/>
                    </a:lnL>
                    <a:lnR w="0">
                      <a:noFill/>
                    </a:lnR>
                    <a:lnT w="0">
                      <a:noFill/>
                    </a:lnT>
                    <a:lnB w="0">
                      <a:noFill/>
                    </a:lnB>
                    <a:solidFill>
                      <a:srgbClr val="4E7C8B"/>
                    </a:solidFill>
                  </a:tcPr>
                </a:tc>
              </a:tr>
              <a:tr h="1437667">
                <a:tc>
                  <a:txBody>
                    <a:bodyPr/>
                    <a:lstStyle/>
                    <a:p>
                      <a:pPr algn="l" marL="0" indent="0">
                        <a:lnSpc>
                          <a:spcPct val="100000"/>
                        </a:lnSpc>
                        <a:spcBef>
                          <a:spcPts val="0"/>
                        </a:spcBef>
                        <a:spcAft>
                          <a:spcPts val="0"/>
                        </a:spcAft>
                        <a:buNone/>
                      </a:pPr>
                      <a:r>
                        <a:rPr lang="pt-BR" sz="1127" b="0" i="0" dirty="0">
                          <a:solidFill>
                            <a:srgbClr val="5F6468"/>
                          </a:solidFill>
                          <a:latin typeface="Roboto"/>
                          <a:ea typeface="Roboto"/>
                          <a:cs typeface="Roboto"/>
                        </a:rPr>
                        <a:t>- Síndrome de Marfan ou outra doença do tecido conjuntivo</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História familiar de aortopatia</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História conhecida de valvopatia aórtica</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Manipulação aórtica recente</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Aneurisma de aorta torácico conhecido</a:t>
                      </a:r>
                      <a:endParaRPr lang="pt-BR" sz="1127" dirty="0"/>
                    </a:p>
                  </a:txBody>
                  <a:tcPr marL="79283" marR="79283" marT="31713" marB="31713"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127" b="0" i="0" dirty="0">
                          <a:solidFill>
                            <a:srgbClr val="5F6468"/>
                          </a:solidFill>
                          <a:latin typeface="Roboto"/>
                          <a:ea typeface="Roboto"/>
                          <a:cs typeface="Roboto"/>
                        </a:rPr>
                        <a:t>Dor torácica ou abdominal descrita como:</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Início súbito;</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Intensidade severa;</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Caracterizada como “rasgando”</a:t>
                      </a:r>
                      <a:endParaRPr lang="pt-BR" sz="1127" dirty="0"/>
                    </a:p>
                  </a:txBody>
                  <a:tcPr marL="79283" marR="79283" marT="31713" marB="31713" anchor="t">
                    <a:lnL w="0">
                      <a:noFill/>
                    </a:lnL>
                    <a:lnR w="0">
                      <a:noFill/>
                    </a:lnR>
                    <a:lnT w="0">
                      <a:noFill/>
                    </a:lnT>
                    <a:lnB w="12700">
                      <a:solidFill>
                        <a:srgbClr val="E4E6E7"/>
                      </a:solidFill>
                    </a:lnB>
                    <a:solidFill>
                      <a:srgbClr val="FBFCFC"/>
                    </a:solidFill>
                  </a:tcPr>
                </a:tc>
                <a:tc>
                  <a:txBody>
                    <a:bodyPr/>
                    <a:lstStyle/>
                    <a:p>
                      <a:pPr algn="l" marL="0" indent="0">
                        <a:lnSpc>
                          <a:spcPct val="100000"/>
                        </a:lnSpc>
                        <a:spcBef>
                          <a:spcPts val="0"/>
                        </a:spcBef>
                        <a:spcAft>
                          <a:spcPts val="0"/>
                        </a:spcAft>
                        <a:buNone/>
                      </a:pPr>
                      <a:r>
                        <a:rPr lang="pt-BR" sz="1127" b="0" i="0" dirty="0">
                          <a:solidFill>
                            <a:srgbClr val="5F6468"/>
                          </a:solidFill>
                          <a:latin typeface="Roboto"/>
                          <a:ea typeface="Roboto"/>
                          <a:cs typeface="Roboto"/>
                        </a:rPr>
                        <a:t>- Déficit de pulso ou pressão arterial</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Déficit neurológico focal (associado a dor)</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Sopro de regurgitação aórtica (novo associado a dor)</a:t>
                      </a:r>
                      <a:endParaRPr lang="pt-BR" sz="1127" dirty="0"/>
                    </a:p>
                    <a:p>
                      <a:pPr algn="l" marL="0" indent="0">
                        <a:lnSpc>
                          <a:spcPct val="100000"/>
                        </a:lnSpc>
                        <a:spcBef>
                          <a:spcPts val="0"/>
                        </a:spcBef>
                        <a:spcAft>
                          <a:spcPts val="0"/>
                        </a:spcAft>
                        <a:buNone/>
                      </a:pPr>
                      <a:r>
                        <a:rPr lang="pt-BR" sz="1127" b="0" i="0" dirty="0">
                          <a:solidFill>
                            <a:srgbClr val="5F6468"/>
                          </a:solidFill>
                          <a:latin typeface="Roboto"/>
                          <a:ea typeface="Roboto"/>
                          <a:cs typeface="Roboto"/>
                        </a:rPr>
                        <a:t>- Hipotensão ou choque</a:t>
                      </a:r>
                      <a:endParaRPr lang="pt-BR" sz="1127" dirty="0"/>
                    </a:p>
                  </a:txBody>
                  <a:tcPr marL="79283" marR="79283" marT="31713" marB="31713" anchor="t">
                    <a:lnL w="0">
                      <a:noFill/>
                    </a:lnL>
                    <a:lnR w="0">
                      <a:noFill/>
                    </a:lnR>
                    <a:lnT w="0">
                      <a:noFill/>
                    </a:lnT>
                    <a:lnB w="12700">
                      <a:solidFill>
                        <a:srgbClr val="E4E6E7"/>
                      </a:solidFill>
                    </a:lnB>
                    <a:solidFill>
                      <a:srgbClr val="FBFCFC"/>
                    </a:solidFill>
                  </a:tcPr>
                </a:tc>
              </a:tr>
            </a:tbl>
          </a:graphicData>
        </a:graphic>
      </p:graphicFrame>
      <p:sp>
        <p:nvSpPr>
          <p:cNvPr id="8" name="Pontuação ADD-RS"/>
          <p:cNvSpPr/>
          <p:nvPr/>
        </p:nvSpPr>
        <p:spPr>
          <a:xfrm>
            <a:off x="8884080" y="1623945"/>
            <a:ext cx="1882915" cy="1636799"/>
          </a:xfrm>
          <a:prstGeom prst="rect">
            <a:avLst/>
          </a:prstGeom>
          <a:solidFill>
            <a:srgbClr val="F2F4F5"/>
          </a:solidFill>
          <a:ln w="11012">
            <a:solidFill>
              <a:srgbClr val="E4E6E7"/>
            </a:solidFill>
          </a:ln>
        </p:spPr>
        <p:txBody>
          <a:bodyPr wrap="square" lIns="79283" rIns="79283" tIns="39642" bIns="39642" anchor="ctr">
            <a:noAutofit/>
          </a:bodyPr>
          <a:lstStyle/>
          <a:p>
            <a:pPr algn="l" marL="0" indent="0">
              <a:lnSpc>
                <a:spcPct val="100000"/>
              </a:lnSpc>
              <a:spcBef>
                <a:spcPts val="0"/>
              </a:spcBef>
              <a:spcAft>
                <a:spcPts val="520"/>
              </a:spcAft>
              <a:buNone/>
            </a:pPr>
            <a:r>
              <a:rPr lang="pt-BR" sz="1127" b="0" i="0" dirty="0">
                <a:solidFill>
                  <a:srgbClr val="3B3F42"/>
                </a:solidFill>
                <a:latin typeface="Roboto Medium"/>
                <a:ea typeface="Roboto Medium"/>
                <a:cs typeface="Roboto Medium"/>
              </a:rPr>
              <a:t>Até 1 ponto - baixo risco</a:t>
            </a:r>
            <a:endParaRPr lang="pt-BR" sz="1127" dirty="0"/>
          </a:p>
          <a:p>
            <a:pPr algn="l" marL="0" indent="0">
              <a:lnSpc>
                <a:spcPct val="100000"/>
              </a:lnSpc>
              <a:spcBef>
                <a:spcPts val="0"/>
              </a:spcBef>
              <a:spcAft>
                <a:spcPts val="0"/>
              </a:spcAft>
              <a:buNone/>
            </a:pPr>
            <a:r>
              <a:rPr lang="pt-BR" sz="1127" b="0" i="0" dirty="0">
                <a:solidFill>
                  <a:srgbClr val="3B3F42"/>
                </a:solidFill>
                <a:latin typeface="Roboto Medium"/>
                <a:ea typeface="Roboto Medium"/>
                <a:cs typeface="Roboto Medium"/>
              </a:rPr>
              <a:t>2 ou 3 pontos - alto risco</a:t>
            </a:r>
            <a:endParaRPr lang="pt-BR" sz="1127" dirty="0"/>
          </a:p>
        </p:txBody>
      </p:sp>
      <p:sp>
        <p:nvSpPr>
          <p:cNvPr id="1009" name="Legenda"/>
          <p:cNvSpPr txBox="1"/>
          <p:nvPr/>
        </p:nvSpPr>
        <p:spPr>
          <a:xfrm>
            <a:off x="1427443" y="3833660"/>
            <a:ext cx="9339553" cy="171943"/>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040" b="0" i="0" dirty="0">
                <a:solidFill>
                  <a:srgbClr val="4E7C8B"/>
                </a:solidFill>
                <a:latin typeface="Roboto Medium"/>
                <a:ea typeface="Roboto Medium"/>
                <a:cs typeface="Roboto Medium"/>
              </a:rPr>
              <a:t>Tabela 18 – Estratificação de risco e probabilidade diagnóstica na avaliação de dor torácica na suspeita de síndrome aórtica aguda</a:t>
            </a:r>
            <a:endParaRPr lang="pt-BR" sz="1040" dirty="0"/>
          </a:p>
        </p:txBody>
      </p:sp>
      <p:graphicFrame>
        <p:nvGraphicFramePr>
          <p:cNvPr id="1010" name="Tabela"/>
          <p:cNvGraphicFramePr>
            <a:graphicFrameLocks noGrp="1"/>
          </p:cNvGraphicFramePr>
          <p:nvPr/>
        </p:nvGraphicFramePr>
        <p:xfrm>
          <a:off x="1427443" y="4040285"/>
          <a:ext cx="9339553" cy="2034934"/>
        </p:xfrm>
        <a:graphic>
          <a:graphicData uri="http://schemas.openxmlformats.org/drawingml/2006/table">
            <a:tbl>
              <a:tblPr firstRow="1"/>
              <a:tblGrid>
                <a:gridCol w="6738400"/>
                <a:gridCol w="1387281"/>
                <a:gridCol w="1213871"/>
              </a:tblGrid>
              <a:tr h="406987">
                <a:tc>
                  <a:txBody>
                    <a:bodyPr/>
                    <a:lstStyle/>
                    <a:p>
                      <a:pPr algn="l" marL="0" indent="0">
                        <a:lnSpc>
                          <a:spcPct val="100000"/>
                        </a:lnSpc>
                        <a:spcBef>
                          <a:spcPts val="0"/>
                        </a:spcBef>
                        <a:spcAft>
                          <a:spcPts val="0"/>
                        </a:spcAft>
                        <a:buNone/>
                      </a:pPr>
                      <a:endParaRPr lang="pt-BR" sz="1127" dirty="0"/>
                    </a:p>
                  </a:txBody>
                  <a:tcPr marL="79283" marR="79283" marT="31713" marB="31713"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127" b="0" i="0" dirty="0">
                          <a:solidFill>
                            <a:srgbClr val="FBFCFC"/>
                          </a:solidFill>
                          <a:latin typeface="Roboto Medium"/>
                          <a:ea typeface="Roboto Medium"/>
                          <a:cs typeface="Roboto Medium"/>
                        </a:rPr>
                        <a:t>Classe de recomendação</a:t>
                      </a:r>
                      <a:endParaRPr lang="pt-BR" sz="1127" dirty="0"/>
                    </a:p>
                  </a:txBody>
                  <a:tcPr marL="79283" marR="79283" marT="31713" marB="31713"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127" b="0" i="0" dirty="0">
                          <a:solidFill>
                            <a:srgbClr val="FBFCFC"/>
                          </a:solidFill>
                          <a:latin typeface="Roboto Medium"/>
                          <a:ea typeface="Roboto Medium"/>
                          <a:cs typeface="Roboto Medium"/>
                        </a:rPr>
                        <a:t>Nível de evidência</a:t>
                      </a:r>
                      <a:endParaRPr lang="pt-BR" sz="1127" dirty="0"/>
                    </a:p>
                  </a:txBody>
                  <a:tcPr marL="79283" marR="79283" marT="31713" marB="31713" anchor="ctr">
                    <a:lnL w="0">
                      <a:noFill/>
                    </a:lnL>
                    <a:lnR w="0">
                      <a:noFill/>
                    </a:lnR>
                    <a:lnT w="0">
                      <a:noFill/>
                    </a:lnT>
                    <a:lnB w="0">
                      <a:noFill/>
                    </a:lnB>
                    <a:solidFill>
                      <a:srgbClr val="4E7C8B"/>
                    </a:solidFill>
                  </a:tcPr>
                </a:tc>
              </a:tr>
              <a:tr h="406987">
                <a:tc>
                  <a:txBody>
                    <a:bodyPr/>
                    <a:lstStyle/>
                    <a:p>
                      <a:pPr algn="l" marL="0" indent="0">
                        <a:lnSpc>
                          <a:spcPct val="100000"/>
                        </a:lnSpc>
                        <a:spcBef>
                          <a:spcPts val="0"/>
                        </a:spcBef>
                        <a:spcAft>
                          <a:spcPts val="0"/>
                        </a:spcAft>
                        <a:buNone/>
                      </a:pPr>
                      <a:r>
                        <a:rPr lang="pt-BR" sz="1127" b="0" i="0" dirty="0">
                          <a:solidFill>
                            <a:srgbClr val="5F6468"/>
                          </a:solidFill>
                          <a:latin typeface="Roboto"/>
                          <a:ea typeface="Roboto"/>
                          <a:cs typeface="Roboto"/>
                        </a:rPr>
                        <a:t>ADD-RS pode ser aplicado em pacientes com suspeita de SAA como parte da avaliação inicial.</a:t>
                      </a:r>
                      <a:endParaRPr lang="pt-BR" sz="1127" dirty="0"/>
                    </a:p>
                  </a:txBody>
                  <a:tcPr marL="79283" marR="79283" marT="31713" marB="31713"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127" b="0" i="0" dirty="0">
                          <a:solidFill>
                            <a:srgbClr val="1F3238"/>
                          </a:solidFill>
                          <a:latin typeface="Roboto Medium"/>
                          <a:ea typeface="Roboto Medium"/>
                          <a:cs typeface="Roboto Medium"/>
                        </a:rPr>
                        <a:t>IIa</a:t>
                      </a:r>
                      <a:endParaRPr lang="pt-BR" sz="1127" dirty="0"/>
                    </a:p>
                  </a:txBody>
                  <a:tcPr marL="79283" marR="79283" marT="31713" marB="31713"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127" b="0" i="0" dirty="0">
                          <a:solidFill>
                            <a:srgbClr val="1F3238"/>
                          </a:solidFill>
                          <a:latin typeface="Roboto Medium"/>
                          <a:ea typeface="Roboto Medium"/>
                          <a:cs typeface="Roboto Medium"/>
                        </a:rPr>
                        <a:t>B</a:t>
                      </a:r>
                      <a:endParaRPr lang="pt-BR" sz="1127" dirty="0"/>
                    </a:p>
                  </a:txBody>
                  <a:tcPr marL="79283" marR="79283" marT="31713" marB="31713" anchor="ctr">
                    <a:lnL w="0">
                      <a:noFill/>
                    </a:lnL>
                    <a:lnR w="0">
                      <a:noFill/>
                    </a:lnR>
                    <a:lnT w="0">
                      <a:noFill/>
                    </a:lnT>
                    <a:lnB w="12700">
                      <a:solidFill>
                        <a:srgbClr val="FBFCFC"/>
                      </a:solidFill>
                    </a:lnB>
                    <a:solidFill>
                      <a:srgbClr val="C98A2B"/>
                    </a:solidFill>
                  </a:tcPr>
                </a:tc>
              </a:tr>
              <a:tr h="406987">
                <a:tc>
                  <a:txBody>
                    <a:bodyPr/>
                    <a:lstStyle/>
                    <a:p>
                      <a:pPr algn="l" marL="0" indent="0">
                        <a:lnSpc>
                          <a:spcPct val="100000"/>
                        </a:lnSpc>
                        <a:spcBef>
                          <a:spcPts val="0"/>
                        </a:spcBef>
                        <a:spcAft>
                          <a:spcPts val="0"/>
                        </a:spcAft>
                        <a:buNone/>
                      </a:pPr>
                      <a:r>
                        <a:rPr lang="pt-BR" sz="1127" b="0" i="0" dirty="0">
                          <a:solidFill>
                            <a:srgbClr val="5F6468"/>
                          </a:solidFill>
                          <a:latin typeface="Roboto"/>
                          <a:ea typeface="Roboto"/>
                          <a:cs typeface="Roboto"/>
                        </a:rPr>
                        <a:t>POCUS feito por médico capacitado pode ser aplicado em adição ao ADD-RS para incremento na avaliação da probabilidade diagnóstica.</a:t>
                      </a:r>
                      <a:endParaRPr lang="pt-BR" sz="1127" dirty="0"/>
                    </a:p>
                  </a:txBody>
                  <a:tcPr marL="79283" marR="79283" marT="31713" marB="31713"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127" b="0" i="0" dirty="0">
                          <a:solidFill>
                            <a:srgbClr val="1F3238"/>
                          </a:solidFill>
                          <a:latin typeface="Roboto Medium"/>
                          <a:ea typeface="Roboto Medium"/>
                          <a:cs typeface="Roboto Medium"/>
                        </a:rPr>
                        <a:t>IIa</a:t>
                      </a:r>
                      <a:endParaRPr lang="pt-BR" sz="1127" dirty="0"/>
                    </a:p>
                  </a:txBody>
                  <a:tcPr marL="79283" marR="79283" marT="31713" marB="31713"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127" b="0" i="0" dirty="0">
                          <a:solidFill>
                            <a:srgbClr val="1F3238"/>
                          </a:solidFill>
                          <a:latin typeface="Roboto Medium"/>
                          <a:ea typeface="Roboto Medium"/>
                          <a:cs typeface="Roboto Medium"/>
                        </a:rPr>
                        <a:t>B</a:t>
                      </a:r>
                      <a:endParaRPr lang="pt-BR" sz="1127" dirty="0"/>
                    </a:p>
                  </a:txBody>
                  <a:tcPr marL="79283" marR="79283" marT="31713" marB="31713" anchor="ctr">
                    <a:lnL w="0">
                      <a:noFill/>
                    </a:lnL>
                    <a:lnR w="0">
                      <a:noFill/>
                    </a:lnR>
                    <a:lnT w="0">
                      <a:noFill/>
                    </a:lnT>
                    <a:lnB w="12700">
                      <a:solidFill>
                        <a:srgbClr val="FBFCFC"/>
                      </a:solidFill>
                    </a:lnB>
                    <a:solidFill>
                      <a:srgbClr val="C98A2B"/>
                    </a:solidFill>
                  </a:tcPr>
                </a:tc>
              </a:tr>
              <a:tr h="406987">
                <a:tc>
                  <a:txBody>
                    <a:bodyPr/>
                    <a:lstStyle/>
                    <a:p>
                      <a:pPr algn="l" marL="0" indent="0">
                        <a:lnSpc>
                          <a:spcPct val="100000"/>
                        </a:lnSpc>
                        <a:spcBef>
                          <a:spcPts val="0"/>
                        </a:spcBef>
                        <a:spcAft>
                          <a:spcPts val="0"/>
                        </a:spcAft>
                        <a:buNone/>
                      </a:pPr>
                      <a:r>
                        <a:rPr lang="pt-BR" sz="1127" b="0" i="0" dirty="0">
                          <a:solidFill>
                            <a:srgbClr val="5F6468"/>
                          </a:solidFill>
                          <a:latin typeface="Roboto"/>
                          <a:ea typeface="Roboto"/>
                          <a:cs typeface="Roboto"/>
                        </a:rPr>
                        <a:t>AORTA pode ser aplicado em pacientes com suspeita de SAA de forma adicional ou como alternativa ao ADD-RS.</a:t>
                      </a:r>
                      <a:endParaRPr lang="pt-BR" sz="1127" dirty="0"/>
                    </a:p>
                  </a:txBody>
                  <a:tcPr marL="79283" marR="79283" marT="31713" marB="31713"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127" b="0" i="0" dirty="0">
                          <a:solidFill>
                            <a:srgbClr val="1F3238"/>
                          </a:solidFill>
                          <a:latin typeface="Roboto Medium"/>
                          <a:ea typeface="Roboto Medium"/>
                          <a:cs typeface="Roboto Medium"/>
                        </a:rPr>
                        <a:t>IIb</a:t>
                      </a:r>
                      <a:endParaRPr lang="pt-BR" sz="1127" dirty="0"/>
                    </a:p>
                  </a:txBody>
                  <a:tcPr marL="79283" marR="79283" marT="31713" marB="31713"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127" b="0" i="0" dirty="0">
                          <a:solidFill>
                            <a:srgbClr val="1F3238"/>
                          </a:solidFill>
                          <a:latin typeface="Roboto Medium"/>
                          <a:ea typeface="Roboto Medium"/>
                          <a:cs typeface="Roboto Medium"/>
                        </a:rPr>
                        <a:t>C</a:t>
                      </a:r>
                      <a:endParaRPr lang="pt-BR" sz="1127" dirty="0"/>
                    </a:p>
                  </a:txBody>
                  <a:tcPr marL="79283" marR="79283" marT="31713" marB="31713" anchor="ctr">
                    <a:lnL w="0">
                      <a:noFill/>
                    </a:lnL>
                    <a:lnR w="0">
                      <a:noFill/>
                    </a:lnR>
                    <a:lnT w="0">
                      <a:noFill/>
                    </a:lnT>
                    <a:lnB w="12700">
                      <a:solidFill>
                        <a:srgbClr val="FBFCFC"/>
                      </a:solidFill>
                    </a:lnB>
                    <a:solidFill>
                      <a:srgbClr val="C98A2B"/>
                    </a:solidFill>
                  </a:tcPr>
                </a:tc>
              </a:tr>
              <a:tr h="406987">
                <a:tc>
                  <a:txBody>
                    <a:bodyPr/>
                    <a:lstStyle/>
                    <a:p>
                      <a:pPr algn="l" marL="0" indent="0">
                        <a:lnSpc>
                          <a:spcPct val="100000"/>
                        </a:lnSpc>
                        <a:spcBef>
                          <a:spcPts val="0"/>
                        </a:spcBef>
                        <a:spcAft>
                          <a:spcPts val="0"/>
                        </a:spcAft>
                        <a:buNone/>
                      </a:pPr>
                      <a:r>
                        <a:rPr lang="pt-BR" sz="1127" b="0" i="0" dirty="0">
                          <a:solidFill>
                            <a:srgbClr val="5F6468"/>
                          </a:solidFill>
                          <a:latin typeface="Roboto"/>
                          <a:ea typeface="Roboto"/>
                          <a:cs typeface="Roboto"/>
                        </a:rPr>
                        <a:t>ADD-RS e AORTA </a:t>
                      </a:r>
                      <a:r>
                        <a:rPr lang="pt-BR" sz="1127" b="1" i="0" dirty="0">
                          <a:solidFill>
                            <a:srgbClr val="5F6468"/>
                          </a:solidFill>
                          <a:latin typeface="Roboto"/>
                          <a:ea typeface="Roboto"/>
                          <a:cs typeface="Roboto"/>
                        </a:rPr>
                        <a:t>NÃO</a:t>
                      </a:r>
                      <a:r>
                        <a:rPr lang="pt-BR" sz="1127" b="0" i="0" dirty="0">
                          <a:solidFill>
                            <a:srgbClr val="5F6468"/>
                          </a:solidFill>
                          <a:latin typeface="Roboto"/>
                          <a:ea typeface="Roboto"/>
                          <a:cs typeface="Roboto"/>
                        </a:rPr>
                        <a:t> devem ser utilizados exclusivamente na avaliação inicial em pacientes com suspeita de SAA para exclusão ou confirmação diagnóstica.</a:t>
                      </a:r>
                      <a:endParaRPr lang="pt-BR" sz="1127" dirty="0"/>
                    </a:p>
                  </a:txBody>
                  <a:tcPr marL="79283" marR="79283" marT="31713" marB="31713"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127" b="0" i="0" dirty="0">
                          <a:solidFill>
                            <a:srgbClr val="FBFCFC"/>
                          </a:solidFill>
                          <a:latin typeface="Roboto Medium"/>
                          <a:ea typeface="Roboto Medium"/>
                          <a:cs typeface="Roboto Medium"/>
                        </a:rPr>
                        <a:t>III</a:t>
                      </a:r>
                      <a:endParaRPr lang="pt-BR" sz="1127" dirty="0"/>
                    </a:p>
                  </a:txBody>
                  <a:tcPr marL="79283" marR="79283" marT="31713" marB="31713"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127" b="0" i="0" dirty="0">
                          <a:solidFill>
                            <a:srgbClr val="FBFCFC"/>
                          </a:solidFill>
                          <a:latin typeface="Roboto Medium"/>
                          <a:ea typeface="Roboto Medium"/>
                          <a:cs typeface="Roboto Medium"/>
                        </a:rPr>
                        <a:t>B</a:t>
                      </a:r>
                      <a:endParaRPr lang="pt-BR" sz="1127" dirty="0"/>
                    </a:p>
                  </a:txBody>
                  <a:tcPr marL="79283" marR="79283" marT="31713" marB="31713" anchor="ctr">
                    <a:lnL w="0">
                      <a:noFill/>
                    </a:lnL>
                    <a:lnR w="0">
                      <a:noFill/>
                    </a:lnR>
                    <a:lnT w="0">
                      <a:noFill/>
                    </a:lnT>
                    <a:lnB w="12700">
                      <a:solidFill>
                        <a:srgbClr val="FBFCFC"/>
                      </a:solidFill>
                    </a:lnB>
                    <a:solidFill>
                      <a:srgbClr val="B5533C"/>
                    </a:solidFill>
                  </a:tcPr>
                </a:tc>
              </a:tr>
            </a:tbl>
          </a:graphicData>
        </a:graphic>
      </p:graphicFrame>
      <p:sp>
        <p:nvSpPr>
          <p:cNvPr id="1011" name="Nota"/>
          <p:cNvSpPr txBox="1"/>
          <p:nvPr/>
        </p:nvSpPr>
        <p:spPr>
          <a:xfrm>
            <a:off x="1427443" y="5928057"/>
            <a:ext cx="9339553" cy="171943"/>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040" b="0" i="1" dirty="0">
                <a:solidFill>
                  <a:srgbClr val="737A7F"/>
                </a:solidFill>
                <a:latin typeface="Roboto"/>
                <a:ea typeface="Roboto"/>
                <a:cs typeface="Roboto"/>
              </a:rPr>
              <a:t>POCUS: point-of-care ultrasound; SAA: síndrome aórtica aguda.</a:t>
            </a:r>
            <a:endParaRPr lang="pt-BR" sz="1040" dirty="0"/>
          </a:p>
        </p:txBody>
      </p:sp>
    </p:spTree>
    <p:extLst>
      <p:ext uri="{BB962C8B-B14F-4D97-AF65-F5344CB8AC3E}">
        <p14:creationId xmlns:p14="http://schemas.microsoft.com/office/powerpoint/2010/main" val="272703281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Suspeita de Tromboembolismo Pulmonar- Escore de Wells</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72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Legenda"/>
          <p:cNvSpPr txBox="1"/>
          <p:nvPr/>
        </p:nvSpPr>
        <p:spPr>
          <a:xfrm>
            <a:off x="711403" y="1417320"/>
            <a:ext cx="10771632" cy="12672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767" b="0" i="0" dirty="0">
                <a:solidFill>
                  <a:srgbClr val="4E7C8B"/>
                </a:solidFill>
                <a:latin typeface="Roboto Medium"/>
                <a:ea typeface="Roboto Medium"/>
                <a:cs typeface="Roboto Medium"/>
              </a:rPr>
              <a:t>Tabela 19 – Escore de Wells: critérios e respectiva pontuação</a:t>
            </a:r>
            <a:endParaRPr lang="pt-BR" sz="767" dirty="0"/>
          </a:p>
        </p:txBody>
      </p:sp>
      <p:graphicFrame>
        <p:nvGraphicFramePr>
          <p:cNvPr id="7" name="Tabela"/>
          <p:cNvGraphicFramePr>
            <a:graphicFrameLocks noGrp="1"/>
          </p:cNvGraphicFramePr>
          <p:nvPr/>
        </p:nvGraphicFramePr>
        <p:xfrm>
          <a:off x="711403" y="1569609"/>
          <a:ext cx="10771632" cy="1199843"/>
        </p:xfrm>
        <a:graphic>
          <a:graphicData uri="http://schemas.openxmlformats.org/drawingml/2006/table">
            <a:tbl>
              <a:tblPr firstRow="1"/>
              <a:tblGrid>
                <a:gridCol w="8907311"/>
                <a:gridCol w="1864321"/>
              </a:tblGrid>
              <a:tr h="149980">
                <a:tc>
                  <a:txBody>
                    <a:bodyPr/>
                    <a:lstStyle/>
                    <a:p>
                      <a:pPr algn="l"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Critérios</a:t>
                      </a:r>
                      <a:endParaRPr lang="pt-BR" sz="831" dirty="0"/>
                    </a:p>
                  </a:txBody>
                  <a:tcPr marL="58434" marR="58434" marT="11687" marB="11687" anchor="ctr">
                    <a:lnL w="0">
                      <a:noFill/>
                    </a:lnL>
                    <a:lnR w="0">
                      <a:noFill/>
                    </a:lnR>
                    <a:lnT w="0">
                      <a:noFill/>
                    </a:lnT>
                    <a:lnB w="0">
                      <a:noFill/>
                    </a:lnB>
                    <a:solidFill>
                      <a:srgbClr val="4E7C8B"/>
                    </a:solidFill>
                  </a:tcPr>
                </a:tc>
                <a:tc>
                  <a:txBody>
                    <a:bodyPr/>
                    <a:lstStyle/>
                    <a:p>
                      <a:pPr algn="r"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Pontos</a:t>
                      </a:r>
                      <a:endParaRPr lang="pt-BR" sz="831" dirty="0"/>
                    </a:p>
                  </a:txBody>
                  <a:tcPr marL="58434" marR="58434" marT="11687" marB="11687" anchor="ctr">
                    <a:lnL w="0">
                      <a:noFill/>
                    </a:lnL>
                    <a:lnR w="0">
                      <a:noFill/>
                    </a:lnR>
                    <a:lnT w="0">
                      <a:noFill/>
                    </a:lnT>
                    <a:lnB w="0">
                      <a:noFill/>
                    </a:lnB>
                    <a:solidFill>
                      <a:srgbClr val="4E7C8B"/>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Sinais clínicos de TVP</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831" b="0" i="0" dirty="0">
                          <a:solidFill>
                            <a:srgbClr val="5F6468"/>
                          </a:solidFill>
                          <a:latin typeface="Roboto"/>
                          <a:ea typeface="Roboto"/>
                          <a:cs typeface="Roboto"/>
                        </a:rPr>
                        <a:t>+3</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Ausência de diagnóstico alternativo mais provável que TEP</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831" b="0" i="0" dirty="0">
                          <a:solidFill>
                            <a:srgbClr val="5F6468"/>
                          </a:solidFill>
                          <a:latin typeface="Roboto"/>
                          <a:ea typeface="Roboto"/>
                          <a:cs typeface="Roboto"/>
                        </a:rPr>
                        <a:t>+3</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TVP ou TEP prévios</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831" b="0" i="0" dirty="0">
                          <a:solidFill>
                            <a:srgbClr val="5F6468"/>
                          </a:solidFill>
                          <a:latin typeface="Roboto"/>
                          <a:ea typeface="Roboto"/>
                          <a:cs typeface="Roboto"/>
                        </a:rPr>
                        <a:t>+1,5</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FC &gt; 100 bpm</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831" b="0" i="0" dirty="0">
                          <a:solidFill>
                            <a:srgbClr val="5F6468"/>
                          </a:solidFill>
                          <a:latin typeface="Roboto"/>
                          <a:ea typeface="Roboto"/>
                          <a:cs typeface="Roboto"/>
                        </a:rPr>
                        <a:t>+1,5</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Imobilização por mais de 2 dias ou cirurgia nas últimas 4 semanas</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831" b="0" i="0" dirty="0">
                          <a:solidFill>
                            <a:srgbClr val="5F6468"/>
                          </a:solidFill>
                          <a:latin typeface="Roboto"/>
                          <a:ea typeface="Roboto"/>
                          <a:cs typeface="Roboto"/>
                        </a:rPr>
                        <a:t>+1,5</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Hemoptise</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r" marL="0" indent="0">
                        <a:lnSpc>
                          <a:spcPct val="100000"/>
                        </a:lnSpc>
                        <a:spcBef>
                          <a:spcPts val="0"/>
                        </a:spcBef>
                        <a:spcAft>
                          <a:spcPts val="0"/>
                        </a:spcAft>
                        <a:buNone/>
                      </a:pPr>
                      <a:r>
                        <a:rPr lang="pt-BR" sz="831" b="0" i="0" dirty="0">
                          <a:solidFill>
                            <a:srgbClr val="5F6468"/>
                          </a:solidFill>
                          <a:latin typeface="Roboto"/>
                          <a:ea typeface="Roboto"/>
                          <a:cs typeface="Roboto"/>
                        </a:rPr>
                        <a:t>+1</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Câncer (atual tratado nos últimos 6 meses, ou se o paciente estiver em cuidados paliativos)</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r" marL="0" indent="0">
                        <a:lnSpc>
                          <a:spcPct val="100000"/>
                        </a:lnSpc>
                        <a:spcBef>
                          <a:spcPts val="0"/>
                        </a:spcBef>
                        <a:spcAft>
                          <a:spcPts val="0"/>
                        </a:spcAft>
                        <a:buNone/>
                      </a:pPr>
                      <a:r>
                        <a:rPr lang="pt-BR" sz="831" b="0" i="0" dirty="0">
                          <a:solidFill>
                            <a:srgbClr val="5F6468"/>
                          </a:solidFill>
                          <a:latin typeface="Roboto"/>
                          <a:ea typeface="Roboto"/>
                          <a:cs typeface="Roboto"/>
                        </a:rPr>
                        <a:t>+1</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r>
            </a:tbl>
          </a:graphicData>
        </a:graphic>
      </p:graphicFrame>
      <p:sp>
        <p:nvSpPr>
          <p:cNvPr id="10" name="Nota"/>
          <p:cNvSpPr txBox="1"/>
          <p:nvPr/>
        </p:nvSpPr>
        <p:spPr>
          <a:xfrm>
            <a:off x="711403" y="2814184"/>
            <a:ext cx="10771632" cy="12672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767" b="0" i="1" dirty="0">
                <a:solidFill>
                  <a:srgbClr val="737A7F"/>
                </a:solidFill>
                <a:latin typeface="Roboto"/>
                <a:ea typeface="Roboto"/>
                <a:cs typeface="Roboto"/>
              </a:rPr>
              <a:t>TVP: trombose venosa profunda; TEP: tromboembolismo pulmonar; bpm: batimentos por minuto.</a:t>
            </a:r>
            <a:endParaRPr lang="pt-BR" sz="767" dirty="0"/>
          </a:p>
        </p:txBody>
      </p:sp>
      <p:sp>
        <p:nvSpPr>
          <p:cNvPr id="1011" name="Legenda"/>
          <p:cNvSpPr txBox="1"/>
          <p:nvPr/>
        </p:nvSpPr>
        <p:spPr>
          <a:xfrm>
            <a:off x="711403" y="3043158"/>
            <a:ext cx="10771632" cy="240673"/>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767" b="0" i="0" dirty="0">
                <a:solidFill>
                  <a:srgbClr val="4E7C8B"/>
                </a:solidFill>
                <a:latin typeface="Roboto Medium"/>
                <a:ea typeface="Roboto Medium"/>
                <a:cs typeface="Roboto Medium"/>
              </a:rPr>
              <a:t>Tabela 20 – Escore de Wells modificado e probabilidade/risco de tromboembolismo pulmonar, a depender da pontuação</a:t>
            </a:r>
            <a:endParaRPr lang="pt-BR" sz="767" dirty="0"/>
          </a:p>
        </p:txBody>
      </p:sp>
      <p:graphicFrame>
        <p:nvGraphicFramePr>
          <p:cNvPr id="1012" name="Tabela"/>
          <p:cNvGraphicFramePr>
            <a:graphicFrameLocks noGrp="1"/>
          </p:cNvGraphicFramePr>
          <p:nvPr/>
        </p:nvGraphicFramePr>
        <p:xfrm>
          <a:off x="711403" y="3195446"/>
          <a:ext cx="10771632" cy="784962"/>
        </p:xfrm>
        <a:graphic>
          <a:graphicData uri="http://schemas.openxmlformats.org/drawingml/2006/table">
            <a:tbl>
              <a:tblPr firstRow="1"/>
              <a:tblGrid>
                <a:gridCol w="2485761"/>
                <a:gridCol w="3935789"/>
                <a:gridCol w="4350082"/>
              </a:tblGrid>
              <a:tr h="185041">
                <a:tc gridSpan="3">
                  <a:txBody>
                    <a:bodyPr/>
                    <a:lstStyle/>
                    <a:p>
                      <a:pPr algn="ctr"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3 níveis</a:t>
                      </a:r>
                      <a:endParaRPr lang="pt-BR" sz="831" dirty="0"/>
                    </a:p>
                  </a:txBody>
                  <a:tcPr marL="58434" marR="58434" marT="11687" marB="11687"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149980">
                <a:tc>
                  <a:txBody>
                    <a:bodyPr/>
                    <a:lstStyle/>
                    <a:p>
                      <a:pPr algn="l"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Pontuação</a:t>
                      </a:r>
                      <a:endParaRPr lang="pt-BR" sz="831" dirty="0"/>
                    </a:p>
                  </a:txBody>
                  <a:tcPr marL="58434" marR="58434" marT="11687" marB="11687"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Probabilidade de TEP</a:t>
                      </a:r>
                      <a:endParaRPr lang="pt-BR" sz="831" dirty="0"/>
                    </a:p>
                  </a:txBody>
                  <a:tcPr marL="58434" marR="58434" marT="11687" marB="11687"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Probabilidade pré-teste</a:t>
                      </a:r>
                      <a:endParaRPr lang="pt-BR" sz="831" dirty="0"/>
                    </a:p>
                  </a:txBody>
                  <a:tcPr marL="58434" marR="58434" marT="11687" marB="11687" anchor="ctr">
                    <a:lnL w="0">
                      <a:noFill/>
                    </a:lnL>
                    <a:lnR w="0">
                      <a:noFill/>
                    </a:lnR>
                    <a:lnT w="0">
                      <a:noFill/>
                    </a:lnT>
                    <a:lnB w="0">
                      <a:noFill/>
                    </a:lnB>
                    <a:solidFill>
                      <a:srgbClr val="6E9DAB"/>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&lt; 2</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1 a 3%</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Baixa</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2-6</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16 a 28%</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Intermediária</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&gt; 6</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&gt; 40 %</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Alta</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r>
            </a:tbl>
          </a:graphicData>
        </a:graphic>
      </p:graphicFrame>
      <p:graphicFrame>
        <p:nvGraphicFramePr>
          <p:cNvPr id="1013" name="Tabela"/>
          <p:cNvGraphicFramePr>
            <a:graphicFrameLocks noGrp="1"/>
          </p:cNvGraphicFramePr>
          <p:nvPr/>
        </p:nvGraphicFramePr>
        <p:xfrm>
          <a:off x="711403" y="4082655"/>
          <a:ext cx="10771632" cy="634982"/>
        </p:xfrm>
        <a:graphic>
          <a:graphicData uri="http://schemas.openxmlformats.org/drawingml/2006/table">
            <a:tbl>
              <a:tblPr firstRow="1"/>
              <a:tblGrid>
                <a:gridCol w="2485761"/>
                <a:gridCol w="3935789"/>
                <a:gridCol w="4350082"/>
              </a:tblGrid>
              <a:tr h="185041">
                <a:tc gridSpan="3">
                  <a:txBody>
                    <a:bodyPr/>
                    <a:lstStyle/>
                    <a:p>
                      <a:pPr algn="ctr"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2 níveis</a:t>
                      </a:r>
                      <a:endParaRPr lang="pt-BR" sz="831" dirty="0"/>
                    </a:p>
                  </a:txBody>
                  <a:tcPr marL="58434" marR="58434" marT="11687" marB="11687" anchor="ctr">
                    <a:lnL w="0">
                      <a:noFill/>
                    </a:lnL>
                    <a:lnR w="0">
                      <a:noFill/>
                    </a:lnR>
                    <a:lnT w="0">
                      <a:noFill/>
                    </a:lnT>
                    <a:lnB w="0">
                      <a:noFill/>
                    </a:lnB>
                    <a:solidFill>
                      <a:srgbClr val="4E7C8B"/>
                    </a:solidFill>
                  </a:tcPr>
                </a:tc>
                <a:tc hMerge="1">
                  <a:txBody>
                    <a:bodyPr/>
                    <a:lstStyle/>
                    <a:p>
                      <a:endParaRPr lang="pt-BR"/>
                    </a:p>
                  </a:txBody>
                  <a:tcPr/>
                </a:tc>
                <a:tc hMerge="1">
                  <a:txBody>
                    <a:bodyPr/>
                    <a:lstStyle/>
                    <a:p>
                      <a:endParaRPr lang="pt-BR"/>
                    </a:p>
                  </a:txBody>
                  <a:tcPr/>
                </a:tc>
              </a:tr>
              <a:tr h="149980">
                <a:tc>
                  <a:txBody>
                    <a:bodyPr/>
                    <a:lstStyle/>
                    <a:p>
                      <a:pPr algn="l"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Pontuação</a:t>
                      </a:r>
                      <a:endParaRPr lang="pt-BR" sz="831" dirty="0"/>
                    </a:p>
                  </a:txBody>
                  <a:tcPr marL="58434" marR="58434" marT="11687" marB="11687"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Probabilidade de TEP</a:t>
                      </a:r>
                      <a:endParaRPr lang="pt-BR" sz="831" dirty="0"/>
                    </a:p>
                  </a:txBody>
                  <a:tcPr marL="58434" marR="58434" marT="11687" marB="11687" anchor="ctr">
                    <a:lnL w="0">
                      <a:noFill/>
                    </a:lnL>
                    <a:lnR w="0">
                      <a:noFill/>
                    </a:lnR>
                    <a:lnT w="0">
                      <a:noFill/>
                    </a:lnT>
                    <a:lnB w="0">
                      <a:noFill/>
                    </a:lnB>
                    <a:solidFill>
                      <a:srgbClr val="6E9DAB"/>
                    </a:solidFill>
                  </a:tcPr>
                </a:tc>
                <a:tc>
                  <a:txBody>
                    <a:bodyPr/>
                    <a:lstStyle/>
                    <a:p>
                      <a:pPr algn="ctr"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Probabilidade pré-teste</a:t>
                      </a:r>
                      <a:endParaRPr lang="pt-BR" sz="831" dirty="0"/>
                    </a:p>
                  </a:txBody>
                  <a:tcPr marL="58434" marR="58434" marT="11687" marB="11687" anchor="ctr">
                    <a:lnL w="0">
                      <a:noFill/>
                    </a:lnL>
                    <a:lnR w="0">
                      <a:noFill/>
                    </a:lnR>
                    <a:lnT w="0">
                      <a:noFill/>
                    </a:lnT>
                    <a:lnB w="0">
                      <a:noFill/>
                    </a:lnB>
                    <a:solidFill>
                      <a:srgbClr val="6E9DAB"/>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 4</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3%</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Improvável</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r>
              <a:tr h="149980">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&gt; 4</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28 %</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831" b="0" i="0" dirty="0">
                          <a:solidFill>
                            <a:srgbClr val="5F6468"/>
                          </a:solidFill>
                          <a:latin typeface="Roboto"/>
                          <a:ea typeface="Roboto"/>
                          <a:cs typeface="Roboto"/>
                        </a:rPr>
                        <a:t>Provável</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r>
            </a:tbl>
          </a:graphicData>
        </a:graphic>
      </p:graphicFrame>
      <p:sp>
        <p:nvSpPr>
          <p:cNvPr id="1014" name="Legenda"/>
          <p:cNvSpPr txBox="1"/>
          <p:nvPr/>
        </p:nvSpPr>
        <p:spPr>
          <a:xfrm>
            <a:off x="711403" y="4819883"/>
            <a:ext cx="10771632" cy="12672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767" b="0" i="0" dirty="0">
                <a:solidFill>
                  <a:srgbClr val="4E7C8B"/>
                </a:solidFill>
                <a:latin typeface="Roboto Medium"/>
                <a:ea typeface="Roboto Medium"/>
                <a:cs typeface="Roboto Medium"/>
              </a:rPr>
              <a:t>Tabela 23 – Estratificação de risco e probabilidade diagnóstica na avaliação de dor torácica na suspeita de tromboembolismo pulmonar</a:t>
            </a:r>
            <a:endParaRPr lang="pt-BR" sz="767" dirty="0"/>
          </a:p>
        </p:txBody>
      </p:sp>
      <p:graphicFrame>
        <p:nvGraphicFramePr>
          <p:cNvPr id="1015" name="Tabela"/>
          <p:cNvGraphicFramePr>
            <a:graphicFrameLocks noGrp="1"/>
          </p:cNvGraphicFramePr>
          <p:nvPr/>
        </p:nvGraphicFramePr>
        <p:xfrm>
          <a:off x="711403" y="4972172"/>
          <a:ext cx="10771632" cy="956368"/>
        </p:xfrm>
        <a:graphic>
          <a:graphicData uri="http://schemas.openxmlformats.org/drawingml/2006/table">
            <a:tbl>
              <a:tblPr firstRow="1"/>
              <a:tblGrid>
                <a:gridCol w="7771632"/>
                <a:gridCol w="1600000"/>
                <a:gridCol w="1400000"/>
              </a:tblGrid>
              <a:tr h="276587">
                <a:tc>
                  <a:txBody>
                    <a:bodyPr/>
                    <a:lstStyle/>
                    <a:p>
                      <a:pPr algn="l" marL="0" indent="0">
                        <a:lnSpc>
                          <a:spcPct val="100000"/>
                        </a:lnSpc>
                        <a:spcBef>
                          <a:spcPts val="0"/>
                        </a:spcBef>
                        <a:spcAft>
                          <a:spcPts val="0"/>
                        </a:spcAft>
                        <a:buNone/>
                      </a:pPr>
                      <a:endParaRPr lang="pt-BR" sz="831" dirty="0"/>
                    </a:p>
                  </a:txBody>
                  <a:tcPr marL="58434" marR="58434" marT="11687" marB="11687"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Classe de recomendação</a:t>
                      </a:r>
                      <a:endParaRPr lang="pt-BR" sz="831" dirty="0"/>
                    </a:p>
                  </a:txBody>
                  <a:tcPr marL="58434" marR="58434" marT="11687" marB="11687"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Nível de evidência</a:t>
                      </a:r>
                      <a:endParaRPr lang="pt-BR" sz="831" dirty="0"/>
                    </a:p>
                  </a:txBody>
                  <a:tcPr marL="58434" marR="58434" marT="11687" marB="11687" anchor="ctr">
                    <a:lnL w="0">
                      <a:noFill/>
                    </a:lnL>
                    <a:lnR w="0">
                      <a:noFill/>
                    </a:lnR>
                    <a:lnT w="0">
                      <a:noFill/>
                    </a:lnT>
                    <a:lnB w="0">
                      <a:noFill/>
                    </a:lnB>
                    <a:solidFill>
                      <a:srgbClr val="4E7C8B"/>
                    </a:solidFill>
                  </a:tcPr>
                </a:tc>
              </a:tr>
              <a:tr h="403194">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Escore de Wells, Genebra revisado e Genebra simplificado devem ser aplicados em pacientes com suspeita de TEP na avaliação inicial de probabilidade pré-teste, como parte da avaliação inicial.</a:t>
                      </a:r>
                      <a:endParaRPr lang="pt-BR" sz="831" dirty="0"/>
                    </a:p>
                  </a:txBody>
                  <a:tcPr marL="58434" marR="58434" marT="11687" marB="11687"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I</a:t>
                      </a:r>
                      <a:endParaRPr lang="pt-BR" sz="831" dirty="0"/>
                    </a:p>
                  </a:txBody>
                  <a:tcPr marL="58434" marR="58434" marT="11687" marB="11687"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831" b="0" i="0" dirty="0">
                          <a:solidFill>
                            <a:srgbClr val="FBFCFC"/>
                          </a:solidFill>
                          <a:latin typeface="Roboto Medium"/>
                          <a:ea typeface="Roboto Medium"/>
                          <a:cs typeface="Roboto Medium"/>
                        </a:rPr>
                        <a:t>A</a:t>
                      </a:r>
                      <a:endParaRPr lang="pt-BR" sz="831" dirty="0"/>
                    </a:p>
                  </a:txBody>
                  <a:tcPr marL="58434" marR="58434" marT="11687" marB="11687" anchor="ctr">
                    <a:lnL w="0">
                      <a:noFill/>
                    </a:lnL>
                    <a:lnR w="0">
                      <a:noFill/>
                    </a:lnR>
                    <a:lnT w="0">
                      <a:noFill/>
                    </a:lnT>
                    <a:lnB w="12700">
                      <a:solidFill>
                        <a:srgbClr val="FBFCFC"/>
                      </a:solidFill>
                    </a:lnB>
                    <a:solidFill>
                      <a:srgbClr val="3E8E68"/>
                    </a:solidFill>
                  </a:tcPr>
                </a:tc>
              </a:tr>
              <a:tr h="276587">
                <a:tc>
                  <a:txBody>
                    <a:bodyPr/>
                    <a:lstStyle/>
                    <a:p>
                      <a:pPr algn="l" marL="0" indent="0">
                        <a:lnSpc>
                          <a:spcPct val="100000"/>
                        </a:lnSpc>
                        <a:spcBef>
                          <a:spcPts val="0"/>
                        </a:spcBef>
                        <a:spcAft>
                          <a:spcPts val="0"/>
                        </a:spcAft>
                        <a:buNone/>
                      </a:pPr>
                      <a:r>
                        <a:rPr lang="pt-BR" sz="831" b="0" i="0" dirty="0">
                          <a:solidFill>
                            <a:srgbClr val="5F6468"/>
                          </a:solidFill>
                          <a:latin typeface="Roboto"/>
                          <a:ea typeface="Roboto"/>
                          <a:cs typeface="Roboto"/>
                        </a:rPr>
                        <a:t>Escore PERC pode ser aplicado na avaliação inicial em pacientes com suspeita de TEP com baixa probabilidade pré-teste para protocolo de </a:t>
                      </a:r>
                      <a:r>
                        <a:rPr lang="pt-BR" sz="831" b="0" i="1" dirty="0">
                          <a:solidFill>
                            <a:srgbClr val="5F6468"/>
                          </a:solidFill>
                          <a:latin typeface="Roboto"/>
                          <a:ea typeface="Roboto"/>
                          <a:cs typeface="Roboto"/>
                        </a:rPr>
                        <a:t>rule out</a:t>
                      </a:r>
                      <a:r>
                        <a:rPr lang="pt-BR" sz="831" b="0" i="0" dirty="0">
                          <a:solidFill>
                            <a:srgbClr val="5F6468"/>
                          </a:solidFill>
                          <a:latin typeface="Roboto"/>
                          <a:ea typeface="Roboto"/>
                          <a:cs typeface="Roboto"/>
                        </a:rPr>
                        <a:t>.</a:t>
                      </a:r>
                      <a:endParaRPr lang="pt-BR" sz="831" dirty="0"/>
                    </a:p>
                  </a:txBody>
                  <a:tcPr marL="58434" marR="58434" marT="11687" marB="11687"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IIa</a:t>
                      </a:r>
                      <a:endParaRPr lang="pt-BR" sz="831" dirty="0"/>
                    </a:p>
                  </a:txBody>
                  <a:tcPr marL="58434" marR="58434" marT="11687" marB="11687"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831" b="0" i="0" dirty="0">
                          <a:solidFill>
                            <a:srgbClr val="1F3238"/>
                          </a:solidFill>
                          <a:latin typeface="Roboto Medium"/>
                          <a:ea typeface="Roboto Medium"/>
                          <a:cs typeface="Roboto Medium"/>
                        </a:rPr>
                        <a:t>B</a:t>
                      </a:r>
                      <a:endParaRPr lang="pt-BR" sz="831" dirty="0"/>
                    </a:p>
                  </a:txBody>
                  <a:tcPr marL="58434" marR="58434" marT="11687" marB="11687" anchor="ctr">
                    <a:lnL w="0">
                      <a:noFill/>
                    </a:lnL>
                    <a:lnR w="0">
                      <a:noFill/>
                    </a:lnR>
                    <a:lnT w="0">
                      <a:noFill/>
                    </a:lnT>
                    <a:lnB w="12700">
                      <a:solidFill>
                        <a:srgbClr val="FBFCFC"/>
                      </a:solidFill>
                    </a:lnB>
                    <a:solidFill>
                      <a:srgbClr val="C98A2B"/>
                    </a:solidFill>
                  </a:tcPr>
                </a:tc>
              </a:tr>
            </a:tbl>
          </a:graphicData>
        </a:graphic>
      </p:graphicFrame>
      <p:sp>
        <p:nvSpPr>
          <p:cNvPr id="1016" name="Nota"/>
          <p:cNvSpPr txBox="1"/>
          <p:nvPr/>
        </p:nvSpPr>
        <p:spPr>
          <a:xfrm>
            <a:off x="711403" y="5973273"/>
            <a:ext cx="10771632" cy="126727"/>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767" b="0" i="1" dirty="0">
                <a:solidFill>
                  <a:srgbClr val="737A7F"/>
                </a:solidFill>
                <a:latin typeface="Roboto"/>
                <a:ea typeface="Roboto"/>
                <a:cs typeface="Roboto"/>
              </a:rPr>
              <a:t>TEP: tromboembolismo pulmonar; PERC: pulmonary embolism rule-out criteria.</a:t>
            </a:r>
            <a:endParaRPr lang="pt-BR" sz="767" dirty="0"/>
          </a:p>
        </p:txBody>
      </p:sp>
    </p:spTree>
    <p:extLst>
      <p:ext uri="{BB962C8B-B14F-4D97-AF65-F5344CB8AC3E}">
        <p14:creationId xmlns:p14="http://schemas.microsoft.com/office/powerpoint/2010/main" val="362995402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Recomendações para AngioTC na Suspeita de SCA ou TEP/ SAA</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6" name="Legenda"/>
          <p:cNvSpPr txBox="1"/>
          <p:nvPr/>
        </p:nvSpPr>
        <p:spPr>
          <a:xfrm>
            <a:off x="711403" y="1417320"/>
            <a:ext cx="10771632" cy="1983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0" dirty="0">
                <a:solidFill>
                  <a:srgbClr val="4E7C8B"/>
                </a:solidFill>
                <a:latin typeface="Roboto Medium"/>
                <a:ea typeface="Roboto Medium"/>
                <a:cs typeface="Roboto Medium"/>
              </a:rPr>
              <a:t>Tabela 36 – Recomendações da angiotomografia das artérias coronárias na suspeita de síndrome coronariana aguda</a:t>
            </a:r>
            <a:endParaRPr lang="pt-BR" sz="1200" dirty="0"/>
          </a:p>
        </p:txBody>
      </p:sp>
      <p:graphicFrame>
        <p:nvGraphicFramePr>
          <p:cNvPr id="7" name="Tabela"/>
          <p:cNvGraphicFramePr>
            <a:graphicFrameLocks noGrp="1"/>
          </p:cNvGraphicFramePr>
          <p:nvPr/>
        </p:nvGraphicFramePr>
        <p:xfrm>
          <a:off x="1271403" y="1655628"/>
          <a:ext cx="10211632" cy="2398626"/>
        </p:xfrm>
        <a:graphic>
          <a:graphicData uri="http://schemas.openxmlformats.org/drawingml/2006/table">
            <a:tbl>
              <a:tblPr firstRow="1"/>
              <a:tblGrid>
                <a:gridCol w="7011632"/>
                <a:gridCol w="1700000"/>
                <a:gridCol w="1500000"/>
              </a:tblGrid>
              <a:tr h="519904">
                <a:tc>
                  <a:txBody>
                    <a:bodyPr/>
                    <a:lstStyle/>
                    <a:p>
                      <a:pPr algn="l" marL="0" indent="0">
                        <a:lnSpc>
                          <a:spcPct val="100000"/>
                        </a:lnSpc>
                        <a:spcBef>
                          <a:spcPts val="0"/>
                        </a:spcBef>
                        <a:spcAft>
                          <a:spcPts val="0"/>
                        </a:spcAft>
                        <a:buNone/>
                      </a:pP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Classe de recomendação</a:t>
                      </a:r>
                      <a:endParaRPr lang="pt-BR" sz="1300" dirty="0"/>
                    </a:p>
                  </a:txBody>
                  <a:tcPr marL="91440" marR="91440" marT="54864" marB="54864" anchor="ctr">
                    <a:lnL w="0">
                      <a:noFill/>
                    </a:lnL>
                    <a:lnR w="0">
                      <a:noFill/>
                    </a:lnR>
                    <a:lnT w="0">
                      <a:noFill/>
                    </a:lnT>
                    <a:lnB w="0">
                      <a:noFill/>
                    </a:lnB>
                    <a:solidFill>
                      <a:srgbClr val="4E7C8B"/>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Nível de evidência</a:t>
                      </a:r>
                      <a:endParaRPr lang="pt-BR" sz="1300" dirty="0"/>
                    </a:p>
                  </a:txBody>
                  <a:tcPr marL="91440" marR="91440" marT="54864" marB="54864" anchor="ctr">
                    <a:lnL w="0">
                      <a:noFill/>
                    </a:lnL>
                    <a:lnR w="0">
                      <a:noFill/>
                    </a:lnR>
                    <a:lnT w="0">
                      <a:noFill/>
                    </a:lnT>
                    <a:lnB w="0">
                      <a:noFill/>
                    </a:lnB>
                    <a:solidFill>
                      <a:srgbClr val="4E7C8B"/>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de risco baixo ou intermediário com ECG normal ou não diagnóstico e marcadores de injúria miocárdica normais ou alterados, porém sem definição de infarto miocárdico*.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a:t>
                      </a:r>
                      <a:endParaRPr lang="pt-BR" sz="1300" dirty="0"/>
                    </a:p>
                  </a:txBody>
                  <a:tcPr marL="91440" marR="91440" marT="54864" marB="54864" anchor="ctr">
                    <a:lnL w="0">
                      <a:noFill/>
                    </a:lnL>
                    <a:lnR w="0">
                      <a:noFill/>
                    </a:lnR>
                    <a:lnT w="0">
                      <a:noFill/>
                    </a:lnT>
                    <a:lnB w="12700">
                      <a:solidFill>
                        <a:srgbClr val="FBFCFC"/>
                      </a:solidFill>
                    </a:lnB>
                    <a:solidFill>
                      <a:srgbClr val="3E8E68"/>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dor torácica aguda pela técnica do descarte triplo (</a:t>
                      </a:r>
                      <a:r>
                        <a:rPr lang="pt-BR" sz="1300" b="0" i="1" dirty="0">
                          <a:solidFill>
                            <a:srgbClr val="5F6468"/>
                          </a:solidFill>
                          <a:latin typeface="Roboto"/>
                          <a:ea typeface="Roboto"/>
                          <a:cs typeface="Roboto"/>
                        </a:rPr>
                        <a:t>triple rule-out</a:t>
                      </a:r>
                      <a:r>
                        <a:rPr lang="pt-BR" sz="1300" b="0" i="0" dirty="0">
                          <a:solidFill>
                            <a:srgbClr val="5F6468"/>
                          </a:solidFill>
                          <a:latin typeface="Roboto"/>
                          <a:ea typeface="Roboto"/>
                          <a:cs typeface="Roboto"/>
                        </a:rPr>
                        <a:t>).</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IIb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c>
                  <a:txBody>
                    <a:bodyPr/>
                    <a:lstStyle/>
                    <a:p>
                      <a:pPr algn="ctr" marL="0" indent="0">
                        <a:lnSpc>
                          <a:spcPct val="100000"/>
                        </a:lnSpc>
                        <a:spcBef>
                          <a:spcPts val="0"/>
                        </a:spcBef>
                        <a:spcAft>
                          <a:spcPts val="0"/>
                        </a:spcAft>
                        <a:buNone/>
                      </a:pPr>
                      <a:r>
                        <a:rPr lang="pt-BR" sz="1300" b="0" i="0" dirty="0">
                          <a:solidFill>
                            <a:srgbClr val="1F3238"/>
                          </a:solidFill>
                          <a:latin typeface="Roboto Medium"/>
                          <a:ea typeface="Roboto Medium"/>
                          <a:cs typeface="Roboto Medium"/>
                        </a:rPr>
                        <a:t>B</a:t>
                      </a:r>
                      <a:endParaRPr lang="pt-BR" sz="1300" dirty="0"/>
                    </a:p>
                  </a:txBody>
                  <a:tcPr marL="91440" marR="91440" marT="54864" marB="54864" anchor="ctr">
                    <a:lnL w="0">
                      <a:noFill/>
                    </a:lnL>
                    <a:lnR w="0">
                      <a:noFill/>
                    </a:lnR>
                    <a:lnT w="0">
                      <a:noFill/>
                    </a:lnT>
                    <a:lnB w="12700">
                      <a:solidFill>
                        <a:srgbClr val="FBFCFC"/>
                      </a:solidFill>
                    </a:lnB>
                    <a:solidFill>
                      <a:srgbClr val="C98A2B"/>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suspeita de SCA e critérios de risco alto.</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r h="319010">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Avaliação de pacientes com diagnóstico definitivo de infarto do miocárdio</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III</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c>
                  <a:txBody>
                    <a:bodyPr/>
                    <a:lstStyle/>
                    <a:p>
                      <a:pPr algn="ctr"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C</a:t>
                      </a:r>
                      <a:endParaRPr lang="pt-BR" sz="1300" dirty="0"/>
                    </a:p>
                  </a:txBody>
                  <a:tcPr marL="91440" marR="91440" marT="54864" marB="54864" anchor="ctr">
                    <a:lnL w="0">
                      <a:noFill/>
                    </a:lnL>
                    <a:lnR w="0">
                      <a:noFill/>
                    </a:lnR>
                    <a:lnT w="0">
                      <a:noFill/>
                    </a:lnT>
                    <a:lnB w="12700">
                      <a:solidFill>
                        <a:srgbClr val="FBFCFC"/>
                      </a:solidFill>
                    </a:lnB>
                    <a:solidFill>
                      <a:srgbClr val="B5533C"/>
                    </a:solidFill>
                  </a:tcPr>
                </a:tc>
              </a:tr>
            </a:tbl>
          </a:graphicData>
        </a:graphic>
      </p:graphicFrame>
      <p:sp>
        <p:nvSpPr>
          <p:cNvPr id="8" name="Destaque da linha"/>
          <p:cNvSpPr/>
          <p:nvPr/>
        </p:nvSpPr>
        <p:spPr>
          <a:xfrm>
            <a:off x="1271403" y="2896330"/>
            <a:ext cx="10211632" cy="519904"/>
          </a:xfrm>
          <a:prstGeom prst="rect">
            <a:avLst/>
          </a:prstGeom>
          <a:noFill/>
          <a:ln w="38100">
            <a:solidFill>
              <a:srgbClr val="B5533C"/>
            </a:solidFill>
          </a:ln>
        </p:spPr>
        <p:txBody>
          <a:bodyPr wrap="square" lIns="91440" rIns="91440" tIns="45720" bIns="45720" anchor="ctr">
            <a:noAutofit/>
          </a:bodyPr>
          <a:lstStyle/>
          <a:p>
            <a:endParaRPr lang="pt-BR"/>
          </a:p>
        </p:txBody>
      </p:sp>
      <p:sp>
        <p:nvSpPr>
          <p:cNvPr id="9" name="Seta"/>
          <p:cNvSpPr/>
          <p:nvPr/>
        </p:nvSpPr>
        <p:spPr>
          <a:xfrm>
            <a:off x="711403" y="2996282"/>
            <a:ext cx="460000" cy="320000"/>
          </a:xfrm>
          <a:prstGeom prst="rightArrow">
            <a:avLst/>
          </a:prstGeom>
          <a:solidFill>
            <a:srgbClr val="4E7C8B"/>
          </a:solidFill>
          <a:ln>
            <a:noFill/>
          </a:ln>
        </p:spPr>
        <p:txBody>
          <a:bodyPr wrap="square" lIns="91440" rIns="91440" tIns="45720" bIns="45720" anchor="ctr">
            <a:noAutofit/>
          </a:bodyPr>
          <a:lstStyle/>
          <a:p>
            <a:endParaRPr lang="pt-BR"/>
          </a:p>
        </p:txBody>
      </p:sp>
      <p:sp>
        <p:nvSpPr>
          <p:cNvPr id="10" name="Nota"/>
          <p:cNvSpPr txBox="1"/>
          <p:nvPr/>
        </p:nvSpPr>
        <p:spPr>
          <a:xfrm>
            <a:off x="711403" y="4114254"/>
            <a:ext cx="10771632" cy="733232"/>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lang="pt-BR" sz="1200" b="0" i="1" dirty="0">
                <a:solidFill>
                  <a:srgbClr val="737A7F"/>
                </a:solidFill>
                <a:latin typeface="Roboto"/>
                <a:ea typeface="Roboto"/>
                <a:cs typeface="Roboto"/>
              </a:rPr>
              <a:t>SCA: síndrome coronariana aguda; ECG: eletrocardiograma. *Se kit disponível for a troponina convencional (sem critérios de alta sensibilidade), a aplicação da CTA nos casos negativos reduz a taxa e o tempo de internação; nos locais com troponina de alta sensibilidade, a CTA ajuda em casos sem definição diagnóstica, incluindo aqueles com elevações até níveis intermediários (reduz necessidade de cateterismo, sem aumento de eventos cardiovasculares após 1 ano de acompanhamento).</a:t>
            </a:r>
            <a:endParaRPr lang="pt-BR" sz="1200" dirty="0"/>
          </a:p>
        </p:txBody>
      </p:sp>
    </p:spTree>
    <p:extLst>
      <p:ext uri="{BB962C8B-B14F-4D97-AF65-F5344CB8AC3E}">
        <p14:creationId xmlns:p14="http://schemas.microsoft.com/office/powerpoint/2010/main" val="171590031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Sem DAC conhecida</a:t>
            </a:r>
            <a:endParaRPr lang="pt-BR" dirty="0" sz="3200"/>
          </a:p>
        </p:txBody>
      </p:sp>
      <p:sp>
        <p:nvSpPr>
          <p:cNvPr id="25" name="Nota"/>
          <p:cNvSpPr txBox="1"/>
          <p:nvPr/>
        </p:nvSpPr>
        <p:spPr>
          <a:xfrm>
            <a:off x="711403" y="5230368"/>
            <a:ext cx="10771632" cy="240000"/>
          </a:xfrm>
          <a:prstGeom prst="rect">
            <a:avLst/>
          </a:prstGeom>
          <a:noFill/>
        </p:spPr>
        <p:txBody>
          <a:bodyPr wrap="square" lIns="0" rIns="0" tIns="0" bIns="0" anchor="t">
            <a:spAutoFit/>
          </a:bodyPr>
          <a:lstStyle/>
          <a:p>
            <a:pPr algn="l"/>
            <a:r>
              <a:rPr sz="1200" b="0" i="0">
                <a:solidFill>
                  <a:srgbClr val="3B3F42"/>
                </a:solidFill>
                <a:latin typeface="Roboto Medium"/>
                <a:ea typeface="Roboto Medium"/>
                <a:cs typeface="Roboto Medium"/>
              </a:rPr>
              <a:t>*Escolha do teste deve ser guiada pela disponibilidade e expertise.</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74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
        <p:nvSpPr>
          <p:cNvPr id="26" name="Fim/Início"/>
          <p:cNvSpPr/>
          <p:nvPr/>
        </p:nvSpPr>
        <p:spPr>
          <a:xfrm>
            <a:off x="713232" y="1417320"/>
            <a:ext cx="2377440" cy="86868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Sem DAC conhecida</a:t>
            </a:r>
          </a:p>
        </p:txBody>
      </p:sp>
      <p:cxnSp>
        <p:nvCxnSpPr>
          <p:cNvPr id="27" name="Seta"/>
          <p:cNvCxnSpPr/>
          <p:nvPr/>
        </p:nvCxnSpPr>
        <p:spPr>
          <a:xfrm>
            <a:off x="3090672" y="1851660"/>
            <a:ext cx="338328"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 name="Decisão"/>
          <p:cNvGrpSpPr/>
          <p:nvPr/>
        </p:nvGrpSpPr>
        <p:grpSpPr>
          <a:xfrm>
            <a:off x="3429000" y="1188720"/>
            <a:ext cx="2651760" cy="1325880"/>
            <a:chOff x="3429000" y="1188720"/>
            <a:chExt cx="2651760" cy="1325880"/>
          </a:xfrm>
        </p:grpSpPr>
        <p:sp>
          <p:nvSpPr>
            <p:cNvPr id="28" name="Diamond 27"/>
            <p:cNvSpPr/>
            <p:nvPr/>
          </p:nvSpPr>
          <p:spPr>
            <a:xfrm>
              <a:off x="3429000" y="1188720"/>
              <a:ext cx="2651760" cy="1325880"/>
            </a:xfrm>
            <a:prstGeom prst="diamond">
              <a:avLst/>
            </a:prstGeom>
            <a:solidFill>
              <a:srgbClr val="8EC4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0" y="1427378"/>
              <a:ext cx="1828800" cy="848563"/>
            </a:xfrm>
            <a:prstGeom prst="rect">
              <a:avLst/>
            </a:prstGeom>
            <a:noFill/>
          </p:spPr>
          <p:txBody>
            <a:bodyPr wrap="square" anchor="ctr" lIns="0" rIns="0" tIns="36576" bIns="36576">
              <a:spAutoFit/>
            </a:bodyPr>
            <a:lstStyle/>
            <a:p>
              <a:pPr algn="ctr">
                <a:lnSpc>
                  <a:spcPct val="100000"/>
                </a:lnSpc>
                <a:spcAft>
                  <a:spcPts val="300"/>
                </a:spcAft>
                <a:buNone/>
              </a:pPr>
              <a:r>
                <a:rPr sz="1800" b="0">
                  <a:solidFill>
                    <a:srgbClr val="1F3238"/>
                  </a:solidFill>
                  <a:latin typeface="Roboto Medium"/>
                  <a:ea typeface="Roboto Medium"/>
                  <a:cs typeface="Roboto Medium"/>
                </a:rPr>
                <a:t>Teste prévio?</a:t>
              </a:r>
            </a:p>
          </p:txBody>
        </p:sp>
      </p:grpSp>
      <p:cxnSp>
        <p:nvCxnSpPr>
          <p:cNvPr id="30" name="Seta"/>
          <p:cNvCxnSpPr/>
          <p:nvPr/>
        </p:nvCxnSpPr>
        <p:spPr>
          <a:xfrm>
            <a:off x="6080760" y="1851660"/>
            <a:ext cx="5486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ótulo"/>
          <p:cNvSpPr txBox="1"/>
          <p:nvPr/>
        </p:nvSpPr>
        <p:spPr>
          <a:xfrm>
            <a:off x="6035040" y="1481328"/>
            <a:ext cx="59436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Sim</a:t>
            </a:r>
          </a:p>
        </p:txBody>
      </p:sp>
      <p:sp>
        <p:nvSpPr>
          <p:cNvPr id="32" name="Etapa"/>
          <p:cNvSpPr/>
          <p:nvPr/>
        </p:nvSpPr>
        <p:spPr>
          <a:xfrm>
            <a:off x="6629400" y="1417320"/>
            <a:ext cx="3017520" cy="868680"/>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Resultado do teste</a:t>
            </a:r>
          </a:p>
        </p:txBody>
      </p:sp>
      <p:cxnSp>
        <p:nvCxnSpPr>
          <p:cNvPr id="33" name="Seta"/>
          <p:cNvCxnSpPr/>
          <p:nvPr/>
        </p:nvCxnSpPr>
        <p:spPr>
          <a:xfrm>
            <a:off x="4754880" y="2514600"/>
            <a:ext cx="0" cy="685800"/>
          </a:xfrm>
          <a:prstGeom prst="line">
            <a:avLst/>
          </a:prstGeom>
          <a:ln w="38100">
            <a:solidFill>
              <a:srgbClr val="6B6E70"/>
            </a:solidFill>
          </a:ln>
        </p:spPr>
        <p:style>
          <a:lnRef idx="2">
            <a:schemeClr val="accent1"/>
          </a:lnRef>
          <a:fillRef idx="0">
            <a:schemeClr val="accent1"/>
          </a:fillRef>
          <a:effectRef idx="1">
            <a:schemeClr val="accent1"/>
          </a:effectRef>
          <a:fontRef idx="minor">
            <a:schemeClr val="tx1"/>
          </a:fontRef>
        </p:style>
      </p:cxnSp>
      <p:cxnSp>
        <p:nvCxnSpPr>
          <p:cNvPr id="34" name="Seta"/>
          <p:cNvCxnSpPr/>
          <p:nvPr/>
        </p:nvCxnSpPr>
        <p:spPr>
          <a:xfrm flipH="1">
            <a:off x="4206240" y="3200400"/>
            <a:ext cx="54864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ótulo"/>
          <p:cNvSpPr txBox="1"/>
          <p:nvPr/>
        </p:nvSpPr>
        <p:spPr>
          <a:xfrm>
            <a:off x="4114800" y="2560320"/>
            <a:ext cx="594360" cy="310896"/>
          </a:xfrm>
          <a:prstGeom prst="rect">
            <a:avLst/>
          </a:prstGeom>
          <a:noFill/>
        </p:spPr>
        <p:txBody>
          <a:bodyPr wrap="square" anchor="ctr" lIns="18288" rIns="18288" tIns="36576" bIns="36576">
            <a:spAutoFit/>
          </a:bodyPr>
          <a:lstStyle/>
          <a:p>
            <a:pPr algn="ctr">
              <a:lnSpc>
                <a:spcPct val="100000"/>
              </a:lnSpc>
              <a:spcAft>
                <a:spcPts val="300"/>
              </a:spcAft>
              <a:buNone/>
            </a:pPr>
            <a:r>
              <a:rPr sz="1800" b="0">
                <a:solidFill>
                  <a:srgbClr val="4E7C8B"/>
                </a:solidFill>
                <a:latin typeface="Roboto Medium"/>
                <a:ea typeface="Roboto Medium"/>
                <a:cs typeface="Roboto Medium"/>
              </a:rPr>
              <a:t>Não</a:t>
            </a:r>
          </a:p>
        </p:txBody>
      </p:sp>
      <p:sp>
        <p:nvSpPr>
          <p:cNvPr id="36" name="Fim/Início"/>
          <p:cNvSpPr/>
          <p:nvPr/>
        </p:nvSpPr>
        <p:spPr>
          <a:xfrm>
            <a:off x="713232" y="2880360"/>
            <a:ext cx="3474720" cy="640080"/>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Angio-TC ou estresse*</a:t>
            </a:r>
          </a:p>
        </p:txBody>
      </p:sp>
      <p:cxnSp>
        <p:nvCxnSpPr>
          <p:cNvPr id="37" name="Seta"/>
          <p:cNvCxnSpPr/>
          <p:nvPr/>
        </p:nvCxnSpPr>
        <p:spPr>
          <a:xfrm>
            <a:off x="8138160" y="2286000"/>
            <a:ext cx="0" cy="50292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o"/>
          <p:cNvSpPr txBox="1"/>
          <p:nvPr/>
        </p:nvSpPr>
        <p:spPr>
          <a:xfrm>
            <a:off x="5029200" y="2743200"/>
            <a:ext cx="6455664" cy="365760"/>
          </a:xfrm>
          <a:prstGeom prst="rect">
            <a:avLst/>
          </a:prstGeom>
          <a:noFill/>
        </p:spPr>
        <p:txBody>
          <a:bodyPr wrap="square" anchor="ctr" lIns="18288" rIns="18288" tIns="36576" bIns="36576">
            <a:spAutoFit/>
          </a:bodyPr>
          <a:lstStyle/>
          <a:p>
            <a:pPr algn="l">
              <a:lnSpc>
                <a:spcPct val="100000"/>
              </a:lnSpc>
              <a:spcAft>
                <a:spcPts val="300"/>
              </a:spcAft>
              <a:buNone/>
            </a:pPr>
            <a:r>
              <a:rPr sz="1600" b="0">
                <a:solidFill>
                  <a:srgbClr val="737A7F"/>
                </a:solidFill>
                <a:latin typeface="Roboto"/>
                <a:ea typeface="Roboto"/>
                <a:cs typeface="Roboto"/>
              </a:rPr>
              <a:t>Teste prévio: Sim</a:t>
            </a:r>
          </a:p>
        </p:txBody>
      </p:sp>
      <p:sp>
        <p:nvSpPr>
          <p:cNvPr id="39" name="Etapa"/>
          <p:cNvSpPr/>
          <p:nvPr/>
        </p:nvSpPr>
        <p:spPr>
          <a:xfrm>
            <a:off x="5029200" y="3200400"/>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Negativo e recente</a:t>
            </a:r>
          </a:p>
        </p:txBody>
      </p:sp>
      <p:cxnSp>
        <p:nvCxnSpPr>
          <p:cNvPr id="40" name="Seta"/>
          <p:cNvCxnSpPr/>
          <p:nvPr/>
        </p:nvCxnSpPr>
        <p:spPr>
          <a:xfrm>
            <a:off x="8869680" y="3502152"/>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Fim/Início"/>
          <p:cNvSpPr/>
          <p:nvPr/>
        </p:nvSpPr>
        <p:spPr>
          <a:xfrm>
            <a:off x="9326880" y="3200400"/>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Considerar Alta</a:t>
            </a:r>
          </a:p>
        </p:txBody>
      </p:sp>
      <p:sp>
        <p:nvSpPr>
          <p:cNvPr id="42" name="Etapa"/>
          <p:cNvSpPr/>
          <p:nvPr/>
        </p:nvSpPr>
        <p:spPr>
          <a:xfrm>
            <a:off x="5029200" y="3895344"/>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Estresse inconclusivo</a:t>
            </a:r>
          </a:p>
        </p:txBody>
      </p:sp>
      <p:cxnSp>
        <p:nvCxnSpPr>
          <p:cNvPr id="43" name="Seta"/>
          <p:cNvCxnSpPr/>
          <p:nvPr/>
        </p:nvCxnSpPr>
        <p:spPr>
          <a:xfrm>
            <a:off x="8869680" y="4197096"/>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Fim/Início"/>
          <p:cNvSpPr/>
          <p:nvPr/>
        </p:nvSpPr>
        <p:spPr>
          <a:xfrm>
            <a:off x="9326880" y="3895344"/>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Angio-TC</a:t>
            </a:r>
          </a:p>
        </p:txBody>
      </p:sp>
      <p:sp>
        <p:nvSpPr>
          <p:cNvPr id="45" name="Etapa"/>
          <p:cNvSpPr/>
          <p:nvPr/>
        </p:nvSpPr>
        <p:spPr>
          <a:xfrm>
            <a:off x="5029200" y="4590288"/>
            <a:ext cx="3840480" cy="603504"/>
          </a:xfrm>
          <a:prstGeom prst="rect">
            <a:avLst/>
          </a:prstGeom>
          <a:solidFill>
            <a:srgbClr val="F2F4F5"/>
          </a:solidFill>
          <a:ln w="25400">
            <a:solidFill>
              <a:srgbClr val="6E9DA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3B3F42"/>
                </a:solidFill>
                <a:latin typeface="Roboto Medium"/>
                <a:ea typeface="Roboto Medium"/>
                <a:cs typeface="Roboto Medium"/>
              </a:rPr>
              <a:t>Isquemia moderada/importante</a:t>
            </a:r>
          </a:p>
        </p:txBody>
      </p:sp>
      <p:cxnSp>
        <p:nvCxnSpPr>
          <p:cNvPr id="46" name="Seta"/>
          <p:cNvCxnSpPr/>
          <p:nvPr/>
        </p:nvCxnSpPr>
        <p:spPr>
          <a:xfrm>
            <a:off x="8869680" y="4892040"/>
            <a:ext cx="457200" cy="0"/>
          </a:xfrm>
          <a:prstGeom prst="line">
            <a:avLst/>
          </a:prstGeom>
          <a:ln w="38100">
            <a:solidFill>
              <a:srgbClr val="6B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Fim/Início"/>
          <p:cNvSpPr/>
          <p:nvPr/>
        </p:nvSpPr>
        <p:spPr>
          <a:xfrm>
            <a:off x="9326880" y="4590288"/>
            <a:ext cx="2157984" cy="603504"/>
          </a:xfrm>
          <a:prstGeom prst="roundRect">
            <a:avLst>
              <a:gd name="adj" fmla="val 50000"/>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00000"/>
              </a:lnSpc>
              <a:spcAft>
                <a:spcPts val="300"/>
              </a:spcAft>
              <a:buNone/>
            </a:pPr>
            <a:r>
              <a:rPr sz="1800" b="0">
                <a:solidFill>
                  <a:srgbClr val="FBFCFC"/>
                </a:solidFill>
                <a:latin typeface="Roboto Medium"/>
                <a:ea typeface="Roboto Medium"/>
                <a:cs typeface="Roboto Medium"/>
              </a:rPr>
              <a:t>CATE</a:t>
            </a:r>
          </a:p>
        </p:txBody>
      </p:sp>
    </p:spTree>
    <p:extLst>
      <p:ext uri="{BB962C8B-B14F-4D97-AF65-F5344CB8AC3E}">
        <p14:creationId xmlns:p14="http://schemas.microsoft.com/office/powerpoint/2010/main" val="4031354853"/>
      </p:ext>
    </p:extLst>
  </p:cSld>
  <p:clrMapOvr>
    <a:masterClrMapping/>
  </p:clrMapOvr>
  <p:timing>
    <p:tnLst>
      <p:par>
        <p:cTn id="1" dur="indefinite" restart="never" nodeType="tmRoot"/>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sz="2800">
                <a:solidFill>
                  <a:srgbClr val="3B3F42"/>
                </a:solidFill>
                <a:latin typeface="Roboto Medium"/>
                <a:ea typeface="Roboto Medium"/>
                <a:cs typeface="Roboto Medium"/>
              </a:rPr>
              <a:t>Investigação não invasiva – Definições (sem DAC)</a:t>
            </a:r>
            <a:endParaRPr lang="pt-BR" dirty="0" sz="3200"/>
          </a:p>
        </p:txBody>
      </p:sp>
      <p:sp>
        <p:nvSpPr>
          <p:cNvPr id="3" name="Card"/>
          <p:cNvSpPr/>
          <p:nvPr/>
        </p:nvSpPr>
        <p:spPr>
          <a:xfrm>
            <a:off x="711403" y="1600000"/>
            <a:ext cx="5300000"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aixa"/>
          <p:cNvSpPr/>
          <p:nvPr/>
        </p:nvSpPr>
        <p:spPr>
          <a:xfrm>
            <a:off x="711403" y="1600000"/>
            <a:ext cx="5300000"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ítulo do card"/>
          <p:cNvSpPr txBox="1"/>
          <p:nvPr/>
        </p:nvSpPr>
        <p:spPr>
          <a:xfrm>
            <a:off x="940003" y="1800000"/>
            <a:ext cx="4842800"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Exame negativo recente</a:t>
            </a:r>
          </a:p>
        </p:txBody>
      </p:sp>
      <p:sp>
        <p:nvSpPr>
          <p:cNvPr id="6" name="Corpo do card"/>
          <p:cNvSpPr txBox="1"/>
          <p:nvPr/>
        </p:nvSpPr>
        <p:spPr>
          <a:xfrm>
            <a:off x="940003" y="2200000"/>
            <a:ext cx="4842800"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3B3F42"/>
                </a:solidFill>
                <a:latin typeface="Roboto Medium"/>
                <a:ea typeface="Roboto Medium"/>
                <a:cs typeface="Roboto Medium"/>
              </a:rPr>
              <a:t>Angiografia coronária invasiva ou não-invasiva</a:t>
            </a:r>
            <a:r>
              <a:rPr sz="1300" b="0" i="0">
                <a:solidFill>
                  <a:srgbClr val="5F6468"/>
                </a:solidFill>
                <a:latin typeface="Roboto"/>
                <a:ea typeface="Roboto"/>
                <a:cs typeface="Roboto"/>
              </a:rPr>
              <a:t> (angiotomografia) completamente normal (sem placa ou estenose) realizada dentro de </a:t>
            </a:r>
            <a:r>
              <a:rPr sz="1300" b="0" i="0">
                <a:solidFill>
                  <a:srgbClr val="3B3F42"/>
                </a:solidFill>
                <a:latin typeface="Roboto Medium"/>
                <a:ea typeface="Roboto Medium"/>
                <a:cs typeface="Roboto Medium"/>
              </a:rPr>
              <a:t>2 anos</a:t>
            </a:r>
          </a:p>
          <a:p>
            <a:pPr algn="l">
              <a:lnSpc>
                <a:spcPct val="120000"/>
              </a:lnSpc>
              <a:spcAft>
                <a:spcPts val="600"/>
              </a:spcAft>
            </a:pPr>
            <a:r>
              <a:rPr sz="1300" b="0" i="0">
                <a:solidFill>
                  <a:srgbClr val="5F6468"/>
                </a:solidFill>
                <a:latin typeface="Roboto"/>
                <a:ea typeface="Roboto"/>
                <a:cs typeface="Roboto"/>
              </a:rPr>
              <a:t>ou </a:t>
            </a:r>
            <a:r>
              <a:rPr sz="1300" b="0" i="0">
                <a:solidFill>
                  <a:srgbClr val="3B3F42"/>
                </a:solidFill>
                <a:latin typeface="Roboto Medium"/>
                <a:ea typeface="Roboto Medium"/>
                <a:cs typeface="Roboto Medium"/>
              </a:rPr>
              <a:t>Teste funcional com estresse adequado</a:t>
            </a:r>
            <a:r>
              <a:rPr sz="1300" b="0" i="0">
                <a:solidFill>
                  <a:srgbClr val="5F6468"/>
                </a:solidFill>
                <a:latin typeface="Roboto"/>
                <a:ea typeface="Roboto"/>
                <a:cs typeface="Roboto"/>
              </a:rPr>
              <a:t> e resultado normal realizado dentro de </a:t>
            </a:r>
            <a:r>
              <a:rPr sz="1300" b="0" i="0">
                <a:solidFill>
                  <a:srgbClr val="3B3F42"/>
                </a:solidFill>
                <a:latin typeface="Roboto Medium"/>
                <a:ea typeface="Roboto Medium"/>
                <a:cs typeface="Roboto Medium"/>
              </a:rPr>
              <a:t>1 ano</a:t>
            </a:r>
            <a:r>
              <a:rPr sz="1300" b="0" i="0">
                <a:solidFill>
                  <a:srgbClr val="5F6468"/>
                </a:solidFill>
                <a:latin typeface="Roboto"/>
                <a:ea typeface="Roboto"/>
                <a:cs typeface="Roboto"/>
              </a:rPr>
              <a:t> do quadro atual de dor torácica</a:t>
            </a:r>
          </a:p>
          <a:p>
            <a:pPr algn="l">
              <a:lnSpc>
                <a:spcPct val="120000"/>
              </a:lnSpc>
              <a:spcAft>
                <a:spcPts val="600"/>
              </a:spcAft>
            </a:pPr>
            <a:r>
              <a:rPr sz="1300" b="0" i="1">
                <a:solidFill>
                  <a:srgbClr val="5F6468"/>
                </a:solidFill>
                <a:latin typeface="Roboto"/>
                <a:ea typeface="Roboto"/>
                <a:cs typeface="Roboto"/>
              </a:rPr>
              <a:t>Obs: Improvável a presença de SCA e DAC significativa se exame negativo recente (a ausência de aterosclerose coronária na angiotomografia fornece o maior VPN para risco futuro de SCA)</a:t>
            </a:r>
          </a:p>
        </p:txBody>
      </p:sp>
      <p:sp>
        <p:nvSpPr>
          <p:cNvPr id="7" name="Card"/>
          <p:cNvSpPr/>
          <p:nvPr/>
        </p:nvSpPr>
        <p:spPr>
          <a:xfrm>
            <a:off x="6300000" y="1600000"/>
            <a:ext cx="5183035" cy="3000000"/>
          </a:xfrm>
          <a:prstGeom prst="rect">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ixa"/>
          <p:cNvSpPr/>
          <p:nvPr/>
        </p:nvSpPr>
        <p:spPr>
          <a:xfrm>
            <a:off x="6300000" y="1600000"/>
            <a:ext cx="5183035" cy="38100"/>
          </a:xfrm>
          <a:prstGeom prst="rect">
            <a:avLst/>
          </a:prstGeom>
          <a:solidFill>
            <a:srgbClr val="4E7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ítulo do card"/>
          <p:cNvSpPr txBox="1"/>
          <p:nvPr/>
        </p:nvSpPr>
        <p:spPr>
          <a:xfrm>
            <a:off x="6528600" y="1800000"/>
            <a:ext cx="4725835" cy="260000"/>
          </a:xfrm>
          <a:prstGeom prst="rect">
            <a:avLst/>
          </a:prstGeom>
          <a:noFill/>
        </p:spPr>
        <p:txBody>
          <a:bodyPr wrap="square" lIns="0" rIns="0" tIns="0" bIns="0" anchor="t">
            <a:spAutoFit/>
          </a:bodyPr>
          <a:lstStyle/>
          <a:p>
            <a:pPr algn="l"/>
            <a:r>
              <a:rPr sz="1500" b="0" i="0">
                <a:solidFill>
                  <a:srgbClr val="3B3F42"/>
                </a:solidFill>
                <a:latin typeface="Roboto Medium"/>
                <a:ea typeface="Roboto Medium"/>
                <a:cs typeface="Roboto Medium"/>
              </a:rPr>
              <a:t>Teste de estresse</a:t>
            </a:r>
          </a:p>
        </p:txBody>
      </p:sp>
      <p:sp>
        <p:nvSpPr>
          <p:cNvPr id="10" name="Corpo do card"/>
          <p:cNvSpPr txBox="1"/>
          <p:nvPr/>
        </p:nvSpPr>
        <p:spPr>
          <a:xfrm>
            <a:off x="6528600" y="2200000"/>
            <a:ext cx="4725835" cy="2300000"/>
          </a:xfrm>
          <a:prstGeom prst="rect">
            <a:avLst/>
          </a:prstGeom>
          <a:noFill/>
        </p:spPr>
        <p:txBody>
          <a:bodyPr wrap="square" lIns="0" rIns="0" tIns="0" bIns="0" anchor="t">
            <a:spAutoFit/>
          </a:bodyPr>
          <a:lstStyle/>
          <a:p>
            <a:pPr algn="l">
              <a:lnSpc>
                <a:spcPct val="120000"/>
              </a:lnSpc>
              <a:spcAft>
                <a:spcPts val="600"/>
              </a:spcAft>
            </a:pPr>
            <a:r>
              <a:rPr sz="1300" b="0" i="0">
                <a:solidFill>
                  <a:srgbClr val="5F6468"/>
                </a:solidFill>
                <a:latin typeface="Roboto"/>
                <a:ea typeface="Roboto"/>
                <a:cs typeface="Roboto"/>
              </a:rPr>
              <a:t>• Ecocardiograma com estresse</a:t>
            </a:r>
          </a:p>
          <a:p>
            <a:pPr algn="l">
              <a:lnSpc>
                <a:spcPct val="120000"/>
              </a:lnSpc>
              <a:spcAft>
                <a:spcPts val="600"/>
              </a:spcAft>
            </a:pPr>
            <a:r>
              <a:rPr sz="1300" b="0" i="0">
                <a:solidFill>
                  <a:srgbClr val="5F6468"/>
                </a:solidFill>
                <a:latin typeface="Roboto"/>
                <a:ea typeface="Roboto"/>
                <a:cs typeface="Roboto"/>
              </a:rPr>
              <a:t>• PET/SPECT com estresse</a:t>
            </a:r>
          </a:p>
          <a:p>
            <a:pPr algn="l">
              <a:lnSpc>
                <a:spcPct val="120000"/>
              </a:lnSpc>
              <a:spcAft>
                <a:spcPts val="600"/>
              </a:spcAft>
            </a:pPr>
            <a:r>
              <a:rPr sz="1300" b="0" i="0">
                <a:solidFill>
                  <a:srgbClr val="5F6468"/>
                </a:solidFill>
                <a:latin typeface="Roboto"/>
                <a:ea typeface="Roboto"/>
                <a:cs typeface="Roboto"/>
              </a:rPr>
              <a:t>• Ressonância de coração com estresse farmacológico</a:t>
            </a:r>
          </a:p>
          <a:p>
            <a:pPr algn="l">
              <a:lnSpc>
                <a:spcPct val="120000"/>
              </a:lnSpc>
              <a:spcAft>
                <a:spcPts val="600"/>
              </a:spcAft>
            </a:pPr>
            <a:r>
              <a:rPr sz="1300" b="0" i="0">
                <a:solidFill>
                  <a:srgbClr val="5F6468"/>
                </a:solidFill>
                <a:latin typeface="Roboto"/>
                <a:ea typeface="Roboto"/>
                <a:cs typeface="Roboto"/>
              </a:rPr>
              <a:t>• Teste de esforço (idealmente com avaliação de imagem associada)</a:t>
            </a:r>
          </a:p>
        </p:txBody>
      </p:sp>
      <p:sp>
        <p:nvSpPr>
          <p:cNvPr id="4" name="TextBox 3"/>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75  ·  Dor torácica – Protocolo 2025 | Set 2026</a:t>
            </a:r>
          </a:p>
        </p:txBody>
      </p:sp>
      <p:sp>
        <p:nvSpPr>
          <p:cNvPr id="5" name="TextBox 4"/>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Troponina e ECG normais não é sempre = Baixo Risco e alta precoce em todos... Valorize a Angina Instável !</a:t>
            </a:r>
          </a:p>
        </p:txBody>
      </p:sp>
      <p:sp>
        <p:nvSpPr>
          <p:cNvPr id="3" name="Caixa 3"/>
          <p:cNvSpPr txBox="1"/>
          <p:nvPr/>
        </p:nvSpPr>
        <p:spPr>
          <a:xfrm>
            <a:off x="711403" y="2100000"/>
            <a:ext cx="4500000" cy="3000000"/>
          </a:xfrm>
          <a:prstGeom prst="rect">
            <a:avLst/>
          </a:prstGeom>
          <a:solidFill>
            <a:srgbClr val="F2F4F5"/>
          </a:solidFill>
        </p:spPr>
        <p:txBody>
          <a:bodyPr wrap="square" lIns="240000" tIns="200000" rIns="240000" bIns="200000" anchor="ctr">
            <a:noAutofit/>
          </a:bodyPr>
          <a:lstStyle/>
          <a:p>
            <a:pPr marL="0" indent="0" algn="l">
              <a:lnSpc>
                <a:spcPct val="120000"/>
              </a:lnSpc>
              <a:spcBef>
                <a:spcPts val="0"/>
              </a:spcBef>
              <a:spcAft>
                <a:spcPts val="1200"/>
              </a:spcAft>
              <a:buNone/>
            </a:pPr>
            <a:r>
              <a:rPr lang="pt-BR" sz="1300" b="0" i="0" dirty="0">
                <a:solidFill>
                  <a:srgbClr val="5F6468"/>
                </a:solidFill>
                <a:latin typeface="Roboto"/>
                <a:ea typeface="Roboto"/>
                <a:cs typeface="Roboto"/>
              </a:rPr>
              <a:t>Paciente masc, 52 anos</a:t>
            </a:r>
          </a:p>
          <a:p>
            <a:pPr marL="0" indent="0" algn="l">
              <a:lnSpc>
                <a:spcPct val="120000"/>
              </a:lnSpc>
              <a:spcBef>
                <a:spcPts val="0"/>
              </a:spcBef>
              <a:spcAft>
                <a:spcPts val="1200"/>
              </a:spcAft>
              <a:buNone/>
            </a:pPr>
            <a:r>
              <a:rPr lang="pt-BR" sz="1300" b="0" i="0" dirty="0">
                <a:solidFill>
                  <a:srgbClr val="5F6468"/>
                </a:solidFill>
                <a:latin typeface="Roboto"/>
                <a:ea typeface="Roboto"/>
                <a:cs typeface="Roboto"/>
              </a:rPr>
              <a:t>Sem fatores de risco tradicionais</a:t>
            </a:r>
          </a:p>
          <a:p>
            <a:pPr marL="0" indent="0" algn="l">
              <a:lnSpc>
                <a:spcPct val="120000"/>
              </a:lnSpc>
              <a:spcBef>
                <a:spcPts val="0"/>
              </a:spcBef>
              <a:spcAft>
                <a:spcPts val="1200"/>
              </a:spcAft>
              <a:buNone/>
            </a:pPr>
            <a:r>
              <a:rPr lang="pt-BR" sz="1300" b="0" i="0" dirty="0">
                <a:solidFill>
                  <a:srgbClr val="B5533C"/>
                </a:solidFill>
                <a:latin typeface="Roboto Medium"/>
                <a:ea typeface="Roboto Medium"/>
                <a:cs typeface="Roboto Medium"/>
              </a:rPr>
              <a:t>Dor torácica típicamente anginosa</a:t>
            </a:r>
          </a:p>
          <a:p>
            <a:pPr marL="0" indent="0" algn="l">
              <a:lnSpc>
                <a:spcPct val="120000"/>
              </a:lnSpc>
              <a:spcBef>
                <a:spcPts val="0"/>
              </a:spcBef>
              <a:spcAft>
                <a:spcPts val="1200"/>
              </a:spcAft>
              <a:buNone/>
            </a:pPr>
            <a:r>
              <a:rPr lang="pt-BR" sz="1300" b="0" i="0" dirty="0">
                <a:solidFill>
                  <a:srgbClr val="5F6468"/>
                </a:solidFill>
                <a:latin typeface="Roboto"/>
                <a:ea typeface="Roboto"/>
                <a:cs typeface="Roboto"/>
              </a:rPr>
              <a:t>Curva de Troponina de alta sensibilidade e ECG normais ...</a:t>
            </a:r>
          </a:p>
          <a:p>
            <a:pPr marL="0" indent="0" algn="l">
              <a:lnSpc>
                <a:spcPct val="120000"/>
              </a:lnSpc>
              <a:spcBef>
                <a:spcPts val="0"/>
              </a:spcBef>
              <a:spcAft>
                <a:spcPts val="0"/>
              </a:spcAft>
              <a:buNone/>
            </a:pPr>
            <a:r>
              <a:rPr lang="pt-BR" sz="1300" b="0" i="0" dirty="0">
                <a:solidFill>
                  <a:srgbClr val="5F6468"/>
                </a:solidFill>
                <a:latin typeface="Roboto"/>
                <a:ea typeface="Roboto"/>
                <a:cs typeface="Roboto"/>
              </a:rPr>
              <a:t>Angiotomografia com lesões obstrutivas ACX e ACD</a:t>
            </a:r>
          </a:p>
        </p:txBody>
      </p:sp>
      <p:pic>
        <p:nvPicPr>
          <p:cNvPr id="4" name="Figura 4" descr="Coronariografias CAT e ICP"/>
          <p:cNvPicPr>
            <a:picLocks noChangeAspect="1"/>
          </p:cNvPicPr>
          <p:nvPr/>
        </p:nvPicPr>
        <p:blipFill>
          <a:blip r:embed="rId10"/>
          <a:stretch>
            <a:fillRect/>
          </a:stretch>
        </p:blipFill>
        <p:spPr>
          <a:xfrm>
            <a:off x="5762087" y="1650000"/>
            <a:ext cx="5470263" cy="3900000"/>
          </a:xfrm>
          <a:prstGeom prst="rect">
            <a:avLst/>
          </a:prstGeom>
        </p:spPr>
      </p:pic>
      <p:sp>
        <p:nvSpPr>
          <p:cNvPr id="5" name="Rodapé 5"/>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76  ·  Dor torácica – Protocolo 2025 | Set 2026</a:t>
            </a:r>
          </a:p>
        </p:txBody>
      </p:sp>
      <p:sp>
        <p:nvSpPr>
          <p:cNvPr id="6" name="Rodapé 6"/>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Pontos importantes na condução da DT com ECG não diagnóstico</a:t>
            </a:r>
          </a:p>
        </p:txBody>
      </p:sp>
      <p:sp>
        <p:nvSpPr>
          <p:cNvPr id="3" name="Caixa 3"/>
          <p:cNvSpPr txBox="1"/>
          <p:nvPr/>
        </p:nvSpPr>
        <p:spPr>
          <a:xfrm>
            <a:off x="711403" y="1417320"/>
            <a:ext cx="7800000" cy="2700000"/>
          </a:xfrm>
          <a:prstGeom prst="rect">
            <a:avLst/>
          </a:prstGeom>
          <a:solidFill>
            <a:srgbClr val="F2F4F5"/>
          </a:solidFill>
        </p:spPr>
        <p:txBody>
          <a:bodyPr wrap="square" lIns="240000" tIns="150000" rIns="240000" bIns="150000" anchor="ctr">
            <a:noAutofit/>
          </a:bodyPr>
          <a:lstStyle/>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ECG é realmente normal?</a:t>
            </a:r>
          </a:p>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Fundamental valorizar ainda mais os sintomas</a:t>
            </a:r>
          </a:p>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Utilização dos escores de Risco para sistematização e auxílio na conduta</a:t>
            </a:r>
          </a:p>
          <a:p>
            <a:pPr marL="285750" indent="-285750" algn="l">
              <a:lnSpc>
                <a:spcPct val="125000"/>
              </a:lnSpc>
              <a:spcBef>
                <a:spcPts val="0"/>
              </a:spcBef>
              <a:spcAft>
                <a:spcPts val="900"/>
              </a:spcAft>
              <a:buClr>
                <a:srgbClr val="4E7C8B"/>
              </a:buClr>
              <a:buFont typeface="Arial"/>
              <a:buChar char="•"/>
            </a:pPr>
            <a:r>
              <a:rPr lang="pt-BR" sz="1300" b="0" i="0" dirty="0">
                <a:solidFill>
                  <a:srgbClr val="5F6468"/>
                </a:solidFill>
                <a:latin typeface="Roboto"/>
                <a:ea typeface="Roboto"/>
                <a:cs typeface="Roboto"/>
              </a:rPr>
              <a:t>Saber aplicar e interpretar dosagens de troponina</a:t>
            </a:r>
          </a:p>
          <a:p>
            <a:pPr marL="285750" indent="-285750" algn="l">
              <a:lnSpc>
                <a:spcPct val="125000"/>
              </a:lnSpc>
              <a:spcBef>
                <a:spcPts val="0"/>
              </a:spcBef>
              <a:spcAft>
                <a:spcPts val="0"/>
              </a:spcAft>
              <a:buClr>
                <a:srgbClr val="4E7C8B"/>
              </a:buClr>
              <a:buFont typeface="Arial"/>
              <a:buChar char="•"/>
            </a:pPr>
            <a:r>
              <a:rPr lang="pt-BR" sz="1300" b="0" i="0" dirty="0">
                <a:solidFill>
                  <a:srgbClr val="5F6468"/>
                </a:solidFill>
                <a:latin typeface="Roboto"/>
                <a:ea typeface="Roboto"/>
                <a:cs typeface="Roboto"/>
              </a:rPr>
              <a:t>Utilização de rotas de investigação e exames complementares</a:t>
            </a:r>
          </a:p>
        </p:txBody>
      </p:sp>
      <p:pic>
        <p:nvPicPr>
          <p:cNvPr id="4" name="Figura 4" descr="Ilustração de uma unidade hospitalar"/>
          <p:cNvPicPr>
            <a:picLocks noChangeAspect="1"/>
          </p:cNvPicPr>
          <p:nvPr/>
        </p:nvPicPr>
        <p:blipFill>
          <a:blip r:embed="rId10"/>
          <a:stretch>
            <a:fillRect/>
          </a:stretch>
        </p:blipFill>
        <p:spPr>
          <a:xfrm>
            <a:off x="8850000" y="1417320"/>
            <a:ext cx="2633035" cy="3187821"/>
          </a:xfrm>
          <a:prstGeom prst="rect">
            <a:avLst/>
          </a:prstGeom>
        </p:spPr>
      </p:pic>
      <p:sp>
        <p:nvSpPr>
          <p:cNvPr id="5" name="Seta 5"/>
          <p:cNvSpPr/>
          <p:nvPr/>
        </p:nvSpPr>
        <p:spPr>
          <a:xfrm>
            <a:off x="4211403" y="4200000"/>
            <a:ext cx="400000" cy="520000"/>
          </a:xfrm>
          <a:prstGeom prst="downArrow">
            <a:avLst/>
          </a:prstGeom>
          <a:solidFill>
            <a:srgbClr val="A3A6A8"/>
          </a:solidFill>
          <a:ln>
            <a:noFill/>
          </a:ln>
        </p:spPr>
        <p:txBody>
          <a:bodyPr/>
          <a:lstStyle/>
          <a:p>
            <a:endParaRPr lang="pt-BR"/>
          </a:p>
        </p:txBody>
      </p:sp>
      <p:sp>
        <p:nvSpPr>
          <p:cNvPr id="6" name="Caixa 6"/>
          <p:cNvSpPr txBox="1"/>
          <p:nvPr/>
        </p:nvSpPr>
        <p:spPr>
          <a:xfrm>
            <a:off x="711403" y="4850000"/>
            <a:ext cx="4300000" cy="950000"/>
          </a:xfrm>
          <a:prstGeom prst="rect">
            <a:avLst/>
          </a:prstGeom>
          <a:solidFill>
            <a:srgbClr val="F2F4F5"/>
          </a:solidFill>
        </p:spPr>
        <p:txBody>
          <a:bodyPr wrap="square" lIns="200000" tIns="100000" rIns="200000" bIns="100000" anchor="ctr">
            <a:noAutofit/>
          </a:bodyPr>
          <a:lstStyle/>
          <a:p>
            <a:pPr marL="285750" indent="-285750" algn="l">
              <a:lnSpc>
                <a:spcPct val="120000"/>
              </a:lnSpc>
              <a:spcBef>
                <a:spcPts val="0"/>
              </a:spcBef>
              <a:spcAft>
                <a:spcPts val="300"/>
              </a:spcAft>
              <a:buClr>
                <a:srgbClr val="4E7C8B"/>
              </a:buClr>
              <a:buFont typeface="Arial"/>
              <a:buChar char="•"/>
            </a:pPr>
            <a:r>
              <a:rPr lang="pt-BR" sz="1300" b="0" i="0" dirty="0">
                <a:solidFill>
                  <a:srgbClr val="5F6468"/>
                </a:solidFill>
                <a:latin typeface="Roboto"/>
                <a:ea typeface="Roboto"/>
                <a:cs typeface="Roboto"/>
              </a:rPr>
              <a:t>Diagnóstico Final ou Sindrômico</a:t>
            </a:r>
          </a:p>
          <a:p>
            <a:pPr marL="285750" indent="-285750" algn="l">
              <a:lnSpc>
                <a:spcPct val="120000"/>
              </a:lnSpc>
              <a:spcBef>
                <a:spcPts val="0"/>
              </a:spcBef>
              <a:spcAft>
                <a:spcPts val="0"/>
              </a:spcAft>
              <a:buClr>
                <a:srgbClr val="4E7C8B"/>
              </a:buClr>
              <a:buFont typeface="Arial"/>
              <a:buChar char="•"/>
            </a:pPr>
            <a:r>
              <a:rPr lang="pt-BR" sz="1300" b="0" i="0" dirty="0">
                <a:solidFill>
                  <a:srgbClr val="5F6468"/>
                </a:solidFill>
                <a:latin typeface="Roboto"/>
                <a:ea typeface="Roboto"/>
                <a:cs typeface="Roboto"/>
              </a:rPr>
              <a:t>Decisão de internação ou Alta</a:t>
            </a:r>
          </a:p>
        </p:txBody>
      </p:sp>
      <p:sp>
        <p:nvSpPr>
          <p:cNvPr id="7" name="Seta 7"/>
          <p:cNvSpPr/>
          <p:nvPr/>
        </p:nvSpPr>
        <p:spPr>
          <a:xfrm>
            <a:off x="5161403" y="5165000"/>
            <a:ext cx="560000" cy="320000"/>
          </a:xfrm>
          <a:prstGeom prst="rightArrow">
            <a:avLst/>
          </a:prstGeom>
          <a:solidFill>
            <a:srgbClr val="A3A6A8"/>
          </a:solidFill>
          <a:ln>
            <a:noFill/>
          </a:ln>
        </p:spPr>
        <p:txBody>
          <a:bodyPr/>
          <a:lstStyle/>
          <a:p>
            <a:endParaRPr lang="pt-BR"/>
          </a:p>
        </p:txBody>
      </p:sp>
      <p:sp>
        <p:nvSpPr>
          <p:cNvPr id="8" name="Caixa 8"/>
          <p:cNvSpPr txBox="1"/>
          <p:nvPr/>
        </p:nvSpPr>
        <p:spPr>
          <a:xfrm>
            <a:off x="5871403" y="4850000"/>
            <a:ext cx="4700000" cy="950000"/>
          </a:xfrm>
          <a:prstGeom prst="rect">
            <a:avLst/>
          </a:prstGeom>
          <a:solidFill>
            <a:srgbClr val="F2F4F5"/>
          </a:solidFill>
        </p:spPr>
        <p:txBody>
          <a:bodyPr wrap="square" lIns="200000" tIns="100000" rIns="200000" bIns="100000" anchor="ctr">
            <a:noAutofit/>
          </a:bodyPr>
          <a:lstStyle/>
          <a:p>
            <a:pPr marL="285750" indent="-285750" algn="l">
              <a:lnSpc>
                <a:spcPct val="120000"/>
              </a:lnSpc>
              <a:spcBef>
                <a:spcPts val="0"/>
              </a:spcBef>
              <a:spcAft>
                <a:spcPts val="300"/>
              </a:spcAft>
              <a:buClr>
                <a:srgbClr val="4E7C8B"/>
              </a:buClr>
              <a:buFont typeface="Arial"/>
              <a:buChar char="•"/>
            </a:pPr>
            <a:r>
              <a:rPr lang="pt-BR" sz="1300" b="0" i="0" dirty="0">
                <a:solidFill>
                  <a:srgbClr val="5F6468"/>
                </a:solidFill>
                <a:latin typeface="Roboto"/>
                <a:ea typeface="Roboto"/>
                <a:cs typeface="Roboto"/>
              </a:rPr>
              <a:t>Melhor gestão de recursos</a:t>
            </a:r>
          </a:p>
          <a:p>
            <a:pPr marL="285750" indent="-285750" algn="l">
              <a:lnSpc>
                <a:spcPct val="120000"/>
              </a:lnSpc>
              <a:spcBef>
                <a:spcPts val="0"/>
              </a:spcBef>
              <a:spcAft>
                <a:spcPts val="0"/>
              </a:spcAft>
              <a:buClr>
                <a:srgbClr val="4E7C8B"/>
              </a:buClr>
              <a:buFont typeface="Arial"/>
              <a:buChar char="•"/>
            </a:pPr>
            <a:r>
              <a:rPr lang="pt-BR" sz="1300" b="0" i="0" dirty="0">
                <a:solidFill>
                  <a:srgbClr val="5F6468"/>
                </a:solidFill>
                <a:latin typeface="Roboto"/>
                <a:ea typeface="Roboto"/>
                <a:cs typeface="Roboto"/>
              </a:rPr>
              <a:t>Redução de Mortalidade e Sequelas Graves</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77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extBox 1"/>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78  ·  Dor torácica – Protocolo 2025 | Set 2026</a:t>
            </a:r>
          </a:p>
        </p:txBody>
      </p:sp>
      <p:sp>
        <p:nvSpPr>
          <p:cNvPr id="3" name="TextBox 2"/>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409360852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B8A99"/>
            </a:gs>
            <a:gs pos="100000">
              <a:srgbClr val="4E7C8B"/>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2834640"/>
            <a:ext cx="10771632" cy="822960"/>
          </a:xfrm>
        </p:spPr>
        <p:txBody>
          <a:bodyPr wrap="square" anchor="t"/>
          <a:lstStyle/>
          <a:p>
            <a:pPr algn="ctr">
              <a:lnSpc>
                <a:spcPct val="110000"/>
              </a:lnSpc>
            </a:pPr>
            <a:r>
              <a:rPr sz="4400" b="1" spc="100">
                <a:solidFill>
                  <a:srgbClr val="FBFCFC"/>
                </a:solidFill>
                <a:latin typeface="Roboto"/>
                <a:ea typeface="Roboto"/>
                <a:cs typeface="Roboto"/>
              </a:rPr>
              <a:t>NUANCES DO ECG</a:t>
            </a:r>
            <a:endParaRPr lang="pt-BR" dirty="0" sz="3200"/>
          </a:p>
        </p:txBody>
      </p:sp>
      <p:sp>
        <p:nvSpPr>
          <p:cNvPr id="3" name="Oval 2"/>
          <p:cNvSpPr/>
          <p:nvPr/>
        </p:nvSpPr>
        <p:spPr>
          <a:xfrm>
            <a:off x="5537149" y="1417320"/>
            <a:ext cx="1117396" cy="1117396"/>
          </a:xfrm>
          <a:prstGeom prst="ellipse">
            <a:avLst/>
          </a:prstGeom>
          <a:noFill/>
          <a:ln w="19050">
            <a:solidFill>
              <a:srgbClr val="C9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816498" y="1836343"/>
            <a:ext cx="558698" cy="335219"/>
          </a:xfrm>
          <a:custGeom>
            <a:avLst/>
            <a:gdLst/>
            <a:ahLst/>
            <a:cxnLst/>
            <a:rect l="l" t="t" r="r" b="b"/>
            <a:pathLst>
              <a:path w="558698" h="335219">
                <a:moveTo>
                  <a:pt x="0" y="167610"/>
                </a:moveTo>
                <a:lnTo>
                  <a:pt x="156435" y="167610"/>
                </a:lnTo>
                <a:lnTo>
                  <a:pt x="212305" y="0"/>
                </a:lnTo>
                <a:lnTo>
                  <a:pt x="279349" y="335219"/>
                </a:lnTo>
                <a:lnTo>
                  <a:pt x="335219" y="83805"/>
                </a:lnTo>
                <a:lnTo>
                  <a:pt x="379915" y="167610"/>
                </a:lnTo>
                <a:lnTo>
                  <a:pt x="558698" y="167610"/>
                </a:lnTo>
              </a:path>
            </a:pathLst>
          </a:custGeom>
          <a:noFill/>
          <a:ln w="28575">
            <a:solidFill>
              <a:srgbClr val="FBF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1403" y="3794760"/>
            <a:ext cx="10771632" cy="365760"/>
          </a:xfrm>
          <a:prstGeom prst="rect">
            <a:avLst/>
          </a:prstGeom>
          <a:noFill/>
        </p:spPr>
        <p:txBody>
          <a:bodyPr wrap="square" lIns="0" rIns="0" tIns="0" bIns="0" anchor="t">
            <a:spAutoFit/>
          </a:bodyPr>
          <a:lstStyle/>
          <a:p>
            <a:pPr algn="ctr"/>
            <a:r>
              <a:rPr sz="1200" spc="300">
                <a:solidFill>
                  <a:srgbClr val="C9E3E6"/>
                </a:solidFill>
                <a:latin typeface="Roboto Medium"/>
                <a:ea typeface="Roboto Medium"/>
                <a:cs typeface="Roboto Medium"/>
              </a:rPr>
              <a:t>SEÇÃO 01 · ECG</a:t>
            </a:r>
          </a:p>
        </p:txBody>
      </p:sp>
      <p:sp>
        <p:nvSpPr>
          <p:cNvPr id="6" name="TextBox 5"/>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C9E3E6"/>
                </a:solidFill>
                <a:latin typeface="Roboto"/>
                <a:ea typeface="Roboto"/>
                <a:cs typeface="Roboto"/>
              </a:rPr>
              <a:t>79  ·  Dor torácica – Protocolo 2025 | Set 2026</a:t>
            </a:r>
          </a:p>
        </p:txBody>
      </p:sp>
    </p:spTree>
    <p:extLst>
      <p:ext uri="{BB962C8B-B14F-4D97-AF65-F5344CB8AC3E}">
        <p14:creationId xmlns:p14="http://schemas.microsoft.com/office/powerpoint/2010/main" val="186368564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Wellens</a:t>
            </a:r>
          </a:p>
        </p:txBody>
      </p:sp>
      <p:pic>
        <p:nvPicPr>
          <p:cNvPr id="3" name="Figura 3" descr="ECG de 12 derivações sem dor (a) e com dor (b) – padrão de Wellens"/>
          <p:cNvPicPr>
            <a:picLocks noChangeAspect="1"/>
          </p:cNvPicPr>
          <p:nvPr/>
        </p:nvPicPr>
        <p:blipFill>
          <a:blip r:embed="rId10"/>
          <a:stretch>
            <a:fillRect/>
          </a:stretch>
        </p:blipFill>
        <p:spPr>
          <a:xfrm>
            <a:off x="2517522" y="1400000"/>
            <a:ext cx="7159392" cy="3850000"/>
          </a:xfrm>
          <a:prstGeom prst="rect">
            <a:avLst/>
          </a:prstGeom>
        </p:spPr>
      </p:pic>
      <p:sp>
        <p:nvSpPr>
          <p:cNvPr id="4" name="Legenda 4"/>
          <p:cNvSpPr txBox="1"/>
          <p:nvPr/>
        </p:nvSpPr>
        <p:spPr>
          <a:xfrm>
            <a:off x="711403" y="535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Sub oclusão de artéria descendente anterior (DA) em seu terço proximal com (a) ECG sem dor apresentando ondas T com padrão </a:t>
            </a:r>
            <a:r>
              <a:rPr lang="pt-BR" sz="1200" b="0" i="1" dirty="0">
                <a:solidFill>
                  <a:srgbClr val="737A7F"/>
                </a:solidFill>
                <a:latin typeface="Roboto"/>
                <a:ea typeface="Roboto"/>
                <a:cs typeface="Roboto"/>
              </a:rPr>
              <a:t>plus/minus</a:t>
            </a:r>
            <a:r>
              <a:rPr lang="pt-BR" sz="1200" b="0" i="0" dirty="0">
                <a:solidFill>
                  <a:srgbClr val="737A7F"/>
                </a:solidFill>
                <a:latin typeface="Roboto"/>
                <a:ea typeface="Roboto"/>
                <a:cs typeface="Roboto"/>
              </a:rPr>
              <a:t> em precordiais (V1 a V6), que (b) pseudo normalizam quando na presença de sintomas. Este é o estágio de transição entre o padrão basal e o surgimento do supradesnível ST quando da oclusão completa da artéria. (Padrão de Wellens).</a:t>
            </a:r>
          </a:p>
        </p:txBody>
      </p:sp>
      <p:sp>
        <p:nvSpPr>
          <p:cNvPr id="5" name="Rodapé 5"/>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80  ·  Dor torácica – Protocolo 2025 | Set 2026</a:t>
            </a:r>
          </a:p>
        </p:txBody>
      </p:sp>
      <p:sp>
        <p:nvSpPr>
          <p:cNvPr id="6" name="Rodapé 6"/>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DeWinter</a:t>
            </a:r>
          </a:p>
        </p:txBody>
      </p:sp>
      <p:pic>
        <p:nvPicPr>
          <p:cNvPr id="3" name="Figura 3" descr="ECG com padrão de DeWinter e coronariografias A e B"/>
          <p:cNvPicPr>
            <a:picLocks noChangeAspect="1"/>
          </p:cNvPicPr>
          <p:nvPr/>
        </p:nvPicPr>
        <p:blipFill>
          <a:blip r:embed="rId10"/>
          <a:stretch>
            <a:fillRect/>
          </a:stretch>
        </p:blipFill>
        <p:spPr>
          <a:xfrm>
            <a:off x="1039406" y="1400000"/>
            <a:ext cx="10115625" cy="3900000"/>
          </a:xfrm>
          <a:prstGeom prst="rect">
            <a:avLst/>
          </a:prstGeom>
        </p:spPr>
      </p:pic>
      <p:sp>
        <p:nvSpPr>
          <p:cNvPr id="4" name="Legenda 4"/>
          <p:cNvSpPr txBox="1"/>
          <p:nvPr/>
        </p:nvSpPr>
        <p:spPr>
          <a:xfrm>
            <a:off x="711403" y="540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Oclusão aguda de artéria descendente anterior (DA) em seu terço proximal com ECG apresentando infradesnível ST ascendente nas derivação precordiais (V1 a V6), seguido de ondas T hiperagudas associado a supradesnível ST em aVR (Padrão de DeWinter). A) DA oclusão pré septal. B) DA pós angioplastia.</a:t>
            </a:r>
          </a:p>
        </p:txBody>
      </p:sp>
      <p:sp>
        <p:nvSpPr>
          <p:cNvPr id="5" name="Rodapé 5"/>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81  ·  Dor torácica – Protocolo 2025 | Set 2026</a:t>
            </a:r>
          </a:p>
        </p:txBody>
      </p:sp>
      <p:sp>
        <p:nvSpPr>
          <p:cNvPr id="6" name="Rodapé 6"/>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Texto 3"/>
          <p:cNvSpPr txBox="1"/>
          <p:nvPr/>
        </p:nvSpPr>
        <p:spPr>
          <a:xfrm>
            <a:off x="711403" y="141732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Paradigma OMI/NOMI (OCA/NOCA)</a:t>
            </a:r>
          </a:p>
        </p:txBody>
      </p:sp>
      <p:sp>
        <p:nvSpPr>
          <p:cNvPr id="4" name="Texto 4"/>
          <p:cNvSpPr txBox="1"/>
          <p:nvPr/>
        </p:nvSpPr>
        <p:spPr>
          <a:xfrm>
            <a:off x="711403" y="185000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1" i="0" dirty="0">
                <a:solidFill>
                  <a:srgbClr val="3B3F42"/>
                </a:solidFill>
                <a:latin typeface="Roboto"/>
                <a:ea typeface="Roboto"/>
                <a:cs typeface="Roboto"/>
              </a:rPr>
              <a:t>“Padrão de Aslanger”</a:t>
            </a:r>
          </a:p>
        </p:txBody>
      </p:sp>
      <p:sp>
        <p:nvSpPr>
          <p:cNvPr id="5" name="Caixa 5"/>
          <p:cNvSpPr txBox="1"/>
          <p:nvPr/>
        </p:nvSpPr>
        <p:spPr>
          <a:xfrm>
            <a:off x="711403" y="2350000"/>
            <a:ext cx="4600000" cy="1550000"/>
          </a:xfrm>
          <a:prstGeom prst="rect">
            <a:avLst/>
          </a:prstGeom>
          <a:solidFill>
            <a:srgbClr val="4E7C8B"/>
          </a:solidFill>
        </p:spPr>
        <p:txBody>
          <a:bodyPr wrap="square" lIns="180000" tIns="120000" rIns="180000" bIns="120000" anchor="ctr">
            <a:noAutofit/>
          </a:bodyPr>
          <a:lstStyle/>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Supradesnível ST em DIII</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ST &gt; em V1 que V2</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Infradesnível ST em V4 e/ou V5 e/ou V6, mas não em V2</a:t>
            </a:r>
          </a:p>
        </p:txBody>
      </p:sp>
      <p:sp>
        <p:nvSpPr>
          <p:cNvPr id="6" name="Texto 6"/>
          <p:cNvSpPr txBox="1"/>
          <p:nvPr/>
        </p:nvSpPr>
        <p:spPr>
          <a:xfrm>
            <a:off x="711403" y="4200000"/>
            <a:ext cx="4600000" cy="70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IAM inferior associado a lesão multiarterial</a:t>
            </a:r>
          </a:p>
        </p:txBody>
      </p:sp>
      <p:pic>
        <p:nvPicPr>
          <p:cNvPr id="7" name="Figura 7" descr="ECG de 12 derivações com padrão de Aslanger (alterações circuladas)"/>
          <p:cNvPicPr>
            <a:picLocks noChangeAspect="1"/>
          </p:cNvPicPr>
          <p:nvPr/>
        </p:nvPicPr>
        <p:blipFill>
          <a:blip r:embed="rId10"/>
          <a:stretch>
            <a:fillRect/>
          </a:stretch>
        </p:blipFill>
        <p:spPr>
          <a:xfrm>
            <a:off x="6905295" y="1417320"/>
            <a:ext cx="4577739" cy="4100000"/>
          </a:xfrm>
          <a:prstGeom prst="rect">
            <a:avLst/>
          </a:prstGeom>
        </p:spPr>
      </p:pic>
      <p:sp>
        <p:nvSpPr>
          <p:cNvPr id="8" name="Legenda 8"/>
          <p:cNvSpPr txBox="1"/>
          <p:nvPr/>
        </p:nvSpPr>
        <p:spPr>
          <a:xfrm>
            <a:off x="711403" y="5620000"/>
            <a:ext cx="10771632" cy="45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Aslanger E, Yıldırımtürk Ö, Şimşek B, Sungur A, Cabbar AT, Bozbeyoğlu E, et al. A New Electrocardiographic Pattern Indicating Inferior Myocardial Infarction. J Electrocardiol. 2020;61:41-6. doi: 10.1016/j.jelectrocard.2020.04.008.</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82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Texto 3"/>
          <p:cNvSpPr txBox="1"/>
          <p:nvPr/>
        </p:nvSpPr>
        <p:spPr>
          <a:xfrm>
            <a:off x="711403" y="141732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Paradigma OMI/NOMI (OCA/NOCA)</a:t>
            </a:r>
          </a:p>
        </p:txBody>
      </p:sp>
      <p:sp>
        <p:nvSpPr>
          <p:cNvPr id="4" name="Texto 4"/>
          <p:cNvSpPr txBox="1"/>
          <p:nvPr/>
        </p:nvSpPr>
        <p:spPr>
          <a:xfrm>
            <a:off x="711403" y="1850000"/>
            <a:ext cx="49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1" i="0" dirty="0">
                <a:solidFill>
                  <a:srgbClr val="3B3F42"/>
                </a:solidFill>
                <a:latin typeface="Roboto"/>
                <a:ea typeface="Roboto"/>
                <a:cs typeface="Roboto"/>
              </a:rPr>
              <a:t>Ondas T hiperagudas</a:t>
            </a:r>
          </a:p>
        </p:txBody>
      </p:sp>
      <p:sp>
        <p:nvSpPr>
          <p:cNvPr id="5" name="Texto 5"/>
          <p:cNvSpPr txBox="1"/>
          <p:nvPr/>
        </p:nvSpPr>
        <p:spPr>
          <a:xfrm>
            <a:off x="711403" y="2350000"/>
            <a:ext cx="4900000" cy="9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B5533C"/>
                </a:solidFill>
                <a:latin typeface="Roboto"/>
                <a:ea typeface="Roboto"/>
                <a:cs typeface="Roboto"/>
              </a:rPr>
              <a:t>Ondas T convexas que se alargam em direção ao QRS e além do QRS</a:t>
            </a:r>
          </a:p>
        </p:txBody>
      </p:sp>
      <p:sp>
        <p:nvSpPr>
          <p:cNvPr id="6" name="Lista 6"/>
          <p:cNvSpPr txBox="1"/>
          <p:nvPr/>
        </p:nvSpPr>
        <p:spPr>
          <a:xfrm>
            <a:off x="711403" y="3500000"/>
            <a:ext cx="4900000" cy="1600000"/>
          </a:xfrm>
          <a:prstGeom prst="rect">
            <a:avLst/>
          </a:prstGeom>
          <a:noFill/>
        </p:spPr>
        <p:txBody>
          <a:bodyPr wrap="square" lIns="0" tIns="0" rIns="0" bIns="0" anchor="t">
            <a:noAutofit/>
          </a:bodyPr>
          <a:lstStyle/>
          <a:p>
            <a:pPr marL="285750" indent="-285750" algn="l">
              <a:lnSpc>
                <a:spcPct val="120000"/>
              </a:lnSpc>
              <a:spcBef>
                <a:spcPts val="0"/>
              </a:spcBef>
              <a:spcAft>
                <a:spcPts val="1200"/>
              </a:spcAft>
              <a:buClr>
                <a:srgbClr val="4E7C8B"/>
              </a:buClr>
              <a:buFont typeface="Arial"/>
              <a:buChar char="•"/>
            </a:pPr>
            <a:r>
              <a:rPr lang="pt-BR" sz="1500" b="0" i="0" dirty="0">
                <a:solidFill>
                  <a:srgbClr val="4E7C8B"/>
                </a:solidFill>
                <a:latin typeface="Roboto Medium"/>
                <a:ea typeface="Roboto Medium"/>
                <a:cs typeface="Roboto Medium"/>
              </a:rPr>
              <a:t>1ª manifestação OCA</a:t>
            </a:r>
          </a:p>
          <a:p>
            <a:pPr marL="285750" indent="-285750" algn="l">
              <a:lnSpc>
                <a:spcPct val="120000"/>
              </a:lnSpc>
              <a:spcBef>
                <a:spcPts val="0"/>
              </a:spcBef>
              <a:spcAft>
                <a:spcPts val="1200"/>
              </a:spcAft>
              <a:buClr>
                <a:srgbClr val="4E7C8B"/>
              </a:buClr>
              <a:buFont typeface="Arial"/>
              <a:buChar char="•"/>
            </a:pPr>
            <a:r>
              <a:rPr lang="pt-BR" sz="1500" b="0" i="0" dirty="0">
                <a:solidFill>
                  <a:srgbClr val="4E7C8B"/>
                </a:solidFill>
                <a:latin typeface="Roboto Medium"/>
                <a:ea typeface="Roboto Medium"/>
                <a:cs typeface="Roboto Medium"/>
              </a:rPr>
              <a:t>Prolongam o QTi</a:t>
            </a:r>
          </a:p>
          <a:p>
            <a:pPr marL="285750" indent="-285750" algn="l">
              <a:lnSpc>
                <a:spcPct val="120000"/>
              </a:lnSpc>
              <a:spcBef>
                <a:spcPts val="0"/>
              </a:spcBef>
              <a:spcAft>
                <a:spcPts val="1200"/>
              </a:spcAft>
              <a:buClr>
                <a:srgbClr val="4E7C8B"/>
              </a:buClr>
              <a:buFont typeface="Arial"/>
              <a:buChar char="•"/>
            </a:pPr>
            <a:r>
              <a:rPr lang="pt-BR" sz="1500" b="0" i="0" dirty="0">
                <a:solidFill>
                  <a:srgbClr val="4E7C8B"/>
                </a:solidFill>
                <a:latin typeface="Roboto Medium"/>
                <a:ea typeface="Roboto Medium"/>
                <a:cs typeface="Roboto Medium"/>
              </a:rPr>
              <a:t>Infradesnível recíproco</a:t>
            </a:r>
          </a:p>
        </p:txBody>
      </p:sp>
      <p:pic>
        <p:nvPicPr>
          <p:cNvPr id="7" name="Figura 7" descr="ECG em V4, V5 e aVF com ondas T hiperagudas e alteração recíproca inferior"/>
          <p:cNvPicPr>
            <a:picLocks noChangeAspect="1"/>
          </p:cNvPicPr>
          <p:nvPr/>
        </p:nvPicPr>
        <p:blipFill>
          <a:blip r:embed="rId10"/>
          <a:stretch>
            <a:fillRect/>
          </a:stretch>
        </p:blipFill>
        <p:spPr>
          <a:xfrm>
            <a:off x="7634244" y="1417320"/>
            <a:ext cx="3848790" cy="4150000"/>
          </a:xfrm>
          <a:prstGeom prst="rect">
            <a:avLst/>
          </a:prstGeom>
        </p:spPr>
      </p:pic>
      <p:sp>
        <p:nvSpPr>
          <p:cNvPr id="8" name="Legenda 8"/>
          <p:cNvSpPr txBox="1"/>
          <p:nvPr/>
        </p:nvSpPr>
        <p:spPr>
          <a:xfrm>
            <a:off x="711403" y="5620000"/>
            <a:ext cx="10771632" cy="45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OMI: Occluded Myocardial Infarction (OCA: Oclusão Coronária Aguda); NOMI: Non Occluded Myocardial Infarction (NOCA: Não Oclusão Coronária Aguda)</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83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Como identificamos a oclusão coronária hoje?</a:t>
            </a:r>
          </a:p>
        </p:txBody>
      </p:sp>
      <p:sp>
        <p:nvSpPr>
          <p:cNvPr id="3" name="Texto 3"/>
          <p:cNvSpPr txBox="1"/>
          <p:nvPr/>
        </p:nvSpPr>
        <p:spPr>
          <a:xfrm>
            <a:off x="711403" y="1417320"/>
            <a:ext cx="46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Paradigma OMI/NOMI (OCA/NOCA)</a:t>
            </a:r>
          </a:p>
        </p:txBody>
      </p:sp>
      <p:sp>
        <p:nvSpPr>
          <p:cNvPr id="4" name="Texto 4"/>
          <p:cNvSpPr txBox="1"/>
          <p:nvPr/>
        </p:nvSpPr>
        <p:spPr>
          <a:xfrm>
            <a:off x="711403" y="1850000"/>
            <a:ext cx="4300000" cy="3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1" i="0" dirty="0">
                <a:solidFill>
                  <a:srgbClr val="3B3F42"/>
                </a:solidFill>
                <a:latin typeface="Roboto"/>
                <a:ea typeface="Roboto"/>
                <a:cs typeface="Roboto"/>
              </a:rPr>
              <a:t>“Oclusão de Ramo Diagonal”</a:t>
            </a:r>
          </a:p>
        </p:txBody>
      </p:sp>
      <p:sp>
        <p:nvSpPr>
          <p:cNvPr id="5" name="Caixa 5"/>
          <p:cNvSpPr txBox="1"/>
          <p:nvPr/>
        </p:nvSpPr>
        <p:spPr>
          <a:xfrm>
            <a:off x="711403" y="2350000"/>
            <a:ext cx="4300000" cy="1550000"/>
          </a:xfrm>
          <a:prstGeom prst="rect">
            <a:avLst/>
          </a:prstGeom>
          <a:solidFill>
            <a:srgbClr val="4E7C8B"/>
          </a:solidFill>
        </p:spPr>
        <p:txBody>
          <a:bodyPr wrap="square" lIns="180000" tIns="120000" rIns="180000" bIns="120000" anchor="ctr">
            <a:noAutofit/>
          </a:bodyPr>
          <a:lstStyle/>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Supradesnível ST em (DI), aVL e V2</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Infradesnível ST em DIII</a:t>
            </a:r>
          </a:p>
          <a:p>
            <a:pPr marL="285750" indent="-285750" algn="l">
              <a:lnSpc>
                <a:spcPct val="125000"/>
              </a:lnSpc>
              <a:spcBef>
                <a:spcPts val="0"/>
              </a:spcBef>
              <a:spcAft>
                <a:spcPts val="400"/>
              </a:spcAft>
              <a:buClr>
                <a:srgbClr val="FBFCFC"/>
              </a:buClr>
              <a:buFont typeface="Arial"/>
              <a:buChar char="•"/>
            </a:pPr>
            <a:r>
              <a:rPr lang="pt-BR" sz="1300" b="0" i="0" dirty="0">
                <a:solidFill>
                  <a:srgbClr val="FBFCFC"/>
                </a:solidFill>
                <a:latin typeface="Roboto"/>
                <a:ea typeface="Roboto"/>
                <a:cs typeface="Roboto"/>
              </a:rPr>
              <a:t>Padrão da “Bandeira da África do Sul”</a:t>
            </a:r>
          </a:p>
        </p:txBody>
      </p:sp>
      <p:sp>
        <p:nvSpPr>
          <p:cNvPr id="6" name="Texto 6"/>
          <p:cNvSpPr txBox="1"/>
          <p:nvPr/>
        </p:nvSpPr>
        <p:spPr>
          <a:xfrm>
            <a:off x="711403" y="4300000"/>
            <a:ext cx="4300000" cy="50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500" b="0" i="0" dirty="0">
                <a:solidFill>
                  <a:srgbClr val="B5533C"/>
                </a:solidFill>
                <a:latin typeface="Roboto Medium"/>
                <a:ea typeface="Roboto Medium"/>
                <a:cs typeface="Roboto Medium"/>
              </a:rPr>
              <a:t>Oclusão de Ramo Diagonal</a:t>
            </a:r>
          </a:p>
        </p:txBody>
      </p:sp>
      <p:pic>
        <p:nvPicPr>
          <p:cNvPr id="7" name="Figura 7" descr="ECG com o padrão da bandeira da África do Sul (STE em I, aVL e V2; STD em III)"/>
          <p:cNvPicPr>
            <a:picLocks noChangeAspect="1"/>
          </p:cNvPicPr>
          <p:nvPr/>
        </p:nvPicPr>
        <p:blipFill>
          <a:blip r:embed="rId10"/>
          <a:stretch>
            <a:fillRect/>
          </a:stretch>
        </p:blipFill>
        <p:spPr>
          <a:xfrm>
            <a:off x="5300000" y="1700000"/>
            <a:ext cx="6183035" cy="3778521"/>
          </a:xfrm>
          <a:prstGeom prst="rect">
            <a:avLst/>
          </a:prstGeom>
        </p:spPr>
      </p:pic>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84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Normal para o BRE</a:t>
            </a:r>
          </a:p>
        </p:txBody>
      </p:sp>
      <p:sp>
        <p:nvSpPr>
          <p:cNvPr id="3" name="Subtítulo 3"/>
          <p:cNvSpPr txBox="1"/>
          <p:nvPr/>
        </p:nvSpPr>
        <p:spPr>
          <a:xfrm>
            <a:off x="711403" y="1010000"/>
            <a:ext cx="10771632" cy="3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737A7F"/>
                </a:solidFill>
                <a:latin typeface="Roboto"/>
                <a:ea typeface="Roboto"/>
                <a:cs typeface="Roboto"/>
              </a:rPr>
              <a:t>Discordância apropriada do segmento ST e onda T em todas as derivações</a:t>
            </a:r>
          </a:p>
        </p:txBody>
      </p:sp>
      <p:pic>
        <p:nvPicPr>
          <p:cNvPr id="4" name="Figura 4" descr="Esquema do QRS, ST e onda T no BRE (A e B)"/>
          <p:cNvPicPr>
            <a:picLocks noChangeAspect="1"/>
          </p:cNvPicPr>
          <p:nvPr/>
        </p:nvPicPr>
        <p:blipFill>
          <a:blip r:embed="rId10"/>
          <a:stretch>
            <a:fillRect/>
          </a:stretch>
        </p:blipFill>
        <p:spPr>
          <a:xfrm>
            <a:off x="2900895" y="1550000"/>
            <a:ext cx="6392647" cy="3450000"/>
          </a:xfrm>
          <a:prstGeom prst="rect">
            <a:avLst/>
          </a:prstGeom>
        </p:spPr>
      </p:pic>
      <p:sp>
        <p:nvSpPr>
          <p:cNvPr id="5" name="Legenda 5"/>
          <p:cNvSpPr txBox="1"/>
          <p:nvPr/>
        </p:nvSpPr>
        <p:spPr>
          <a:xfrm>
            <a:off x="711403" y="515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No Bloqueio de Ramo Esquerdo (BRE), toda a despolarização do VE se inicia a partir do septo interventricular. Desta maneira a repolarização do VE se dá de maneira inversa ao normal se iniciando também a partir do septo, alterando toda a polaridade da onda T associada a um desvio discordante do segmento ST em relação ao QRS precedente.</a:t>
            </a:r>
          </a:p>
        </p:txBody>
      </p:sp>
      <p:sp>
        <p:nvSpPr>
          <p:cNvPr id="6" name="Rodapé 6"/>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85  ·  Dor torácica – Protocolo 2025 | Set 2026</a:t>
            </a:r>
          </a:p>
        </p:txBody>
      </p:sp>
      <p:sp>
        <p:nvSpPr>
          <p:cNvPr id="7" name="Rodapé 7"/>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Oclusão coronária no BRE</a:t>
            </a:r>
          </a:p>
        </p:txBody>
      </p:sp>
      <p:sp>
        <p:nvSpPr>
          <p:cNvPr id="3" name="Texto 3"/>
          <p:cNvSpPr txBox="1"/>
          <p:nvPr/>
        </p:nvSpPr>
        <p:spPr>
          <a:xfrm>
            <a:off x="711403" y="1417320"/>
            <a:ext cx="3423877" cy="520000"/>
          </a:xfrm>
          <a:prstGeom prst="rect">
            <a:avLst/>
          </a:prstGeom>
          <a:noFill/>
        </p:spPr>
        <p:txBody>
          <a:bodyPr wrap="square" lIns="0" tIns="0" rIns="0" bIns="0" anchor="t">
            <a:noAutofit/>
          </a:bodyPr>
          <a:lstStyle/>
          <a:p>
            <a:pPr marL="0" indent="0" algn="l">
              <a:lnSpc>
                <a:spcPct val="115000"/>
              </a:lnSpc>
              <a:spcBef>
                <a:spcPts val="0"/>
              </a:spcBef>
              <a:spcAft>
                <a:spcPts val="0"/>
              </a:spcAft>
              <a:buNone/>
            </a:pPr>
            <a:r>
              <a:rPr lang="pt-BR" sz="1200" b="0" i="0" dirty="0">
                <a:solidFill>
                  <a:srgbClr val="3B3F42"/>
                </a:solidFill>
                <a:latin typeface="Roboto Medium"/>
                <a:ea typeface="Roboto Medium"/>
                <a:cs typeface="Roboto Medium"/>
              </a:rPr>
              <a:t>Concordância inadequada no BRE -&gt; oclusão coronária</a:t>
            </a:r>
          </a:p>
        </p:txBody>
      </p:sp>
      <p:pic>
        <p:nvPicPr>
          <p:cNvPr id="4" name="Figura 4" descr="Esquema 1: Concordância inadequada no BRE -&gt; oclusão coronária"/>
          <p:cNvPicPr>
            <a:picLocks noChangeAspect="1"/>
          </p:cNvPicPr>
          <p:nvPr/>
        </p:nvPicPr>
        <p:blipFill>
          <a:blip r:embed="rId10"/>
          <a:stretch>
            <a:fillRect/>
          </a:stretch>
        </p:blipFill>
        <p:spPr>
          <a:xfrm>
            <a:off x="813047" y="2000000"/>
            <a:ext cx="3220588" cy="3000000"/>
          </a:xfrm>
          <a:prstGeom prst="rect">
            <a:avLst/>
          </a:prstGeom>
        </p:spPr>
      </p:pic>
      <p:sp>
        <p:nvSpPr>
          <p:cNvPr id="5" name="Texto 5"/>
          <p:cNvSpPr txBox="1"/>
          <p:nvPr/>
        </p:nvSpPr>
        <p:spPr>
          <a:xfrm>
            <a:off x="4385280" y="1417320"/>
            <a:ext cx="3423877" cy="520000"/>
          </a:xfrm>
          <a:prstGeom prst="rect">
            <a:avLst/>
          </a:prstGeom>
          <a:noFill/>
        </p:spPr>
        <p:txBody>
          <a:bodyPr wrap="square" lIns="0" tIns="0" rIns="0" bIns="0" anchor="t">
            <a:noAutofit/>
          </a:bodyPr>
          <a:lstStyle/>
          <a:p>
            <a:pPr marL="0" indent="0" algn="l">
              <a:lnSpc>
                <a:spcPct val="115000"/>
              </a:lnSpc>
              <a:spcBef>
                <a:spcPts val="0"/>
              </a:spcBef>
              <a:spcAft>
                <a:spcPts val="0"/>
              </a:spcAft>
              <a:buNone/>
            </a:pPr>
            <a:r>
              <a:rPr lang="pt-BR" sz="1200" b="0" i="0" dirty="0">
                <a:solidFill>
                  <a:srgbClr val="3B3F42"/>
                </a:solidFill>
                <a:latin typeface="Roboto Medium"/>
                <a:ea typeface="Roboto Medium"/>
                <a:cs typeface="Roboto Medium"/>
              </a:rPr>
              <a:t>Concordância inadequada no BRE -&gt; oclusão coronária</a:t>
            </a:r>
          </a:p>
        </p:txBody>
      </p:sp>
      <p:pic>
        <p:nvPicPr>
          <p:cNvPr id="6" name="Figura 6" descr="Esquema 2: Concordância inadequada no BRE -&gt; oclusão coronária"/>
          <p:cNvPicPr>
            <a:picLocks noChangeAspect="1"/>
          </p:cNvPicPr>
          <p:nvPr/>
        </p:nvPicPr>
        <p:blipFill>
          <a:blip r:embed="rId11"/>
          <a:stretch>
            <a:fillRect/>
          </a:stretch>
        </p:blipFill>
        <p:spPr>
          <a:xfrm>
            <a:off x="4385280" y="2000000"/>
            <a:ext cx="3423877" cy="2947134"/>
          </a:xfrm>
          <a:prstGeom prst="rect">
            <a:avLst/>
          </a:prstGeom>
        </p:spPr>
      </p:pic>
      <p:sp>
        <p:nvSpPr>
          <p:cNvPr id="7" name="Texto 7"/>
          <p:cNvSpPr txBox="1"/>
          <p:nvPr/>
        </p:nvSpPr>
        <p:spPr>
          <a:xfrm>
            <a:off x="8059157" y="1417320"/>
            <a:ext cx="3423877" cy="520000"/>
          </a:xfrm>
          <a:prstGeom prst="rect">
            <a:avLst/>
          </a:prstGeom>
          <a:noFill/>
        </p:spPr>
        <p:txBody>
          <a:bodyPr wrap="square" lIns="0" tIns="0" rIns="0" bIns="0" anchor="t">
            <a:noAutofit/>
          </a:bodyPr>
          <a:lstStyle/>
          <a:p>
            <a:pPr marL="0" indent="0" algn="l">
              <a:lnSpc>
                <a:spcPct val="115000"/>
              </a:lnSpc>
              <a:spcBef>
                <a:spcPts val="0"/>
              </a:spcBef>
              <a:spcAft>
                <a:spcPts val="0"/>
              </a:spcAft>
              <a:buNone/>
            </a:pPr>
            <a:r>
              <a:rPr lang="pt-BR" sz="1200" b="0" i="0" dirty="0">
                <a:solidFill>
                  <a:srgbClr val="3B3F42"/>
                </a:solidFill>
                <a:latin typeface="Roboto Medium"/>
                <a:ea typeface="Roboto Medium"/>
                <a:cs typeface="Roboto Medium"/>
              </a:rPr>
              <a:t>Discordância excessiva no BRE -&gt; oclusão coronária</a:t>
            </a:r>
          </a:p>
        </p:txBody>
      </p:sp>
      <p:pic>
        <p:nvPicPr>
          <p:cNvPr id="8" name="Figura 8" descr="Esquema 3: Discordância excessiva no BRE -&gt; oclusão coronária"/>
          <p:cNvPicPr>
            <a:picLocks noChangeAspect="1"/>
          </p:cNvPicPr>
          <p:nvPr/>
        </p:nvPicPr>
        <p:blipFill>
          <a:blip r:embed="rId12"/>
          <a:stretch>
            <a:fillRect/>
          </a:stretch>
        </p:blipFill>
        <p:spPr>
          <a:xfrm>
            <a:off x="8059157" y="2000000"/>
            <a:ext cx="3423877" cy="2910295"/>
          </a:xfrm>
          <a:prstGeom prst="rect">
            <a:avLst/>
          </a:prstGeom>
        </p:spPr>
      </p:pic>
      <p:sp>
        <p:nvSpPr>
          <p:cNvPr id="9" name="Legenda 9"/>
          <p:cNvSpPr txBox="1"/>
          <p:nvPr/>
        </p:nvSpPr>
        <p:spPr>
          <a:xfrm>
            <a:off x="711403" y="5150000"/>
            <a:ext cx="10771632" cy="8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1) e 2) Concordância do segmento ST/ onda T com QRS. 3) Discordância excessiva da repolarização em relação ao QRS precedente. Em todos os casos indicando alteração primária da repolarização. Qualquer um dos critérios isoladamente apontam para oclusão coronária aguda, mesmo que em uma derivação apenas. http://hqmeded-ecg.blogspot.com.br</a:t>
            </a:r>
          </a:p>
        </p:txBody>
      </p:sp>
      <p:sp>
        <p:nvSpPr>
          <p:cNvPr id="10" name="Rodapé 10"/>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86  ·  Dor torácica – Protocolo 2025 | Set 2026</a:t>
            </a:r>
          </a:p>
        </p:txBody>
      </p:sp>
      <p:sp>
        <p:nvSpPr>
          <p:cNvPr id="11" name="Rodapé 11"/>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7"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BRE – SCACSST e equivalentes</a:t>
            </a:r>
          </a:p>
        </p:txBody>
      </p:sp>
      <p:sp>
        <p:nvSpPr>
          <p:cNvPr id="5" name="TextBox 4"/>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87  ·  Dor torácica – Protocolo 2025 | Set 2026</a:t>
            </a:r>
          </a:p>
        </p:txBody>
      </p:sp>
      <p:sp>
        <p:nvSpPr>
          <p:cNvPr id="6" name="TextBox 5"/>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8" name="Tabela"/>
          <p:cNvGraphicFramePr>
            <a:graphicFrameLocks noGrp="1"/>
          </p:cNvGraphicFramePr>
          <p:nvPr/>
        </p:nvGraphicFramePr>
        <p:xfrm>
          <a:off x="711403" y="1417320"/>
          <a:ext cx="10771632" cy="4059363"/>
        </p:xfrm>
        <a:graphic>
          <a:graphicData uri="http://schemas.openxmlformats.org/drawingml/2006/table">
            <a:tbl>
              <a:tblPr firstRow="1"/>
              <a:tblGrid>
                <a:gridCol w="10771632"/>
              </a:tblGrid>
              <a:tr h="319010">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Síndrome coronariana aguda com elevação persistente de ST (SCACSST) em paciente com bloqueio de ramo esquerdo*</a:t>
                      </a:r>
                      <a:endParaRPr lang="pt-BR" sz="1300" dirty="0"/>
                    </a:p>
                  </a:txBody>
                  <a:tcPr marL="91440" marR="91440" marT="54864" marB="54864" anchor="ctr">
                    <a:lnL w="0">
                      <a:noFill/>
                    </a:lnL>
                    <a:lnR w="0">
                      <a:noFill/>
                    </a:lnR>
                    <a:lnT w="0">
                      <a:noFill/>
                    </a:lnT>
                    <a:lnB w="0">
                      <a:noFill/>
                    </a:lnB>
                    <a:solidFill>
                      <a:srgbClr val="4E7C8B"/>
                    </a:solidFill>
                  </a:tcPr>
                </a:tc>
              </a:tr>
              <a:tr h="184413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Elevação concordante do segmento ST ≥ 1 mm em derivações com complexo QRS positivo</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Depressão concordante do segmento ST ≥ 1 mm (Sgarbossa em V1-V3)</a:t>
                      </a:r>
                      <a:endParaRPr lang="pt-BR" sz="1300" dirty="0"/>
                    </a:p>
                    <a:p>
                      <a:pPr algn="l" marL="0" indent="0">
                        <a:lnSpc>
                          <a:spcPct val="100000"/>
                        </a:lnSpc>
                        <a:spcBef>
                          <a:spcPts val="0"/>
                        </a:spcBef>
                        <a:spcAft>
                          <a:spcPts val="0"/>
                        </a:spcAft>
                        <a:buNone/>
                      </a:pPr>
                      <a:r>
                        <a:rPr lang="pt-BR" sz="1300" b="0" i="0" dirty="0">
                          <a:solidFill>
                            <a:srgbClr val="5F6468"/>
                          </a:solidFill>
                          <a:latin typeface="Roboto"/>
                          <a:ea typeface="Roboto"/>
                          <a:cs typeface="Roboto"/>
                        </a:rPr>
                        <a:t>• Elevação discordante do segmento ST ≥ 5 mm em derivações com complexo QRS negativo e/ou relação ST/S com amplitude do desvio do segmento ST de pelo menos 25% da onda S anterior**</a:t>
                      </a:r>
                      <a:endParaRPr lang="pt-BR" sz="1300" dirty="0"/>
                    </a:p>
                    <a:p>
                      <a:pPr algn="l" marL="0" indent="0">
                        <a:lnSpc>
                          <a:spcPct val="100000"/>
                        </a:lnSpc>
                        <a:spcBef>
                          <a:spcPts val="600"/>
                        </a:spcBef>
                        <a:spcAft>
                          <a:spcPts val="0"/>
                        </a:spcAft>
                        <a:buNone/>
                      </a:pPr>
                      <a:r>
                        <a:rPr lang="pt-BR" sz="1300" b="0" i="1" dirty="0">
                          <a:solidFill>
                            <a:srgbClr val="5F6468"/>
                          </a:solidFill>
                          <a:latin typeface="Roboto"/>
                          <a:ea typeface="Roboto"/>
                          <a:cs typeface="Roboto"/>
                        </a:rPr>
                        <a:t>*Bloqueio de ramo esquerdo novo isoladamente não é mais considerado necessariamente critério diagnóstico para SCACSST, embora indique situação de maior risco (correlacionar clínica).</a:t>
                      </a:r>
                      <a:endParaRPr lang="pt-BR" sz="1300" dirty="0"/>
                    </a:p>
                    <a:p>
                      <a:pPr algn="l" marL="0" indent="0">
                        <a:lnSpc>
                          <a:spcPct val="100000"/>
                        </a:lnSpc>
                        <a:spcBef>
                          <a:spcPts val="300"/>
                        </a:spcBef>
                        <a:spcAft>
                          <a:spcPts val="0"/>
                        </a:spcAft>
                        <a:buNone/>
                      </a:pPr>
                      <a:r>
                        <a:rPr lang="pt-BR" sz="1300" b="0" i="1" dirty="0">
                          <a:solidFill>
                            <a:srgbClr val="5F6468"/>
                          </a:solidFill>
                          <a:latin typeface="Roboto"/>
                          <a:ea typeface="Roboto"/>
                          <a:cs typeface="Roboto"/>
                        </a:rPr>
                        <a:t>**Valorizar também razão de ST/R discordante quando infradesnivelamento for pelo menos 25% da onda R anterior. No critério de Barcelona, desvio ≥ 1 mm discordante pode ser considerado em derivação com voltagem máxima (R/S) ≤ 6 mm.</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0" dirty="0">
                          <a:solidFill>
                            <a:srgbClr val="FBFCFC"/>
                          </a:solidFill>
                          <a:latin typeface="Roboto Medium"/>
                          <a:ea typeface="Roboto Medium"/>
                          <a:cs typeface="Roboto Medium"/>
                        </a:rPr>
                        <a:t>Achados compatíveis com oclusão coronária, ou seja, equivalentes à síndrome coronariana aguda com elevação persistente de ST (SCACSST)</a:t>
                      </a:r>
                      <a:endParaRPr lang="pt-BR" sz="1300" dirty="0"/>
                    </a:p>
                  </a:txBody>
                  <a:tcPr marL="91440" marR="91440" marT="54864" marB="54864" anchor="ctr">
                    <a:lnL w="0">
                      <a:noFill/>
                    </a:lnL>
                    <a:lnR w="0">
                      <a:noFill/>
                    </a:lnR>
                    <a:lnT w="0">
                      <a:noFill/>
                    </a:lnT>
                    <a:lnB w="0">
                      <a:noFill/>
                    </a:lnB>
                    <a:solidFill>
                      <a:srgbClr val="4E7C8B"/>
                    </a:solidFill>
                  </a:tcPr>
                </a:tc>
              </a:tr>
              <a:tr h="137631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 Infarto “posterior” (ínfero-lateral).</a:t>
                      </a:r>
                      <a:endParaRPr lang="pt-BR" sz="1300" dirty="0"/>
                    </a:p>
                    <a:p>
                      <a:pPr algn="l" marL="0" indent="0">
                        <a:lnSpc>
                          <a:spcPct val="100000"/>
                        </a:lnSpc>
                        <a:spcBef>
                          <a:spcPts val="400"/>
                        </a:spcBef>
                        <a:spcAft>
                          <a:spcPts val="0"/>
                        </a:spcAft>
                        <a:buNone/>
                      </a:pPr>
                      <a:r>
                        <a:rPr lang="pt-BR" sz="1300" b="0" i="0" dirty="0">
                          <a:solidFill>
                            <a:srgbClr val="5F6468"/>
                          </a:solidFill>
                          <a:latin typeface="Roboto"/>
                          <a:ea typeface="Roboto"/>
                          <a:cs typeface="Roboto"/>
                        </a:rPr>
                        <a:t>- Critérios a serem avaliados em V1-V3 (habitualmente há um ou mais dos critérios abaixo):</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Depressão do segmento ST</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Onda R dominante (ou pelo menos maior que o habitual)</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Onda T positiva (terminal) nas derivações anteriores</a:t>
                      </a:r>
                      <a:endParaRPr lang="pt-BR" sz="1300" dirty="0"/>
                    </a:p>
                    <a:p>
                      <a:pPr algn="l" marL="182880" indent="0">
                        <a:lnSpc>
                          <a:spcPct val="100000"/>
                        </a:lnSpc>
                        <a:spcBef>
                          <a:spcPts val="0"/>
                        </a:spcBef>
                        <a:spcAft>
                          <a:spcPts val="0"/>
                        </a:spcAft>
                        <a:buNone/>
                      </a:pPr>
                      <a:r>
                        <a:rPr lang="pt-BR" sz="1300" b="0" i="0" dirty="0">
                          <a:solidFill>
                            <a:srgbClr val="5F6468"/>
                          </a:solidFill>
                          <a:latin typeface="Roboto"/>
                          <a:ea typeface="Roboto"/>
                          <a:cs typeface="Roboto"/>
                        </a:rPr>
                        <a:t>Onda R proeminente e ampla (&gt; 30 ms)</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356922671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E o BRE sem concordância inapropriada? → ST/S &gt; 0,25?</a:t>
            </a:r>
          </a:p>
        </p:txBody>
      </p:sp>
      <p:pic>
        <p:nvPicPr>
          <p:cNvPr id="3" name="Figura 3" descr="ECG A e B com BRE – relação ST/S (derivações V2/V3 destacadas)"/>
          <p:cNvPicPr>
            <a:picLocks noChangeAspect="1"/>
          </p:cNvPicPr>
          <p:nvPr/>
        </p:nvPicPr>
        <p:blipFill>
          <a:blip r:embed="rId10"/>
          <a:stretch>
            <a:fillRect/>
          </a:stretch>
        </p:blipFill>
        <p:spPr>
          <a:xfrm>
            <a:off x="711403" y="1450000"/>
            <a:ext cx="5482764" cy="4450000"/>
          </a:xfrm>
          <a:prstGeom prst="rect">
            <a:avLst/>
          </a:prstGeom>
        </p:spPr>
      </p:pic>
      <p:sp>
        <p:nvSpPr>
          <p:cNvPr id="4" name="Valor 4"/>
          <p:cNvSpPr txBox="1"/>
          <p:nvPr/>
        </p:nvSpPr>
        <p:spPr>
          <a:xfrm>
            <a:off x="6694167" y="2046672"/>
            <a:ext cx="4788867" cy="1100000"/>
          </a:xfrm>
          <a:prstGeom prst="rect">
            <a:avLst/>
          </a:prstGeom>
          <a:noFill/>
        </p:spPr>
        <p:txBody>
          <a:bodyPr wrap="square" lIns="0" tIns="0" rIns="0" bIns="0" anchor="ctr">
            <a:noAutofit/>
          </a:bodyPr>
          <a:lstStyle/>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ST/S =</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2/23</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(0,085)</a:t>
            </a:r>
          </a:p>
        </p:txBody>
      </p:sp>
      <p:sp>
        <p:nvSpPr>
          <p:cNvPr id="5" name="Valor 5"/>
          <p:cNvSpPr txBox="1"/>
          <p:nvPr/>
        </p:nvSpPr>
        <p:spPr>
          <a:xfrm>
            <a:off x="6694167" y="4347610"/>
            <a:ext cx="4788867" cy="1100000"/>
          </a:xfrm>
          <a:prstGeom prst="rect">
            <a:avLst/>
          </a:prstGeom>
          <a:noFill/>
        </p:spPr>
        <p:txBody>
          <a:bodyPr wrap="square" lIns="0" tIns="0" rIns="0" bIns="0" anchor="ctr">
            <a:noAutofit/>
          </a:bodyPr>
          <a:lstStyle/>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ST/S =</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4,5/12</a:t>
            </a:r>
          </a:p>
          <a:p>
            <a:pPr marL="0" indent="0" algn="l">
              <a:lnSpc>
                <a:spcPct val="125000"/>
              </a:lnSpc>
              <a:spcBef>
                <a:spcPts val="0"/>
              </a:spcBef>
              <a:spcAft>
                <a:spcPts val="0"/>
              </a:spcAft>
              <a:buNone/>
            </a:pPr>
            <a:r>
              <a:rPr lang="pt-BR" sz="1500" b="0" i="0" dirty="0">
                <a:solidFill>
                  <a:srgbClr val="B5533C"/>
                </a:solidFill>
                <a:latin typeface="Roboto Medium"/>
                <a:ea typeface="Roboto Medium"/>
                <a:cs typeface="Roboto Medium"/>
              </a:rPr>
              <a:t>(0,38)</a:t>
            </a:r>
          </a:p>
        </p:txBody>
      </p:sp>
      <p:sp>
        <p:nvSpPr>
          <p:cNvPr id="6" name="Rodapé 6"/>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88  ·  Dor torácica – Protocolo 2025 | Set 2026</a:t>
            </a:r>
          </a:p>
        </p:txBody>
      </p:sp>
      <p:sp>
        <p:nvSpPr>
          <p:cNvPr id="7" name="Rodapé 7"/>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Normal para o BRD</a:t>
            </a:r>
          </a:p>
        </p:txBody>
      </p:sp>
      <p:sp>
        <p:nvSpPr>
          <p:cNvPr id="3" name="Subtítulo 3"/>
          <p:cNvSpPr txBox="1"/>
          <p:nvPr/>
        </p:nvSpPr>
        <p:spPr>
          <a:xfrm>
            <a:off x="711403" y="1010000"/>
            <a:ext cx="10771632" cy="6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737A7F"/>
                </a:solidFill>
                <a:latin typeface="Roboto"/>
                <a:ea typeface="Roboto"/>
                <a:cs typeface="Roboto"/>
              </a:rPr>
              <a:t>Discordância apropriada do segmento ST e onda T apenas em V1-V3</a:t>
            </a:r>
          </a:p>
          <a:p>
            <a:pPr marL="0" indent="0" algn="l">
              <a:lnSpc>
                <a:spcPct val="130000"/>
              </a:lnSpc>
              <a:spcBef>
                <a:spcPts val="0"/>
              </a:spcBef>
              <a:spcAft>
                <a:spcPts val="0"/>
              </a:spcAft>
              <a:buNone/>
            </a:pPr>
            <a:r>
              <a:rPr lang="pt-BR" sz="1300" b="0" i="0" dirty="0">
                <a:solidFill>
                  <a:srgbClr val="737A7F"/>
                </a:solidFill>
                <a:latin typeface="Roboto"/>
                <a:ea typeface="Roboto"/>
                <a:cs typeface="Roboto"/>
              </a:rPr>
              <a:t>Ponto J na linha de base ou INFRA ST e onda T invertida</a:t>
            </a:r>
          </a:p>
        </p:txBody>
      </p:sp>
      <p:pic>
        <p:nvPicPr>
          <p:cNvPr id="4" name="Figura 4" descr="ECG de 12 derivações com BRD; V1–V3 destacadas"/>
          <p:cNvPicPr>
            <a:picLocks noChangeAspect="1"/>
          </p:cNvPicPr>
          <p:nvPr/>
        </p:nvPicPr>
        <p:blipFill>
          <a:blip r:embed="rId10"/>
          <a:stretch>
            <a:fillRect/>
          </a:stretch>
        </p:blipFill>
        <p:spPr>
          <a:xfrm>
            <a:off x="1740150" y="1650000"/>
            <a:ext cx="8714136" cy="3649999"/>
          </a:xfrm>
          <a:prstGeom prst="rect">
            <a:avLst/>
          </a:prstGeom>
        </p:spPr>
      </p:pic>
      <p:sp>
        <p:nvSpPr>
          <p:cNvPr id="5" name="Legenda 5"/>
          <p:cNvSpPr txBox="1"/>
          <p:nvPr/>
        </p:nvSpPr>
        <p:spPr>
          <a:xfrm>
            <a:off x="711403" y="5400000"/>
            <a:ext cx="10771632" cy="600000"/>
          </a:xfrm>
          <a:prstGeom prst="rect">
            <a:avLst/>
          </a:prstGeom>
          <a:noFill/>
        </p:spPr>
        <p:txBody>
          <a:bodyPr wrap="square" lIns="0" tIns="0" rIns="0" bIns="0" anchor="t">
            <a:noAutofit/>
          </a:bodyPr>
          <a:lstStyle/>
          <a:p>
            <a:pPr marL="0" indent="0" algn="l">
              <a:lnSpc>
                <a:spcPct val="125000"/>
              </a:lnSpc>
              <a:spcBef>
                <a:spcPts val="0"/>
              </a:spcBef>
              <a:spcAft>
                <a:spcPts val="0"/>
              </a:spcAft>
              <a:buNone/>
            </a:pPr>
            <a:r>
              <a:rPr lang="pt-BR" sz="1200" b="0" i="0" dirty="0">
                <a:solidFill>
                  <a:srgbClr val="737A7F"/>
                </a:solidFill>
                <a:latin typeface="Roboto"/>
                <a:ea typeface="Roboto"/>
                <a:cs typeface="Roboto"/>
              </a:rPr>
              <a:t>Alteração secundária da repolarização em precordiais direitas devido ao BRD provocando discordância adequada do segmento ST-T em relação ao QRS precedente.</a:t>
            </a:r>
          </a:p>
        </p:txBody>
      </p:sp>
      <p:sp>
        <p:nvSpPr>
          <p:cNvPr id="6" name="Rodapé 6"/>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89  ·  Dor torácica – Protocolo 2025 | Set 2026</a:t>
            </a:r>
          </a:p>
        </p:txBody>
      </p:sp>
      <p:sp>
        <p:nvSpPr>
          <p:cNvPr id="7" name="Rodapé 7"/>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Quando o infra ST é pior que o Supra ST</a:t>
            </a:r>
          </a:p>
        </p:txBody>
      </p:sp>
      <p:sp>
        <p:nvSpPr>
          <p:cNvPr id="3" name="Rótulo 3"/>
          <p:cNvSpPr txBox="1"/>
          <p:nvPr/>
        </p:nvSpPr>
        <p:spPr>
          <a:xfrm>
            <a:off x="711403" y="1417320"/>
            <a:ext cx="5300000" cy="2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0" i="0" dirty="0">
                <a:solidFill>
                  <a:srgbClr val="3B3F42"/>
                </a:solidFill>
                <a:latin typeface="Roboto Medium"/>
                <a:ea typeface="Roboto Medium"/>
                <a:cs typeface="Roboto Medium"/>
              </a:rPr>
              <a:t>Sem dor</a:t>
            </a:r>
          </a:p>
        </p:txBody>
      </p:sp>
      <p:pic>
        <p:nvPicPr>
          <p:cNvPr id="4" name="Figura 4" descr="ECG de 12 derivações – Sem dor"/>
          <p:cNvPicPr>
            <a:picLocks noChangeAspect="1"/>
          </p:cNvPicPr>
          <p:nvPr/>
        </p:nvPicPr>
        <p:blipFill>
          <a:blip r:embed="rId10"/>
          <a:stretch>
            <a:fillRect/>
          </a:stretch>
        </p:blipFill>
        <p:spPr>
          <a:xfrm>
            <a:off x="711403" y="1687320"/>
            <a:ext cx="4524385" cy="1850000"/>
          </a:xfrm>
          <a:prstGeom prst="rect">
            <a:avLst/>
          </a:prstGeom>
        </p:spPr>
      </p:pic>
      <p:sp>
        <p:nvSpPr>
          <p:cNvPr id="5" name="Rótulo 5"/>
          <p:cNvSpPr txBox="1"/>
          <p:nvPr/>
        </p:nvSpPr>
        <p:spPr>
          <a:xfrm>
            <a:off x="711403" y="3647320"/>
            <a:ext cx="5300000" cy="250000"/>
          </a:xfrm>
          <a:prstGeom prst="rect">
            <a:avLst/>
          </a:prstGeom>
          <a:noFill/>
        </p:spPr>
        <p:txBody>
          <a:bodyPr wrap="square" lIns="0" tIns="0" rIns="0" bIns="0" anchor="t">
            <a:noAutofit/>
          </a:bodyPr>
          <a:lstStyle/>
          <a:p>
            <a:pPr marL="0" indent="0" algn="l">
              <a:lnSpc>
                <a:spcPct val="120000"/>
              </a:lnSpc>
              <a:spcBef>
                <a:spcPts val="0"/>
              </a:spcBef>
              <a:spcAft>
                <a:spcPts val="0"/>
              </a:spcAft>
              <a:buNone/>
            </a:pPr>
            <a:r>
              <a:rPr lang="pt-BR" sz="1300" b="0" i="0" dirty="0">
                <a:solidFill>
                  <a:srgbClr val="3B3F42"/>
                </a:solidFill>
                <a:latin typeface="Roboto Medium"/>
                <a:ea typeface="Roboto Medium"/>
                <a:cs typeface="Roboto Medium"/>
              </a:rPr>
              <a:t>Com dor</a:t>
            </a:r>
          </a:p>
        </p:txBody>
      </p:sp>
      <p:pic>
        <p:nvPicPr>
          <p:cNvPr id="6" name="Figura 6" descr="ECG de 12 derivações – Com dor"/>
          <p:cNvPicPr>
            <a:picLocks noChangeAspect="1"/>
          </p:cNvPicPr>
          <p:nvPr/>
        </p:nvPicPr>
        <p:blipFill>
          <a:blip r:embed="rId11"/>
          <a:stretch>
            <a:fillRect/>
          </a:stretch>
        </p:blipFill>
        <p:spPr>
          <a:xfrm>
            <a:off x="711403" y="3917320"/>
            <a:ext cx="4477256" cy="1850000"/>
          </a:xfrm>
          <a:prstGeom prst="rect">
            <a:avLst/>
          </a:prstGeom>
        </p:spPr>
      </p:pic>
      <p:sp>
        <p:nvSpPr>
          <p:cNvPr id="7" name="Texto 7"/>
          <p:cNvSpPr txBox="1"/>
          <p:nvPr/>
        </p:nvSpPr>
        <p:spPr>
          <a:xfrm>
            <a:off x="6461403" y="1700000"/>
            <a:ext cx="5021632" cy="1300000"/>
          </a:xfrm>
          <a:prstGeom prst="rect">
            <a:avLst/>
          </a:prstGeom>
          <a:noFill/>
        </p:spPr>
        <p:txBody>
          <a:bodyPr wrap="square" lIns="0" tIns="0" rIns="0" bIns="0" anchor="ctr">
            <a:noAutofit/>
          </a:bodyPr>
          <a:lstStyle/>
          <a:p>
            <a:pPr marL="0" indent="0" algn="l">
              <a:lnSpc>
                <a:spcPct val="130000"/>
              </a:lnSpc>
              <a:spcBef>
                <a:spcPts val="0"/>
              </a:spcBef>
              <a:spcAft>
                <a:spcPts val="0"/>
              </a:spcAft>
              <a:buNone/>
            </a:pPr>
            <a:r>
              <a:rPr lang="pt-BR" sz="1500" b="0" i="0" dirty="0">
                <a:solidFill>
                  <a:srgbClr val="B5533C"/>
                </a:solidFill>
                <a:latin typeface="Roboto Medium"/>
                <a:ea typeface="Roboto Medium"/>
                <a:cs typeface="Roboto Medium"/>
              </a:rPr>
              <a:t>Infra ST &gt; 6 derivações (máximo em V4) associado a Supra ST em aVR &gt; V1</a:t>
            </a:r>
          </a:p>
        </p:txBody>
      </p:sp>
      <p:sp>
        <p:nvSpPr>
          <p:cNvPr id="8" name="Texto 8"/>
          <p:cNvSpPr txBox="1"/>
          <p:nvPr/>
        </p:nvSpPr>
        <p:spPr>
          <a:xfrm>
            <a:off x="6461403" y="3900000"/>
            <a:ext cx="5021632" cy="1000000"/>
          </a:xfrm>
          <a:prstGeom prst="rect">
            <a:avLst/>
          </a:prstGeom>
          <a:noFill/>
        </p:spPr>
        <p:txBody>
          <a:bodyPr wrap="square" lIns="0" tIns="0" rIns="0" bIns="0" anchor="ctr">
            <a:noAutofit/>
          </a:bodyPr>
          <a:lstStyle/>
          <a:p>
            <a:pPr marL="0" indent="0" algn="l">
              <a:lnSpc>
                <a:spcPct val="130000"/>
              </a:lnSpc>
              <a:spcBef>
                <a:spcPts val="0"/>
              </a:spcBef>
              <a:spcAft>
                <a:spcPts val="0"/>
              </a:spcAft>
              <a:buNone/>
            </a:pPr>
            <a:r>
              <a:rPr lang="pt-BR" sz="1500" b="0" i="0" dirty="0">
                <a:solidFill>
                  <a:srgbClr val="B5533C"/>
                </a:solidFill>
                <a:latin typeface="Roboto Medium"/>
                <a:ea typeface="Roboto Medium"/>
                <a:cs typeface="Roboto Medium"/>
              </a:rPr>
              <a:t>Suboclusão de TCE</a:t>
            </a:r>
          </a:p>
        </p:txBody>
      </p:sp>
      <p:sp>
        <p:nvSpPr>
          <p:cNvPr id="9" name="Rodapé 9"/>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90  ·  Dor torácica – Protocolo 2025 | Set 2026</a:t>
            </a:r>
          </a:p>
        </p:txBody>
      </p:sp>
      <p:sp>
        <p:nvSpPr>
          <p:cNvPr id="10" name="Rodapé 10"/>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Oclusão coronária aguda (OCA)</a:t>
            </a:r>
          </a:p>
        </p:txBody>
      </p:sp>
      <p:sp>
        <p:nvSpPr>
          <p:cNvPr id="3" name="Subtítulo 3"/>
          <p:cNvSpPr txBox="1"/>
          <p:nvPr/>
        </p:nvSpPr>
        <p:spPr>
          <a:xfrm>
            <a:off x="711403" y="1010000"/>
            <a:ext cx="10771632" cy="300000"/>
          </a:xfrm>
          <a:prstGeom prst="rect">
            <a:avLst/>
          </a:prstGeom>
          <a:noFill/>
        </p:spPr>
        <p:txBody>
          <a:bodyPr wrap="square" lIns="0" tIns="0" rIns="0" bIns="0" anchor="t">
            <a:noAutofit/>
          </a:bodyPr>
          <a:lstStyle/>
          <a:p>
            <a:pPr marL="0" indent="0" algn="l">
              <a:lnSpc>
                <a:spcPct val="130000"/>
              </a:lnSpc>
              <a:spcBef>
                <a:spcPts val="0"/>
              </a:spcBef>
              <a:spcAft>
                <a:spcPts val="0"/>
              </a:spcAft>
              <a:buNone/>
            </a:pPr>
            <a:r>
              <a:rPr lang="pt-BR" sz="1300" b="0" i="0" dirty="0">
                <a:solidFill>
                  <a:srgbClr val="737A7F"/>
                </a:solidFill>
                <a:latin typeface="Roboto"/>
                <a:ea typeface="Roboto"/>
                <a:cs typeface="Roboto"/>
              </a:rPr>
              <a:t>devem ser submetidos a abertura imediata da artéria</a:t>
            </a:r>
          </a:p>
        </p:txBody>
      </p:sp>
      <p:graphicFrame>
        <p:nvGraphicFramePr>
          <p:cNvPr id="4" name="Tabela 4"/>
          <p:cNvGraphicFramePr>
            <a:graphicFrameLocks noGrp="1"/>
          </p:cNvGraphicFramePr>
          <p:nvPr/>
        </p:nvGraphicFramePr>
        <p:xfrm>
          <a:off x="711403" y="1500000"/>
          <a:ext cx="10771632" cy="4450000"/>
        </p:xfrm>
        <a:graphic>
          <a:graphicData uri="http://schemas.openxmlformats.org/drawingml/2006/table">
            <a:tbl>
              <a:tblPr firstRow="1"/>
              <a:tblGrid>
                <a:gridCol w="1900000"/>
                <a:gridCol w="4150000"/>
                <a:gridCol w="2450000"/>
                <a:gridCol w="2271632"/>
              </a:tblGrid>
              <a:tr h="400000">
                <a:tc>
                  <a:txBody>
                    <a:bodyPr/>
                    <a:lstStyle/>
                    <a:p>
                      <a:pPr algn="l"/>
                      <a:r>
                        <a:rPr lang="pt-BR" sz="1300" b="0" i="0" dirty="0">
                          <a:solidFill>
                            <a:srgbClr val="FBFCFC"/>
                          </a:solidFill>
                          <a:latin typeface="Roboto Medium"/>
                          <a:ea typeface="Roboto Medium"/>
                          <a:cs typeface="Roboto Medium"/>
                        </a:rPr>
                        <a:t>Padrão ECG</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c>
                  <a:txBody>
                    <a:bodyPr/>
                    <a:lstStyle/>
                    <a:p>
                      <a:pPr algn="l"/>
                      <a:r>
                        <a:rPr lang="pt-BR" sz="1300" b="0" i="0" dirty="0">
                          <a:solidFill>
                            <a:srgbClr val="FBFCFC"/>
                          </a:solidFill>
                          <a:latin typeface="Roboto Medium"/>
                          <a:ea typeface="Roboto Medium"/>
                          <a:cs typeface="Roboto Medium"/>
                        </a:rPr>
                        <a:t>Critério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c>
                  <a:txBody>
                    <a:bodyPr/>
                    <a:lstStyle/>
                    <a:p>
                      <a:pPr algn="l"/>
                      <a:r>
                        <a:rPr lang="pt-BR" sz="1300" b="0" i="0" dirty="0">
                          <a:solidFill>
                            <a:srgbClr val="FBFCFC"/>
                          </a:solidFill>
                          <a:latin typeface="Roboto Medium"/>
                          <a:ea typeface="Roboto Medium"/>
                          <a:cs typeface="Roboto Medium"/>
                        </a:rPr>
                        <a:t>Significado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c>
                  <a:txBody>
                    <a:bodyPr/>
                    <a:lstStyle/>
                    <a:p>
                      <a:pPr algn="l"/>
                      <a:r>
                        <a:rPr lang="pt-BR" sz="1300" b="0" i="0" dirty="0">
                          <a:solidFill>
                            <a:srgbClr val="FBFCFC"/>
                          </a:solidFill>
                          <a:latin typeface="Roboto Medium"/>
                          <a:ea typeface="Roboto Medium"/>
                          <a:cs typeface="Roboto Medium"/>
                        </a:rPr>
                        <a:t>Exemplo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4E7C8B"/>
                    </a:solidFill>
                  </a:tcPr>
                </a:tc>
              </a:tr>
              <a:tr h="1350000">
                <a:tc>
                  <a:txBody>
                    <a:bodyPr/>
                    <a:lstStyle/>
                    <a:p>
                      <a:pPr algn="l"/>
                      <a:r>
                        <a:rPr lang="pt-BR" sz="1300" b="0" i="0" dirty="0">
                          <a:solidFill>
                            <a:srgbClr val="3B3F42"/>
                          </a:solidFill>
                          <a:latin typeface="Roboto Medium"/>
                          <a:ea typeface="Roboto Medium"/>
                          <a:cs typeface="Roboto Medium"/>
                        </a:rPr>
                        <a:t>Ondas T hiperagudas</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Ondas T amplas, largas, simétricas e arredondadas, que precedem o supradesnível ST. Geralmente associadas a infradesnível ST recíproco.</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Alteração muito precoce na oclusão coronária aguda</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endParaRPr lang="pt-BR" sz="1300"/>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r>
              <a:tr h="1350000">
                <a:tc>
                  <a:txBody>
                    <a:bodyPr/>
                    <a:lstStyle/>
                    <a:p>
                      <a:pPr algn="l"/>
                      <a:r>
                        <a:rPr lang="pt-BR" sz="1300" b="0" i="0" dirty="0">
                          <a:solidFill>
                            <a:srgbClr val="3B3F42"/>
                          </a:solidFill>
                          <a:latin typeface="Roboto Medium"/>
                          <a:ea typeface="Roboto Medium"/>
                          <a:cs typeface="Roboto Medium"/>
                        </a:rPr>
                        <a:t>Padrão de DeWinter</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c>
                  <a:txBody>
                    <a:bodyPr/>
                    <a:lstStyle/>
                    <a:p>
                      <a:pPr algn="l"/>
                      <a:r>
                        <a:rPr lang="pt-BR" sz="1300" b="0" i="0" dirty="0">
                          <a:solidFill>
                            <a:srgbClr val="5F6468"/>
                          </a:solidFill>
                          <a:latin typeface="Roboto"/>
                          <a:ea typeface="Roboto"/>
                          <a:cs typeface="Roboto"/>
                        </a:rPr>
                        <a:t>Infradesnível ST ≥1,0mm em derivações precordiais com ST ascendente e T hiperagudas. Supradesnível ST ≥0,5mm em aVR é comum.</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c>
                  <a:txBody>
                    <a:bodyPr/>
                    <a:lstStyle/>
                    <a:p>
                      <a:pPr algn="l"/>
                      <a:r>
                        <a:rPr lang="pt-BR" sz="1300" b="0" i="0" dirty="0">
                          <a:solidFill>
                            <a:srgbClr val="5F6468"/>
                          </a:solidFill>
                          <a:latin typeface="Roboto"/>
                          <a:ea typeface="Roboto"/>
                          <a:cs typeface="Roboto"/>
                        </a:rPr>
                        <a:t>Oclusão aguda de Descendente Anterior</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c>
                  <a:txBody>
                    <a:bodyPr/>
                    <a:lstStyle/>
                    <a:p>
                      <a:pPr algn="l"/>
                      <a:endParaRPr lang="pt-BR" sz="1300"/>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BFCFC"/>
                    </a:solidFill>
                  </a:tcPr>
                </a:tc>
              </a:tr>
              <a:tr h="1350000">
                <a:tc>
                  <a:txBody>
                    <a:bodyPr/>
                    <a:lstStyle/>
                    <a:p>
                      <a:pPr algn="l"/>
                      <a:r>
                        <a:rPr lang="pt-BR" sz="1300" b="0" i="0" dirty="0">
                          <a:solidFill>
                            <a:srgbClr val="3B3F42"/>
                          </a:solidFill>
                          <a:latin typeface="Roboto Medium"/>
                          <a:ea typeface="Roboto Medium"/>
                          <a:cs typeface="Roboto Medium"/>
                        </a:rPr>
                        <a:t>Infradesnível ST de V1 a V4</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Infradesnível ST ≥0,5mm em V1 a V4, associado ou não a Supradesnível ST ≥0,5mm em derivações posteriores (V7 a V9)</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r>
                        <a:rPr lang="pt-BR" sz="1300" b="0" i="0" dirty="0">
                          <a:solidFill>
                            <a:srgbClr val="5F6468"/>
                          </a:solidFill>
                          <a:latin typeface="Roboto"/>
                          <a:ea typeface="Roboto"/>
                          <a:cs typeface="Roboto"/>
                        </a:rPr>
                        <a:t>Oclusão aguda de ramo póstero lateral da CD ou Cx</a:t>
                      </a:r>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c>
                  <a:txBody>
                    <a:bodyPr/>
                    <a:lstStyle/>
                    <a:p>
                      <a:pPr algn="l"/>
                      <a:endParaRPr lang="pt-BR" sz="1300"/>
                    </a:p>
                  </a:txBody>
                  <a:tcPr marL="120000" marR="120000" marT="60000" marB="60000" anchor="ctr">
                    <a:lnL w="12700">
                      <a:solidFill>
                        <a:srgbClr val="E4E6E7"/>
                      </a:solidFill>
                    </a:lnL>
                    <a:lnR w="12700">
                      <a:solidFill>
                        <a:srgbClr val="E4E6E7"/>
                      </a:solidFill>
                    </a:lnR>
                    <a:lnT w="12700">
                      <a:solidFill>
                        <a:srgbClr val="E4E6E7"/>
                      </a:solidFill>
                    </a:lnT>
                    <a:lnB w="12700">
                      <a:solidFill>
                        <a:srgbClr val="E4E6E7"/>
                      </a:solidFill>
                    </a:lnB>
                    <a:solidFill>
                      <a:srgbClr val="F2F4F5"/>
                    </a:solidFill>
                  </a:tcPr>
                </a:tc>
              </a:tr>
            </a:tbl>
          </a:graphicData>
        </a:graphic>
      </p:graphicFrame>
      <p:pic>
        <p:nvPicPr>
          <p:cNvPr id="5" name="Figura 5" descr="Exemplo: Ondas T hiperagudas"/>
          <p:cNvPicPr>
            <a:picLocks noChangeAspect="1"/>
          </p:cNvPicPr>
          <p:nvPr/>
        </p:nvPicPr>
        <p:blipFill>
          <a:blip r:embed="rId10"/>
          <a:stretch>
            <a:fillRect/>
          </a:stretch>
        </p:blipFill>
        <p:spPr>
          <a:xfrm>
            <a:off x="9760823" y="1960000"/>
            <a:ext cx="1172790" cy="1230000"/>
          </a:xfrm>
          <a:prstGeom prst="rect">
            <a:avLst/>
          </a:prstGeom>
        </p:spPr>
      </p:pic>
      <p:pic>
        <p:nvPicPr>
          <p:cNvPr id="6" name="Figura 6" descr="Exemplo: Padrão de DeWinter"/>
          <p:cNvPicPr>
            <a:picLocks noChangeAspect="1"/>
          </p:cNvPicPr>
          <p:nvPr/>
        </p:nvPicPr>
        <p:blipFill>
          <a:blip r:embed="rId11"/>
          <a:stretch>
            <a:fillRect/>
          </a:stretch>
        </p:blipFill>
        <p:spPr>
          <a:xfrm>
            <a:off x="9291403" y="3346388"/>
            <a:ext cx="2111632" cy="1157222"/>
          </a:xfrm>
          <a:prstGeom prst="rect">
            <a:avLst/>
          </a:prstGeom>
        </p:spPr>
      </p:pic>
      <p:pic>
        <p:nvPicPr>
          <p:cNvPr id="7" name="Figura 7" descr="Exemplo: Infradesnível ST de V1 a V4"/>
          <p:cNvPicPr>
            <a:picLocks noChangeAspect="1"/>
          </p:cNvPicPr>
          <p:nvPr/>
        </p:nvPicPr>
        <p:blipFill>
          <a:blip r:embed="rId12"/>
          <a:stretch>
            <a:fillRect/>
          </a:stretch>
        </p:blipFill>
        <p:spPr>
          <a:xfrm>
            <a:off x="9792142" y="4660000"/>
            <a:ext cx="1110153" cy="1230000"/>
          </a:xfrm>
          <a:prstGeom prst="rect">
            <a:avLst/>
          </a:prstGeom>
        </p:spPr>
      </p:pic>
      <p:sp>
        <p:nvSpPr>
          <p:cNvPr id="8" name="Rodapé 8"/>
          <p:cNvSpPr txBox="1"/>
          <p:nvPr/>
        </p:nvSpPr>
        <p:spPr>
          <a:xfrm>
            <a:off x="711403" y="6181344"/>
            <a:ext cx="7772400" cy="274320"/>
          </a:xfrm>
          <a:prstGeom prst="rect">
            <a:avLst/>
          </a:prstGeom>
          <a:noFill/>
        </p:spPr>
        <p:txBody>
          <a:bodyPr wrap="none" lIns="0" rIns="0" tIns="0" bIns="0" anchor="t">
            <a:spAutoFit/>
          </a:bodyPr>
          <a:lstStyle/>
          <a:p>
            <a:pPr algn="l"/>
            <a:r>
              <a:rPr lang="pt-BR" sz="1200" b="0" spc="0">
                <a:solidFill>
                  <a:srgbClr val="737A7F"/>
                </a:solidFill>
                <a:latin typeface="Roboto"/>
                <a:ea typeface="Roboto"/>
                <a:cs typeface="Roboto"/>
              </a:rPr>
              <a:t>91  ·  Dor torácica – Protocolo 2025 | Set 2026</a:t>
            </a:r>
          </a:p>
        </p:txBody>
      </p:sp>
      <p:sp>
        <p:nvSpPr>
          <p:cNvPr id="9" name="Rodapé 9"/>
          <p:cNvSpPr txBox="1"/>
          <p:nvPr/>
        </p:nvSpPr>
        <p:spPr>
          <a:xfrm>
            <a:off x="9195206" y="6181344"/>
            <a:ext cx="2286000" cy="274320"/>
          </a:xfrm>
          <a:prstGeom prst="rect">
            <a:avLst/>
          </a:prstGeom>
          <a:noFill/>
        </p:spPr>
        <p:txBody>
          <a:bodyPr wrap="none" lIns="0" rIns="0" tIns="0" bIns="0" anchor="t">
            <a:spAutoFit/>
          </a:bodyPr>
          <a:lstStyle/>
          <a:p>
            <a:pPr algn="r"/>
            <a:r>
              <a:rPr lang="pt-BR" sz="1200" b="1" spc="100">
                <a:solidFill>
                  <a:srgbClr val="8C9297"/>
                </a:solidFill>
                <a:latin typeface="Roboto"/>
                <a:ea typeface="Roboto"/>
                <a:cs typeface="Roboto"/>
              </a:rPr>
              <a:t>SEU LOGO</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2" name="TextBox 1"/>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92  ·  Dor torácica – Protocolo 2025 | Set 2026</a:t>
            </a:r>
          </a:p>
        </p:txBody>
      </p:sp>
      <p:sp>
        <p:nvSpPr>
          <p:cNvPr id="3" name="TextBox 2"/>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spTree>
    <p:extLst>
      <p:ext uri="{BB962C8B-B14F-4D97-AF65-F5344CB8AC3E}">
        <p14:creationId xmlns:p14="http://schemas.microsoft.com/office/powerpoint/2010/main" val="208705409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Padrões de ECG – De Winter, Aslanger e outros</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93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3414284"/>
        </p:xfrm>
        <a:graphic>
          <a:graphicData uri="http://schemas.openxmlformats.org/drawingml/2006/table">
            <a:tbl>
              <a:tblPr firstRow="1"/>
              <a:tblGrid>
                <a:gridCol w="10771632"/>
              </a:tblGrid>
              <a:tr h="1053771">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De Winter:</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 Ondas T altas, proeminentes e simétricas precedidas de depressão ascendente do segmento ST &gt; 1 mm no ponto J nas derivações precordiais</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 Elevação do segmento ST de 0,5-1 mm pode ser observada na derivação aVR</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r h="786838">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Ondas T hiperagudas:</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Ondas T amplas, simétricas e pontiagudas podem ser observadas precocemente no IAMCSST. Eletrocardiogramas seriados em intervalos muito curtos são úteis para confirmar a progressão para os critérios clássicos de elevação de ST</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r h="987731">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Padrão de Aslanger:</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Elevação do segmento ST em DIII, mas não nas demais derivações inferiores (pode haver elevação de ST em aVR, além de DIII); depressão do segmento ST em qualquer das derivações entre V4 e V6 com onda T (pelo menos na sua fase terminal) positiva e elevação do segmento ST em V1 mais alta que em V2</a:t>
                      </a:r>
                      <a:endParaRPr lang="pt-BR" sz="1300" dirty="0"/>
                    </a:p>
                  </a:txBody>
                  <a:tcPr marL="91440" marR="91440" marT="54864" marB="54864" anchor="t">
                    <a:lnL w="0">
                      <a:noFill/>
                    </a:lnL>
                    <a:lnR w="0">
                      <a:noFill/>
                    </a:lnR>
                    <a:lnT w="0">
                      <a:noFill/>
                    </a:lnT>
                    <a:lnB w="12700">
                      <a:solidFill>
                        <a:srgbClr val="E4E6E7"/>
                      </a:solidFill>
                    </a:lnB>
                    <a:solidFill>
                      <a:srgbClr val="FBFCFC"/>
                    </a:solidFill>
                  </a:tcPr>
                </a:tc>
              </a:tr>
              <a:tr h="585944">
                <a:tc>
                  <a:txBody>
                    <a:bodyPr/>
                    <a:lstStyle/>
                    <a:p>
                      <a:pPr algn="l" marL="0" indent="0">
                        <a:lnSpc>
                          <a:spcPct val="100000"/>
                        </a:lnSpc>
                        <a:spcBef>
                          <a:spcPts val="0"/>
                        </a:spcBef>
                        <a:spcAft>
                          <a:spcPts val="0"/>
                        </a:spcAft>
                        <a:buNone/>
                      </a:pPr>
                      <a:r>
                        <a:rPr lang="pt-BR" sz="1300" b="0" i="0" dirty="0">
                          <a:solidFill>
                            <a:srgbClr val="3B3F42"/>
                          </a:solidFill>
                          <a:latin typeface="Roboto Medium"/>
                          <a:ea typeface="Roboto Medium"/>
                          <a:cs typeface="Roboto Medium"/>
                        </a:rPr>
                        <a:t>• Distorção terminal do QRS:</a:t>
                      </a:r>
                      <a:endParaRPr lang="pt-BR" sz="1300" dirty="0"/>
                    </a:p>
                    <a:p>
                      <a:pPr algn="l" marL="0" indent="0">
                        <a:lnSpc>
                          <a:spcPct val="100000"/>
                        </a:lnSpc>
                        <a:spcBef>
                          <a:spcPts val="500"/>
                        </a:spcBef>
                        <a:spcAft>
                          <a:spcPts val="0"/>
                        </a:spcAft>
                        <a:buNone/>
                      </a:pPr>
                      <a:r>
                        <a:rPr lang="pt-BR" sz="1300" b="0" i="0" dirty="0">
                          <a:solidFill>
                            <a:srgbClr val="5F6468"/>
                          </a:solidFill>
                          <a:latin typeface="Roboto"/>
                          <a:ea typeface="Roboto"/>
                          <a:cs typeface="Roboto"/>
                        </a:rPr>
                        <a:t>Ausência de uma onda S abaixo da linha isoelétrica e ausência de onda J nas derivações V2 e/ou V3</a:t>
                      </a:r>
                      <a:endParaRPr lang="pt-BR" sz="1300" dirty="0"/>
                    </a:p>
                  </a:txBody>
                  <a:tcPr marL="91440" marR="91440" marT="54864" marB="54864" anchor="t">
                    <a:lnL w="0">
                      <a:noFill/>
                    </a:lnL>
                    <a:lnR w="0">
                      <a:noFill/>
                    </a:lnR>
                    <a:lnT w="0">
                      <a:noFill/>
                    </a:lnT>
                    <a:lnB w="12700">
                      <a:solidFill>
                        <a:srgbClr val="E4E6E7"/>
                      </a:solidFill>
                    </a:lnB>
                    <a:solidFill>
                      <a:srgbClr val="F2F4F5"/>
                    </a:solidFill>
                  </a:tcPr>
                </a:tc>
              </a:tr>
            </a:tbl>
          </a:graphicData>
        </a:graphic>
      </p:graphicFrame>
    </p:spTree>
    <p:extLst>
      <p:ext uri="{BB962C8B-B14F-4D97-AF65-F5344CB8AC3E}">
        <p14:creationId xmlns:p14="http://schemas.microsoft.com/office/powerpoint/2010/main" val="120539287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SCA sem elevação persistente de ST – Maior risco ao ECG</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94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417320"/>
          <a:ext cx="10771632" cy="2590376"/>
        </p:xfrm>
        <a:graphic>
          <a:graphicData uri="http://schemas.openxmlformats.org/drawingml/2006/table">
            <a:tbl>
              <a:tblPr firstRow="1"/>
              <a:tblGrid>
                <a:gridCol w="10771632"/>
              </a:tblGrid>
              <a:tr h="372240">
                <a:tc>
                  <a:txBody>
                    <a:bodyPr/>
                    <a:lstStyle/>
                    <a:p>
                      <a:pPr algn="l" marL="0" indent="0">
                        <a:lnSpc>
                          <a:spcPct val="100000"/>
                        </a:lnSpc>
                        <a:spcBef>
                          <a:spcPts val="0"/>
                        </a:spcBef>
                        <a:spcAft>
                          <a:spcPts val="0"/>
                        </a:spcAft>
                        <a:buNone/>
                      </a:pPr>
                      <a:r>
                        <a:rPr lang="pt-BR" sz="931" b="0" i="0" dirty="0">
                          <a:solidFill>
                            <a:srgbClr val="FBFCFC"/>
                          </a:solidFill>
                          <a:latin typeface="Roboto Medium"/>
                          <a:ea typeface="Roboto Medium"/>
                          <a:cs typeface="Roboto Medium"/>
                        </a:rPr>
                        <a:t>Síndrome coronariana aguda sem elevação persistente de ST, porém com critérios de maior risco ao ECG (obstrução de tronco de coronária esquerda ou multiarterial*)</a:t>
                      </a:r>
                      <a:endParaRPr lang="pt-BR" sz="931" dirty="0"/>
                    </a:p>
                  </a:txBody>
                  <a:tcPr marL="65469" marR="65469" marT="39281" marB="39281" anchor="ctr">
                    <a:lnL w="0">
                      <a:noFill/>
                    </a:lnL>
                    <a:lnR w="0">
                      <a:noFill/>
                    </a:lnR>
                    <a:lnT w="0">
                      <a:noFill/>
                    </a:lnT>
                    <a:lnB w="0">
                      <a:noFill/>
                    </a:lnB>
                    <a:solidFill>
                      <a:srgbClr val="4E7C8B"/>
                    </a:solidFill>
                  </a:tcPr>
                </a:tc>
              </a:tr>
              <a:tr h="572816">
                <a:tc>
                  <a:txBody>
                    <a:bodyPr/>
                    <a:lstStyle/>
                    <a:p>
                      <a:pPr algn="l" marL="0" indent="0">
                        <a:lnSpc>
                          <a:spcPct val="100000"/>
                        </a:lnSpc>
                        <a:spcBef>
                          <a:spcPts val="0"/>
                        </a:spcBef>
                        <a:spcAft>
                          <a:spcPts val="0"/>
                        </a:spcAft>
                        <a:buNone/>
                      </a:pPr>
                      <a:r>
                        <a:rPr lang="pt-BR" sz="931" b="0" i="0" dirty="0">
                          <a:solidFill>
                            <a:srgbClr val="5F6468"/>
                          </a:solidFill>
                          <a:latin typeface="Roboto"/>
                          <a:ea typeface="Roboto"/>
                          <a:cs typeface="Roboto"/>
                        </a:rPr>
                        <a:t>• Elevação do segmento ST em aVR e/ou V1 (sem elevação contígua, mas com depressão do segmento ST em 6 ou mais derivações)</a:t>
                      </a:r>
                      <a:endParaRPr lang="pt-BR" sz="931" dirty="0"/>
                    </a:p>
                    <a:p>
                      <a:pPr algn="l" marL="0" indent="0">
                        <a:lnSpc>
                          <a:spcPct val="100000"/>
                        </a:lnSpc>
                        <a:spcBef>
                          <a:spcPts val="430"/>
                        </a:spcBef>
                        <a:spcAft>
                          <a:spcPts val="0"/>
                        </a:spcAft>
                        <a:buNone/>
                      </a:pPr>
                      <a:r>
                        <a:rPr lang="pt-BR" sz="931" b="0" i="1" dirty="0">
                          <a:solidFill>
                            <a:srgbClr val="5F6468"/>
                          </a:solidFill>
                          <a:latin typeface="Roboto"/>
                          <a:ea typeface="Roboto"/>
                          <a:cs typeface="Roboto"/>
                        </a:rPr>
                        <a:t>*Mais frequentemente causada por isquemia subendocárdica difusa (circunferencial) e geralmente ocorre no contexto de obstrução significativa do tronco da coronária esquerda ou doença coronariana multiarterial.</a:t>
                      </a:r>
                      <a:endParaRPr lang="pt-BR" sz="931" dirty="0"/>
                    </a:p>
                  </a:txBody>
                  <a:tcPr marL="65469" marR="65469" marT="39281" marB="39281" anchor="t">
                    <a:lnL w="0">
                      <a:noFill/>
                    </a:lnL>
                    <a:lnR w="0">
                      <a:noFill/>
                    </a:lnR>
                    <a:lnT w="0">
                      <a:noFill/>
                    </a:lnT>
                    <a:lnB w="12700">
                      <a:solidFill>
                        <a:srgbClr val="E4E6E7"/>
                      </a:solidFill>
                    </a:lnB>
                    <a:solidFill>
                      <a:srgbClr val="F2F4F5"/>
                    </a:solidFill>
                  </a:tcPr>
                </a:tc>
              </a:tr>
              <a:tr h="372240">
                <a:tc>
                  <a:txBody>
                    <a:bodyPr/>
                    <a:lstStyle/>
                    <a:p>
                      <a:pPr algn="l" marL="0" indent="0">
                        <a:lnSpc>
                          <a:spcPct val="100000"/>
                        </a:lnSpc>
                        <a:spcBef>
                          <a:spcPts val="0"/>
                        </a:spcBef>
                        <a:spcAft>
                          <a:spcPts val="0"/>
                        </a:spcAft>
                        <a:buNone/>
                      </a:pPr>
                      <a:r>
                        <a:rPr lang="pt-BR" sz="931" b="0" i="0" dirty="0">
                          <a:solidFill>
                            <a:srgbClr val="FBFCFC"/>
                          </a:solidFill>
                          <a:latin typeface="Roboto Medium"/>
                          <a:ea typeface="Roboto Medium"/>
                          <a:cs typeface="Roboto Medium"/>
                        </a:rPr>
                        <a:t>Síndrome coronariana aguda sem elevação persistente de ST, porém com critérios de maior risco ao ECG (obstrução crítica em descendente anterior proximal)</a:t>
                      </a:r>
                      <a:endParaRPr lang="pt-BR" sz="931" dirty="0"/>
                    </a:p>
                  </a:txBody>
                  <a:tcPr marL="65469" marR="65469" marT="39281" marB="39281" anchor="ctr">
                    <a:lnL w="0">
                      <a:noFill/>
                    </a:lnL>
                    <a:lnR w="0">
                      <a:noFill/>
                    </a:lnR>
                    <a:lnT w="0">
                      <a:noFill/>
                    </a:lnT>
                    <a:lnB w="0">
                      <a:noFill/>
                    </a:lnB>
                    <a:solidFill>
                      <a:srgbClr val="4E7C8B"/>
                    </a:solidFill>
                  </a:tcPr>
                </a:tc>
              </a:tr>
              <a:tr h="1273080">
                <a:tc>
                  <a:txBody>
                    <a:bodyPr/>
                    <a:lstStyle/>
                    <a:p>
                      <a:pPr algn="l" marL="0" indent="0">
                        <a:lnSpc>
                          <a:spcPct val="100000"/>
                        </a:lnSpc>
                        <a:spcBef>
                          <a:spcPts val="0"/>
                        </a:spcBef>
                        <a:spcAft>
                          <a:spcPts val="0"/>
                        </a:spcAft>
                        <a:buNone/>
                      </a:pPr>
                      <a:r>
                        <a:rPr lang="pt-BR" sz="931" b="0" i="0" dirty="0">
                          <a:solidFill>
                            <a:srgbClr val="5F6468"/>
                          </a:solidFill>
                          <a:latin typeface="Roboto"/>
                          <a:ea typeface="Roboto"/>
                          <a:cs typeface="Roboto"/>
                        </a:rPr>
                        <a:t>• Síndrome de Wellens:</a:t>
                      </a:r>
                      <a:endParaRPr lang="pt-BR" sz="931" dirty="0"/>
                    </a:p>
                    <a:p>
                      <a:pPr algn="l" marL="0" indent="0">
                        <a:lnSpc>
                          <a:spcPct val="100000"/>
                        </a:lnSpc>
                        <a:spcBef>
                          <a:spcPts val="286"/>
                        </a:spcBef>
                        <a:spcAft>
                          <a:spcPts val="0"/>
                        </a:spcAft>
                        <a:buNone/>
                      </a:pPr>
                      <a:r>
                        <a:rPr lang="pt-BR" sz="931" b="0" i="0" dirty="0">
                          <a:solidFill>
                            <a:srgbClr val="5F6468"/>
                          </a:solidFill>
                          <a:latin typeface="Roboto"/>
                          <a:ea typeface="Roboto"/>
                          <a:cs typeface="Roboto"/>
                        </a:rPr>
                        <a:t>Trata-se de síndrome clínica caracterizada por:</a:t>
                      </a:r>
                      <a:endParaRPr lang="pt-BR" sz="931" dirty="0"/>
                    </a:p>
                    <a:p>
                      <a:pPr algn="l" marL="130938" indent="0">
                        <a:lnSpc>
                          <a:spcPct val="100000"/>
                        </a:lnSpc>
                        <a:spcBef>
                          <a:spcPts val="0"/>
                        </a:spcBef>
                        <a:spcAft>
                          <a:spcPts val="0"/>
                        </a:spcAft>
                        <a:buNone/>
                      </a:pPr>
                      <a:r>
                        <a:rPr lang="pt-BR" sz="931" b="0" i="0" dirty="0">
                          <a:solidFill>
                            <a:srgbClr val="5F6468"/>
                          </a:solidFill>
                          <a:latin typeface="Roboto"/>
                          <a:ea typeface="Roboto"/>
                          <a:cs typeface="Roboto"/>
                        </a:rPr>
                        <a:t>- Ondas T bifásicas (tipo A – 25% dos casos) ou profundamente invertidas e simétricas (tipo B – 75% dos casos) nas derivações V2 e V3 (podem se estender de V1 até V6)</a:t>
                      </a:r>
                      <a:endParaRPr lang="pt-BR" sz="931" dirty="0"/>
                    </a:p>
                    <a:p>
                      <a:pPr algn="l" marL="130938" indent="0">
                        <a:lnSpc>
                          <a:spcPct val="100000"/>
                        </a:lnSpc>
                        <a:spcBef>
                          <a:spcPts val="0"/>
                        </a:spcBef>
                        <a:spcAft>
                          <a:spcPts val="0"/>
                        </a:spcAft>
                        <a:buNone/>
                      </a:pPr>
                      <a:r>
                        <a:rPr lang="pt-BR" sz="931" b="0" i="0" dirty="0">
                          <a:solidFill>
                            <a:srgbClr val="5F6468"/>
                          </a:solidFill>
                          <a:latin typeface="Roboto"/>
                          <a:ea typeface="Roboto"/>
                          <a:cs typeface="Roboto"/>
                        </a:rPr>
                        <a:t>- Ausência de ondas Q</a:t>
                      </a:r>
                      <a:endParaRPr lang="pt-BR" sz="931" dirty="0"/>
                    </a:p>
                    <a:p>
                      <a:pPr algn="l" marL="130938" indent="0">
                        <a:lnSpc>
                          <a:spcPct val="100000"/>
                        </a:lnSpc>
                        <a:spcBef>
                          <a:spcPts val="0"/>
                        </a:spcBef>
                        <a:spcAft>
                          <a:spcPts val="0"/>
                        </a:spcAft>
                        <a:buNone/>
                      </a:pPr>
                      <a:r>
                        <a:rPr lang="pt-BR" sz="931" b="0" i="0" dirty="0">
                          <a:solidFill>
                            <a:srgbClr val="5F6468"/>
                          </a:solidFill>
                          <a:latin typeface="Roboto"/>
                          <a:ea typeface="Roboto"/>
                          <a:cs typeface="Roboto"/>
                        </a:rPr>
                        <a:t>- Sem elevação significativa do ST (isoelétrica ou elevação &lt; 1mm)</a:t>
                      </a:r>
                      <a:endParaRPr lang="pt-BR" sz="931" dirty="0"/>
                    </a:p>
                    <a:p>
                      <a:pPr algn="l" marL="130938" indent="0">
                        <a:lnSpc>
                          <a:spcPct val="100000"/>
                        </a:lnSpc>
                        <a:spcBef>
                          <a:spcPts val="0"/>
                        </a:spcBef>
                        <a:spcAft>
                          <a:spcPts val="0"/>
                        </a:spcAft>
                        <a:buNone/>
                      </a:pPr>
                      <a:r>
                        <a:rPr lang="pt-BR" sz="931" b="0" i="0" dirty="0">
                          <a:solidFill>
                            <a:srgbClr val="5F6468"/>
                          </a:solidFill>
                          <a:latin typeface="Roboto"/>
                          <a:ea typeface="Roboto"/>
                          <a:cs typeface="Roboto"/>
                        </a:rPr>
                        <a:t>- Progressão da onda R em derivações precordiais</a:t>
                      </a:r>
                      <a:endParaRPr lang="pt-BR" sz="931" dirty="0"/>
                    </a:p>
                    <a:p>
                      <a:pPr algn="l" marL="130938" indent="0">
                        <a:lnSpc>
                          <a:spcPct val="100000"/>
                        </a:lnSpc>
                        <a:spcBef>
                          <a:spcPts val="0"/>
                        </a:spcBef>
                        <a:spcAft>
                          <a:spcPts val="0"/>
                        </a:spcAft>
                        <a:buNone/>
                      </a:pPr>
                      <a:r>
                        <a:rPr lang="pt-BR" sz="931" b="0" i="0" dirty="0">
                          <a:solidFill>
                            <a:srgbClr val="5F6468"/>
                          </a:solidFill>
                          <a:latin typeface="Roboto"/>
                          <a:ea typeface="Roboto"/>
                          <a:cs typeface="Roboto"/>
                        </a:rPr>
                        <a:t>- Angina recente (as alterações típicas do ECG são mais visualizadas após melhora da dor)</a:t>
                      </a:r>
                      <a:endParaRPr lang="pt-BR" sz="931" dirty="0"/>
                    </a:p>
                  </a:txBody>
                  <a:tcPr marL="65469" marR="65469" marT="39281" marB="39281" anchor="t">
                    <a:lnL w="0">
                      <a:noFill/>
                    </a:lnL>
                    <a:lnR w="0">
                      <a:noFill/>
                    </a:lnR>
                    <a:lnT w="0">
                      <a:noFill/>
                    </a:lnT>
                    <a:lnB w="12700">
                      <a:solidFill>
                        <a:srgbClr val="E4E6E7"/>
                      </a:solidFill>
                    </a:lnB>
                    <a:solidFill>
                      <a:srgbClr val="FBFCFC"/>
                    </a:solidFill>
                  </a:tcPr>
                </a:tc>
              </a:tr>
            </a:tbl>
          </a:graphicData>
        </a:graphic>
      </p:graphicFrame>
      <p:graphicFrame>
        <p:nvGraphicFramePr>
          <p:cNvPr id="1007" name="Tabela"/>
          <p:cNvGraphicFramePr>
            <a:graphicFrameLocks noGrp="1"/>
          </p:cNvGraphicFramePr>
          <p:nvPr/>
        </p:nvGraphicFramePr>
        <p:xfrm>
          <a:off x="711403" y="4122253"/>
          <a:ext cx="10771632" cy="1977747"/>
        </p:xfrm>
        <a:graphic>
          <a:graphicData uri="http://schemas.openxmlformats.org/drawingml/2006/table">
            <a:tbl>
              <a:tblPr firstRow="1"/>
              <a:tblGrid>
                <a:gridCol w="10771632"/>
              </a:tblGrid>
              <a:tr h="228404">
                <a:tc>
                  <a:txBody>
                    <a:bodyPr/>
                    <a:lstStyle/>
                    <a:p>
                      <a:pPr algn="l" marL="0" indent="0">
                        <a:lnSpc>
                          <a:spcPct val="100000"/>
                        </a:lnSpc>
                        <a:spcBef>
                          <a:spcPts val="0"/>
                        </a:spcBef>
                        <a:spcAft>
                          <a:spcPts val="0"/>
                        </a:spcAft>
                        <a:buNone/>
                      </a:pPr>
                      <a:r>
                        <a:rPr lang="pt-BR" sz="931" b="0" i="0" dirty="0">
                          <a:solidFill>
                            <a:srgbClr val="FBFCFC"/>
                          </a:solidFill>
                          <a:latin typeface="Roboto Medium"/>
                          <a:ea typeface="Roboto Medium"/>
                          <a:cs typeface="Roboto Medium"/>
                        </a:rPr>
                        <a:t>SCA sem elevação persistente de ST, porém com critérios de maior risco ao ECG (isquemia ativa)</a:t>
                      </a:r>
                      <a:endParaRPr lang="pt-BR" sz="931" dirty="0"/>
                    </a:p>
                  </a:txBody>
                  <a:tcPr marL="65469" marR="65469" marT="39281" marB="39281" anchor="ctr">
                    <a:lnL w="0">
                      <a:noFill/>
                    </a:lnL>
                    <a:lnR w="0">
                      <a:noFill/>
                    </a:lnR>
                    <a:lnT w="0">
                      <a:noFill/>
                    </a:lnT>
                    <a:lnB w="0">
                      <a:noFill/>
                    </a:lnB>
                    <a:solidFill>
                      <a:srgbClr val="4E7C8B"/>
                    </a:solidFill>
                  </a:tcPr>
                </a:tc>
              </a:tr>
              <a:tr h="1377103">
                <a:tc>
                  <a:txBody>
                    <a:bodyPr/>
                    <a:lstStyle/>
                    <a:p>
                      <a:pPr algn="l" marL="0" indent="0">
                        <a:lnSpc>
                          <a:spcPct val="100000"/>
                        </a:lnSpc>
                        <a:spcBef>
                          <a:spcPts val="0"/>
                        </a:spcBef>
                        <a:spcAft>
                          <a:spcPts val="0"/>
                        </a:spcAft>
                        <a:buNone/>
                      </a:pPr>
                      <a:r>
                        <a:rPr lang="pt-BR" sz="931" b="0" i="0" dirty="0">
                          <a:solidFill>
                            <a:srgbClr val="5F6468"/>
                          </a:solidFill>
                          <a:latin typeface="Roboto"/>
                          <a:ea typeface="Roboto"/>
                          <a:cs typeface="Roboto"/>
                        </a:rPr>
                        <a:t>• Depressão do segmento ST/Inversão de onda T*</a:t>
                      </a:r>
                      <a:endParaRPr lang="pt-BR" sz="931" dirty="0"/>
                    </a:p>
                    <a:p>
                      <a:pPr algn="l" marL="0" indent="0">
                        <a:lnSpc>
                          <a:spcPct val="100000"/>
                        </a:lnSpc>
                        <a:spcBef>
                          <a:spcPts val="430"/>
                        </a:spcBef>
                        <a:spcAft>
                          <a:spcPts val="0"/>
                        </a:spcAft>
                        <a:buNone/>
                      </a:pPr>
                      <a:r>
                        <a:rPr lang="pt-BR" sz="931" b="0" i="0" dirty="0">
                          <a:solidFill>
                            <a:srgbClr val="5F6468"/>
                          </a:solidFill>
                          <a:latin typeface="Roboto"/>
                          <a:ea typeface="Roboto"/>
                          <a:cs typeface="Roboto"/>
                        </a:rPr>
                        <a:t>- Depressão do segmento ST horizontal ou descendente ≥ 0,5 mm no ponto J, em 2 ou mais derivações contíguas, é sugestivo de isquemia miocárdica e/ou</a:t>
                      </a:r>
                      <a:endParaRPr lang="pt-BR" sz="931" dirty="0"/>
                    </a:p>
                    <a:p>
                      <a:pPr algn="l" marL="0" indent="0">
                        <a:lnSpc>
                          <a:spcPct val="100000"/>
                        </a:lnSpc>
                        <a:spcBef>
                          <a:spcPts val="215"/>
                        </a:spcBef>
                        <a:spcAft>
                          <a:spcPts val="0"/>
                        </a:spcAft>
                        <a:buNone/>
                      </a:pPr>
                      <a:r>
                        <a:rPr lang="pt-BR" sz="931" b="0" i="0" dirty="0">
                          <a:solidFill>
                            <a:srgbClr val="5F6468"/>
                          </a:solidFill>
                          <a:latin typeface="Roboto"/>
                          <a:ea typeface="Roboto"/>
                          <a:cs typeface="Roboto"/>
                        </a:rPr>
                        <a:t>- Onda T invertida ≥ 1 mm em complexo com onda R proeminente ou relação R/S &gt;1 pode indicar isquemia na ausência de causas secundárias para alteração da repolarização ventricular (por exemplo, no caso de sobrecarga). Nos casos de infarto agudo do miocárdio, a onda T negativa pode ser associada a ondas Q (patológicas).</a:t>
                      </a:r>
                      <a:endParaRPr lang="pt-BR" sz="931" dirty="0"/>
                    </a:p>
                    <a:p>
                      <a:pPr algn="l" marL="0" indent="0">
                        <a:lnSpc>
                          <a:spcPct val="100000"/>
                        </a:lnSpc>
                        <a:spcBef>
                          <a:spcPts val="430"/>
                        </a:spcBef>
                        <a:spcAft>
                          <a:spcPts val="0"/>
                        </a:spcAft>
                        <a:buNone/>
                      </a:pPr>
                      <a:r>
                        <a:rPr lang="pt-BR" sz="931" b="0" i="1" dirty="0">
                          <a:solidFill>
                            <a:srgbClr val="5F6468"/>
                          </a:solidFill>
                          <a:latin typeface="Roboto"/>
                          <a:ea typeface="Roboto"/>
                          <a:cs typeface="Roboto"/>
                        </a:rPr>
                        <a:t>*Depressão do segmento ST e inversão de onda T têm valor diagnóstico ainda maior quando há alterações dinâmicas (se onda T negativa se tornar positiva, esse achado também é importante para o diagnóstico de SCASSST, sendo chamado de pseudonormalização).</a:t>
                      </a:r>
                      <a:endParaRPr lang="pt-BR" sz="931" dirty="0"/>
                    </a:p>
                  </a:txBody>
                  <a:tcPr marL="65469" marR="65469" marT="39281" marB="39281" anchor="t">
                    <a:lnL w="0">
                      <a:noFill/>
                    </a:lnL>
                    <a:lnR w="0">
                      <a:noFill/>
                    </a:lnR>
                    <a:lnT w="0">
                      <a:noFill/>
                    </a:lnT>
                    <a:lnB w="12700">
                      <a:solidFill>
                        <a:srgbClr val="E4E6E7"/>
                      </a:solidFill>
                    </a:lnB>
                    <a:solidFill>
                      <a:srgbClr val="F2F4F5"/>
                    </a:solidFill>
                  </a:tcPr>
                </a:tc>
              </a:tr>
              <a:tr h="372240">
                <a:tc>
                  <a:txBody>
                    <a:bodyPr/>
                    <a:lstStyle/>
                    <a:p>
                      <a:pPr algn="l" marL="0" indent="0">
                        <a:lnSpc>
                          <a:spcPct val="100000"/>
                        </a:lnSpc>
                        <a:spcBef>
                          <a:spcPts val="0"/>
                        </a:spcBef>
                        <a:spcAft>
                          <a:spcPts val="0"/>
                        </a:spcAft>
                        <a:buNone/>
                      </a:pPr>
                      <a:r>
                        <a:rPr lang="pt-BR" sz="931" b="0" i="1" dirty="0">
                          <a:solidFill>
                            <a:srgbClr val="5F6468"/>
                          </a:solidFill>
                          <a:latin typeface="Roboto"/>
                          <a:ea typeface="Roboto"/>
                          <a:cs typeface="Roboto"/>
                        </a:rPr>
                        <a:t>Obs.: Casos de elevação transitória do ST (por exemplo, vasoespasmo) devem ser abordados de forma diferenciada dos casos de Síndrome coronariana aguda com elevação persistente de ST.</a:t>
                      </a:r>
                      <a:endParaRPr lang="pt-BR" sz="931" dirty="0"/>
                    </a:p>
                  </a:txBody>
                  <a:tcPr marL="65469" marR="65469" marT="39281" marB="39281" anchor="t">
                    <a:lnL w="0">
                      <a:noFill/>
                    </a:lnL>
                    <a:lnR w="0">
                      <a:noFill/>
                    </a:lnR>
                    <a:lnT w="0">
                      <a:noFill/>
                    </a:lnT>
                    <a:lnB w="12700">
                      <a:solidFill>
                        <a:srgbClr val="E4E6E7"/>
                      </a:solidFill>
                    </a:lnB>
                    <a:solidFill>
                      <a:srgbClr val="FBFCFC"/>
                    </a:solidFill>
                  </a:tcPr>
                </a:tc>
              </a:tr>
            </a:tbl>
          </a:graphicData>
        </a:graphic>
      </p:graphicFrame>
    </p:spTree>
    <p:extLst>
      <p:ext uri="{BB962C8B-B14F-4D97-AF65-F5344CB8AC3E}">
        <p14:creationId xmlns:p14="http://schemas.microsoft.com/office/powerpoint/2010/main" val="265731153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BFCFC"/>
        </a:solidFill>
        <a:effectLst/>
      </p:bgPr>
    </p:bg>
    <p:spTree>
      <p:nvGrpSpPr>
        <p:cNvPr id="1" name=""/>
        <p:cNvGrpSpPr/>
        <p:nvPr/>
      </p:nvGrpSpPr>
      <p:grpSpPr>
        <a:xfrm>
          <a:off x="0" y="0"/>
          <a:ext cx="0" cy="0"/>
          <a:chOff x="0" y="0"/>
          <a:chExt cx="0" cy="0"/>
        </a:xfrm>
      </p:grpSpPr>
      <p:sp>
        <p:nvSpPr>
          <p:cNvPr id="5" name="Título"/>
          <p:cNvSpPr>
            <a:spLocks noGrp="1"/>
          </p:cNvSpPr>
          <p:nvPr>
            <p:ph type="title"/>
          </p:nvPr>
        </p:nvSpPr>
        <p:spPr>
          <a:xfrm>
            <a:off x="711403" y="558698"/>
            <a:ext cx="10771632" cy="868680"/>
          </a:xfrm>
        </p:spPr>
        <p:txBody>
          <a:bodyPr wrap="square" lIns="0" rIns="0" tIns="0" bIns="0" anchor="t"/>
          <a:lstStyle/>
          <a:p>
            <a:pPr algn="l">
              <a:lnSpc>
                <a:spcPct val="110000"/>
              </a:lnSpc>
            </a:pPr>
            <a:r>
              <a:rPr lang="pt-BR" sz="2800" dirty="0">
                <a:solidFill>
                  <a:srgbClr val="3B3F42"/>
                </a:solidFill>
                <a:latin typeface="Roboto Medium"/>
                <a:ea typeface="Roboto Medium"/>
                <a:cs typeface="Roboto Medium"/>
              </a:rPr>
              <a:t>Tabela 8 – Medidas rotineiras para casos de eletrocardiograma duvidoso/limítrofe</a:t>
            </a:r>
          </a:p>
        </p:txBody>
      </p:sp>
      <p:sp>
        <p:nvSpPr>
          <p:cNvPr id="3" name="TextBox 2"/>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737A7F"/>
                </a:solidFill>
                <a:latin typeface="Roboto"/>
                <a:ea typeface="Roboto"/>
                <a:cs typeface="Roboto"/>
              </a:rPr>
              <a:t>95  ·  Dor torácica – Protocolo 2025 | Set 2026</a:t>
            </a:r>
          </a:p>
        </p:txBody>
      </p:sp>
      <p:sp>
        <p:nvSpPr>
          <p:cNvPr id="4" name="TextBox 3"/>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8C9297"/>
                </a:solidFill>
                <a:latin typeface="Roboto"/>
                <a:ea typeface="Roboto"/>
                <a:cs typeface="Roboto"/>
              </a:rPr>
              <a:t>SEU LOGO</a:t>
            </a:r>
          </a:p>
        </p:txBody>
      </p:sp>
      <p:graphicFrame>
        <p:nvGraphicFramePr>
          <p:cNvPr id="6" name="Tabela"/>
          <p:cNvGraphicFramePr>
            <a:graphicFrameLocks noGrp="1"/>
          </p:cNvGraphicFramePr>
          <p:nvPr/>
        </p:nvGraphicFramePr>
        <p:xfrm>
          <a:off x="711403" y="1640000"/>
          <a:ext cx="10771632" cy="2883191"/>
        </p:xfrm>
        <a:graphic>
          <a:graphicData uri="http://schemas.openxmlformats.org/drawingml/2006/table">
            <a:tbl>
              <a:tblPr firstRow="1"/>
              <a:tblGrid>
                <a:gridCol w="10771632"/>
              </a:tblGrid>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1) A primeira medida em situações de dúvida ao ECG deve ser a solicitação imediata de avaliação do ECG por um ou mais médicos experientes. Esse primeiro passo definirá se, de fato, o ECG é limítrofe ou a dúvida foi decorrente da limitação de experiência do médico assistente;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720798">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2) Quando disponível, o ECG prévio deve ser comparado ao ECG da fase aguda, pois pode auxiliar na identificação de novas alterações, desde que não retarde o início do tratamento – especialmente importante nos casos que já apresentam alteração de repolarização no ECG basal;</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r h="519904">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3) Outro ponto fundamental é a adequada correlação clínica, pois o valor preditivo de qualquer exame, incluindo o eletrocardiograma, depende também da probabilidade clínica pré-teste;</a:t>
                      </a:r>
                      <a:endParaRPr lang="pt-BR" sz="1300" dirty="0"/>
                    </a:p>
                  </a:txBody>
                  <a:tcPr marL="91440" marR="91440" marT="54864" marB="54864" anchor="ctr">
                    <a:lnL w="0">
                      <a:noFill/>
                    </a:lnL>
                    <a:lnR w="0">
                      <a:noFill/>
                    </a:lnR>
                    <a:lnT w="0">
                      <a:noFill/>
                    </a:lnT>
                    <a:lnB w="12700">
                      <a:solidFill>
                        <a:srgbClr val="E4E6E7"/>
                      </a:solidFill>
                    </a:lnB>
                    <a:solidFill>
                      <a:srgbClr val="FBFCFC"/>
                    </a:solidFill>
                  </a:tcPr>
                </a:tc>
              </a:tr>
              <a:tr h="921691">
                <a:tc>
                  <a:txBody>
                    <a:bodyPr/>
                    <a:lstStyle/>
                    <a:p>
                      <a:pPr algn="l" marL="0" indent="0">
                        <a:lnSpc>
                          <a:spcPct val="100000"/>
                        </a:lnSpc>
                        <a:spcBef>
                          <a:spcPts val="0"/>
                        </a:spcBef>
                        <a:spcAft>
                          <a:spcPts val="0"/>
                        </a:spcAft>
                        <a:buNone/>
                      </a:pPr>
                      <a:r>
                        <a:rPr lang="pt-BR" sz="1300" b="0" i="0" dirty="0">
                          <a:solidFill>
                            <a:srgbClr val="5F6468"/>
                          </a:solidFill>
                          <a:latin typeface="Roboto"/>
                          <a:ea typeface="Roboto"/>
                          <a:cs typeface="Roboto"/>
                        </a:rPr>
                        <a:t>4) Finalmente, casos confirmados de ECG limítrofe (após validação de médico experiente) e/ou de instabilidade clínica (por exemplo, sintomas persistentes) demandam não apenas a manutenção da monitorização do paciente, mas também a realização de eletrocardiogramas seriados e avaliação rápida para outros diagnósticos diferenciais (ecocardiograma beira-leito costuma ser um exame adicional especialmente útil nessas situações).</a:t>
                      </a:r>
                      <a:endParaRPr lang="pt-BR" sz="1300" dirty="0"/>
                    </a:p>
                  </a:txBody>
                  <a:tcPr marL="91440" marR="91440" marT="54864" marB="54864" anchor="ctr">
                    <a:lnL w="0">
                      <a:noFill/>
                    </a:lnL>
                    <a:lnR w="0">
                      <a:noFill/>
                    </a:lnR>
                    <a:lnT w="0">
                      <a:noFill/>
                    </a:lnT>
                    <a:lnB w="12700">
                      <a:solidFill>
                        <a:srgbClr val="E4E6E7"/>
                      </a:solidFill>
                    </a:lnB>
                    <a:solidFill>
                      <a:srgbClr val="F2F4F5"/>
                    </a:solidFill>
                  </a:tcPr>
                </a:tc>
              </a:tr>
            </a:tbl>
          </a:graphicData>
        </a:graphic>
      </p:graphicFrame>
    </p:spTree>
    <p:extLst>
      <p:ext uri="{BB962C8B-B14F-4D97-AF65-F5344CB8AC3E}">
        <p14:creationId xmlns:p14="http://schemas.microsoft.com/office/powerpoint/2010/main" val="2123803142"/>
      </p:ext>
    </p:extLst>
  </p:cSld>
  <p:clrMapOvr>
    <a:masterClrMapping/>
  </p:clrMapOvr>
  <p:timing>
    <p:tnLst>
      <p:par>
        <p:cTn id="1" dur="indefinite" restart="never" nodeType="tmRoot"/>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4E7C8B"/>
        </a:solidFill>
        <a:effectLst/>
      </p:bgPr>
    </p:bg>
    <p:spTree>
      <p:nvGrpSpPr>
        <p:cNvPr id="1" name=""/>
        <p:cNvGrpSpPr/>
        <p:nvPr/>
      </p:nvGrpSpPr>
      <p:grpSpPr/>
      <p:sp>
        <p:nvSpPr>
          <p:cNvPr id="2" name="TextBox 1"/>
          <p:cNvSpPr txBox="1"/>
          <p:nvPr/>
        </p:nvSpPr>
        <p:spPr>
          <a:xfrm>
            <a:off x="711403" y="1828800"/>
            <a:ext cx="6949440" cy="365760"/>
          </a:xfrm>
          <a:prstGeom prst="rect">
            <a:avLst/>
          </a:prstGeom>
          <a:noFill/>
        </p:spPr>
        <p:txBody>
          <a:bodyPr wrap="square" lIns="0" rIns="0" tIns="0" bIns="0" anchor="t">
            <a:spAutoFit/>
          </a:bodyPr>
          <a:lstStyle/>
          <a:p>
            <a:pPr algn="l"/>
            <a:r>
              <a:rPr sz="1200" b="0" spc="300">
                <a:solidFill>
                  <a:srgbClr val="C9E3E6"/>
                </a:solidFill>
                <a:latin typeface="Roboto Medium"/>
                <a:ea typeface="Roboto Medium"/>
                <a:cs typeface="Roboto Medium"/>
              </a:rPr>
              <a:t>CONTATO</a:t>
            </a:r>
          </a:p>
        </p:txBody>
      </p:sp>
      <p:sp>
        <p:nvSpPr>
          <p:cNvPr id="3" name="TextBox 2"/>
          <p:cNvSpPr txBox="1"/>
          <p:nvPr/>
        </p:nvSpPr>
        <p:spPr>
          <a:xfrm>
            <a:off x="711403" y="2286000"/>
            <a:ext cx="7315200" cy="1737360"/>
          </a:xfrm>
          <a:prstGeom prst="rect">
            <a:avLst/>
          </a:prstGeom>
          <a:noFill/>
        </p:spPr>
        <p:txBody>
          <a:bodyPr wrap="square" lIns="0" rIns="0" tIns="0" bIns="0" anchor="t">
            <a:spAutoFit/>
          </a:bodyPr>
          <a:lstStyle/>
          <a:p>
            <a:pPr algn="l"/>
            <a:r>
              <a:rPr sz="4400" b="1">
                <a:solidFill>
                  <a:srgbClr val="FBFCFC"/>
                </a:solidFill>
                <a:latin typeface="Roboto"/>
                <a:ea typeface="Roboto"/>
                <a:cs typeface="Roboto"/>
              </a:rPr>
              <a:t>Obrigado</a:t>
            </a:r>
          </a:p>
        </p:txBody>
      </p:sp>
      <p:sp>
        <p:nvSpPr>
          <p:cNvPr id="4" name="Rectangle 3"/>
          <p:cNvSpPr/>
          <p:nvPr/>
        </p:nvSpPr>
        <p:spPr>
          <a:xfrm>
            <a:off x="711403" y="4526280"/>
            <a:ext cx="761695" cy="38404"/>
          </a:xfrm>
          <a:prstGeom prst="rect">
            <a:avLst/>
          </a:prstGeom>
          <a:solidFill>
            <a:srgbClr val="8EC4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1403" y="4800600"/>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[nome]</a:t>
            </a:r>
          </a:p>
        </p:txBody>
      </p:sp>
      <p:sp>
        <p:nvSpPr>
          <p:cNvPr id="6" name="TextBox 5"/>
          <p:cNvSpPr txBox="1"/>
          <p:nvPr/>
        </p:nvSpPr>
        <p:spPr>
          <a:xfrm>
            <a:off x="711403" y="5129784"/>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[e-mail]</a:t>
            </a:r>
          </a:p>
        </p:txBody>
      </p:sp>
      <p:sp>
        <p:nvSpPr>
          <p:cNvPr id="7" name="TextBox 6"/>
          <p:cNvSpPr txBox="1"/>
          <p:nvPr/>
        </p:nvSpPr>
        <p:spPr>
          <a:xfrm>
            <a:off x="711403" y="5458968"/>
            <a:ext cx="6949440" cy="320040"/>
          </a:xfrm>
          <a:prstGeom prst="rect">
            <a:avLst/>
          </a:prstGeom>
          <a:noFill/>
        </p:spPr>
        <p:txBody>
          <a:bodyPr wrap="square" lIns="0" rIns="0" tIns="0" bIns="0" anchor="t">
            <a:spAutoFit/>
          </a:bodyPr>
          <a:lstStyle/>
          <a:p>
            <a:pPr algn="l"/>
            <a:r>
              <a:rPr sz="1300">
                <a:solidFill>
                  <a:srgbClr val="E4EEF0"/>
                </a:solidFill>
                <a:latin typeface="Roboto"/>
                <a:ea typeface="Roboto"/>
                <a:cs typeface="Roboto"/>
              </a:rPr>
              <a:t>[telefone ou rede social]</a:t>
            </a:r>
          </a:p>
        </p:txBody>
      </p:sp>
      <p:sp>
        <p:nvSpPr>
          <p:cNvPr id="8" name="Oval 7"/>
          <p:cNvSpPr/>
          <p:nvPr/>
        </p:nvSpPr>
        <p:spPr>
          <a:xfrm>
            <a:off x="8138160" y="1463040"/>
            <a:ext cx="2794406" cy="2794406"/>
          </a:xfrm>
          <a:prstGeom prst="ellipse">
            <a:avLst/>
          </a:prstGeom>
          <a:noFill/>
          <a:ln w="12700">
            <a:solidFill>
              <a:srgbClr val="6E9D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0" y="3291840"/>
            <a:ext cx="1524304" cy="1524304"/>
          </a:xfrm>
          <a:prstGeom prst="ellipse">
            <a:avLst/>
          </a:prstGeom>
          <a:solidFill>
            <a:srgbClr val="5B8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403" y="6181344"/>
            <a:ext cx="7772400" cy="274320"/>
          </a:xfrm>
          <a:prstGeom prst="rect">
            <a:avLst/>
          </a:prstGeom>
          <a:noFill/>
        </p:spPr>
        <p:txBody>
          <a:bodyPr wrap="none" lIns="0" rIns="0" tIns="0" bIns="0" anchor="t">
            <a:spAutoFit/>
          </a:bodyPr>
          <a:lstStyle/>
          <a:p>
            <a:pPr algn="l"/>
            <a:r>
              <a:rPr sz="1200">
                <a:solidFill>
                  <a:srgbClr val="C9E3E6"/>
                </a:solidFill>
                <a:latin typeface="Roboto"/>
                <a:ea typeface="Roboto"/>
                <a:cs typeface="Roboto"/>
              </a:rPr>
              <a:t>96  ·  Dor torácica – Protocolo 2025 | Set 2026</a:t>
            </a:r>
          </a:p>
        </p:txBody>
      </p:sp>
      <p:sp>
        <p:nvSpPr>
          <p:cNvPr id="11" name="TextBox 10"/>
          <p:cNvSpPr txBox="1"/>
          <p:nvPr/>
        </p:nvSpPr>
        <p:spPr>
          <a:xfrm>
            <a:off x="9195206" y="6181344"/>
            <a:ext cx="2286000" cy="274320"/>
          </a:xfrm>
          <a:prstGeom prst="rect">
            <a:avLst/>
          </a:prstGeom>
          <a:noFill/>
        </p:spPr>
        <p:txBody>
          <a:bodyPr wrap="none" lIns="0" rIns="0" tIns="0" bIns="0" anchor="t">
            <a:spAutoFit/>
          </a:bodyPr>
          <a:lstStyle/>
          <a:p>
            <a:pPr algn="r"/>
            <a:r>
              <a:rPr sz="1200" b="1" spc="100">
                <a:solidFill>
                  <a:srgbClr val="C9E3E6"/>
                </a:solidFill>
                <a:latin typeface="Roboto"/>
                <a:ea typeface="Roboto"/>
                <a:cs typeface="Roboto"/>
              </a:rPr>
              <a:t>SEU LOGO</a:t>
            </a:r>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Roboto"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2617</TotalTime>
  <Words>595</Words>
  <Application>Microsoft Office PowerPoint</Application>
  <PresentationFormat>Widescreen</PresentationFormat>
  <Paragraphs>224</Paragraphs>
  <Slides>92</Slides>
  <Notes>6</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92</vt:i4>
      </vt:variant>
    </vt:vector>
  </HeadingPairs>
  <TitlesOfParts>
    <vt:vector size="97" baseType="lpstr">
      <vt:lpstr>Arial</vt:lpstr>
      <vt:lpstr>Bahnschrift SemiBold</vt:lpstr>
      <vt:lpstr>Calibri</vt:lpstr>
      <vt:lpstr>Calibri Light</vt:lpstr>
      <vt:lpstr>Tema do Office</vt:lpstr>
      <vt:lpstr>Apresentação do PowerPoint</vt:lpstr>
      <vt:lpstr>O PROTOCOLO</vt:lpstr>
      <vt:lpstr>CLASSIFICAÇÃO DOS SINTOMAS</vt:lpstr>
      <vt:lpstr>Apresentação do PowerPoint</vt:lpstr>
      <vt:lpstr>OBJETIVOS</vt:lpstr>
      <vt:lpstr>QUEM VAMOS COLOCAR NO PROTOCOLO ?</vt:lpstr>
      <vt:lpstr>AÇÕES </vt:lpstr>
      <vt:lpstr>ECG</vt:lpstr>
      <vt:lpstr>ECG BEM FEITO</vt:lpstr>
      <vt:lpstr>DERIVAÇÕES COMPLEMENTARES ANTERIORES</vt:lpstr>
      <vt:lpstr>DERIVAÇÕES COMPLEMENTARES POSTERIORES</vt:lpstr>
      <vt:lpstr>Apresentação do PowerPoint</vt:lpstr>
      <vt:lpstr>Apresentação do PowerPoint</vt:lpstr>
      <vt:lpstr>ECG</vt:lpstr>
      <vt:lpstr>Apresentação do PowerPoint</vt:lpstr>
      <vt:lpstr>CAUSAS DE SUPRA DESNIVELAMENTO DO ST</vt:lpstr>
      <vt:lpstr>ALTERAÇÕES ECG DIAGNÓSTICAS SCA SEM BRE</vt:lpstr>
      <vt:lpstr>IMAGEM EM ESPELHO</vt:lpstr>
      <vt:lpstr>Apresentação do PowerPoint</vt:lpstr>
      <vt:lpstr>Apresentação do PowerPoint</vt:lpstr>
      <vt:lpstr>IAM POSTERIOR</vt:lpstr>
      <vt:lpstr>Apresentação do PowerPoint</vt:lpstr>
      <vt:lpstr>CLASSIFICAÇÃO DA ISQUEMIA MIOCÁRDICA SEGUNDO A OCLUSÃO CORONARIANA</vt:lpstr>
      <vt:lpstr>Apresentação do PowerPoint</vt:lpstr>
      <vt:lpstr>E SE O ECG NÃO FOR DIAGNÓSTICO ?</vt:lpstr>
      <vt:lpstr>CRITÉRIOS DE INSTABILIDADE</vt:lpstr>
      <vt:lpstr>Apresentação do PowerPoint</vt:lpstr>
      <vt:lpstr>Apresentação do PowerPoint</vt:lpstr>
      <vt:lpstr>Apresentação do PowerPoint</vt:lpstr>
      <vt:lpstr>E SE O ECG NÃO FOR DIAGNÓSTICO COM PACIENTE ESTÁVEL?</vt:lpstr>
      <vt:lpstr>Apresentação do PowerPoint</vt:lpstr>
      <vt:lpstr>AVALIAÇÃO CLINICA DETALHADA</vt:lpstr>
      <vt:lpstr>Apresentação do PowerPoint</vt:lpstr>
      <vt:lpstr>Apresentação do PowerPoint</vt:lpstr>
      <vt:lpstr>ALGORITMO DA TROPONINA</vt:lpstr>
      <vt:lpstr>OUTROS MECANISMOS DE INJÚRIA</vt:lpstr>
      <vt:lpstr>ESTRATÉGIAS DE ANÁLISE DA TROPONINA</vt:lpstr>
      <vt:lpstr>TIPOS DE IAM</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NUANCES DO ECG</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Conta da Microsoft</dc:creator>
  <cp:lastModifiedBy>Conta da Microsoft</cp:lastModifiedBy>
  <cp:revision>113</cp:revision>
  <dcterms:created xsi:type="dcterms:W3CDTF">2025-09-24T23:45:30Z</dcterms:created>
  <dcterms:modified xsi:type="dcterms:W3CDTF">2026-09-28T23:13:12Z</dcterms:modified>
</cp:coreProperties>
</file>